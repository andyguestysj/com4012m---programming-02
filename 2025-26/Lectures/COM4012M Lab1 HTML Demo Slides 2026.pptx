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notesMasterIdLst>
    <p:notesMasterId r:id="rId24"/>
  </p:notesMasterIdLst>
  <p:sldIdLst>
    <p:sldId id="256" r:id="rId2"/>
    <p:sldId id="261" r:id="rId3"/>
    <p:sldId id="275" r:id="rId4"/>
    <p:sldId id="288" r:id="rId5"/>
    <p:sldId id="317" r:id="rId6"/>
    <p:sldId id="287" r:id="rId7"/>
    <p:sldId id="277" r:id="rId8"/>
    <p:sldId id="278" r:id="rId9"/>
    <p:sldId id="310" r:id="rId10"/>
    <p:sldId id="279" r:id="rId11"/>
    <p:sldId id="280" r:id="rId12"/>
    <p:sldId id="281" r:id="rId13"/>
    <p:sldId id="295" r:id="rId14"/>
    <p:sldId id="299" r:id="rId15"/>
    <p:sldId id="300" r:id="rId16"/>
    <p:sldId id="311" r:id="rId17"/>
    <p:sldId id="312" r:id="rId18"/>
    <p:sldId id="313" r:id="rId19"/>
    <p:sldId id="314" r:id="rId20"/>
    <p:sldId id="315" r:id="rId21"/>
    <p:sldId id="318" r:id="rId22"/>
    <p:sldId id="316" r:id="rId23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538C26-934E-463C-9866-94E924CCB149}" v="54" dt="2024-02-04T23:34:49.3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753"/>
    <p:restoredTop sz="84737" autoAdjust="0"/>
  </p:normalViewPr>
  <p:slideViewPr>
    <p:cSldViewPr>
      <p:cViewPr varScale="1">
        <p:scale>
          <a:sx n="115" d="100"/>
          <a:sy n="115" d="100"/>
        </p:scale>
        <p:origin x="1152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2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c Wells" userId="527ade61401a42c1" providerId="LiveId" clId="{A9538C26-934E-463C-9866-94E924CCB149}"/>
    <pc:docChg chg="undo custSel modSld">
      <pc:chgData name="Alec Wells" userId="527ade61401a42c1" providerId="LiveId" clId="{A9538C26-934E-463C-9866-94E924CCB149}" dt="2024-02-04T23:34:49.366" v="193" actId="20577"/>
      <pc:docMkLst>
        <pc:docMk/>
      </pc:docMkLst>
      <pc:sldChg chg="modSp mod">
        <pc:chgData name="Alec Wells" userId="527ade61401a42c1" providerId="LiveId" clId="{A9538C26-934E-463C-9866-94E924CCB149}" dt="2024-02-04T23:15:35.338" v="78" actId="20577"/>
        <pc:sldMkLst>
          <pc:docMk/>
          <pc:sldMk cId="0" sldId="275"/>
        </pc:sldMkLst>
        <pc:spChg chg="mod">
          <ac:chgData name="Alec Wells" userId="527ade61401a42c1" providerId="LiveId" clId="{A9538C26-934E-463C-9866-94E924CCB149}" dt="2024-02-04T23:15:35.338" v="78" actId="20577"/>
          <ac:spMkLst>
            <pc:docMk/>
            <pc:sldMk cId="0" sldId="275"/>
            <ac:spMk id="5123" creationId="{8A828AB5-4322-803C-0D20-8A3CC519681F}"/>
          </ac:spMkLst>
        </pc:spChg>
      </pc:sldChg>
      <pc:sldChg chg="modSp mod">
        <pc:chgData name="Alec Wells" userId="527ade61401a42c1" providerId="LiveId" clId="{A9538C26-934E-463C-9866-94E924CCB149}" dt="2024-02-04T23:21:41.600" v="80" actId="20577"/>
        <pc:sldMkLst>
          <pc:docMk/>
          <pc:sldMk cId="0" sldId="278"/>
        </pc:sldMkLst>
        <pc:spChg chg="mod">
          <ac:chgData name="Alec Wells" userId="527ade61401a42c1" providerId="LiveId" clId="{A9538C26-934E-463C-9866-94E924CCB149}" dt="2024-02-04T23:21:41.600" v="80" actId="20577"/>
          <ac:spMkLst>
            <pc:docMk/>
            <pc:sldMk cId="0" sldId="278"/>
            <ac:spMk id="13315" creationId="{892F6EC5-4AE6-C49F-C559-4F05855EB0AF}"/>
          </ac:spMkLst>
        </pc:spChg>
      </pc:sldChg>
      <pc:sldChg chg="modSp mod">
        <pc:chgData name="Alec Wells" userId="527ade61401a42c1" providerId="LiveId" clId="{A9538C26-934E-463C-9866-94E924CCB149}" dt="2024-02-04T23:24:45.445" v="82" actId="20577"/>
        <pc:sldMkLst>
          <pc:docMk/>
          <pc:sldMk cId="0" sldId="279"/>
        </pc:sldMkLst>
        <pc:spChg chg="mod">
          <ac:chgData name="Alec Wells" userId="527ade61401a42c1" providerId="LiveId" clId="{A9538C26-934E-463C-9866-94E924CCB149}" dt="2024-02-04T23:24:45.445" v="82" actId="20577"/>
          <ac:spMkLst>
            <pc:docMk/>
            <pc:sldMk cId="0" sldId="279"/>
            <ac:spMk id="15363" creationId="{3CDC1BB5-DC4F-E73A-E326-8FC3DC840E20}"/>
          </ac:spMkLst>
        </pc:spChg>
      </pc:sldChg>
      <pc:sldChg chg="modSp mod">
        <pc:chgData name="Alec Wells" userId="527ade61401a42c1" providerId="LiveId" clId="{A9538C26-934E-463C-9866-94E924CCB149}" dt="2024-02-04T23:25:54.904" v="84" actId="20577"/>
        <pc:sldMkLst>
          <pc:docMk/>
          <pc:sldMk cId="0" sldId="280"/>
        </pc:sldMkLst>
        <pc:spChg chg="mod">
          <ac:chgData name="Alec Wells" userId="527ade61401a42c1" providerId="LiveId" clId="{A9538C26-934E-463C-9866-94E924CCB149}" dt="2024-02-04T23:25:54.904" v="84" actId="20577"/>
          <ac:spMkLst>
            <pc:docMk/>
            <pc:sldMk cId="0" sldId="280"/>
            <ac:spMk id="16387" creationId="{81342D44-74E1-97A4-8589-796867BFD118}"/>
          </ac:spMkLst>
        </pc:spChg>
      </pc:sldChg>
      <pc:sldChg chg="modSp mod">
        <pc:chgData name="Alec Wells" userId="527ade61401a42c1" providerId="LiveId" clId="{A9538C26-934E-463C-9866-94E924CCB149}" dt="2024-02-04T23:30:28.298" v="139"/>
        <pc:sldMkLst>
          <pc:docMk/>
          <pc:sldMk cId="0" sldId="299"/>
        </pc:sldMkLst>
        <pc:spChg chg="mod">
          <ac:chgData name="Alec Wells" userId="527ade61401a42c1" providerId="LiveId" clId="{A9538C26-934E-463C-9866-94E924CCB149}" dt="2024-02-04T23:30:28.298" v="139"/>
          <ac:spMkLst>
            <pc:docMk/>
            <pc:sldMk cId="0" sldId="299"/>
            <ac:spMk id="19459" creationId="{F9524D05-EA0A-01DE-41AA-61C48B5219D6}"/>
          </ac:spMkLst>
        </pc:spChg>
      </pc:sldChg>
      <pc:sldChg chg="modSp modAnim">
        <pc:chgData name="Alec Wells" userId="527ade61401a42c1" providerId="LiveId" clId="{A9538C26-934E-463C-9866-94E924CCB149}" dt="2024-02-04T23:34:13.069" v="176" actId="20577"/>
        <pc:sldMkLst>
          <pc:docMk/>
          <pc:sldMk cId="0" sldId="311"/>
        </pc:sldMkLst>
        <pc:spChg chg="mod">
          <ac:chgData name="Alec Wells" userId="527ade61401a42c1" providerId="LiveId" clId="{A9538C26-934E-463C-9866-94E924CCB149}" dt="2024-02-04T23:34:13.069" v="176" actId="20577"/>
          <ac:spMkLst>
            <pc:docMk/>
            <pc:sldMk cId="0" sldId="311"/>
            <ac:spMk id="71683" creationId="{1C0AB33C-93C0-4EBF-38CC-89665315011A}"/>
          </ac:spMkLst>
        </pc:spChg>
      </pc:sldChg>
      <pc:sldChg chg="modSp modAnim">
        <pc:chgData name="Alec Wells" userId="527ade61401a42c1" providerId="LiveId" clId="{A9538C26-934E-463C-9866-94E924CCB149}" dt="2024-02-04T23:32:21.687" v="159" actId="20577"/>
        <pc:sldMkLst>
          <pc:docMk/>
          <pc:sldMk cId="0" sldId="312"/>
        </pc:sldMkLst>
        <pc:spChg chg="mod">
          <ac:chgData name="Alec Wells" userId="527ade61401a42c1" providerId="LiveId" clId="{A9538C26-934E-463C-9866-94E924CCB149}" dt="2024-02-04T23:32:21.687" v="159" actId="20577"/>
          <ac:spMkLst>
            <pc:docMk/>
            <pc:sldMk cId="0" sldId="312"/>
            <ac:spMk id="72707" creationId="{E203CAC6-2918-6484-E950-2E2A951BA4A0}"/>
          </ac:spMkLst>
        </pc:spChg>
      </pc:sldChg>
      <pc:sldChg chg="modSp modAnim">
        <pc:chgData name="Alec Wells" userId="527ade61401a42c1" providerId="LiveId" clId="{A9538C26-934E-463C-9866-94E924CCB149}" dt="2024-02-04T23:34:49.366" v="193" actId="20577"/>
        <pc:sldMkLst>
          <pc:docMk/>
          <pc:sldMk cId="0" sldId="313"/>
        </pc:sldMkLst>
        <pc:spChg chg="mod">
          <ac:chgData name="Alec Wells" userId="527ade61401a42c1" providerId="LiveId" clId="{A9538C26-934E-463C-9866-94E924CCB149}" dt="2024-02-04T23:34:49.366" v="193" actId="20577"/>
          <ac:spMkLst>
            <pc:docMk/>
            <pc:sldMk cId="0" sldId="313"/>
            <ac:spMk id="73731" creationId="{AE623F94-62CE-3522-785B-870B1FD22FB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0C43917-5DA0-DECF-FF69-2A40A360DA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7651BE-CB62-1C46-2D82-5CE8C878F16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F8F6FD23-3D60-4451-A465-FCB20600655D}" type="datetimeFigureOut">
              <a:rPr lang="en-GB" altLang="en-US"/>
              <a:pPr>
                <a:defRPr/>
              </a:pPr>
              <a:t>12/02/2026</a:t>
            </a:fld>
            <a:endParaRPr lang="en-GB" alt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EB60F19-1FDC-AE14-9F7A-B626270BC2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F6E3879-375D-FC9C-BF07-9901CCEEF4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  <a:endParaRPr lang="en-GB" altLang="en-US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2C8949-BF00-F811-963F-ECEB0B12FDB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A25848-9C49-2CA4-2EC3-282A591EAB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FA21F885-8204-4DD9-BC7B-9FC74636C35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1868B0AB-C871-5CD1-AA6F-8C4E93FC1E2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2D1BBF3D-2CF8-8B7F-921E-7EBD19C5F24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7112E2C6-5A5F-5DA5-E35A-3732637F80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B9F1681-EC19-4A88-9D1E-FFAFBDB113BD}" type="slidenum">
              <a:rPr lang="en-GB" altLang="en-US" smtClean="0"/>
              <a:pPr/>
              <a:t>3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6E6E39B3-F045-A9E3-D413-40EFFB5ECE1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642E7928-878B-573D-9A88-23010C950E0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64265BC0-639B-4E4E-DC79-0DC8AAA7CB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0C6A30B-EE63-4C00-A719-0635AAEB3D31}" type="slidenum">
              <a:rPr lang="en-GB" altLang="en-US" smtClean="0"/>
              <a:pPr/>
              <a:t>6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5E9049C8-579F-9433-CD55-68A113F8493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12063EB8-68B0-90FB-3ED7-7DE2263927C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12292" name="Slide Number Placeholder 3">
            <a:extLst>
              <a:ext uri="{FF2B5EF4-FFF2-40B4-BE49-F238E27FC236}">
                <a16:creationId xmlns:a16="http://schemas.microsoft.com/office/drawing/2014/main" id="{94773E50-3AD7-5B1F-1A26-E2364B0460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25BB14B-152A-4D82-BD7C-720D34913D90}" type="slidenum">
              <a:rPr lang="en-GB" altLang="en-US" smtClean="0"/>
              <a:pPr/>
              <a:t>7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>
            <a:extLst>
              <a:ext uri="{FF2B5EF4-FFF2-40B4-BE49-F238E27FC236}">
                <a16:creationId xmlns:a16="http://schemas.microsoft.com/office/drawing/2014/main" id="{87895220-A5C9-C47A-9C49-503E6FB4E27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Notes Placeholder 2">
            <a:extLst>
              <a:ext uri="{FF2B5EF4-FFF2-40B4-BE49-F238E27FC236}">
                <a16:creationId xmlns:a16="http://schemas.microsoft.com/office/drawing/2014/main" id="{DDE876EB-796F-F521-6DEB-136E3174DC4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27652" name="Slide Number Placeholder 3">
            <a:extLst>
              <a:ext uri="{FF2B5EF4-FFF2-40B4-BE49-F238E27FC236}">
                <a16:creationId xmlns:a16="http://schemas.microsoft.com/office/drawing/2014/main" id="{05094554-048C-1945-E80B-8F996E824D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6FC8EB9-6049-4D29-9D3A-39DE0509573C}" type="slidenum">
              <a:rPr lang="en-GB" altLang="en-US" smtClean="0"/>
              <a:pPr/>
              <a:t>21</a:t>
            </a:fld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1BBAFB-C6ED-4820-7CC8-4B2299CB3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9B34F-007A-4505-C473-7A739958F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77DD2-9ABA-4339-C4A0-71FC7FAFE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BE0E50-4C41-4C5F-A6E6-AC7BF62D185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988784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D4698-C369-2023-91B9-BF198125B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4A1741-3F88-8162-B004-697E368D3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6B3B1-73CB-EC00-EED5-0EEA39969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25BD3A-794A-4E96-98D9-29C2B056AD7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26168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E6FFD-939A-BD45-E1E8-529438FC7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43CDE-922C-2344-660F-03C06D117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66662-5449-E588-4330-3A244FF5A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108A3C-4472-4BAF-A76A-4F4F697D913A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002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F96180A-360A-28AC-BC5B-A14C3263B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1FAE49A-406E-6125-F6F8-1D8F79C8F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1914FC4-FB85-D5D5-FABA-19F789F72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88C25F-8E11-4064-AE56-034BE9F0A5E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78618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C118F79-0C6B-8A0F-452A-293937782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DAC1512-3CFA-9ED4-6912-E83D46A6A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F6B54D7-BD1B-60A9-EE0C-E6240E295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5C60ED-42C1-4545-9468-EB382124E435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49002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7A73B05-6FFC-20AB-88CD-C36C2814B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D173DA2-E0C4-C94C-1189-0B6927EA5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9F8BBCA-AB2F-A0B1-0591-4896EDB6C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A3FA38-719B-4553-BB70-BC9B5BFEE365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80714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6FE38D44-9016-3653-11C1-D7EED8428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9221E15-45F9-4641-B1AD-217C36677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80A2E8F-4061-8E93-340C-1D20852C2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0F20B5-584E-4376-A04B-5421FA31DE3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89468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08620D2-93DB-34AF-586C-192F933C1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690FA0B-7904-A676-6163-FD77398C1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1176326-CFAA-29F9-92E3-DCEB4670C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C705C3-B364-4629-A107-E36FCF12B0F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63523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4D5AA8B-B01E-46F3-C62F-FCE7D9A56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8E1609F-5AA5-80F4-30D0-DBCE52369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FA5CEA0-E675-CDA8-9359-23A3EAA6C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24EF56-4ACE-450F-A7DD-8E4C428E809A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40205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2C65B-8123-09AD-C768-EFA9AA22F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5FD1B-7CD8-996E-2C11-932D1F4DB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40A63-02C6-C3BE-37F9-0CD17051A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0B4257-4EAD-4B33-9187-8B0607F5998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0163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8E955-62F5-DD4E-EE52-7755BC986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3F677-8E04-4AF5-7A8F-62E869B9A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1409A-F1AF-841D-E371-7B283311D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E30639-9610-4849-A845-B7AFDD53177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37282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CA64DF63-3DD7-821E-54F3-A943D67D81F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  <a:endParaRPr lang="en-US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D262D890-8658-5D37-F511-34DD99DB7A1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  <a:endParaRPr lang="en-US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DFAD4-83EC-8E6C-126A-4165CC02B6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8FCFC-4EA7-3C10-D20A-1EB4D26558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AD705-2A07-18FC-AAED-DB92C7D6C8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A49CF8B0-F3D1-4896-8BDE-4D5FE3D569F5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itchFamily="34" charset="-128"/>
          <a:cs typeface="MS PGothic" pitchFamily="34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MS PGothic" pitchFamily="34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MS PGothic" pitchFamily="34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MS PGothic" pitchFamily="34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MS PGothic" pitchFamily="34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itchFamily="34" charset="-128"/>
          <a:cs typeface="MS PGothic" pitchFamily="34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rksj.ac.uk/index.html" TargetMode="External"/><Relationship Id="rId2" Type="http://schemas.openxmlformats.org/officeDocument/2006/relationships/hyperlink" Target="http://www.yorksj.ac.uk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schools.com/" TargetMode="External"/><Relationship Id="rId7" Type="http://schemas.openxmlformats.org/officeDocument/2006/relationships/hyperlink" Target="http://www.jsfiddle.net/" TargetMode="External"/><Relationship Id="rId2" Type="http://schemas.openxmlformats.org/officeDocument/2006/relationships/hyperlink" Target="http://www.w3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3schools.com/html/tryit.asp?filename=tryhtml_editor" TargetMode="External"/><Relationship Id="rId5" Type="http://schemas.openxmlformats.org/officeDocument/2006/relationships/hyperlink" Target="http://www.htmldog.com/guides/htmlbeginner/" TargetMode="External"/><Relationship Id="rId4" Type="http://schemas.openxmlformats.org/officeDocument/2006/relationships/hyperlink" Target="https://www.tutorialspoint.com/html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CBD22B11-C1DB-B6A6-2EEE-0A845FB7059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dirty="0">
                <a:latin typeface="Arial" charset="0"/>
                <a:ea typeface="+mj-ea"/>
                <a:cs typeface="+mj-cs"/>
              </a:rPr>
              <a:t>COM4012M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DA12F9B4-B776-2DD3-BE3B-4F6AF00DB9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GB" altLang="en-US" dirty="0">
                <a:solidFill>
                  <a:srgbClr val="898989"/>
                </a:solidFill>
                <a:latin typeface="Arial" panose="020B0604020202020204" pitchFamily="34" charset="0"/>
              </a:rPr>
              <a:t>Week 1 Lab Session 1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GB" altLang="en-US" dirty="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8F2202C2-D04A-7479-0027-CB37804FC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latin typeface="Arial" panose="020B0604020202020204" pitchFamily="34" charset="0"/>
              </a:rPr>
              <a:t>Organisation of the labs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485F7AB5-A19A-1208-6457-B846E074D9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latin typeface="Arial" panose="020B0604020202020204" pitchFamily="34" charset="0"/>
              </a:rPr>
              <a:t>HTML (1-2 weeks)</a:t>
            </a:r>
          </a:p>
          <a:p>
            <a:pPr eaLnBrk="1" hangingPunct="1"/>
            <a:r>
              <a:rPr lang="en-GB" altLang="en-US" dirty="0">
                <a:latin typeface="Arial" panose="020B0604020202020204" pitchFamily="34" charset="0"/>
              </a:rPr>
              <a:t>Cascading Style Sheets (2 weeks)</a:t>
            </a:r>
          </a:p>
          <a:p>
            <a:pPr eaLnBrk="1" hangingPunct="1"/>
            <a:r>
              <a:rPr lang="en-GB" altLang="en-US" dirty="0" err="1">
                <a:latin typeface="Arial" panose="020B0604020202020204" pitchFamily="34" charset="0"/>
              </a:rPr>
              <a:t>Javascript</a:t>
            </a:r>
            <a:r>
              <a:rPr lang="en-GB" altLang="en-US" dirty="0">
                <a:latin typeface="Arial" panose="020B0604020202020204" pitchFamily="34" charset="0"/>
              </a:rPr>
              <a:t> (2 weeks)</a:t>
            </a:r>
          </a:p>
          <a:p>
            <a:pPr eaLnBrk="1" hangingPunct="1"/>
            <a:r>
              <a:rPr lang="en-GB" altLang="en-US" dirty="0">
                <a:latin typeface="Arial" panose="020B0604020202020204" pitchFamily="34" charset="0"/>
              </a:rPr>
              <a:t>PHP and SQL (1 week)</a:t>
            </a:r>
          </a:p>
          <a:p>
            <a:pPr eaLnBrk="1" hangingPunct="1"/>
            <a:r>
              <a:rPr lang="en-GB" altLang="en-US" dirty="0">
                <a:latin typeface="Arial" panose="020B0604020202020204" pitchFamily="34" charset="0"/>
              </a:rPr>
              <a:t>Server-side programming (2 weeks)</a:t>
            </a:r>
          </a:p>
          <a:p>
            <a:pPr eaLnBrk="1" hangingPunct="1"/>
            <a:r>
              <a:rPr lang="en-GB" altLang="en-US" dirty="0">
                <a:latin typeface="Arial" panose="020B0604020202020204" pitchFamily="34" charset="0"/>
              </a:rPr>
              <a:t>HTML5 (2 weeks)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E797F7FA-35BE-19FB-CEDC-6504DEAD1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28600"/>
            <a:ext cx="8229600" cy="838200"/>
          </a:xfrm>
        </p:spPr>
        <p:txBody>
          <a:bodyPr/>
          <a:lstStyle/>
          <a:p>
            <a:pPr eaLnBrk="1" hangingPunct="1"/>
            <a:r>
              <a:rPr lang="en-GB" altLang="en-US">
                <a:latin typeface="Arial" panose="020B0604020202020204" pitchFamily="34" charset="0"/>
              </a:rPr>
              <a:t>HTML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A828AB5-4322-803C-0D20-8A3CC5196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24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sz="2800" dirty="0">
                <a:latin typeface="Arial" panose="020B0604020202020204" pitchFamily="34" charset="0"/>
              </a:rPr>
              <a:t>Web pages are written using Hypertext Markup Language (HTML):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2400" dirty="0">
                <a:latin typeface="Arial" panose="020B0604020202020204" pitchFamily="34" charset="0"/>
              </a:rPr>
              <a:t>Text is marked-up using tags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2400" dirty="0">
                <a:latin typeface="Arial" panose="020B0604020202020204" pitchFamily="34" charset="0"/>
              </a:rPr>
              <a:t>HTML is not a programming language (no variables, conditional statements, or iterative looping)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2400" dirty="0">
                <a:latin typeface="Arial" panose="020B0604020202020204" pitchFamily="34" charset="0"/>
              </a:rPr>
              <a:t>Document contains only text – images, sound, video, etc are in separate files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800" dirty="0">
                <a:latin typeface="Arial" panose="020B0604020202020204" pitchFamily="34" charset="0"/>
              </a:rPr>
              <a:t>Web pages also contain: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2400" dirty="0">
                <a:latin typeface="Arial" panose="020B0604020202020204" pitchFamily="34" charset="0"/>
              </a:rPr>
              <a:t>A Style sheet – defining formatting of the page – using Cascading Style Sheets (CSS)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2400" dirty="0" err="1">
                <a:latin typeface="Arial" panose="020B0604020202020204" pitchFamily="34" charset="0"/>
              </a:rPr>
              <a:t>Javascript</a:t>
            </a:r>
            <a:r>
              <a:rPr lang="en-GB" altLang="en-US" sz="2400" dirty="0">
                <a:latin typeface="Arial" panose="020B0604020202020204" pitchFamily="34" charset="0"/>
              </a:rPr>
              <a:t>, PHP etc. – for making pages interactive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C60AED26-C427-6B88-E02C-E6372E5FE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371600"/>
          </a:xfrm>
        </p:spPr>
        <p:txBody>
          <a:bodyPr/>
          <a:lstStyle/>
          <a:p>
            <a:pPr eaLnBrk="1" hangingPunct="1"/>
            <a:r>
              <a:rPr lang="en-GB" altLang="en-US">
                <a:latin typeface="Arial" panose="020B0604020202020204" pitchFamily="34" charset="0"/>
              </a:rPr>
              <a:t>Creating an HTML document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421D8174-E9C6-0D9A-2EF1-5B04E018F6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410200"/>
          </a:xfrm>
        </p:spPr>
        <p:txBody>
          <a:bodyPr/>
          <a:lstStyle/>
          <a:p>
            <a:pPr lvl="1" eaLnBrk="1" hangingPunct="1">
              <a:lnSpc>
                <a:spcPct val="90000"/>
              </a:lnSpc>
            </a:pPr>
            <a:r>
              <a:rPr lang="en-GB" altLang="en-US" dirty="0">
                <a:latin typeface="Arial" panose="020B0604020202020204" pitchFamily="34" charset="0"/>
              </a:rPr>
              <a:t>You can use:</a:t>
            </a:r>
          </a:p>
          <a:p>
            <a:pPr lvl="2" eaLnBrk="1" hangingPunct="1">
              <a:lnSpc>
                <a:spcPct val="90000"/>
              </a:lnSpc>
            </a:pPr>
            <a:r>
              <a:rPr lang="en-GB" altLang="en-US" dirty="0">
                <a:latin typeface="Arial" panose="020B0604020202020204" pitchFamily="34" charset="0"/>
              </a:rPr>
              <a:t>Any text editor e.g. Notepad, but you need to know the tags</a:t>
            </a:r>
          </a:p>
          <a:p>
            <a:pPr lvl="2" eaLnBrk="1" hangingPunct="1">
              <a:lnSpc>
                <a:spcPct val="90000"/>
              </a:lnSpc>
            </a:pPr>
            <a:r>
              <a:rPr lang="en-GB" altLang="en-US" dirty="0">
                <a:latin typeface="Arial" panose="020B0604020202020204" pitchFamily="34" charset="0"/>
              </a:rPr>
              <a:t>Web authoring package e.g. </a:t>
            </a:r>
            <a:r>
              <a:rPr lang="en-GB" altLang="en-US" dirty="0" err="1">
                <a:latin typeface="Arial" panose="020B0604020202020204" pitchFamily="34" charset="0"/>
              </a:rPr>
              <a:t>Sharepoint</a:t>
            </a:r>
            <a:r>
              <a:rPr lang="en-GB" altLang="en-US" dirty="0">
                <a:latin typeface="Arial" panose="020B0604020202020204" pitchFamily="34" charset="0"/>
              </a:rPr>
              <a:t> Designer or </a:t>
            </a:r>
            <a:r>
              <a:rPr lang="en-GB" altLang="en-US" dirty="0" err="1">
                <a:latin typeface="Arial" panose="020B0604020202020204" pitchFamily="34" charset="0"/>
              </a:rPr>
              <a:t>DreamWeaver</a:t>
            </a:r>
            <a:r>
              <a:rPr lang="en-GB" altLang="en-US" dirty="0">
                <a:latin typeface="Arial" panose="020B0604020202020204" pitchFamily="34" charset="0"/>
              </a:rPr>
              <a:t>, – will put in the tags for you</a:t>
            </a:r>
          </a:p>
          <a:p>
            <a:pPr lvl="2" eaLnBrk="1" hangingPunct="1">
              <a:lnSpc>
                <a:spcPct val="90000"/>
              </a:lnSpc>
            </a:pPr>
            <a:r>
              <a:rPr lang="en-GB" altLang="en-US" dirty="0">
                <a:latin typeface="Arial" panose="020B0604020202020204" pitchFamily="34" charset="0"/>
              </a:rPr>
              <a:t>Programming editor e.g. Brackets will put the tags in but not additional code (best option)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dirty="0">
                <a:latin typeface="Arial" panose="020B0604020202020204" pitchFamily="34" charset="0"/>
              </a:rPr>
              <a:t>But:</a:t>
            </a:r>
          </a:p>
          <a:p>
            <a:pPr lvl="2" eaLnBrk="1" hangingPunct="1">
              <a:lnSpc>
                <a:spcPct val="90000"/>
              </a:lnSpc>
            </a:pPr>
            <a:r>
              <a:rPr lang="en-GB" altLang="en-US" dirty="0">
                <a:latin typeface="Arial" panose="020B0604020202020204" pitchFamily="34" charset="0"/>
              </a:rPr>
              <a:t>An authoring package may use non-standard tags, attributes, and other code which do not work on all servers, browsers, etc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400" dirty="0">
                <a:latin typeface="Arial" panose="020B0604020202020204" pitchFamily="34" charset="0"/>
              </a:rPr>
              <a:t>HTML filenames should have the .</a:t>
            </a:r>
            <a:r>
              <a:rPr lang="en-GB" altLang="en-US" sz="2400" dirty="0" err="1">
                <a:latin typeface="Arial" panose="020B0604020202020204" pitchFamily="34" charset="0"/>
              </a:rPr>
              <a:t>htm</a:t>
            </a:r>
            <a:r>
              <a:rPr lang="en-GB" altLang="en-US" sz="2400" dirty="0">
                <a:latin typeface="Arial" panose="020B0604020202020204" pitchFamily="34" charset="0"/>
              </a:rPr>
              <a:t> or .html extension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400" dirty="0">
                <a:latin typeface="Arial" panose="020B0604020202020204" pitchFamily="34" charset="0"/>
              </a:rPr>
              <a:t>Put all files for a site within one folder (possibly with a sub-folder for images)</a:t>
            </a:r>
            <a:endParaRPr lang="en-GB" altLang="en-US" sz="2800" dirty="0">
              <a:latin typeface="Arial" panose="020B0604020202020204" pitchFamily="34" charset="0"/>
            </a:endParaRPr>
          </a:p>
          <a:p>
            <a:pPr lvl="2" eaLnBrk="1" hangingPunct="1">
              <a:lnSpc>
                <a:spcPct val="90000"/>
              </a:lnSpc>
            </a:pPr>
            <a:endParaRPr lang="en-GB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35CE3211-F9BC-67BC-0B4A-9C78FB20B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Recommendation</a:t>
            </a:r>
          </a:p>
        </p:txBody>
      </p:sp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2C9EBE67-8849-D772-9C35-E1815F78D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GB" altLang="en-US" dirty="0"/>
              <a:t>Always make you home page – index.htm or index.html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alt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altLang="en-US" dirty="0"/>
              <a:t>This way it will automatically be displayed if some types in the web address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alt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altLang="en-US" dirty="0"/>
              <a:t>e.g. </a:t>
            </a:r>
            <a:r>
              <a:rPr lang="en-GB" altLang="en-US" dirty="0">
                <a:hlinkClick r:id="rId2"/>
              </a:rPr>
              <a:t>www.yorksj.ac.uk</a:t>
            </a:r>
            <a:r>
              <a:rPr lang="en-GB" altLang="en-US" dirty="0"/>
              <a:t> will display </a:t>
            </a:r>
            <a:r>
              <a:rPr lang="en-GB" altLang="en-US" dirty="0">
                <a:hlinkClick r:id="rId3"/>
              </a:rPr>
              <a:t>www.yorksj.ac.uk/index.html</a:t>
            </a:r>
            <a:r>
              <a:rPr lang="en-GB" altLang="en-US" dirty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altLang="en-US" dirty="0"/>
              <a:t>Try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5362BEA7-EC92-2F89-F89B-624D5B075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latin typeface="Arial" panose="020B0604020202020204" pitchFamily="34" charset="0"/>
              </a:rPr>
              <a:t>Web Page structure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464945EE-56BF-8A97-9C1C-AD997CFE1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GB" altLang="en-US" sz="2800" dirty="0">
                <a:latin typeface="Arial" panose="020B0604020202020204" pitchFamily="34" charset="0"/>
              </a:rPr>
              <a:t>&lt;!DOCTYPE html&gt;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GB" altLang="en-US" sz="2800" dirty="0">
                <a:latin typeface="Arial Unicode MS"/>
              </a:rPr>
              <a:t>&lt;html lang="</a:t>
            </a:r>
            <a:r>
              <a:rPr lang="en-GB" altLang="en-US" sz="2800" dirty="0" err="1">
                <a:latin typeface="Arial Unicode MS"/>
              </a:rPr>
              <a:t>en</a:t>
            </a:r>
            <a:r>
              <a:rPr lang="en-GB" altLang="en-US" sz="2800" dirty="0">
                <a:latin typeface="Arial Unicode MS"/>
              </a:rPr>
              <a:t>"&gt;</a:t>
            </a:r>
            <a:r>
              <a:rPr lang="en-GB" altLang="en-US" sz="800" dirty="0">
                <a:latin typeface="Arial" panose="020B0604020202020204" pitchFamily="34" charset="0"/>
              </a:rPr>
              <a:t> 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GB" altLang="en-US" sz="2800" dirty="0">
                <a:latin typeface="Arial" panose="020B0604020202020204" pitchFamily="34" charset="0"/>
              </a:rPr>
              <a:t>	&lt;head&gt;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GB" altLang="en-US" sz="2800" dirty="0">
                <a:latin typeface="Arial" panose="020B0604020202020204" pitchFamily="34" charset="0"/>
              </a:rPr>
              <a:t>		&lt;title&gt;Put the page title here&lt;/title&gt;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GB" altLang="en-US" sz="2800" dirty="0">
                <a:latin typeface="Arial" panose="020B0604020202020204" pitchFamily="34" charset="0"/>
              </a:rPr>
              <a:t>	&lt;/head&gt;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GB" altLang="en-US" sz="2800" dirty="0">
                <a:latin typeface="Arial" panose="020B0604020202020204" pitchFamily="34" charset="0"/>
              </a:rPr>
              <a:t>	&lt;body&gt;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GB" altLang="en-US" sz="2800" dirty="0">
                <a:latin typeface="Arial" panose="020B0604020202020204" pitchFamily="34" charset="0"/>
              </a:rPr>
              <a:t>		Your content goes here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GB" altLang="en-US" sz="2800" dirty="0">
                <a:latin typeface="Arial" panose="020B0604020202020204" pitchFamily="34" charset="0"/>
              </a:rPr>
              <a:t>	&lt;/body&gt;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GB" altLang="en-US" sz="2800" dirty="0">
                <a:latin typeface="Arial" panose="020B0604020202020204" pitchFamily="34" charset="0"/>
              </a:rPr>
              <a:t>&lt;/html&gt;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950A9116-3412-627E-4B8A-2177AFA75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latin typeface="Arial" panose="020B0604020202020204" pitchFamily="34" charset="0"/>
              </a:rPr>
              <a:t>HTML tags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DB84FEA7-1E52-722D-BA12-378EF86921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dirty="0">
                <a:latin typeface="Arial" panose="020B0604020202020204" pitchFamily="34" charset="0"/>
              </a:rPr>
              <a:t>Example: &lt;table width = </a:t>
            </a:r>
            <a:r>
              <a:rPr lang="en-US" altLang="ja-JP" dirty="0">
                <a:latin typeface="Arial" panose="020B0604020202020204" pitchFamily="34" charset="0"/>
              </a:rPr>
              <a:t>"</a:t>
            </a:r>
            <a:r>
              <a:rPr lang="en-GB" altLang="ja-JP" dirty="0">
                <a:latin typeface="Arial" panose="020B0604020202020204" pitchFamily="34" charset="0"/>
              </a:rPr>
              <a:t>90%</a:t>
            </a:r>
            <a:r>
              <a:rPr lang="en-US" altLang="ja-JP" dirty="0">
                <a:latin typeface="Arial" panose="020B0604020202020204" pitchFamily="34" charset="0"/>
              </a:rPr>
              <a:t>"</a:t>
            </a:r>
            <a:r>
              <a:rPr lang="en-GB" altLang="ja-JP" dirty="0">
                <a:latin typeface="Arial" panose="020B0604020202020204" pitchFamily="34" charset="0"/>
              </a:rPr>
              <a:t>&gt;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dirty="0">
                <a:latin typeface="Arial" panose="020B0604020202020204" pitchFamily="34" charset="0"/>
              </a:rPr>
              <a:t>Consists of 3 parts: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dirty="0">
                <a:latin typeface="Arial" panose="020B0604020202020204" pitchFamily="34" charset="0"/>
              </a:rPr>
              <a:t>Element: table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dirty="0">
                <a:latin typeface="Arial" panose="020B0604020202020204" pitchFamily="34" charset="0"/>
              </a:rPr>
              <a:t>Attribute: width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dirty="0">
                <a:latin typeface="Arial" panose="020B0604020202020204" pitchFamily="34" charset="0"/>
              </a:rPr>
              <a:t>Value: </a:t>
            </a:r>
            <a:r>
              <a:rPr lang="en-US" altLang="ja-JP" dirty="0">
                <a:latin typeface="Arial" panose="020B0604020202020204" pitchFamily="34" charset="0"/>
              </a:rPr>
              <a:t>"</a:t>
            </a:r>
            <a:r>
              <a:rPr lang="en-GB" altLang="ja-JP" dirty="0">
                <a:latin typeface="Arial" panose="020B0604020202020204" pitchFamily="34" charset="0"/>
              </a:rPr>
              <a:t>90%</a:t>
            </a:r>
            <a:r>
              <a:rPr lang="en-US" altLang="ja-JP" dirty="0">
                <a:latin typeface="Arial" panose="020B0604020202020204" pitchFamily="34" charset="0"/>
              </a:rPr>
              <a:t>"</a:t>
            </a:r>
            <a:endParaRPr lang="en-GB" altLang="ja-JP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GB" altLang="en-US" dirty="0">
                <a:latin typeface="Arial" panose="020B0604020202020204" pitchFamily="34" charset="0"/>
              </a:rPr>
              <a:t>Values go in quotes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dirty="0">
                <a:latin typeface="Arial" panose="020B0604020202020204" pitchFamily="34" charset="0"/>
              </a:rPr>
              <a:t>Values can be percentages or pixels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dirty="0">
                <a:latin typeface="Arial" panose="020B0604020202020204" pitchFamily="34" charset="0"/>
              </a:rPr>
              <a:t>Most elements must be closed: &lt;/table&gt;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66744E79-0205-22F8-1DDE-466E61190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latin typeface="Arial" panose="020B0604020202020204" pitchFamily="34" charset="0"/>
              </a:rPr>
              <a:t>Paragraphs and headings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892F6EC5-4AE6-C49F-C559-4F05855EB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GB" altLang="en-US" sz="2800" dirty="0">
                <a:latin typeface="Arial" panose="020B0604020202020204" pitchFamily="34" charset="0"/>
              </a:rPr>
              <a:t>&lt;p&gt;This is a paragraph.&lt;/p&gt;</a:t>
            </a:r>
          </a:p>
          <a:p>
            <a:pPr eaLnBrk="1" hangingPunct="1">
              <a:lnSpc>
                <a:spcPct val="80000"/>
              </a:lnSpc>
            </a:pPr>
            <a:r>
              <a:rPr lang="en-GB" altLang="en-US" sz="2800" dirty="0">
                <a:latin typeface="Arial" panose="020B0604020202020204" pitchFamily="34" charset="0"/>
              </a:rPr>
              <a:t>&lt;</a:t>
            </a:r>
            <a:r>
              <a:rPr lang="en-GB" altLang="en-US" sz="2800" dirty="0" err="1">
                <a:latin typeface="Arial" panose="020B0604020202020204" pitchFamily="34" charset="0"/>
              </a:rPr>
              <a:t>br</a:t>
            </a:r>
            <a:r>
              <a:rPr lang="en-GB" altLang="en-US" sz="2800" dirty="0">
                <a:latin typeface="Arial" panose="020B0604020202020204" pitchFamily="34" charset="0"/>
              </a:rPr>
              <a:t>&gt;This is on a new line</a:t>
            </a:r>
          </a:p>
          <a:p>
            <a:pPr eaLnBrk="1" hangingPunct="1">
              <a:lnSpc>
                <a:spcPct val="80000"/>
              </a:lnSpc>
            </a:pPr>
            <a:r>
              <a:rPr lang="en-GB" altLang="en-US" sz="2800" dirty="0">
                <a:latin typeface="Arial" panose="020B0604020202020204" pitchFamily="34" charset="0"/>
              </a:rPr>
              <a:t>&lt;h1&gt;This is the main heading&lt;/h1&gt;</a:t>
            </a:r>
          </a:p>
          <a:p>
            <a:pPr eaLnBrk="1" hangingPunct="1">
              <a:lnSpc>
                <a:spcPct val="80000"/>
              </a:lnSpc>
            </a:pPr>
            <a:r>
              <a:rPr lang="en-GB" altLang="en-US" sz="2800" dirty="0">
                <a:latin typeface="Arial" panose="020B0604020202020204" pitchFamily="34" charset="0"/>
              </a:rPr>
              <a:t>&lt;h6&gt;This is a little heading&lt;/h6&gt;</a:t>
            </a:r>
          </a:p>
          <a:p>
            <a:pPr eaLnBrk="1" hangingPunct="1">
              <a:lnSpc>
                <a:spcPct val="80000"/>
              </a:lnSpc>
            </a:pPr>
            <a:r>
              <a:rPr lang="en-GB" altLang="en-US" sz="2800" dirty="0">
                <a:latin typeface="Arial" panose="020B0604020202020204" pitchFamily="34" charset="0"/>
              </a:rPr>
              <a:t>&lt;hr&gt; puts a horizontal rule across the page.</a:t>
            </a:r>
          </a:p>
          <a:p>
            <a:pPr eaLnBrk="1" hangingPunct="1">
              <a:lnSpc>
                <a:spcPct val="80000"/>
              </a:lnSpc>
            </a:pPr>
            <a:r>
              <a:rPr lang="en-GB" altLang="en-US" sz="2800" dirty="0">
                <a:latin typeface="Arial" panose="020B0604020202020204" pitchFamily="34" charset="0"/>
              </a:rPr>
              <a:t>Note: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en-US" sz="2400" dirty="0">
                <a:latin typeface="Arial" panose="020B0604020202020204" pitchFamily="34" charset="0"/>
              </a:rPr>
              <a:t>You can leave out &lt;/p&gt;.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en-US" sz="2400" dirty="0">
                <a:latin typeface="Arial" panose="020B0604020202020204" pitchFamily="34" charset="0"/>
              </a:rPr>
              <a:t>&lt;</a:t>
            </a:r>
            <a:r>
              <a:rPr lang="en-GB" altLang="en-US" sz="2400" dirty="0" err="1">
                <a:latin typeface="Arial" panose="020B0604020202020204" pitchFamily="34" charset="0"/>
              </a:rPr>
              <a:t>br</a:t>
            </a:r>
            <a:r>
              <a:rPr lang="en-GB" altLang="en-US" sz="2400" dirty="0">
                <a:latin typeface="Arial" panose="020B0604020202020204" pitchFamily="34" charset="0"/>
              </a:rPr>
              <a:t>&gt; and &lt;hr&gt; are not required to have a closing tag, but are now written &lt;</a:t>
            </a:r>
            <a:r>
              <a:rPr lang="en-GB" altLang="en-US" sz="2400" dirty="0" err="1">
                <a:latin typeface="Arial" panose="020B0604020202020204" pitchFamily="34" charset="0"/>
              </a:rPr>
              <a:t>br</a:t>
            </a:r>
            <a:r>
              <a:rPr lang="en-GB" altLang="en-US" sz="2400" dirty="0">
                <a:latin typeface="Arial" panose="020B0604020202020204" pitchFamily="34" charset="0"/>
              </a:rPr>
              <a:t> /&gt; and &lt;hr /&gt; so that they do – it is better practice to write them this way.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FBD63F64-063B-2AA2-DC31-D3BB39455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latin typeface="Arial" panose="020B0604020202020204" pitchFamily="34" charset="0"/>
              </a:rPr>
              <a:t>Spaces and Carriage Returns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4F6F675C-783E-D228-9C08-6A301E7AEC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latin typeface="Arial" panose="020B0604020202020204" pitchFamily="34" charset="0"/>
              </a:rPr>
              <a:t>Any carriage returns or extra spaces you insert into the HTML document, make no difference to the page viewed in the browser.</a:t>
            </a:r>
          </a:p>
          <a:p>
            <a:pPr eaLnBrk="1" hangingPunct="1"/>
            <a:r>
              <a:rPr lang="en-GB" altLang="en-US" dirty="0">
                <a:latin typeface="Arial" panose="020B0604020202020204" pitchFamily="34" charset="0"/>
              </a:rPr>
              <a:t>You can format the HTML by inserting carriage returns wherever they make things clearer.</a:t>
            </a:r>
          </a:p>
          <a:p>
            <a:pPr eaLnBrk="1" hangingPunct="1"/>
            <a:r>
              <a:rPr lang="en-GB" altLang="en-US" dirty="0">
                <a:latin typeface="Arial" panose="020B0604020202020204" pitchFamily="34" charset="0"/>
              </a:rPr>
              <a:t>Type &amp;</a:t>
            </a:r>
            <a:r>
              <a:rPr lang="en-GB" altLang="en-US" dirty="0" err="1">
                <a:latin typeface="Arial" panose="020B0604020202020204" pitchFamily="34" charset="0"/>
              </a:rPr>
              <a:t>nbsp</a:t>
            </a:r>
            <a:r>
              <a:rPr lang="en-GB" altLang="en-US" dirty="0">
                <a:latin typeface="Arial" panose="020B0604020202020204" pitchFamily="34" charset="0"/>
              </a:rPr>
              <a:t>; (a non-breaking space) where you want a space.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79C23F70-B7B7-53D1-ED6B-6AA2FA8B2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latin typeface="Arial" panose="020B0604020202020204" pitchFamily="34" charset="0"/>
              </a:rPr>
              <a:t>Lists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3CDC1BB5-DC4F-E73A-E326-8FC3DC840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dirty="0">
                <a:latin typeface="Arial" panose="020B0604020202020204" pitchFamily="34" charset="0"/>
              </a:rPr>
              <a:t>&lt;</a:t>
            </a:r>
            <a:r>
              <a:rPr lang="en-GB" altLang="en-US" dirty="0" err="1">
                <a:latin typeface="Arial" panose="020B0604020202020204" pitchFamily="34" charset="0"/>
              </a:rPr>
              <a:t>ol</a:t>
            </a:r>
            <a:r>
              <a:rPr lang="en-GB" altLang="en-US" dirty="0">
                <a:latin typeface="Arial" panose="020B0604020202020204" pitchFamily="34" charset="0"/>
              </a:rPr>
              <a:t>&gt; Ordered (</a:t>
            </a:r>
            <a:r>
              <a:rPr lang="en-GB" altLang="en-US" dirty="0" err="1">
                <a:latin typeface="Arial" panose="020B0604020202020204" pitchFamily="34" charset="0"/>
              </a:rPr>
              <a:t>ie</a:t>
            </a:r>
            <a:r>
              <a:rPr lang="en-GB" altLang="en-US" dirty="0">
                <a:latin typeface="Arial" panose="020B0604020202020204" pitchFamily="34" charset="0"/>
              </a:rPr>
              <a:t> numbered list)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dirty="0">
                <a:latin typeface="Arial" panose="020B0604020202020204" pitchFamily="34" charset="0"/>
              </a:rPr>
              <a:t>&lt;</a:t>
            </a:r>
            <a:r>
              <a:rPr lang="en-GB" altLang="en-US" dirty="0" err="1">
                <a:latin typeface="Arial" panose="020B0604020202020204" pitchFamily="34" charset="0"/>
              </a:rPr>
              <a:t>ul</a:t>
            </a:r>
            <a:r>
              <a:rPr lang="en-GB" altLang="en-US" dirty="0">
                <a:latin typeface="Arial" panose="020B0604020202020204" pitchFamily="34" charset="0"/>
              </a:rPr>
              <a:t>&gt; Unordered (</a:t>
            </a:r>
            <a:r>
              <a:rPr lang="en-GB" altLang="en-US" dirty="0" err="1">
                <a:latin typeface="Arial" panose="020B0604020202020204" pitchFamily="34" charset="0"/>
              </a:rPr>
              <a:t>ie</a:t>
            </a:r>
            <a:r>
              <a:rPr lang="en-GB" altLang="en-US" dirty="0">
                <a:latin typeface="Arial" panose="020B0604020202020204" pitchFamily="34" charset="0"/>
              </a:rPr>
              <a:t> bulleted list)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dirty="0">
                <a:latin typeface="Arial" panose="020B0604020202020204" pitchFamily="34" charset="0"/>
              </a:rPr>
              <a:t>&lt;li&gt; List item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dirty="0">
                <a:latin typeface="Arial" panose="020B0604020202020204" pitchFamily="34" charset="0"/>
              </a:rPr>
              <a:t>Example:</a:t>
            </a:r>
          </a:p>
          <a:p>
            <a:pPr marL="457200" lvl="1" indent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en-US" dirty="0">
                <a:latin typeface="Arial" panose="020B0604020202020204" pitchFamily="34" charset="0"/>
              </a:rPr>
              <a:t>&lt;</a:t>
            </a:r>
            <a:r>
              <a:rPr lang="en-GB" altLang="en-US" dirty="0" err="1">
                <a:latin typeface="Arial" panose="020B0604020202020204" pitchFamily="34" charset="0"/>
              </a:rPr>
              <a:t>ol</a:t>
            </a:r>
            <a:r>
              <a:rPr lang="en-GB" altLang="en-US" dirty="0">
                <a:latin typeface="Arial" panose="020B0604020202020204" pitchFamily="34" charset="0"/>
              </a:rPr>
              <a:t>&gt;</a:t>
            </a:r>
          </a:p>
          <a:p>
            <a:pPr marL="457200" lvl="1" indent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en-US" dirty="0">
                <a:latin typeface="Arial" panose="020B0604020202020204" pitchFamily="34" charset="0"/>
              </a:rPr>
              <a:t>	&lt;li&gt;First item&lt;/li&gt;</a:t>
            </a:r>
          </a:p>
          <a:p>
            <a:pPr marL="457200" lvl="1" indent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en-US" dirty="0">
                <a:latin typeface="Arial" panose="020B0604020202020204" pitchFamily="34" charset="0"/>
              </a:rPr>
              <a:t>	&lt;li&gt;Second item&lt;/li&gt;</a:t>
            </a:r>
          </a:p>
          <a:p>
            <a:pPr marL="457200" lvl="1" indent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en-US" dirty="0">
                <a:latin typeface="Arial" panose="020B0604020202020204" pitchFamily="34" charset="0"/>
              </a:rPr>
              <a:t>&lt;/</a:t>
            </a:r>
            <a:r>
              <a:rPr lang="en-GB" altLang="en-US" dirty="0" err="1">
                <a:latin typeface="Arial" panose="020B0604020202020204" pitchFamily="34" charset="0"/>
              </a:rPr>
              <a:t>ol</a:t>
            </a:r>
            <a:r>
              <a:rPr lang="en-GB" altLang="en-US" dirty="0">
                <a:latin typeface="Arial" panose="020B0604020202020204" pitchFamily="34" charset="0"/>
              </a:rPr>
              <a:t>&gt;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CF913AC3-A2EB-60CC-3A60-0C428FF5C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latin typeface="Arial" panose="020B0604020202020204" pitchFamily="34" charset="0"/>
              </a:rPr>
              <a:t>Images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81342D44-74E1-97A4-8589-796867BFD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latin typeface="Arial" panose="020B0604020202020204" pitchFamily="34" charset="0"/>
              </a:rPr>
              <a:t>&lt;</a:t>
            </a:r>
            <a:r>
              <a:rPr lang="en-GB" altLang="en-US" dirty="0" err="1">
                <a:latin typeface="Arial" panose="020B0604020202020204" pitchFamily="34" charset="0"/>
              </a:rPr>
              <a:t>img</a:t>
            </a:r>
            <a:r>
              <a:rPr lang="en-GB" altLang="en-US" dirty="0">
                <a:latin typeface="Arial" panose="020B0604020202020204" pitchFamily="34" charset="0"/>
              </a:rPr>
              <a:t> </a:t>
            </a:r>
            <a:r>
              <a:rPr lang="en-GB" altLang="en-US" dirty="0" err="1">
                <a:latin typeface="Arial" panose="020B0604020202020204" pitchFamily="34" charset="0"/>
              </a:rPr>
              <a:t>src</a:t>
            </a:r>
            <a:r>
              <a:rPr lang="en-GB" altLang="en-US" dirty="0">
                <a:latin typeface="Arial" panose="020B0604020202020204" pitchFamily="34" charset="0"/>
              </a:rPr>
              <a:t>=</a:t>
            </a:r>
            <a:r>
              <a:rPr lang="en-US" altLang="ja-JP" dirty="0">
                <a:latin typeface="Arial" panose="020B0604020202020204" pitchFamily="34" charset="0"/>
              </a:rPr>
              <a:t>"</a:t>
            </a:r>
            <a:r>
              <a:rPr lang="en-GB" altLang="ja-JP" dirty="0" err="1">
                <a:latin typeface="Arial" panose="020B0604020202020204" pitchFamily="34" charset="0"/>
              </a:rPr>
              <a:t>mypic.jpg</a:t>
            </a:r>
            <a:r>
              <a:rPr lang="en-US" altLang="ja-JP" dirty="0">
                <a:latin typeface="Arial" panose="020B0604020202020204" pitchFamily="34" charset="0"/>
              </a:rPr>
              <a:t>"</a:t>
            </a:r>
            <a:r>
              <a:rPr lang="en-GB" altLang="ja-JP" dirty="0">
                <a:latin typeface="Arial" panose="020B0604020202020204" pitchFamily="34" charset="0"/>
              </a:rPr>
              <a:t> /&gt;</a:t>
            </a:r>
          </a:p>
          <a:p>
            <a:pPr eaLnBrk="1" hangingPunct="1"/>
            <a:r>
              <a:rPr lang="en-GB" altLang="en-US" dirty="0">
                <a:latin typeface="Arial" panose="020B0604020202020204" pitchFamily="34" charset="0"/>
              </a:rPr>
              <a:t>Allowed picture formats are:</a:t>
            </a:r>
          </a:p>
          <a:p>
            <a:pPr lvl="1" eaLnBrk="1" hangingPunct="1"/>
            <a:r>
              <a:rPr lang="en-GB" altLang="en-US" dirty="0">
                <a:latin typeface="Arial" panose="020B0604020202020204" pitchFamily="34" charset="0"/>
              </a:rPr>
              <a:t>jpg (for photographs)</a:t>
            </a:r>
          </a:p>
          <a:p>
            <a:pPr lvl="1" eaLnBrk="1" hangingPunct="1"/>
            <a:r>
              <a:rPr lang="en-GB" altLang="en-US" dirty="0">
                <a:latin typeface="Arial" panose="020B0604020202020204" pitchFamily="34" charset="0"/>
              </a:rPr>
              <a:t>gif (for drawings)</a:t>
            </a:r>
          </a:p>
          <a:p>
            <a:pPr lvl="1" eaLnBrk="1" hangingPunct="1"/>
            <a:r>
              <a:rPr lang="en-GB" altLang="en-US" dirty="0" err="1">
                <a:latin typeface="Arial" panose="020B0604020202020204" pitchFamily="34" charset="0"/>
              </a:rPr>
              <a:t>png</a:t>
            </a:r>
            <a:endParaRPr lang="en-GB" altLang="en-US" dirty="0">
              <a:latin typeface="Arial" panose="020B0604020202020204" pitchFamily="34" charset="0"/>
            </a:endParaRPr>
          </a:p>
          <a:p>
            <a:pPr eaLnBrk="1" hangingPunct="1"/>
            <a:r>
              <a:rPr lang="en-GB" altLang="en-US" dirty="0">
                <a:latin typeface="Arial" panose="020B0604020202020204" pitchFamily="34" charset="0"/>
              </a:rPr>
              <a:t>&lt;</a:t>
            </a:r>
            <a:r>
              <a:rPr lang="en-GB" altLang="en-US" dirty="0" err="1">
                <a:latin typeface="Arial" panose="020B0604020202020204" pitchFamily="34" charset="0"/>
              </a:rPr>
              <a:t>img</a:t>
            </a:r>
            <a:r>
              <a:rPr lang="en-GB" altLang="en-US" dirty="0">
                <a:latin typeface="Arial" panose="020B0604020202020204" pitchFamily="34" charset="0"/>
              </a:rPr>
              <a:t>&gt; has no closing tag.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54E31682-C623-202F-D775-CE4F91790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latin typeface="Arial" panose="020B0604020202020204" pitchFamily="34" charset="0"/>
              </a:rPr>
              <a:t>Links to other pages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6E6F0D60-6877-6BE6-F138-5702BB5E7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latin typeface="Arial" panose="020B0604020202020204" pitchFamily="34" charset="0"/>
              </a:rPr>
              <a:t>Within the same site:</a:t>
            </a:r>
          </a:p>
          <a:p>
            <a:pPr lvl="1" eaLnBrk="1" hangingPunct="1"/>
            <a:r>
              <a:rPr lang="en-GB" altLang="en-US" dirty="0">
                <a:latin typeface="Arial" panose="020B0604020202020204" pitchFamily="34" charset="0"/>
              </a:rPr>
              <a:t>&lt;a </a:t>
            </a:r>
            <a:r>
              <a:rPr lang="en-GB" altLang="en-US" dirty="0" err="1">
                <a:latin typeface="Arial" panose="020B0604020202020204" pitchFamily="34" charset="0"/>
              </a:rPr>
              <a:t>href</a:t>
            </a:r>
            <a:r>
              <a:rPr lang="en-GB" altLang="en-US" dirty="0">
                <a:latin typeface="Arial" panose="020B0604020202020204" pitchFamily="34" charset="0"/>
              </a:rPr>
              <a:t>=</a:t>
            </a:r>
            <a:r>
              <a:rPr lang="en-US" altLang="ja-JP" dirty="0">
                <a:latin typeface="Arial" panose="020B0604020202020204" pitchFamily="34" charset="0"/>
              </a:rPr>
              <a:t>"</a:t>
            </a:r>
            <a:r>
              <a:rPr lang="en-GB" altLang="ja-JP" dirty="0">
                <a:latin typeface="Arial" panose="020B0604020202020204" pitchFamily="34" charset="0"/>
              </a:rPr>
              <a:t>./</a:t>
            </a:r>
            <a:r>
              <a:rPr lang="en-GB" altLang="ja-JP" dirty="0" err="1">
                <a:latin typeface="Arial" panose="020B0604020202020204" pitchFamily="34" charset="0"/>
              </a:rPr>
              <a:t>mypage.htm</a:t>
            </a:r>
            <a:r>
              <a:rPr lang="en-US" altLang="ja-JP" dirty="0">
                <a:latin typeface="Arial" panose="020B0604020202020204" pitchFamily="34" charset="0"/>
              </a:rPr>
              <a:t>"</a:t>
            </a:r>
            <a:r>
              <a:rPr lang="en-GB" altLang="ja-JP" dirty="0">
                <a:latin typeface="Arial" panose="020B0604020202020204" pitchFamily="34" charset="0"/>
              </a:rPr>
              <a:t>&gt;Click to go to my page&lt;/a&gt;</a:t>
            </a:r>
          </a:p>
          <a:p>
            <a:pPr eaLnBrk="1" hangingPunct="1"/>
            <a:r>
              <a:rPr lang="en-GB" altLang="en-US" dirty="0">
                <a:latin typeface="Arial" panose="020B0604020202020204" pitchFamily="34" charset="0"/>
              </a:rPr>
              <a:t>On another site:</a:t>
            </a:r>
          </a:p>
          <a:p>
            <a:pPr lvl="1" eaLnBrk="1" hangingPunct="1"/>
            <a:r>
              <a:rPr lang="en-GB" altLang="en-US" dirty="0">
                <a:latin typeface="Arial" panose="020B0604020202020204" pitchFamily="34" charset="0"/>
              </a:rPr>
              <a:t>&lt;a </a:t>
            </a:r>
            <a:r>
              <a:rPr lang="en-GB" altLang="en-US" dirty="0" err="1">
                <a:latin typeface="Arial" panose="020B0604020202020204" pitchFamily="34" charset="0"/>
              </a:rPr>
              <a:t>href</a:t>
            </a:r>
            <a:r>
              <a:rPr lang="en-GB" altLang="en-US" dirty="0">
                <a:latin typeface="Arial" panose="020B0604020202020204" pitchFamily="34" charset="0"/>
              </a:rPr>
              <a:t>=</a:t>
            </a:r>
            <a:r>
              <a:rPr lang="en-US" altLang="ja-JP" dirty="0">
                <a:latin typeface="Arial" panose="020B0604020202020204" pitchFamily="34" charset="0"/>
              </a:rPr>
              <a:t>"</a:t>
            </a:r>
            <a:r>
              <a:rPr lang="en-GB" altLang="ja-JP" dirty="0">
                <a:latin typeface="Arial" panose="020B0604020202020204" pitchFamily="34" charset="0"/>
              </a:rPr>
              <a:t>http://www.mysite.co.uk /</a:t>
            </a:r>
            <a:r>
              <a:rPr lang="en-GB" altLang="ja-JP" dirty="0" err="1">
                <a:latin typeface="Arial" panose="020B0604020202020204" pitchFamily="34" charset="0"/>
              </a:rPr>
              <a:t>mypage</a:t>
            </a:r>
            <a:r>
              <a:rPr lang="en-GB" altLang="ja-JP" dirty="0">
                <a:latin typeface="Arial" panose="020B0604020202020204" pitchFamily="34" charset="0"/>
              </a:rPr>
              <a:t>. </a:t>
            </a:r>
            <a:r>
              <a:rPr lang="en-GB" altLang="ja-JP" dirty="0" err="1">
                <a:latin typeface="Arial" panose="020B0604020202020204" pitchFamily="34" charset="0"/>
              </a:rPr>
              <a:t>htm</a:t>
            </a:r>
            <a:r>
              <a:rPr lang="en-US" altLang="ja-JP" dirty="0">
                <a:latin typeface="Arial" panose="020B0604020202020204" pitchFamily="34" charset="0"/>
              </a:rPr>
              <a:t>"</a:t>
            </a:r>
            <a:r>
              <a:rPr lang="en-GB" altLang="ja-JP" dirty="0">
                <a:latin typeface="Arial" panose="020B0604020202020204" pitchFamily="34" charset="0"/>
              </a:rPr>
              <a:t>&gt;Click to go to another site&lt;/a&gt;</a:t>
            </a:r>
            <a:endParaRPr lang="en-GB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BB153C42-29C0-9911-4D37-C6BBC983D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latin typeface="Arial" panose="020B0604020202020204" pitchFamily="34" charset="0"/>
              </a:rPr>
              <a:t>More on links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D60B265B-C297-DFBB-5C93-F0E5BC5F9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latin typeface="Arial" panose="020B0604020202020204" pitchFamily="34" charset="0"/>
              </a:rPr>
              <a:t>In a subfolder:</a:t>
            </a:r>
          </a:p>
          <a:p>
            <a:pPr lvl="1" eaLnBrk="1" hangingPunct="1"/>
            <a:r>
              <a:rPr lang="en-GB" altLang="en-US" dirty="0">
                <a:latin typeface="Arial" panose="020B0604020202020204" pitchFamily="34" charset="0"/>
              </a:rPr>
              <a:t>&lt;a </a:t>
            </a:r>
            <a:r>
              <a:rPr lang="en-GB" altLang="en-US" dirty="0" err="1">
                <a:latin typeface="Arial" panose="020B0604020202020204" pitchFamily="34" charset="0"/>
              </a:rPr>
              <a:t>href</a:t>
            </a:r>
            <a:r>
              <a:rPr lang="en-GB" altLang="en-US" dirty="0">
                <a:latin typeface="Arial" panose="020B0604020202020204" pitchFamily="34" charset="0"/>
              </a:rPr>
              <a:t>=</a:t>
            </a:r>
            <a:r>
              <a:rPr lang="en-US" altLang="ja-JP" dirty="0">
                <a:latin typeface="Arial" panose="020B0604020202020204" pitchFamily="34" charset="0"/>
              </a:rPr>
              <a:t>"</a:t>
            </a:r>
            <a:r>
              <a:rPr lang="en-GB" altLang="ja-JP" dirty="0">
                <a:latin typeface="Arial" panose="020B0604020202020204" pitchFamily="34" charset="0"/>
              </a:rPr>
              <a:t>folder\</a:t>
            </a:r>
            <a:r>
              <a:rPr lang="en-GB" altLang="ja-JP" dirty="0" err="1">
                <a:latin typeface="Arial" panose="020B0604020202020204" pitchFamily="34" charset="0"/>
              </a:rPr>
              <a:t>mypage.htm</a:t>
            </a:r>
            <a:r>
              <a:rPr lang="en-US" altLang="ja-JP" dirty="0">
                <a:latin typeface="Arial" panose="020B0604020202020204" pitchFamily="34" charset="0"/>
              </a:rPr>
              <a:t>"</a:t>
            </a:r>
            <a:r>
              <a:rPr lang="en-GB" altLang="ja-JP" dirty="0">
                <a:latin typeface="Arial" panose="020B0604020202020204" pitchFamily="34" charset="0"/>
              </a:rPr>
              <a:t>&gt;Click to go to my page&lt;/a&gt;</a:t>
            </a:r>
          </a:p>
          <a:p>
            <a:pPr eaLnBrk="1" hangingPunct="1"/>
            <a:r>
              <a:rPr lang="en-GB" altLang="en-US" dirty="0">
                <a:latin typeface="Arial" panose="020B0604020202020204" pitchFamily="34" charset="0"/>
              </a:rPr>
              <a:t>In another folder at same level:</a:t>
            </a:r>
          </a:p>
          <a:p>
            <a:pPr lvl="1" eaLnBrk="1" hangingPunct="1"/>
            <a:r>
              <a:rPr lang="en-GB" altLang="en-US" dirty="0">
                <a:latin typeface="Arial" panose="020B0604020202020204" pitchFamily="34" charset="0"/>
              </a:rPr>
              <a:t>&lt;a </a:t>
            </a:r>
            <a:r>
              <a:rPr lang="en-GB" altLang="en-US" dirty="0" err="1">
                <a:latin typeface="Arial" panose="020B0604020202020204" pitchFamily="34" charset="0"/>
              </a:rPr>
              <a:t>href</a:t>
            </a:r>
            <a:r>
              <a:rPr lang="en-GB" altLang="en-US" dirty="0">
                <a:latin typeface="Arial" panose="020B0604020202020204" pitchFamily="34" charset="0"/>
              </a:rPr>
              <a:t>=</a:t>
            </a:r>
            <a:r>
              <a:rPr lang="en-US" altLang="ja-JP" dirty="0">
                <a:latin typeface="Arial" panose="020B0604020202020204" pitchFamily="34" charset="0"/>
              </a:rPr>
              <a:t>"</a:t>
            </a:r>
            <a:r>
              <a:rPr lang="en-GB" altLang="ja-JP" dirty="0">
                <a:latin typeface="Arial" panose="020B0604020202020204" pitchFamily="34" charset="0"/>
              </a:rPr>
              <a:t>..\folder\</a:t>
            </a:r>
            <a:r>
              <a:rPr lang="en-GB" altLang="ja-JP" dirty="0" err="1">
                <a:latin typeface="Arial" panose="020B0604020202020204" pitchFamily="34" charset="0"/>
              </a:rPr>
              <a:t>mypage.htm</a:t>
            </a:r>
            <a:r>
              <a:rPr lang="en-US" altLang="ja-JP" dirty="0">
                <a:latin typeface="Arial" panose="020B0604020202020204" pitchFamily="34" charset="0"/>
              </a:rPr>
              <a:t>"</a:t>
            </a:r>
            <a:r>
              <a:rPr lang="en-GB" altLang="ja-JP" dirty="0">
                <a:latin typeface="Arial" panose="020B0604020202020204" pitchFamily="34" charset="0"/>
              </a:rPr>
              <a:t>&gt;Click to go to my page&lt;/a&gt;</a:t>
            </a:r>
            <a:endParaRPr lang="en-GB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D805DF77-05C4-12FE-C719-888C1BC25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latin typeface="Arial" panose="020B0604020202020204" pitchFamily="34" charset="0"/>
              </a:rPr>
              <a:t>Bookmarks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F9524D05-EA0A-01DE-41AA-61C48B521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To create a bookmark: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GB" altLang="en-US" dirty="0"/>
              <a:t>&lt;h2 id="Stone castles"&gt;Chapter 3: Stone Castles&lt;/h2&gt;</a:t>
            </a:r>
          </a:p>
          <a:p>
            <a:pPr eaLnBrk="1" hangingPunct="1"/>
            <a:r>
              <a:rPr lang="en-GB" altLang="en-US" dirty="0"/>
              <a:t>To link to a bookmark: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GB" altLang="en-US" dirty="0"/>
              <a:t>From the same page:</a:t>
            </a:r>
          </a:p>
          <a:p>
            <a:pPr lvl="2" eaLnBrk="1" hangingPunct="1"/>
            <a:r>
              <a:rPr lang="en-GB" altLang="en-US" dirty="0"/>
              <a:t>&lt;a </a:t>
            </a:r>
            <a:r>
              <a:rPr lang="en-GB" altLang="en-US" dirty="0" err="1"/>
              <a:t>href</a:t>
            </a:r>
            <a:r>
              <a:rPr lang="en-GB" altLang="en-US" dirty="0"/>
              <a:t>="#Stone castles"&gt;Stone castles&lt;/a&gt;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GB" altLang="en-US" dirty="0"/>
              <a:t>On another page:</a:t>
            </a:r>
          </a:p>
          <a:p>
            <a:pPr lvl="2" eaLnBrk="1" hangingPunct="1"/>
            <a:r>
              <a:rPr lang="en-GB" altLang="en-US" dirty="0"/>
              <a:t>&lt;a </a:t>
            </a:r>
            <a:r>
              <a:rPr lang="en-GB" altLang="en-US" dirty="0" err="1"/>
              <a:t>href</a:t>
            </a:r>
            <a:r>
              <a:rPr lang="en-GB" altLang="en-US" dirty="0"/>
              <a:t>="</a:t>
            </a:r>
            <a:r>
              <a:rPr lang="en-GB" altLang="en-US" dirty="0" err="1"/>
              <a:t>Castles.htm#Stone</a:t>
            </a:r>
            <a:r>
              <a:rPr lang="en-GB" altLang="en-US" dirty="0"/>
              <a:t> castles"&gt;Stone castles&lt;/a&gt;</a:t>
            </a:r>
          </a:p>
          <a:p>
            <a:pPr eaLnBrk="1" hangingPunct="1">
              <a:buFont typeface="Wingdings" panose="05000000000000000000" pitchFamily="2" charset="2"/>
              <a:buChar char="l"/>
            </a:pPr>
            <a:endParaRPr lang="en-GB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90CC92B4-24FA-B51A-1424-54E325912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latin typeface="Arial" panose="020B0604020202020204" pitchFamily="34" charset="0"/>
              </a:rPr>
              <a:t>Nesting tags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DE20B8C3-CB3E-C00E-D2F4-C882B342A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981200"/>
            <a:ext cx="8686800" cy="4114800"/>
          </a:xfrm>
        </p:spPr>
        <p:txBody>
          <a:bodyPr/>
          <a:lstStyle/>
          <a:p>
            <a:pPr eaLnBrk="1" hangingPunct="1"/>
            <a:r>
              <a:rPr lang="en-GB" altLang="en-US" dirty="0">
                <a:latin typeface="Arial" panose="020B0604020202020204" pitchFamily="34" charset="0"/>
              </a:rPr>
              <a:t>Tags must be properly 'nested', </a:t>
            </a:r>
            <a:r>
              <a:rPr lang="en-GB" altLang="en-US" dirty="0" err="1">
                <a:latin typeface="Arial" panose="020B0604020202020204" pitchFamily="34" charset="0"/>
              </a:rPr>
              <a:t>eg</a:t>
            </a:r>
            <a:r>
              <a:rPr lang="en-GB" altLang="en-US" dirty="0">
                <a:latin typeface="Arial" panose="020B0604020202020204" pitchFamily="34" charset="0"/>
              </a:rPr>
              <a:t>:</a:t>
            </a:r>
          </a:p>
          <a:p>
            <a:pPr eaLnBrk="1" hangingPunct="1"/>
            <a:r>
              <a:rPr lang="pt-BR" altLang="en-US" dirty="0">
                <a:latin typeface="Arial" panose="020B0604020202020204" pitchFamily="34" charset="0"/>
              </a:rPr>
              <a:t>Eg: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pt-BR" altLang="en-US" sz="2400" dirty="0">
                <a:latin typeface="Arial" panose="020B0604020202020204" pitchFamily="34" charset="0"/>
              </a:rPr>
              <a:t>	&lt;h2&gt;&lt;a name="Defence"&gt;Defence&lt;/a&gt;&lt;/h2&gt;</a:t>
            </a:r>
          </a:p>
          <a:p>
            <a:pPr eaLnBrk="1" hangingPunct="1"/>
            <a:r>
              <a:rPr lang="en-GB" altLang="en-US" dirty="0">
                <a:latin typeface="Arial" panose="020B0604020202020204" pitchFamily="34" charset="0"/>
              </a:rPr>
              <a:t>i.e. &lt;a&gt;….&lt;/a&gt; is within &lt;h2&gt;….&lt;/h2&gt;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466B8731-46A6-B9A9-6B4B-A4D607138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/>
          <a:lstStyle/>
          <a:p>
            <a:pPr eaLnBrk="1" hangingPunct="1"/>
            <a:r>
              <a:rPr lang="en-GB" altLang="en-US">
                <a:latin typeface="Arial" panose="020B0604020202020204" pitchFamily="34" charset="0"/>
              </a:rPr>
              <a:t>Tables</a:t>
            </a: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1C0AB33C-93C0-4EBF-38CC-896653150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00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sz="2800" dirty="0"/>
              <a:t>&lt;table&gt; - table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800" dirty="0"/>
              <a:t>&lt;tr&gt; - table row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800" dirty="0"/>
              <a:t>&lt;td&gt; - table cell (or &lt;</a:t>
            </a:r>
            <a:r>
              <a:rPr lang="en-GB" altLang="en-US" sz="2800" dirty="0" err="1"/>
              <a:t>th</a:t>
            </a:r>
            <a:r>
              <a:rPr lang="en-GB" altLang="en-US" sz="2800" dirty="0"/>
              <a:t>&gt; in the top row)</a:t>
            </a:r>
          </a:p>
          <a:p>
            <a:pPr eaLnBrk="1" hangingPunct="1">
              <a:lnSpc>
                <a:spcPct val="90000"/>
              </a:lnSpc>
            </a:pPr>
            <a:endParaRPr lang="en-GB" altLang="en-US" sz="2800" dirty="0"/>
          </a:p>
          <a:p>
            <a:pPr eaLnBrk="1" hangingPunct="1">
              <a:lnSpc>
                <a:spcPct val="90000"/>
              </a:lnSpc>
            </a:pPr>
            <a:r>
              <a:rPr lang="en-GB" altLang="en-US" sz="2800" dirty="0"/>
              <a:t>Example:</a:t>
            </a:r>
          </a:p>
          <a:p>
            <a:pPr lvl="1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altLang="en-US" sz="2400" dirty="0"/>
              <a:t>&lt;table&gt;</a:t>
            </a:r>
          </a:p>
          <a:p>
            <a:pPr lvl="2" eaLnBrk="1" hangingPunct="1">
              <a:lnSpc>
                <a:spcPct val="90000"/>
              </a:lnSpc>
            </a:pPr>
            <a:r>
              <a:rPr lang="en-GB" altLang="en-US" sz="2000" dirty="0"/>
              <a:t>&lt;tr&gt;</a:t>
            </a:r>
          </a:p>
          <a:p>
            <a:pPr lvl="3" eaLnBrk="1" hangingPunct="1">
              <a:lnSpc>
                <a:spcPct val="90000"/>
              </a:lnSpc>
            </a:pPr>
            <a:r>
              <a:rPr lang="en-GB" altLang="en-US" sz="1600" dirty="0"/>
              <a:t>&lt;td&gt;HTML&lt;/td&gt;</a:t>
            </a:r>
          </a:p>
          <a:p>
            <a:pPr lvl="3" eaLnBrk="1" hangingPunct="1">
              <a:lnSpc>
                <a:spcPct val="90000"/>
              </a:lnSpc>
            </a:pPr>
            <a:r>
              <a:rPr lang="en-GB" altLang="en-US" sz="1600" dirty="0"/>
              <a:t>&lt;td&gt;Hypertext Markup Language&lt;/td&gt;</a:t>
            </a:r>
          </a:p>
          <a:p>
            <a:pPr lvl="2" eaLnBrk="1" hangingPunct="1">
              <a:lnSpc>
                <a:spcPct val="90000"/>
              </a:lnSpc>
            </a:pPr>
            <a:r>
              <a:rPr lang="en-GB" altLang="en-US" sz="2000" dirty="0"/>
              <a:t>&lt;/tr&gt;</a:t>
            </a:r>
          </a:p>
          <a:p>
            <a:pPr lvl="1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altLang="en-US" sz="2400" dirty="0"/>
              <a:t>&lt;/table&gt;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GB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71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71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71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71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716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716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2" grpId="0"/>
      <p:bldP spid="7168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8349F745-2084-B77C-9FEC-EC8FF0A72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latin typeface="Arial" panose="020B0604020202020204" pitchFamily="34" charset="0"/>
              </a:rPr>
              <a:t>Table width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E203CAC6-2918-6484-E950-2E2A951BA4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As a percentage of the browser window: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GB" altLang="en-US" dirty="0"/>
              <a:t>&lt;table width="80%"&gt;</a:t>
            </a:r>
          </a:p>
          <a:p>
            <a:pPr eaLnBrk="1" hangingPunct="1"/>
            <a:r>
              <a:rPr lang="en-GB" altLang="en-US" dirty="0"/>
              <a:t>A fixed number of pixels: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GB" altLang="en-US" dirty="0"/>
              <a:t>&lt;table width="800"&gt;</a:t>
            </a:r>
          </a:p>
          <a:p>
            <a:pPr eaLnBrk="1" hangingPunct="1"/>
            <a:r>
              <a:rPr lang="en-GB" altLang="en-US" dirty="0"/>
              <a:t>Screen resolution: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GB" altLang="en-US" dirty="0"/>
              <a:t>800 x 600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GB" altLang="en-US" dirty="0"/>
              <a:t>1024 x 768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GB" altLang="en-US" dirty="0"/>
              <a:t>1920 x 1080</a:t>
            </a:r>
          </a:p>
          <a:p>
            <a:pPr eaLnBrk="1" hangingPunct="1">
              <a:buFont typeface="Wingdings" panose="05000000000000000000" pitchFamily="2" charset="2"/>
              <a:buChar char="l"/>
            </a:pPr>
            <a:endParaRPr lang="en-GB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2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7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2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72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727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6" grpId="0"/>
      <p:bldP spid="72707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00D0A00D-CC26-990E-7508-960E147C8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latin typeface="Arial" panose="020B0604020202020204" pitchFamily="34" charset="0"/>
              </a:rPr>
              <a:t>Column width</a:t>
            </a: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AE623F94-62CE-3522-785B-870B1FD22F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Font typeface="Arial" charset="0"/>
              <a:buNone/>
              <a:defRPr/>
            </a:pPr>
            <a:r>
              <a:rPr lang="en-GB" altLang="en-US" dirty="0"/>
              <a:t>&lt;</a:t>
            </a:r>
            <a:r>
              <a:rPr lang="en-GB" altLang="en-US" dirty="0" err="1"/>
              <a:t>tr</a:t>
            </a:r>
            <a:r>
              <a:rPr lang="en-GB" altLang="en-US" dirty="0"/>
              <a:t>&gt;</a:t>
            </a:r>
          </a:p>
          <a:p>
            <a:pPr marL="0" indent="0" eaLnBrk="1" hangingPunct="1">
              <a:buFont typeface="Arial" charset="0"/>
              <a:buNone/>
              <a:defRPr/>
            </a:pPr>
            <a:r>
              <a:rPr lang="en-GB" altLang="en-US" dirty="0"/>
              <a:t>	&lt;</a:t>
            </a:r>
            <a:r>
              <a:rPr lang="en-GB" altLang="en-US" dirty="0" err="1"/>
              <a:t>th</a:t>
            </a:r>
            <a:r>
              <a:rPr lang="en-GB" altLang="en-US" dirty="0"/>
              <a:t> width="30%"&gt;HTML&lt;/</a:t>
            </a:r>
            <a:r>
              <a:rPr lang="en-GB" altLang="en-US" dirty="0" err="1"/>
              <a:t>th</a:t>
            </a:r>
            <a:r>
              <a:rPr lang="en-GB" altLang="en-US" dirty="0"/>
              <a:t>&gt;</a:t>
            </a:r>
          </a:p>
          <a:p>
            <a:pPr marL="0" indent="0" eaLnBrk="1" hangingPunct="1">
              <a:buFont typeface="Arial" charset="0"/>
              <a:buNone/>
              <a:defRPr/>
            </a:pPr>
            <a:r>
              <a:rPr lang="en-GB" altLang="en-US" dirty="0"/>
              <a:t>	&lt;</a:t>
            </a:r>
            <a:r>
              <a:rPr lang="en-GB" altLang="en-US" dirty="0" err="1"/>
              <a:t>th</a:t>
            </a:r>
            <a:r>
              <a:rPr lang="en-GB" altLang="en-US" dirty="0"/>
              <a:t> width="70%"&gt;Hypertext Markup 	Language&lt;/</a:t>
            </a:r>
            <a:r>
              <a:rPr lang="en-GB" altLang="en-US" dirty="0" err="1"/>
              <a:t>th</a:t>
            </a:r>
            <a:r>
              <a:rPr lang="en-GB" altLang="en-US" dirty="0"/>
              <a:t>&gt;</a:t>
            </a:r>
          </a:p>
          <a:p>
            <a:pPr marL="0" indent="0" eaLnBrk="1" hangingPunct="1">
              <a:buFont typeface="Arial" charset="0"/>
              <a:buNone/>
              <a:defRPr/>
            </a:pPr>
            <a:r>
              <a:rPr lang="en-GB" altLang="en-US" dirty="0"/>
              <a:t>&lt;/tr&gt;</a:t>
            </a:r>
          </a:p>
          <a:p>
            <a:pPr marL="0" indent="0" eaLnBrk="1" hangingPunct="1">
              <a:buFont typeface="Arial" charset="0"/>
              <a:buNone/>
              <a:defRPr/>
            </a:pPr>
            <a:endParaRPr lang="en-GB" altLang="en-US" dirty="0"/>
          </a:p>
          <a:p>
            <a:pPr eaLnBrk="1" hangingPunct="1">
              <a:buFont typeface="Wingdings" pitchFamily="2" charset="2"/>
              <a:buChar char="l"/>
              <a:defRPr/>
            </a:pPr>
            <a:endParaRPr lang="en-GB" altLang="en-US" b="1" dirty="0"/>
          </a:p>
          <a:p>
            <a:pPr eaLnBrk="1" hangingPunct="1">
              <a:buFont typeface="Wingdings" pitchFamily="2" charset="2"/>
              <a:buChar char="l"/>
              <a:defRPr/>
            </a:pPr>
            <a:endParaRPr lang="en-GB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3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3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0" grpId="0"/>
      <p:bldP spid="73731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EE5C5F1F-449A-9627-C90B-D7CD77540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latin typeface="Arial" panose="020B0604020202020204" pitchFamily="34" charset="0"/>
              </a:rPr>
              <a:t>Other table attributes</a:t>
            </a: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2A371389-5A26-3E2A-2264-1B2C744C88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latin typeface="Arial" panose="020B0604020202020204" pitchFamily="34" charset="0"/>
              </a:rPr>
              <a:t>&lt;table border="5" cellpadding="3" </a:t>
            </a:r>
            <a:r>
              <a:rPr lang="en-GB" altLang="en-US" dirty="0" err="1">
                <a:latin typeface="Arial" panose="020B0604020202020204" pitchFamily="34" charset="0"/>
              </a:rPr>
              <a:t>cellspacing</a:t>
            </a:r>
            <a:r>
              <a:rPr lang="en-GB" altLang="en-US" dirty="0">
                <a:latin typeface="Arial" panose="020B0604020202020204" pitchFamily="34" charset="0"/>
              </a:rPr>
              <a:t>="0"&gt;</a:t>
            </a:r>
          </a:p>
          <a:p>
            <a:pPr eaLnBrk="1" hangingPunct="1"/>
            <a:r>
              <a:rPr lang="en-GB" altLang="en-US" dirty="0">
                <a:latin typeface="Arial" panose="020B0604020202020204" pitchFamily="34" charset="0"/>
              </a:rPr>
              <a:t>border: width of the table border in pixels</a:t>
            </a:r>
          </a:p>
          <a:p>
            <a:pPr eaLnBrk="1" hangingPunct="1"/>
            <a:r>
              <a:rPr lang="en-GB" altLang="en-US" dirty="0">
                <a:latin typeface="Arial" panose="020B0604020202020204" pitchFamily="34" charset="0"/>
              </a:rPr>
              <a:t>cellpadding: space between the cell border and text in pixels</a:t>
            </a:r>
          </a:p>
          <a:p>
            <a:pPr eaLnBrk="1" hangingPunct="1"/>
            <a:r>
              <a:rPr lang="en-GB" altLang="en-US" dirty="0" err="1">
                <a:latin typeface="Arial" panose="020B0604020202020204" pitchFamily="34" charset="0"/>
              </a:rPr>
              <a:t>cellspacing</a:t>
            </a:r>
            <a:r>
              <a:rPr lang="en-GB" altLang="en-US" dirty="0">
                <a:latin typeface="Arial" panose="020B0604020202020204" pitchFamily="34" charset="0"/>
              </a:rPr>
              <a:t>: gap between adjacent cells in pixels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4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4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4" grpId="0"/>
      <p:bldP spid="74755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36AC3D88-606C-B6B0-3119-EF350A18D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latin typeface="Arial" panose="020B0604020202020204" pitchFamily="34" charset="0"/>
              </a:rPr>
              <a:t>Other cell attributes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6C08F159-6F68-706D-2F4E-CC3ABDA76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latin typeface="Arial" panose="020B0604020202020204" pitchFamily="34" charset="0"/>
              </a:rPr>
              <a:t>&lt;td </a:t>
            </a:r>
            <a:r>
              <a:rPr lang="en-GB" altLang="en-US" dirty="0" err="1">
                <a:latin typeface="Arial" panose="020B0604020202020204" pitchFamily="34" charset="0"/>
              </a:rPr>
              <a:t>colspan</a:t>
            </a:r>
            <a:r>
              <a:rPr lang="en-GB" altLang="en-US" dirty="0">
                <a:latin typeface="Arial" panose="020B0604020202020204" pitchFamily="34" charset="0"/>
              </a:rPr>
              <a:t>="2" align="</a:t>
            </a:r>
            <a:r>
              <a:rPr lang="en-GB" altLang="en-US" dirty="0" err="1">
                <a:latin typeface="Arial" panose="020B0604020202020204" pitchFamily="34" charset="0"/>
              </a:rPr>
              <a:t>center</a:t>
            </a:r>
            <a:r>
              <a:rPr lang="en-GB" altLang="en-US" dirty="0">
                <a:latin typeface="Arial" panose="020B0604020202020204" pitchFamily="34" charset="0"/>
              </a:rPr>
              <a:t>"&gt;</a:t>
            </a:r>
          </a:p>
          <a:p>
            <a:pPr eaLnBrk="1" hangingPunct="1"/>
            <a:r>
              <a:rPr lang="en-GB" altLang="en-US" dirty="0" err="1">
                <a:latin typeface="Arial" panose="020B0604020202020204" pitchFamily="34" charset="0"/>
              </a:rPr>
              <a:t>colspan</a:t>
            </a:r>
            <a:r>
              <a:rPr lang="en-GB" altLang="en-US" dirty="0">
                <a:latin typeface="Arial" panose="020B0604020202020204" pitchFamily="34" charset="0"/>
              </a:rPr>
              <a:t>: how many columns the cell spans (i.e. merges cells)</a:t>
            </a:r>
          </a:p>
          <a:p>
            <a:pPr eaLnBrk="1" hangingPunct="1"/>
            <a:r>
              <a:rPr lang="en-GB" altLang="en-US" dirty="0" err="1">
                <a:latin typeface="Arial" panose="020B0604020202020204" pitchFamily="34" charset="0"/>
              </a:rPr>
              <a:t>rowspan</a:t>
            </a:r>
            <a:r>
              <a:rPr lang="en-GB" altLang="en-US" dirty="0">
                <a:latin typeface="Arial" panose="020B0604020202020204" pitchFamily="34" charset="0"/>
              </a:rPr>
              <a:t>: how many rows the cell spans</a:t>
            </a:r>
          </a:p>
          <a:p>
            <a:pPr eaLnBrk="1" hangingPunct="1"/>
            <a:r>
              <a:rPr lang="en-GB" altLang="en-US" dirty="0">
                <a:latin typeface="Arial" panose="020B0604020202020204" pitchFamily="34" charset="0"/>
              </a:rPr>
              <a:t>align: sets the alignment of the cell contents - left, </a:t>
            </a:r>
            <a:r>
              <a:rPr lang="en-GB" altLang="en-US" dirty="0" err="1">
                <a:latin typeface="Arial" panose="020B0604020202020204" pitchFamily="34" charset="0"/>
              </a:rPr>
              <a:t>center</a:t>
            </a:r>
            <a:r>
              <a:rPr lang="en-GB" altLang="en-US" dirty="0">
                <a:latin typeface="Arial" panose="020B0604020202020204" pitchFamily="34" charset="0"/>
              </a:rPr>
              <a:t>, or right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5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8" grpId="0"/>
      <p:bldP spid="75779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A333709E-0606-3D28-B681-10B7CD113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latin typeface="Arial" panose="020B0604020202020204" pitchFamily="34" charset="0"/>
              </a:rPr>
              <a:t>Reminder - Web Page structure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20A19336-EF7F-7B38-77C2-4F511CBB5D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GB" altLang="en-US" sz="2800" dirty="0">
                <a:latin typeface="Arial" panose="020B0604020202020204" pitchFamily="34" charset="0"/>
              </a:rPr>
              <a:t>&lt;!DOCTYPE html&gt;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GB" altLang="en-US" sz="2800" dirty="0">
                <a:latin typeface="Arial" panose="020B0604020202020204" pitchFamily="34" charset="0"/>
              </a:rPr>
              <a:t>&lt;html lang=</a:t>
            </a:r>
            <a:r>
              <a:rPr lang="en-GB" altLang="en-US" sz="2800" dirty="0">
                <a:latin typeface="Arial Unicode MS"/>
              </a:rPr>
              <a:t>"</a:t>
            </a:r>
            <a:r>
              <a:rPr lang="en-GB" altLang="en-US" sz="2800" dirty="0" err="1">
                <a:latin typeface="Arial Unicode MS"/>
              </a:rPr>
              <a:t>en</a:t>
            </a:r>
            <a:r>
              <a:rPr lang="en-GB" altLang="en-US" sz="2800" dirty="0">
                <a:latin typeface="Arial Unicode MS"/>
              </a:rPr>
              <a:t>"&gt;</a:t>
            </a:r>
            <a:r>
              <a:rPr lang="en-GB" altLang="en-US" sz="800" dirty="0">
                <a:latin typeface="Arial" panose="020B0604020202020204" pitchFamily="34" charset="0"/>
              </a:rPr>
              <a:t> </a:t>
            </a:r>
            <a:endParaRPr lang="en-GB" altLang="en-US" sz="2800" dirty="0">
              <a:latin typeface="Arial" panose="020B0604020202020204" pitchFamily="34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GB" altLang="en-US" sz="2800" dirty="0">
                <a:latin typeface="Arial" panose="020B0604020202020204" pitchFamily="34" charset="0"/>
              </a:rPr>
              <a:t>	&lt;head&gt;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GB" altLang="en-US" sz="2800" dirty="0">
                <a:latin typeface="Arial" panose="020B0604020202020204" pitchFamily="34" charset="0"/>
              </a:rPr>
              <a:t>		&lt;title&gt;Put the page title here&lt;/title&gt;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GB" altLang="en-US" sz="2800" dirty="0">
                <a:latin typeface="Arial" panose="020B0604020202020204" pitchFamily="34" charset="0"/>
              </a:rPr>
              <a:t>	&lt;/head&gt;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GB" altLang="en-US" sz="2800" dirty="0">
                <a:latin typeface="Arial" panose="020B0604020202020204" pitchFamily="34" charset="0"/>
              </a:rPr>
              <a:t>	&lt;body&gt;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GB" altLang="en-US" sz="2800" dirty="0">
                <a:latin typeface="Arial" panose="020B0604020202020204" pitchFamily="34" charset="0"/>
              </a:rPr>
              <a:t>		Your content goes here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GB" altLang="en-US" sz="2800" dirty="0">
                <a:latin typeface="Arial" panose="020B0604020202020204" pitchFamily="34" charset="0"/>
              </a:rPr>
              <a:t>	&lt;/body&gt;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GB" altLang="en-US" sz="2800" dirty="0">
                <a:latin typeface="Arial" panose="020B0604020202020204" pitchFamily="34" charset="0"/>
              </a:rPr>
              <a:t>&lt;/html&gt;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F5A56DE6-4F93-1651-3797-3EB61F286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latin typeface="Arial" panose="020B0604020202020204" pitchFamily="34" charset="0"/>
              </a:rPr>
              <a:t>Useful Web sites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59967F90-AC6E-E533-0567-1BC35A0476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sz="2800" dirty="0">
                <a:latin typeface="Arial" panose="020B0604020202020204" pitchFamily="34" charset="0"/>
                <a:hlinkClick r:id="rId2"/>
              </a:rPr>
              <a:t>www.w3.org</a:t>
            </a:r>
            <a:r>
              <a:rPr lang="en-GB" altLang="en-US" sz="2800" dirty="0">
                <a:latin typeface="Arial" panose="020B0604020202020204" pitchFamily="34" charset="0"/>
              </a:rPr>
              <a:t> – specifications, tutorials &amp; lots more</a:t>
            </a:r>
          </a:p>
          <a:p>
            <a:pPr eaLnBrk="1" hangingPunct="1"/>
            <a:r>
              <a:rPr lang="en-GB" altLang="en-US" sz="2800" dirty="0">
                <a:latin typeface="Arial" panose="020B0604020202020204" pitchFamily="34" charset="0"/>
                <a:hlinkClick r:id="rId3"/>
              </a:rPr>
              <a:t>www.w3schools.com</a:t>
            </a:r>
            <a:r>
              <a:rPr lang="en-GB" altLang="en-US" sz="2800" dirty="0">
                <a:latin typeface="Arial" panose="020B0604020202020204" pitchFamily="34" charset="0"/>
              </a:rPr>
              <a:t> – tutorials &amp; reference</a:t>
            </a:r>
          </a:p>
          <a:p>
            <a:pPr eaLnBrk="1" hangingPunct="1"/>
            <a:r>
              <a:rPr lang="en-GB" altLang="en-US" sz="2800" dirty="0">
                <a:latin typeface="Arial" panose="020B0604020202020204" pitchFamily="34" charset="0"/>
                <a:hlinkClick r:id="rId4"/>
              </a:rPr>
              <a:t>https://www.tutorialspoint.com/html/</a:t>
            </a:r>
            <a:r>
              <a:rPr lang="en-GB" altLang="en-US" sz="2800" dirty="0">
                <a:latin typeface="Arial" panose="020B0604020202020204" pitchFamily="34" charset="0"/>
              </a:rPr>
              <a:t> – tutorials</a:t>
            </a:r>
          </a:p>
          <a:p>
            <a:pPr eaLnBrk="1" hangingPunct="1"/>
            <a:r>
              <a:rPr lang="en-GB" altLang="en-US" sz="2800" dirty="0">
                <a:latin typeface="Arial" panose="020B0604020202020204" pitchFamily="34" charset="0"/>
                <a:hlinkClick r:id="rId5"/>
              </a:rPr>
              <a:t>www.htmldog.com/guides/htmlbeginner/</a:t>
            </a:r>
            <a:r>
              <a:rPr lang="en-GB" altLang="en-US" sz="2800" dirty="0">
                <a:latin typeface="Arial" panose="020B0604020202020204" pitchFamily="34" charset="0"/>
              </a:rPr>
              <a:t> - beginner</a:t>
            </a:r>
            <a:r>
              <a:rPr lang="ja-JP" altLang="en-GB" sz="2800" dirty="0">
                <a:latin typeface="Arial" panose="020B0604020202020204" pitchFamily="34" charset="0"/>
              </a:rPr>
              <a:t>’</a:t>
            </a:r>
            <a:r>
              <a:rPr lang="en-GB" altLang="ja-JP" sz="2800" dirty="0">
                <a:latin typeface="Arial" panose="020B0604020202020204" pitchFamily="34" charset="0"/>
              </a:rPr>
              <a:t>s tutorial</a:t>
            </a:r>
          </a:p>
          <a:p>
            <a:pPr eaLnBrk="1" hangingPunct="1"/>
            <a:r>
              <a:rPr lang="en-GB" altLang="ja-JP" sz="2800" dirty="0">
                <a:latin typeface="Arial" panose="020B0604020202020204" pitchFamily="34" charset="0"/>
                <a:hlinkClick r:id="rId6"/>
              </a:rPr>
              <a:t>https://www.w3schools.com/html/tryit.asp?filename=tryhtml_editor</a:t>
            </a:r>
            <a:r>
              <a:rPr lang="en-GB" altLang="ja-JP" sz="2800" dirty="0">
                <a:latin typeface="Arial" panose="020B0604020202020204" pitchFamily="34" charset="0"/>
              </a:rPr>
              <a:t> Playground</a:t>
            </a:r>
          </a:p>
          <a:p>
            <a:pPr eaLnBrk="1" hangingPunct="1"/>
            <a:r>
              <a:rPr lang="en-GB" altLang="ja-JP" sz="2800" dirty="0">
                <a:latin typeface="Arial" panose="020B0604020202020204" pitchFamily="34" charset="0"/>
                <a:hlinkClick r:id="rId7"/>
              </a:rPr>
              <a:t>www.jsfiddle.net</a:t>
            </a:r>
            <a:r>
              <a:rPr lang="en-GB" altLang="ja-JP" sz="2800" dirty="0">
                <a:latin typeface="Arial" panose="020B0604020202020204" pitchFamily="34" charset="0"/>
              </a:rPr>
              <a:t> Playground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2735</TotalTime>
  <Words>1238</Words>
  <Application>Microsoft Macintosh PowerPoint</Application>
  <PresentationFormat>On-screen Show (4:3)</PresentationFormat>
  <Paragraphs>162</Paragraphs>
  <Slides>22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 Unicode MS</vt:lpstr>
      <vt:lpstr>Arial</vt:lpstr>
      <vt:lpstr>Calibri</vt:lpstr>
      <vt:lpstr>Wingdings</vt:lpstr>
      <vt:lpstr>Office Theme</vt:lpstr>
      <vt:lpstr>COM4012M</vt:lpstr>
      <vt:lpstr>Organisation of the labs</vt:lpstr>
      <vt:lpstr>HTML</vt:lpstr>
      <vt:lpstr>Creating an HTML document</vt:lpstr>
      <vt:lpstr>Recommendation</vt:lpstr>
      <vt:lpstr>Web Page structure</vt:lpstr>
      <vt:lpstr>HTML tags</vt:lpstr>
      <vt:lpstr>Paragraphs and headings</vt:lpstr>
      <vt:lpstr>Spaces and Carriage Returns</vt:lpstr>
      <vt:lpstr>Lists</vt:lpstr>
      <vt:lpstr>Images</vt:lpstr>
      <vt:lpstr>Links to other pages</vt:lpstr>
      <vt:lpstr>More on links</vt:lpstr>
      <vt:lpstr>Bookmarks</vt:lpstr>
      <vt:lpstr>Nesting tags</vt:lpstr>
      <vt:lpstr>Tables</vt:lpstr>
      <vt:lpstr>Table width</vt:lpstr>
      <vt:lpstr>Column width</vt:lpstr>
      <vt:lpstr>Other table attributes</vt:lpstr>
      <vt:lpstr>Other cell attributes</vt:lpstr>
      <vt:lpstr>Reminder - Web Page structure</vt:lpstr>
      <vt:lpstr>Useful Web sites</vt:lpstr>
    </vt:vector>
  </TitlesOfParts>
  <Company>York St John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1IT060 Developing Hypermedia</dc:title>
  <dc:creator>adkins</dc:creator>
  <cp:lastModifiedBy>Soumya Banerjee</cp:lastModifiedBy>
  <cp:revision>84</cp:revision>
  <dcterms:created xsi:type="dcterms:W3CDTF">2004-02-03T17:25:57Z</dcterms:created>
  <dcterms:modified xsi:type="dcterms:W3CDTF">2026-02-13T07:34:04Z</dcterms:modified>
</cp:coreProperties>
</file>