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9" r:id="rId3"/>
    <p:sldId id="257" r:id="rId4"/>
    <p:sldId id="260" r:id="rId5"/>
    <p:sldId id="261" r:id="rId6"/>
    <p:sldId id="262" r:id="rId7"/>
    <p:sldId id="263" r:id="rId8"/>
    <p:sldId id="264" r:id="rId9"/>
    <p:sldId id="287" r:id="rId10"/>
    <p:sldId id="265" r:id="rId11"/>
    <p:sldId id="266" r:id="rId12"/>
    <p:sldId id="267" r:id="rId13"/>
    <p:sldId id="268" r:id="rId14"/>
    <p:sldId id="269" r:id="rId15"/>
    <p:sldId id="270" r:id="rId16"/>
    <p:sldId id="291" r:id="rId17"/>
    <p:sldId id="292" r:id="rId18"/>
    <p:sldId id="290"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Lst>
  <p:sldSz cx="12192000" cy="6858000"/>
  <p:notesSz cx="6858000" cy="9144000"/>
  <p:defaultTextStyle>
    <a:defPPr>
      <a:defRPr lang="en-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843"/>
    <p:restoredTop sz="94662"/>
  </p:normalViewPr>
  <p:slideViewPr>
    <p:cSldViewPr snapToGrid="0">
      <p:cViewPr varScale="1">
        <p:scale>
          <a:sx n="93" d="100"/>
          <a:sy n="93" d="100"/>
        </p:scale>
        <p:origin x="216" y="5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FCDF0-80F4-3D3A-E72B-40ED589ABFF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829077CB-A7F2-B4D3-133B-F6F776383B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52D02505-8C5F-4685-C307-151B94B51195}"/>
              </a:ext>
            </a:extLst>
          </p:cNvPr>
          <p:cNvSpPr>
            <a:spLocks noGrp="1"/>
          </p:cNvSpPr>
          <p:nvPr>
            <p:ph type="dt" sz="half" idx="10"/>
          </p:nvPr>
        </p:nvSpPr>
        <p:spPr/>
        <p:txBody>
          <a:bodyPr/>
          <a:lstStyle/>
          <a:p>
            <a:fld id="{5664356B-D2A7-3949-BB65-F59F54FD8FBC}" type="datetimeFigureOut">
              <a:rPr lang="en-GB" smtClean="0"/>
              <a:t>12/02/2026</a:t>
            </a:fld>
            <a:endParaRPr lang="en-GB"/>
          </a:p>
        </p:txBody>
      </p:sp>
      <p:sp>
        <p:nvSpPr>
          <p:cNvPr id="5" name="Footer Placeholder 4">
            <a:extLst>
              <a:ext uri="{FF2B5EF4-FFF2-40B4-BE49-F238E27FC236}">
                <a16:creationId xmlns:a16="http://schemas.microsoft.com/office/drawing/2014/main" id="{8B17D207-1C03-9C46-CFAC-8966142EDDE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9B40B76-FACB-AA31-7F1D-9BEC452AE439}"/>
              </a:ext>
            </a:extLst>
          </p:cNvPr>
          <p:cNvSpPr>
            <a:spLocks noGrp="1"/>
          </p:cNvSpPr>
          <p:nvPr>
            <p:ph type="sldNum" sz="quarter" idx="12"/>
          </p:nvPr>
        </p:nvSpPr>
        <p:spPr/>
        <p:txBody>
          <a:bodyPr/>
          <a:lstStyle/>
          <a:p>
            <a:fld id="{D0503795-60D7-4244-B997-5E9B57D891E6}" type="slidenum">
              <a:rPr lang="en-GB" smtClean="0"/>
              <a:t>‹#›</a:t>
            </a:fld>
            <a:endParaRPr lang="en-GB"/>
          </a:p>
        </p:txBody>
      </p:sp>
    </p:spTree>
    <p:extLst>
      <p:ext uri="{BB962C8B-B14F-4D97-AF65-F5344CB8AC3E}">
        <p14:creationId xmlns:p14="http://schemas.microsoft.com/office/powerpoint/2010/main" val="863800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63D73-E97E-7FD1-5F84-87A9864084FF}"/>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91DADB08-E14F-CCB3-A4B8-6A7E98DA0EE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E3012C88-DF1A-A9B9-F1EB-19D888ED74B7}"/>
              </a:ext>
            </a:extLst>
          </p:cNvPr>
          <p:cNvSpPr>
            <a:spLocks noGrp="1"/>
          </p:cNvSpPr>
          <p:nvPr>
            <p:ph type="dt" sz="half" idx="10"/>
          </p:nvPr>
        </p:nvSpPr>
        <p:spPr/>
        <p:txBody>
          <a:bodyPr/>
          <a:lstStyle/>
          <a:p>
            <a:fld id="{5664356B-D2A7-3949-BB65-F59F54FD8FBC}" type="datetimeFigureOut">
              <a:rPr lang="en-GB" smtClean="0"/>
              <a:t>12/02/2026</a:t>
            </a:fld>
            <a:endParaRPr lang="en-GB"/>
          </a:p>
        </p:txBody>
      </p:sp>
      <p:sp>
        <p:nvSpPr>
          <p:cNvPr id="5" name="Footer Placeholder 4">
            <a:extLst>
              <a:ext uri="{FF2B5EF4-FFF2-40B4-BE49-F238E27FC236}">
                <a16:creationId xmlns:a16="http://schemas.microsoft.com/office/drawing/2014/main" id="{B73148BE-7DF6-2BB5-8424-7E24F97AA4B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0470867-5B4B-DA06-9688-D5017CAB335B}"/>
              </a:ext>
            </a:extLst>
          </p:cNvPr>
          <p:cNvSpPr>
            <a:spLocks noGrp="1"/>
          </p:cNvSpPr>
          <p:nvPr>
            <p:ph type="sldNum" sz="quarter" idx="12"/>
          </p:nvPr>
        </p:nvSpPr>
        <p:spPr/>
        <p:txBody>
          <a:bodyPr/>
          <a:lstStyle/>
          <a:p>
            <a:fld id="{D0503795-60D7-4244-B997-5E9B57D891E6}" type="slidenum">
              <a:rPr lang="en-GB" smtClean="0"/>
              <a:t>‹#›</a:t>
            </a:fld>
            <a:endParaRPr lang="en-GB"/>
          </a:p>
        </p:txBody>
      </p:sp>
    </p:spTree>
    <p:extLst>
      <p:ext uri="{BB962C8B-B14F-4D97-AF65-F5344CB8AC3E}">
        <p14:creationId xmlns:p14="http://schemas.microsoft.com/office/powerpoint/2010/main" val="25016739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C755F-9CC3-B27B-07CD-C78E10795719}"/>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1164907A-CC56-1F8C-7F92-88FD2E4D50F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B46CF3C-C6B3-5E09-0F01-2484D155119B}"/>
              </a:ext>
            </a:extLst>
          </p:cNvPr>
          <p:cNvSpPr>
            <a:spLocks noGrp="1"/>
          </p:cNvSpPr>
          <p:nvPr>
            <p:ph type="dt" sz="half" idx="10"/>
          </p:nvPr>
        </p:nvSpPr>
        <p:spPr/>
        <p:txBody>
          <a:bodyPr/>
          <a:lstStyle/>
          <a:p>
            <a:fld id="{5664356B-D2A7-3949-BB65-F59F54FD8FBC}" type="datetimeFigureOut">
              <a:rPr lang="en-GB" smtClean="0"/>
              <a:t>12/02/2026</a:t>
            </a:fld>
            <a:endParaRPr lang="en-GB"/>
          </a:p>
        </p:txBody>
      </p:sp>
      <p:sp>
        <p:nvSpPr>
          <p:cNvPr id="5" name="Footer Placeholder 4">
            <a:extLst>
              <a:ext uri="{FF2B5EF4-FFF2-40B4-BE49-F238E27FC236}">
                <a16:creationId xmlns:a16="http://schemas.microsoft.com/office/drawing/2014/main" id="{B5BFCDB0-8253-4F09-F9C2-506F1342C5C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471081C-366C-4283-A922-DE8D9BCBFACB}"/>
              </a:ext>
            </a:extLst>
          </p:cNvPr>
          <p:cNvSpPr>
            <a:spLocks noGrp="1"/>
          </p:cNvSpPr>
          <p:nvPr>
            <p:ph type="sldNum" sz="quarter" idx="12"/>
          </p:nvPr>
        </p:nvSpPr>
        <p:spPr/>
        <p:txBody>
          <a:bodyPr/>
          <a:lstStyle/>
          <a:p>
            <a:fld id="{D0503795-60D7-4244-B997-5E9B57D891E6}" type="slidenum">
              <a:rPr lang="en-GB" smtClean="0"/>
              <a:t>‹#›</a:t>
            </a:fld>
            <a:endParaRPr lang="en-GB"/>
          </a:p>
        </p:txBody>
      </p:sp>
    </p:spTree>
    <p:extLst>
      <p:ext uri="{BB962C8B-B14F-4D97-AF65-F5344CB8AC3E}">
        <p14:creationId xmlns:p14="http://schemas.microsoft.com/office/powerpoint/2010/main" val="1089436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462D8-EACA-4B81-C2A6-885EA30B0DA6}"/>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4EC2DFA2-27D9-C7C3-2FFB-1335603EC47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59FF4D0E-D822-5C11-C5E0-82668903178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2AD421D8-D074-97B6-C9DD-6F3FB6C6C39C}"/>
              </a:ext>
            </a:extLst>
          </p:cNvPr>
          <p:cNvSpPr>
            <a:spLocks noGrp="1"/>
          </p:cNvSpPr>
          <p:nvPr>
            <p:ph type="dt" sz="half" idx="10"/>
          </p:nvPr>
        </p:nvSpPr>
        <p:spPr/>
        <p:txBody>
          <a:bodyPr/>
          <a:lstStyle/>
          <a:p>
            <a:fld id="{5664356B-D2A7-3949-BB65-F59F54FD8FBC}" type="datetimeFigureOut">
              <a:rPr lang="en-GB" smtClean="0"/>
              <a:t>12/02/2026</a:t>
            </a:fld>
            <a:endParaRPr lang="en-GB"/>
          </a:p>
        </p:txBody>
      </p:sp>
      <p:sp>
        <p:nvSpPr>
          <p:cNvPr id="6" name="Footer Placeholder 5">
            <a:extLst>
              <a:ext uri="{FF2B5EF4-FFF2-40B4-BE49-F238E27FC236}">
                <a16:creationId xmlns:a16="http://schemas.microsoft.com/office/drawing/2014/main" id="{B2D25279-5D2C-32F9-7BD1-F2ABFFBD606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9A76DCA-754F-7FD6-1E20-64E30D803D23}"/>
              </a:ext>
            </a:extLst>
          </p:cNvPr>
          <p:cNvSpPr>
            <a:spLocks noGrp="1"/>
          </p:cNvSpPr>
          <p:nvPr>
            <p:ph type="sldNum" sz="quarter" idx="12"/>
          </p:nvPr>
        </p:nvSpPr>
        <p:spPr/>
        <p:txBody>
          <a:bodyPr/>
          <a:lstStyle/>
          <a:p>
            <a:fld id="{D0503795-60D7-4244-B997-5E9B57D891E6}" type="slidenum">
              <a:rPr lang="en-GB" smtClean="0"/>
              <a:t>‹#›</a:t>
            </a:fld>
            <a:endParaRPr lang="en-GB"/>
          </a:p>
        </p:txBody>
      </p:sp>
    </p:spTree>
    <p:extLst>
      <p:ext uri="{BB962C8B-B14F-4D97-AF65-F5344CB8AC3E}">
        <p14:creationId xmlns:p14="http://schemas.microsoft.com/office/powerpoint/2010/main" val="836899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C6D09-9D30-29BA-0D25-3AE17E2152E9}"/>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9AF39222-EEB4-B991-F975-560905B876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1B6DAC2-922F-4369-1AFE-3421133AA81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1DABC9FD-A776-C114-20B4-7E7CABD98AB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D3015F9-62B2-FF82-CA42-3EED79B5C61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EB2F65A9-4870-EB8E-1D31-8ED0867982CB}"/>
              </a:ext>
            </a:extLst>
          </p:cNvPr>
          <p:cNvSpPr>
            <a:spLocks noGrp="1"/>
          </p:cNvSpPr>
          <p:nvPr>
            <p:ph type="dt" sz="half" idx="10"/>
          </p:nvPr>
        </p:nvSpPr>
        <p:spPr/>
        <p:txBody>
          <a:bodyPr/>
          <a:lstStyle/>
          <a:p>
            <a:fld id="{5664356B-D2A7-3949-BB65-F59F54FD8FBC}" type="datetimeFigureOut">
              <a:rPr lang="en-GB" smtClean="0"/>
              <a:t>12/02/2026</a:t>
            </a:fld>
            <a:endParaRPr lang="en-GB"/>
          </a:p>
        </p:txBody>
      </p:sp>
      <p:sp>
        <p:nvSpPr>
          <p:cNvPr id="8" name="Footer Placeholder 7">
            <a:extLst>
              <a:ext uri="{FF2B5EF4-FFF2-40B4-BE49-F238E27FC236}">
                <a16:creationId xmlns:a16="http://schemas.microsoft.com/office/drawing/2014/main" id="{D2D4FD4F-D05F-0225-9221-0DE893CB71E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0C7A13B3-09A3-FA4F-85BC-38EC8678EC69}"/>
              </a:ext>
            </a:extLst>
          </p:cNvPr>
          <p:cNvSpPr>
            <a:spLocks noGrp="1"/>
          </p:cNvSpPr>
          <p:nvPr>
            <p:ph type="sldNum" sz="quarter" idx="12"/>
          </p:nvPr>
        </p:nvSpPr>
        <p:spPr/>
        <p:txBody>
          <a:bodyPr/>
          <a:lstStyle/>
          <a:p>
            <a:fld id="{D0503795-60D7-4244-B997-5E9B57D891E6}" type="slidenum">
              <a:rPr lang="en-GB" smtClean="0"/>
              <a:t>‹#›</a:t>
            </a:fld>
            <a:endParaRPr lang="en-GB"/>
          </a:p>
        </p:txBody>
      </p:sp>
    </p:spTree>
    <p:extLst>
      <p:ext uri="{BB962C8B-B14F-4D97-AF65-F5344CB8AC3E}">
        <p14:creationId xmlns:p14="http://schemas.microsoft.com/office/powerpoint/2010/main" val="3415991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12F12-ACCB-FB1F-EEE7-9EC9766E8EBA}"/>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2AE5F809-4425-8781-EC96-11B49E479AB5}"/>
              </a:ext>
            </a:extLst>
          </p:cNvPr>
          <p:cNvSpPr>
            <a:spLocks noGrp="1"/>
          </p:cNvSpPr>
          <p:nvPr>
            <p:ph type="dt" sz="half" idx="10"/>
          </p:nvPr>
        </p:nvSpPr>
        <p:spPr/>
        <p:txBody>
          <a:bodyPr/>
          <a:lstStyle/>
          <a:p>
            <a:fld id="{5664356B-D2A7-3949-BB65-F59F54FD8FBC}" type="datetimeFigureOut">
              <a:rPr lang="en-GB" smtClean="0"/>
              <a:t>12/02/2026</a:t>
            </a:fld>
            <a:endParaRPr lang="en-GB"/>
          </a:p>
        </p:txBody>
      </p:sp>
      <p:sp>
        <p:nvSpPr>
          <p:cNvPr id="4" name="Footer Placeholder 3">
            <a:extLst>
              <a:ext uri="{FF2B5EF4-FFF2-40B4-BE49-F238E27FC236}">
                <a16:creationId xmlns:a16="http://schemas.microsoft.com/office/drawing/2014/main" id="{12F915B4-0422-57E7-908B-6871D009A13B}"/>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48917E0-7B1C-6EFA-0731-5842F132EAC0}"/>
              </a:ext>
            </a:extLst>
          </p:cNvPr>
          <p:cNvSpPr>
            <a:spLocks noGrp="1"/>
          </p:cNvSpPr>
          <p:nvPr>
            <p:ph type="sldNum" sz="quarter" idx="12"/>
          </p:nvPr>
        </p:nvSpPr>
        <p:spPr/>
        <p:txBody>
          <a:bodyPr/>
          <a:lstStyle/>
          <a:p>
            <a:fld id="{D0503795-60D7-4244-B997-5E9B57D891E6}" type="slidenum">
              <a:rPr lang="en-GB" smtClean="0"/>
              <a:t>‹#›</a:t>
            </a:fld>
            <a:endParaRPr lang="en-GB"/>
          </a:p>
        </p:txBody>
      </p:sp>
    </p:spTree>
    <p:extLst>
      <p:ext uri="{BB962C8B-B14F-4D97-AF65-F5344CB8AC3E}">
        <p14:creationId xmlns:p14="http://schemas.microsoft.com/office/powerpoint/2010/main" val="3363991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7AF749-D19D-85DC-CF40-AEA5D028FF73}"/>
              </a:ext>
            </a:extLst>
          </p:cNvPr>
          <p:cNvSpPr>
            <a:spLocks noGrp="1"/>
          </p:cNvSpPr>
          <p:nvPr>
            <p:ph type="dt" sz="half" idx="10"/>
          </p:nvPr>
        </p:nvSpPr>
        <p:spPr/>
        <p:txBody>
          <a:bodyPr/>
          <a:lstStyle/>
          <a:p>
            <a:fld id="{5664356B-D2A7-3949-BB65-F59F54FD8FBC}" type="datetimeFigureOut">
              <a:rPr lang="en-GB" smtClean="0"/>
              <a:t>12/02/2026</a:t>
            </a:fld>
            <a:endParaRPr lang="en-GB"/>
          </a:p>
        </p:txBody>
      </p:sp>
      <p:sp>
        <p:nvSpPr>
          <p:cNvPr id="3" name="Footer Placeholder 2">
            <a:extLst>
              <a:ext uri="{FF2B5EF4-FFF2-40B4-BE49-F238E27FC236}">
                <a16:creationId xmlns:a16="http://schemas.microsoft.com/office/drawing/2014/main" id="{CA78E462-28C8-DD36-D7DF-C5958BF55FE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C4175734-AA43-C14E-A01C-5CBE23E016C1}"/>
              </a:ext>
            </a:extLst>
          </p:cNvPr>
          <p:cNvSpPr>
            <a:spLocks noGrp="1"/>
          </p:cNvSpPr>
          <p:nvPr>
            <p:ph type="sldNum" sz="quarter" idx="12"/>
          </p:nvPr>
        </p:nvSpPr>
        <p:spPr/>
        <p:txBody>
          <a:bodyPr/>
          <a:lstStyle/>
          <a:p>
            <a:fld id="{D0503795-60D7-4244-B997-5E9B57D891E6}" type="slidenum">
              <a:rPr lang="en-GB" smtClean="0"/>
              <a:t>‹#›</a:t>
            </a:fld>
            <a:endParaRPr lang="en-GB"/>
          </a:p>
        </p:txBody>
      </p:sp>
    </p:spTree>
    <p:extLst>
      <p:ext uri="{BB962C8B-B14F-4D97-AF65-F5344CB8AC3E}">
        <p14:creationId xmlns:p14="http://schemas.microsoft.com/office/powerpoint/2010/main" val="2765454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EE46D-BD57-7F18-33FE-F40EA919345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2FF05B05-EDA3-82DE-F450-F54B563F0C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BC6FECE7-5383-353B-4477-5EE3EEC208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3700FA2-224F-2756-199B-EDEF71D7D2B0}"/>
              </a:ext>
            </a:extLst>
          </p:cNvPr>
          <p:cNvSpPr>
            <a:spLocks noGrp="1"/>
          </p:cNvSpPr>
          <p:nvPr>
            <p:ph type="dt" sz="half" idx="10"/>
          </p:nvPr>
        </p:nvSpPr>
        <p:spPr/>
        <p:txBody>
          <a:bodyPr/>
          <a:lstStyle/>
          <a:p>
            <a:fld id="{5664356B-D2A7-3949-BB65-F59F54FD8FBC}" type="datetimeFigureOut">
              <a:rPr lang="en-GB" smtClean="0"/>
              <a:t>12/02/2026</a:t>
            </a:fld>
            <a:endParaRPr lang="en-GB"/>
          </a:p>
        </p:txBody>
      </p:sp>
      <p:sp>
        <p:nvSpPr>
          <p:cNvPr id="6" name="Footer Placeholder 5">
            <a:extLst>
              <a:ext uri="{FF2B5EF4-FFF2-40B4-BE49-F238E27FC236}">
                <a16:creationId xmlns:a16="http://schemas.microsoft.com/office/drawing/2014/main" id="{3F9A742B-34D6-31BC-DEA5-7A84C238042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DD82E45-D29A-653C-0145-411BBEF1C435}"/>
              </a:ext>
            </a:extLst>
          </p:cNvPr>
          <p:cNvSpPr>
            <a:spLocks noGrp="1"/>
          </p:cNvSpPr>
          <p:nvPr>
            <p:ph type="sldNum" sz="quarter" idx="12"/>
          </p:nvPr>
        </p:nvSpPr>
        <p:spPr/>
        <p:txBody>
          <a:bodyPr/>
          <a:lstStyle/>
          <a:p>
            <a:fld id="{D0503795-60D7-4244-B997-5E9B57D891E6}" type="slidenum">
              <a:rPr lang="en-GB" smtClean="0"/>
              <a:t>‹#›</a:t>
            </a:fld>
            <a:endParaRPr lang="en-GB"/>
          </a:p>
        </p:txBody>
      </p:sp>
    </p:spTree>
    <p:extLst>
      <p:ext uri="{BB962C8B-B14F-4D97-AF65-F5344CB8AC3E}">
        <p14:creationId xmlns:p14="http://schemas.microsoft.com/office/powerpoint/2010/main" val="8380998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80407-B196-073D-5C8D-E17949FE7B3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D46751E6-EDD3-5925-1544-9DAF994C56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664BD47-CE51-3191-45F2-C9EB281B0A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7C2BA3D-4C58-A396-D2F3-ABE4F98295B5}"/>
              </a:ext>
            </a:extLst>
          </p:cNvPr>
          <p:cNvSpPr>
            <a:spLocks noGrp="1"/>
          </p:cNvSpPr>
          <p:nvPr>
            <p:ph type="dt" sz="half" idx="10"/>
          </p:nvPr>
        </p:nvSpPr>
        <p:spPr/>
        <p:txBody>
          <a:bodyPr/>
          <a:lstStyle/>
          <a:p>
            <a:fld id="{5664356B-D2A7-3949-BB65-F59F54FD8FBC}" type="datetimeFigureOut">
              <a:rPr lang="en-GB" smtClean="0"/>
              <a:t>12/02/2026</a:t>
            </a:fld>
            <a:endParaRPr lang="en-GB"/>
          </a:p>
        </p:txBody>
      </p:sp>
      <p:sp>
        <p:nvSpPr>
          <p:cNvPr id="6" name="Footer Placeholder 5">
            <a:extLst>
              <a:ext uri="{FF2B5EF4-FFF2-40B4-BE49-F238E27FC236}">
                <a16:creationId xmlns:a16="http://schemas.microsoft.com/office/drawing/2014/main" id="{CD961DEB-3925-007F-3268-245DBC7AF4C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EE5DDD1-B574-219D-7AB7-2066B1283FB0}"/>
              </a:ext>
            </a:extLst>
          </p:cNvPr>
          <p:cNvSpPr>
            <a:spLocks noGrp="1"/>
          </p:cNvSpPr>
          <p:nvPr>
            <p:ph type="sldNum" sz="quarter" idx="12"/>
          </p:nvPr>
        </p:nvSpPr>
        <p:spPr/>
        <p:txBody>
          <a:bodyPr/>
          <a:lstStyle/>
          <a:p>
            <a:fld id="{D0503795-60D7-4244-B997-5E9B57D891E6}" type="slidenum">
              <a:rPr lang="en-GB" smtClean="0"/>
              <a:t>‹#›</a:t>
            </a:fld>
            <a:endParaRPr lang="en-GB"/>
          </a:p>
        </p:txBody>
      </p:sp>
    </p:spTree>
    <p:extLst>
      <p:ext uri="{BB962C8B-B14F-4D97-AF65-F5344CB8AC3E}">
        <p14:creationId xmlns:p14="http://schemas.microsoft.com/office/powerpoint/2010/main" val="36554711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A079D-6F04-C96A-4A38-7B684B4A9BE8}"/>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62D4B810-93F7-CE52-CA4F-69D61D270D8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963F36B6-6484-745B-B146-8B758C52785D}"/>
              </a:ext>
            </a:extLst>
          </p:cNvPr>
          <p:cNvSpPr>
            <a:spLocks noGrp="1"/>
          </p:cNvSpPr>
          <p:nvPr>
            <p:ph type="dt" sz="half" idx="10"/>
          </p:nvPr>
        </p:nvSpPr>
        <p:spPr/>
        <p:txBody>
          <a:bodyPr/>
          <a:lstStyle/>
          <a:p>
            <a:fld id="{5664356B-D2A7-3949-BB65-F59F54FD8FBC}" type="datetimeFigureOut">
              <a:rPr lang="en-GB" smtClean="0"/>
              <a:t>12/02/2026</a:t>
            </a:fld>
            <a:endParaRPr lang="en-GB"/>
          </a:p>
        </p:txBody>
      </p:sp>
      <p:sp>
        <p:nvSpPr>
          <p:cNvPr id="5" name="Footer Placeholder 4">
            <a:extLst>
              <a:ext uri="{FF2B5EF4-FFF2-40B4-BE49-F238E27FC236}">
                <a16:creationId xmlns:a16="http://schemas.microsoft.com/office/drawing/2014/main" id="{E32407CD-533F-6133-1E29-AA085EB8344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7AA6F33-C308-2743-0866-5FC2E4F94BE1}"/>
              </a:ext>
            </a:extLst>
          </p:cNvPr>
          <p:cNvSpPr>
            <a:spLocks noGrp="1"/>
          </p:cNvSpPr>
          <p:nvPr>
            <p:ph type="sldNum" sz="quarter" idx="12"/>
          </p:nvPr>
        </p:nvSpPr>
        <p:spPr/>
        <p:txBody>
          <a:bodyPr/>
          <a:lstStyle/>
          <a:p>
            <a:fld id="{D0503795-60D7-4244-B997-5E9B57D891E6}" type="slidenum">
              <a:rPr lang="en-GB" smtClean="0"/>
              <a:t>‹#›</a:t>
            </a:fld>
            <a:endParaRPr lang="en-GB"/>
          </a:p>
        </p:txBody>
      </p:sp>
    </p:spTree>
    <p:extLst>
      <p:ext uri="{BB962C8B-B14F-4D97-AF65-F5344CB8AC3E}">
        <p14:creationId xmlns:p14="http://schemas.microsoft.com/office/powerpoint/2010/main" val="1835865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D8564B-156A-5845-240F-C50FDC442749}"/>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FAE7607E-31A7-16E6-16C5-6972DAC6E41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F93A6333-61ED-E15D-B78E-5ABE91FD9F48}"/>
              </a:ext>
            </a:extLst>
          </p:cNvPr>
          <p:cNvSpPr>
            <a:spLocks noGrp="1"/>
          </p:cNvSpPr>
          <p:nvPr>
            <p:ph type="dt" sz="half" idx="10"/>
          </p:nvPr>
        </p:nvSpPr>
        <p:spPr/>
        <p:txBody>
          <a:bodyPr/>
          <a:lstStyle/>
          <a:p>
            <a:fld id="{5664356B-D2A7-3949-BB65-F59F54FD8FBC}" type="datetimeFigureOut">
              <a:rPr lang="en-GB" smtClean="0"/>
              <a:t>12/02/2026</a:t>
            </a:fld>
            <a:endParaRPr lang="en-GB"/>
          </a:p>
        </p:txBody>
      </p:sp>
      <p:sp>
        <p:nvSpPr>
          <p:cNvPr id="5" name="Footer Placeholder 4">
            <a:extLst>
              <a:ext uri="{FF2B5EF4-FFF2-40B4-BE49-F238E27FC236}">
                <a16:creationId xmlns:a16="http://schemas.microsoft.com/office/drawing/2014/main" id="{A535C2AC-6468-F667-C0F0-6A19E8F459E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26E5DA9-B292-AE4F-0A30-8D99C97AA9B8}"/>
              </a:ext>
            </a:extLst>
          </p:cNvPr>
          <p:cNvSpPr>
            <a:spLocks noGrp="1"/>
          </p:cNvSpPr>
          <p:nvPr>
            <p:ph type="sldNum" sz="quarter" idx="12"/>
          </p:nvPr>
        </p:nvSpPr>
        <p:spPr/>
        <p:txBody>
          <a:bodyPr/>
          <a:lstStyle/>
          <a:p>
            <a:fld id="{D0503795-60D7-4244-B997-5E9B57D891E6}" type="slidenum">
              <a:rPr lang="en-GB" smtClean="0"/>
              <a:t>‹#›</a:t>
            </a:fld>
            <a:endParaRPr lang="en-GB"/>
          </a:p>
        </p:txBody>
      </p:sp>
    </p:spTree>
    <p:extLst>
      <p:ext uri="{BB962C8B-B14F-4D97-AF65-F5344CB8AC3E}">
        <p14:creationId xmlns:p14="http://schemas.microsoft.com/office/powerpoint/2010/main" val="25063808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97CBB3-2CFC-E1B0-F401-72C33736D3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0F39EA11-26CE-028A-BCA2-3594E82130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CE52E45D-0A04-2261-B267-885E988F16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664356B-D2A7-3949-BB65-F59F54FD8FBC}" type="datetimeFigureOut">
              <a:rPr lang="en-GB" smtClean="0"/>
              <a:t>12/02/2026</a:t>
            </a:fld>
            <a:endParaRPr lang="en-GB"/>
          </a:p>
        </p:txBody>
      </p:sp>
      <p:sp>
        <p:nvSpPr>
          <p:cNvPr id="5" name="Footer Placeholder 4">
            <a:extLst>
              <a:ext uri="{FF2B5EF4-FFF2-40B4-BE49-F238E27FC236}">
                <a16:creationId xmlns:a16="http://schemas.microsoft.com/office/drawing/2014/main" id="{AE0DAF66-D162-5A08-B655-0507055CDD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31AC8AB8-A111-FA17-D867-53F87296E2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0503795-60D7-4244-B997-5E9B57D891E6}" type="slidenum">
              <a:rPr lang="en-GB" smtClean="0"/>
              <a:t>‹#›</a:t>
            </a:fld>
            <a:endParaRPr lang="en-GB"/>
          </a:p>
        </p:txBody>
      </p:sp>
    </p:spTree>
    <p:extLst>
      <p:ext uri="{BB962C8B-B14F-4D97-AF65-F5344CB8AC3E}">
        <p14:creationId xmlns:p14="http://schemas.microsoft.com/office/powerpoint/2010/main" val="875179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bassma.al-jubouri@ntnu.no"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mailto:a.wells1@yorksj.ac.uk" TargetMode="External"/><Relationship Id="rId2" Type="http://schemas.openxmlformats.org/officeDocument/2006/relationships/hyperlink" Target="mailto:s.banerjee@yorksj.ac.uk"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www.w3.org/"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growthdrivendesign.com/how-it-works/agile-web-design-vs-waterfall"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growthdrivendesign.com/how-it-works/agile-web-design-vs-waterfall"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www.gov.uk/guidance/accessibility-requirements-for-public-sector-websites-and-apps"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colorbrewer2.org/#type=sequential&amp;scheme=PuBuGn&amp;n=3"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www.useit.com/" TargetMode="External"/><Relationship Id="rId2" Type="http://schemas.openxmlformats.org/officeDocument/2006/relationships/hyperlink" Target="http://www.jjg.net/elements/pdf/elements_ch02.pdf" TargetMode="External"/><Relationship Id="rId1" Type="http://schemas.openxmlformats.org/officeDocument/2006/relationships/slideLayout" Target="../slideLayouts/slideLayout2.xml"/><Relationship Id="rId4" Type="http://schemas.openxmlformats.org/officeDocument/2006/relationships/hyperlink" Target="http://www.w3c.org/wai"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hyperlink" Target="http://www2.pnwx.com/" TargetMode="External"/><Relationship Id="rId3" Type="http://schemas.openxmlformats.org/officeDocument/2006/relationships/hyperlink" Target="https://www.sphere.bc.ca/oldsite/index.html" TargetMode="External"/><Relationship Id="rId7" Type="http://schemas.openxmlformats.org/officeDocument/2006/relationships/hyperlink" Target="http://arngren.net/" TargetMode="External"/><Relationship Id="rId12" Type="http://schemas.openxmlformats.org/officeDocument/2006/relationships/hyperlink" Target="http://www.lingscars.com/" TargetMode="External"/><Relationship Id="rId2" Type="http://schemas.openxmlformats.org/officeDocument/2006/relationships/hyperlink" Target="http://themagicofbaltimore.blogspot.co.uk/" TargetMode="External"/><Relationship Id="rId1" Type="http://schemas.openxmlformats.org/officeDocument/2006/relationships/slideLayout" Target="../slideLayouts/slideLayout2.xml"/><Relationship Id="rId6" Type="http://schemas.openxmlformats.org/officeDocument/2006/relationships/hyperlink" Target="http://www.pennyjuice.com/" TargetMode="External"/><Relationship Id="rId11" Type="http://schemas.openxmlformats.org/officeDocument/2006/relationships/hyperlink" Target="http://superfastnorthyorkshire.com/" TargetMode="External"/><Relationship Id="rId5" Type="http://schemas.openxmlformats.org/officeDocument/2006/relationships/hyperlink" Target="http://www.gatheringofnations.com/" TargetMode="External"/><Relationship Id="rId10" Type="http://schemas.openxmlformats.org/officeDocument/2006/relationships/hyperlink" Target="http://www.007museum.com/" TargetMode="External"/><Relationship Id="rId4" Type="http://schemas.openxmlformats.org/officeDocument/2006/relationships/hyperlink" Target="http://www.libertyvan.com/" TargetMode="External"/><Relationship Id="rId9" Type="http://schemas.openxmlformats.org/officeDocument/2006/relationships/hyperlink" Target="https://www.art.yale.ed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8D071E-9E9E-E521-8501-BF98159B818E}"/>
              </a:ext>
            </a:extLst>
          </p:cNvPr>
          <p:cNvSpPr>
            <a:spLocks noGrp="1"/>
          </p:cNvSpPr>
          <p:nvPr>
            <p:ph type="ctrTitle"/>
          </p:nvPr>
        </p:nvSpPr>
        <p:spPr>
          <a:xfrm>
            <a:off x="838199" y="1093788"/>
            <a:ext cx="10506455" cy="2967208"/>
          </a:xfrm>
        </p:spPr>
        <p:txBody>
          <a:bodyPr>
            <a:normAutofit/>
          </a:bodyPr>
          <a:lstStyle/>
          <a:p>
            <a:pPr algn="l"/>
            <a:r>
              <a:rPr lang="en-GB" sz="6800"/>
              <a:t>COM4012M</a:t>
            </a:r>
            <a:r>
              <a:rPr lang="en-GB" sz="6800" spc="155"/>
              <a:t> </a:t>
            </a:r>
            <a:r>
              <a:rPr lang="en-GB" sz="6800"/>
              <a:t>Programming</a:t>
            </a:r>
            <a:r>
              <a:rPr lang="en-GB" sz="6800" spc="165"/>
              <a:t> </a:t>
            </a:r>
            <a:r>
              <a:rPr lang="en-GB" sz="6800" spc="-25"/>
              <a:t>02 </a:t>
            </a:r>
            <a:r>
              <a:rPr lang="en-GB" sz="6800"/>
              <a:t>Programming for</a:t>
            </a:r>
            <a:r>
              <a:rPr lang="en-GB" sz="6800" spc="10"/>
              <a:t> </a:t>
            </a:r>
            <a:r>
              <a:rPr lang="en-GB" sz="6800"/>
              <a:t>the</a:t>
            </a:r>
            <a:r>
              <a:rPr lang="en-GB" sz="6800" spc="10"/>
              <a:t> </a:t>
            </a:r>
            <a:r>
              <a:rPr lang="en-GB" sz="6800" spc="-25"/>
              <a:t>Web</a:t>
            </a:r>
            <a:endParaRPr lang="en-GB" sz="6800"/>
          </a:p>
        </p:txBody>
      </p:sp>
      <p:sp>
        <p:nvSpPr>
          <p:cNvPr id="3" name="Subtitle 2">
            <a:extLst>
              <a:ext uri="{FF2B5EF4-FFF2-40B4-BE49-F238E27FC236}">
                <a16:creationId xmlns:a16="http://schemas.microsoft.com/office/drawing/2014/main" id="{9253569E-91B2-A2D1-9B0A-1FABAAD66DA0}"/>
              </a:ext>
            </a:extLst>
          </p:cNvPr>
          <p:cNvSpPr>
            <a:spLocks noGrp="1"/>
          </p:cNvSpPr>
          <p:nvPr>
            <p:ph type="subTitle" idx="1"/>
          </p:nvPr>
        </p:nvSpPr>
        <p:spPr>
          <a:xfrm>
            <a:off x="7400924" y="4619624"/>
            <a:ext cx="3946779" cy="1038225"/>
          </a:xfrm>
        </p:spPr>
        <p:txBody>
          <a:bodyPr>
            <a:normAutofit/>
          </a:bodyPr>
          <a:lstStyle/>
          <a:p>
            <a:pPr algn="r">
              <a:spcBef>
                <a:spcPts val="365"/>
              </a:spcBef>
            </a:pPr>
            <a:r>
              <a:rPr lang="en-GB" b="1" spc="-10" dirty="0">
                <a:latin typeface="Carlito"/>
                <a:cs typeface="Carlito"/>
              </a:rPr>
              <a:t>Introduction</a:t>
            </a:r>
            <a:endParaRPr lang="en-GB" dirty="0">
              <a:latin typeface="Carlito"/>
              <a:cs typeface="Carlito"/>
            </a:endParaRPr>
          </a:p>
          <a:p>
            <a:pPr algn="r">
              <a:spcBef>
                <a:spcPts val="260"/>
              </a:spcBef>
            </a:pPr>
            <a:r>
              <a:rPr lang="en-GB" dirty="0">
                <a:latin typeface="Carlito"/>
                <a:cs typeface="Carlito"/>
              </a:rPr>
              <a:t>Week</a:t>
            </a:r>
            <a:r>
              <a:rPr lang="en-GB" spc="-130" dirty="0">
                <a:latin typeface="Carlito"/>
                <a:cs typeface="Carlito"/>
              </a:rPr>
              <a:t> </a:t>
            </a:r>
            <a:r>
              <a:rPr lang="en-GB" spc="-50" dirty="0">
                <a:latin typeface="Carlito"/>
                <a:cs typeface="Carlito"/>
              </a:rPr>
              <a:t>1</a:t>
            </a:r>
            <a:endParaRPr lang="en-GB" dirty="0">
              <a:latin typeface="Carlito"/>
              <a:cs typeface="Carlito"/>
            </a:endParaRPr>
          </a:p>
        </p:txBody>
      </p:sp>
      <p:sp>
        <p:nvSpPr>
          <p:cNvPr id="10" name="Rectangle 9">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2" name="Rectangle 11">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Undertittel 2">
            <a:extLst>
              <a:ext uri="{FF2B5EF4-FFF2-40B4-BE49-F238E27FC236}">
                <a16:creationId xmlns:a16="http://schemas.microsoft.com/office/drawing/2014/main" id="{0C97E80B-3F7F-AF51-8B39-76F5C4035581}"/>
              </a:ext>
            </a:extLst>
          </p:cNvPr>
          <p:cNvSpPr txBox="1">
            <a:spLocks/>
          </p:cNvSpPr>
          <p:nvPr/>
        </p:nvSpPr>
        <p:spPr>
          <a:xfrm>
            <a:off x="732979" y="4444198"/>
            <a:ext cx="4443932" cy="1811708"/>
          </a:xfrm>
          <a:prstGeom prst="rect">
            <a:avLst/>
          </a:prstGeom>
        </p:spPr>
        <p:txBody>
          <a:bodyPr vert="horz" lIns="91440" tIns="45720" rIns="91440" bIns="45720" rtlCol="0">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US" sz="2133" dirty="0">
                <a:solidFill>
                  <a:schemeClr val="bg1">
                    <a:lumMod val="50000"/>
                  </a:schemeClr>
                </a:solidFill>
                <a:latin typeface="Arial" panose="020B0604020202020204" pitchFamily="34" charset="0"/>
                <a:ea typeface="Times New Roman" panose="02020603050405020304" pitchFamily="18" charset="0"/>
                <a:cs typeface="Arial" panose="020B0604020202020204" pitchFamily="34" charset="0"/>
              </a:rPr>
              <a:t>Dr Soumya Banerjee,</a:t>
            </a:r>
            <a:br>
              <a:rPr lang="en-US" sz="2133" dirty="0">
                <a:solidFill>
                  <a:schemeClr val="bg1">
                    <a:lumMod val="50000"/>
                  </a:schemeClr>
                </a:solidFill>
                <a:latin typeface="Arial" panose="020B0604020202020204" pitchFamily="34" charset="0"/>
                <a:ea typeface="Times New Roman" panose="02020603050405020304" pitchFamily="18" charset="0"/>
                <a:cs typeface="Arial" panose="020B0604020202020204" pitchFamily="34" charset="0"/>
              </a:rPr>
            </a:br>
            <a:r>
              <a:rPr lang="en-US" sz="2133" dirty="0">
                <a:solidFill>
                  <a:schemeClr val="bg1">
                    <a:lumMod val="50000"/>
                  </a:schemeClr>
                </a:solidFill>
                <a:latin typeface="Arial" panose="020B0604020202020204" pitchFamily="34" charset="0"/>
                <a:ea typeface="Times New Roman" panose="02020603050405020304" pitchFamily="18" charset="0"/>
                <a:cs typeface="Arial" panose="020B0604020202020204" pitchFamily="34" charset="0"/>
              </a:rPr>
              <a:t>Senior Lecturer in Computer Science </a:t>
            </a:r>
          </a:p>
          <a:p>
            <a:pPr algn="l"/>
            <a:r>
              <a:rPr lang="en-NO" sz="2133">
                <a:solidFill>
                  <a:schemeClr val="bg1">
                    <a:lumMod val="50000"/>
                  </a:schemeClr>
                </a:solidFill>
                <a:latin typeface="Arial" panose="020B0604020202020204" pitchFamily="34" charset="0"/>
                <a:ea typeface="Times New Roman" panose="02020603050405020304" pitchFamily="18" charset="0"/>
                <a:cs typeface="Arial" panose="020B0604020202020204" pitchFamily="34" charset="0"/>
              </a:rPr>
              <a:t>Contact:</a:t>
            </a:r>
            <a:r>
              <a:rPr lang="en-GB" sz="2133" u="sng" dirty="0" err="1">
                <a:solidFill>
                  <a:schemeClr val="bg1">
                    <a:lumMod val="50000"/>
                  </a:schemeClr>
                </a:solidFill>
                <a:latin typeface="Arial" panose="020B0604020202020204" pitchFamily="34" charset="0"/>
                <a:ea typeface="Times New Roman" panose="02020603050405020304" pitchFamily="18" charset="0"/>
                <a:cs typeface="Arial" panose="020B0604020202020204" pitchFamily="34" charset="0"/>
              </a:rPr>
              <a:t>s.banerjee</a:t>
            </a:r>
            <a:r>
              <a:rPr lang="en-GB" sz="2133" u="sng" dirty="0" err="1">
                <a:solidFill>
                  <a:schemeClr val="bg1">
                    <a:lumMod val="50000"/>
                  </a:schemeClr>
                </a:solidFill>
                <a:latin typeface="Arial" panose="020B0604020202020204" pitchFamily="34" charset="0"/>
                <a:ea typeface="Times New Roman" panose="02020603050405020304" pitchFamily="18" charset="0"/>
                <a:cs typeface="Arial" panose="020B0604020202020204" pitchFamily="34" charset="0"/>
                <a:hlinkClick r:id="rId2" tooltip="mailto:bassma.al-jubouri@ntnu.no">
                  <a:extLst>
                    <a:ext uri="{A12FA001-AC4F-418D-AE19-62706E023703}">
                      <ahyp:hlinkClr xmlns:ahyp="http://schemas.microsoft.com/office/drawing/2018/hyperlinkcolor" val="tx"/>
                    </a:ext>
                  </a:extLst>
                </a:hlinkClick>
              </a:rPr>
              <a:t>@</a:t>
            </a:r>
            <a:r>
              <a:rPr lang="en-GB" sz="2133" u="sng" dirty="0" err="1">
                <a:solidFill>
                  <a:schemeClr val="bg1">
                    <a:lumMod val="50000"/>
                  </a:schemeClr>
                </a:solidFill>
                <a:latin typeface="Arial" panose="020B0604020202020204" pitchFamily="34" charset="0"/>
                <a:ea typeface="Times New Roman" panose="02020603050405020304" pitchFamily="18" charset="0"/>
                <a:cs typeface="Arial" panose="020B0604020202020204" pitchFamily="34" charset="0"/>
              </a:rPr>
              <a:t>yorksj.ac.uk</a:t>
            </a:r>
            <a:endParaRPr lang="en-NO" sz="2133" dirty="0">
              <a:solidFill>
                <a:schemeClr val="bg1">
                  <a:lumMod val="50000"/>
                </a:schemeClr>
              </a:solidFill>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409782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000"/>
                                  </p:stCondLst>
                                  <p:iterate type="wd">
                                    <p:tmPct val="15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F14CC67-928C-7FC8-3EFE-5A1044913195}"/>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Module overview</a:t>
            </a:r>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91826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E1B902A-4DC2-6000-B1AE-A0AAA65EFFD6}"/>
              </a:ext>
            </a:extLst>
          </p:cNvPr>
          <p:cNvSpPr>
            <a:spLocks noGrp="1"/>
          </p:cNvSpPr>
          <p:nvPr>
            <p:ph type="title"/>
          </p:nvPr>
        </p:nvSpPr>
        <p:spPr>
          <a:xfrm>
            <a:off x="1115568" y="548640"/>
            <a:ext cx="10168128" cy="1179576"/>
          </a:xfrm>
        </p:spPr>
        <p:txBody>
          <a:bodyPr>
            <a:normAutofit/>
          </a:bodyPr>
          <a:lstStyle/>
          <a:p>
            <a:r>
              <a:rPr lang="en-GB" sz="4000">
                <a:latin typeface="Carlito"/>
                <a:cs typeface="Carlito"/>
              </a:rPr>
              <a:t>Session Frequency and Schedule</a:t>
            </a:r>
            <a:endParaRPr lang="en-GB" sz="400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852736A3-7C4A-33B9-7E67-5EFB1586A3A5}"/>
              </a:ext>
            </a:extLst>
          </p:cNvPr>
          <p:cNvSpPr>
            <a:spLocks noGrp="1"/>
          </p:cNvSpPr>
          <p:nvPr>
            <p:ph idx="1"/>
          </p:nvPr>
        </p:nvSpPr>
        <p:spPr>
          <a:xfrm>
            <a:off x="795129" y="2146852"/>
            <a:ext cx="11039061" cy="4492487"/>
          </a:xfrm>
        </p:spPr>
        <p:txBody>
          <a:bodyPr>
            <a:noAutofit/>
          </a:bodyPr>
          <a:lstStyle/>
          <a:p>
            <a:pPr marL="449263" indent="-449263">
              <a:spcBef>
                <a:spcPts val="625"/>
              </a:spcBef>
              <a:buNone/>
            </a:pPr>
            <a:r>
              <a:rPr lang="en-GB" dirty="0">
                <a:latin typeface="Carlito"/>
                <a:cs typeface="Carlito"/>
              </a:rPr>
              <a:t>Sessions are held once a week on Fridays.</a:t>
            </a:r>
          </a:p>
          <a:p>
            <a:pPr>
              <a:spcBef>
                <a:spcPts val="625"/>
              </a:spcBef>
            </a:pPr>
            <a:r>
              <a:rPr lang="en-GB" dirty="0">
                <a:latin typeface="Carlito"/>
                <a:cs typeface="Carlito"/>
              </a:rPr>
              <a:t>Lecture: </a:t>
            </a:r>
          </a:p>
          <a:p>
            <a:pPr lvl="1">
              <a:spcBef>
                <a:spcPts val="625"/>
              </a:spcBef>
            </a:pPr>
            <a:r>
              <a:rPr lang="en-GB" sz="2600" dirty="0">
                <a:latin typeface="Carlito"/>
                <a:cs typeface="Carlito"/>
              </a:rPr>
              <a:t>Time: 9:00 - 10:00</a:t>
            </a:r>
          </a:p>
          <a:p>
            <a:pPr lvl="1">
              <a:spcBef>
                <a:spcPts val="625"/>
              </a:spcBef>
            </a:pPr>
            <a:r>
              <a:rPr lang="en-GB" sz="2600" dirty="0">
                <a:latin typeface="Carlito"/>
                <a:cs typeface="Carlito"/>
              </a:rPr>
              <a:t>Location: DT102/DT103</a:t>
            </a:r>
          </a:p>
          <a:p>
            <a:pPr>
              <a:spcBef>
                <a:spcPts val="625"/>
              </a:spcBef>
            </a:pPr>
            <a:r>
              <a:rPr lang="en-GB" dirty="0">
                <a:latin typeface="Carlito"/>
                <a:cs typeface="Carlito"/>
              </a:rPr>
              <a:t>Lab sessions:</a:t>
            </a:r>
          </a:p>
          <a:p>
            <a:pPr lvl="1">
              <a:spcBef>
                <a:spcPts val="625"/>
              </a:spcBef>
            </a:pPr>
            <a:r>
              <a:rPr lang="en-GB" sz="2600" dirty="0">
                <a:latin typeface="Carlito"/>
                <a:cs typeface="Carlito"/>
              </a:rPr>
              <a:t>Time: 10:00 - 13:00</a:t>
            </a:r>
          </a:p>
          <a:p>
            <a:pPr lvl="1">
              <a:spcBef>
                <a:spcPts val="625"/>
              </a:spcBef>
            </a:pPr>
            <a:r>
              <a:rPr lang="en-GB" sz="2600" dirty="0">
                <a:latin typeface="Carlito"/>
                <a:cs typeface="Carlito"/>
              </a:rPr>
              <a:t>Location: DT102/DT103</a:t>
            </a:r>
          </a:p>
          <a:p>
            <a:pPr>
              <a:spcBef>
                <a:spcPts val="625"/>
              </a:spcBef>
            </a:pPr>
            <a:r>
              <a:rPr lang="en-GB" dirty="0">
                <a:latin typeface="Carlito"/>
                <a:cs typeface="Carlito"/>
              </a:rPr>
              <a:t>Supplemental Self-Directed Learning (SOL) sessions: </a:t>
            </a:r>
          </a:p>
          <a:p>
            <a:pPr lvl="1">
              <a:spcBef>
                <a:spcPts val="625"/>
              </a:spcBef>
            </a:pPr>
            <a:r>
              <a:rPr lang="en-GB" sz="2600" dirty="0">
                <a:latin typeface="Carlito"/>
                <a:cs typeface="Carlito"/>
              </a:rPr>
              <a:t>Time: 13:30 - 15:00</a:t>
            </a:r>
          </a:p>
          <a:p>
            <a:pPr lvl="1">
              <a:spcBef>
                <a:spcPts val="625"/>
              </a:spcBef>
            </a:pPr>
            <a:r>
              <a:rPr lang="en-GB" sz="2600" dirty="0">
                <a:latin typeface="Carlito"/>
                <a:cs typeface="Carlito"/>
              </a:rPr>
              <a:t>Location: DT102/DT103</a:t>
            </a:r>
          </a:p>
          <a:p>
            <a:pPr marL="449263" indent="-449263"/>
            <a:endParaRPr lang="en-GB" dirty="0"/>
          </a:p>
        </p:txBody>
      </p:sp>
    </p:spTree>
    <p:extLst>
      <p:ext uri="{BB962C8B-B14F-4D97-AF65-F5344CB8AC3E}">
        <p14:creationId xmlns:p14="http://schemas.microsoft.com/office/powerpoint/2010/main" val="11913941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AC25F53-0FF8-B051-84B3-E38F7984F6C0}"/>
              </a:ext>
            </a:extLst>
          </p:cNvPr>
          <p:cNvSpPr>
            <a:spLocks noGrp="1"/>
          </p:cNvSpPr>
          <p:nvPr>
            <p:ph type="title"/>
          </p:nvPr>
        </p:nvSpPr>
        <p:spPr>
          <a:xfrm>
            <a:off x="1115568" y="548640"/>
            <a:ext cx="10168128" cy="1179576"/>
          </a:xfrm>
        </p:spPr>
        <p:txBody>
          <a:bodyPr>
            <a:normAutofit/>
          </a:bodyPr>
          <a:lstStyle/>
          <a:p>
            <a:r>
              <a:rPr lang="en-GB" sz="4000"/>
              <a:t>Module overview</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B4F1BF87-3B5E-9CFF-0EBE-2DBADB1E4493}"/>
              </a:ext>
            </a:extLst>
          </p:cNvPr>
          <p:cNvSpPr>
            <a:spLocks noGrp="1"/>
          </p:cNvSpPr>
          <p:nvPr>
            <p:ph idx="1"/>
          </p:nvPr>
        </p:nvSpPr>
        <p:spPr>
          <a:xfrm>
            <a:off x="1115568" y="2481943"/>
            <a:ext cx="10168128" cy="3695020"/>
          </a:xfrm>
        </p:spPr>
        <p:txBody>
          <a:bodyPr>
            <a:normAutofit/>
          </a:bodyPr>
          <a:lstStyle/>
          <a:p>
            <a:pPr rtl="0"/>
            <a:r>
              <a:rPr lang="en-GB" dirty="0">
                <a:latin typeface="Calibri" panose="020F0502020204030204" pitchFamily="34" charset="0"/>
                <a:cs typeface="Calibri" panose="020F0502020204030204" pitchFamily="34" charset="0"/>
              </a:rPr>
              <a:t>Module Leader: </a:t>
            </a:r>
          </a:p>
          <a:p>
            <a:pPr lvl="1"/>
            <a:r>
              <a:rPr lang="en-GB" sz="2600" dirty="0" err="1">
                <a:latin typeface="Calibri" panose="020F0502020204030204" pitchFamily="34" charset="0"/>
                <a:cs typeface="Calibri" panose="020F0502020204030204" pitchFamily="34" charset="0"/>
              </a:rPr>
              <a:t>Dr.</a:t>
            </a:r>
            <a:r>
              <a:rPr lang="en-GB" sz="2600" dirty="0">
                <a:latin typeface="Calibri" panose="020F0502020204030204" pitchFamily="34" charset="0"/>
                <a:cs typeface="Calibri" panose="020F0502020204030204" pitchFamily="34" charset="0"/>
              </a:rPr>
              <a:t> Soumya Banerjee; </a:t>
            </a:r>
            <a:r>
              <a:rPr lang="en-GB" sz="2600" dirty="0">
                <a:latin typeface="Calibri" panose="020F0502020204030204" pitchFamily="34" charset="0"/>
                <a:cs typeface="Calibri" panose="020F0502020204030204" pitchFamily="34" charset="0"/>
                <a:hlinkClick r:id="rId2"/>
              </a:rPr>
              <a:t>s.banerjee@yorksj.ac.uk</a:t>
            </a:r>
            <a:endParaRPr lang="en-GB" sz="2600" dirty="0">
              <a:latin typeface="Calibri" panose="020F0502020204030204" pitchFamily="34" charset="0"/>
              <a:cs typeface="Calibri" panose="020F0502020204030204" pitchFamily="34" charset="0"/>
            </a:endParaRPr>
          </a:p>
          <a:p>
            <a:pPr lvl="1"/>
            <a:r>
              <a:rPr lang="en-GB" sz="2600" dirty="0">
                <a:latin typeface="Calibri" panose="020F0502020204030204" pitchFamily="34" charset="0"/>
                <a:cs typeface="Calibri" panose="020F0502020204030204" pitchFamily="34" charset="0"/>
              </a:rPr>
              <a:t>Please use your York SJ email and include COM4012M in the email subject.</a:t>
            </a:r>
          </a:p>
          <a:p>
            <a:r>
              <a:rPr lang="en-GB" dirty="0">
                <a:latin typeface="Calibri" panose="020F0502020204030204" pitchFamily="34" charset="0"/>
                <a:cs typeface="Calibri" panose="020F0502020204030204" pitchFamily="34" charset="0"/>
              </a:rPr>
              <a:t>Lab supervision </a:t>
            </a:r>
          </a:p>
          <a:p>
            <a:pPr lvl="1"/>
            <a:r>
              <a:rPr lang="en-GB" sz="2600" dirty="0">
                <a:latin typeface="Calibri" panose="020F0502020204030204" pitchFamily="34" charset="0"/>
                <a:cs typeface="Calibri" panose="020F0502020204030204" pitchFamily="34" charset="0"/>
              </a:rPr>
              <a:t>Alec Wells; </a:t>
            </a:r>
            <a:r>
              <a:rPr lang="en-GB" sz="2600" dirty="0">
                <a:latin typeface="Calibri" panose="020F0502020204030204" pitchFamily="34" charset="0"/>
                <a:cs typeface="Calibri" panose="020F0502020204030204" pitchFamily="34" charset="0"/>
                <a:hlinkClick r:id="rId3"/>
              </a:rPr>
              <a:t>a.wells1@yorksj.ac.uk</a:t>
            </a:r>
            <a:r>
              <a:rPr lang="en-GB" sz="2600" dirty="0">
                <a:latin typeface="Calibri" panose="020F0502020204030204" pitchFamily="34" charset="0"/>
                <a:cs typeface="Calibri" panose="020F0502020204030204" pitchFamily="34" charset="0"/>
              </a:rPr>
              <a:t> </a:t>
            </a:r>
          </a:p>
          <a:p>
            <a:pPr lvl="1"/>
            <a:r>
              <a:rPr lang="en-GB" sz="2600" dirty="0">
                <a:latin typeface="Calibri" panose="020F0502020204030204" pitchFamily="34" charset="0"/>
                <a:cs typeface="Calibri" panose="020F0502020204030204" pitchFamily="34" charset="0"/>
              </a:rPr>
              <a:t>&amp; Soumya</a:t>
            </a:r>
          </a:p>
          <a:p>
            <a:pPr marL="0" indent="0">
              <a:buNone/>
            </a:pPr>
            <a:endParaRPr lang="en-GB" sz="2200" dirty="0"/>
          </a:p>
        </p:txBody>
      </p:sp>
    </p:spTree>
    <p:extLst>
      <p:ext uri="{BB962C8B-B14F-4D97-AF65-F5344CB8AC3E}">
        <p14:creationId xmlns:p14="http://schemas.microsoft.com/office/powerpoint/2010/main" val="34698483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E9C489-9D71-8AF2-52D0-47D3702BC121}"/>
              </a:ext>
            </a:extLst>
          </p:cNvPr>
          <p:cNvSpPr>
            <a:spLocks noGrp="1"/>
          </p:cNvSpPr>
          <p:nvPr>
            <p:ph type="title"/>
          </p:nvPr>
        </p:nvSpPr>
        <p:spPr>
          <a:xfrm>
            <a:off x="1115568" y="548640"/>
            <a:ext cx="10168128" cy="1179576"/>
          </a:xfrm>
        </p:spPr>
        <p:txBody>
          <a:bodyPr>
            <a:normAutofit/>
          </a:bodyPr>
          <a:lstStyle/>
          <a:p>
            <a:r>
              <a:rPr lang="en-GB" sz="4000"/>
              <a:t>Module overview</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1EDB681C-DBFB-D27C-B77D-BE3091742EDF}"/>
              </a:ext>
            </a:extLst>
          </p:cNvPr>
          <p:cNvSpPr>
            <a:spLocks noGrp="1"/>
          </p:cNvSpPr>
          <p:nvPr>
            <p:ph idx="1"/>
          </p:nvPr>
        </p:nvSpPr>
        <p:spPr>
          <a:xfrm>
            <a:off x="1115568" y="2481943"/>
            <a:ext cx="10168128" cy="3695020"/>
          </a:xfrm>
        </p:spPr>
        <p:txBody>
          <a:bodyPr>
            <a:normAutofit/>
          </a:bodyPr>
          <a:lstStyle/>
          <a:p>
            <a:pPr marL="241300" marR="5080" indent="-228600">
              <a:spcBef>
                <a:spcPts val="969"/>
              </a:spcBef>
              <a:buFont typeface="Arial"/>
              <a:buChar char="•"/>
              <a:tabLst>
                <a:tab pos="241300" algn="l"/>
              </a:tabLst>
            </a:pPr>
            <a:r>
              <a:rPr lang="en-GB" dirty="0">
                <a:latin typeface="Carlito"/>
                <a:cs typeface="Carlito"/>
              </a:rPr>
              <a:t>The</a:t>
            </a:r>
            <a:r>
              <a:rPr lang="en-GB" spc="-85" dirty="0">
                <a:latin typeface="Carlito"/>
                <a:cs typeface="Carlito"/>
              </a:rPr>
              <a:t> </a:t>
            </a:r>
            <a:r>
              <a:rPr lang="en-GB" dirty="0">
                <a:latin typeface="Carlito"/>
                <a:cs typeface="Carlito"/>
              </a:rPr>
              <a:t>lecture</a:t>
            </a:r>
            <a:r>
              <a:rPr lang="en-GB" spc="-80" dirty="0">
                <a:latin typeface="Carlito"/>
                <a:cs typeface="Carlito"/>
              </a:rPr>
              <a:t> </a:t>
            </a:r>
            <a:r>
              <a:rPr lang="en-GB" dirty="0">
                <a:latin typeface="Carlito"/>
                <a:cs typeface="Carlito"/>
              </a:rPr>
              <a:t>sessions</a:t>
            </a:r>
            <a:r>
              <a:rPr lang="en-GB" spc="-75" dirty="0">
                <a:latin typeface="Carlito"/>
                <a:cs typeface="Carlito"/>
              </a:rPr>
              <a:t> </a:t>
            </a:r>
            <a:r>
              <a:rPr lang="en-GB" dirty="0">
                <a:latin typeface="Carlito"/>
                <a:cs typeface="Carlito"/>
              </a:rPr>
              <a:t>are</a:t>
            </a:r>
            <a:r>
              <a:rPr lang="en-GB" spc="-80" dirty="0">
                <a:latin typeface="Carlito"/>
                <a:cs typeface="Carlito"/>
              </a:rPr>
              <a:t> </a:t>
            </a:r>
            <a:r>
              <a:rPr lang="en-GB" dirty="0">
                <a:latin typeface="Carlito"/>
                <a:cs typeface="Carlito"/>
              </a:rPr>
              <a:t>more</a:t>
            </a:r>
            <a:r>
              <a:rPr lang="en-GB" spc="-80" dirty="0">
                <a:latin typeface="Carlito"/>
                <a:cs typeface="Carlito"/>
              </a:rPr>
              <a:t> </a:t>
            </a:r>
            <a:r>
              <a:rPr lang="en-GB" dirty="0">
                <a:latin typeface="Carlito"/>
                <a:cs typeface="Carlito"/>
              </a:rPr>
              <a:t>theoretical</a:t>
            </a:r>
            <a:r>
              <a:rPr lang="en-GB" spc="-75" dirty="0">
                <a:latin typeface="Carlito"/>
                <a:cs typeface="Carlito"/>
              </a:rPr>
              <a:t> </a:t>
            </a:r>
            <a:r>
              <a:rPr lang="en-GB" dirty="0">
                <a:latin typeface="Carlito"/>
                <a:cs typeface="Carlito"/>
              </a:rPr>
              <a:t>and</a:t>
            </a:r>
            <a:r>
              <a:rPr lang="en-GB" spc="-75" dirty="0">
                <a:latin typeface="Carlito"/>
                <a:cs typeface="Carlito"/>
              </a:rPr>
              <a:t> </a:t>
            </a:r>
            <a:r>
              <a:rPr lang="en-GB" dirty="0">
                <a:latin typeface="Carlito"/>
                <a:cs typeface="Carlito"/>
              </a:rPr>
              <a:t>focus</a:t>
            </a:r>
            <a:r>
              <a:rPr lang="en-GB" spc="-70" dirty="0">
                <a:latin typeface="Carlito"/>
                <a:cs typeface="Carlito"/>
              </a:rPr>
              <a:t> </a:t>
            </a:r>
            <a:r>
              <a:rPr lang="en-GB" spc="-25" dirty="0">
                <a:latin typeface="Carlito"/>
                <a:cs typeface="Carlito"/>
              </a:rPr>
              <a:t>on </a:t>
            </a:r>
            <a:r>
              <a:rPr lang="en-GB" dirty="0">
                <a:latin typeface="Carlito"/>
                <a:cs typeface="Carlito"/>
              </a:rPr>
              <a:t>aspects</a:t>
            </a:r>
            <a:r>
              <a:rPr lang="en-GB" spc="-60" dirty="0">
                <a:latin typeface="Carlito"/>
                <a:cs typeface="Carlito"/>
              </a:rPr>
              <a:t> </a:t>
            </a:r>
            <a:r>
              <a:rPr lang="en-GB" dirty="0">
                <a:latin typeface="Carlito"/>
                <a:cs typeface="Carlito"/>
              </a:rPr>
              <a:t>of</a:t>
            </a:r>
            <a:r>
              <a:rPr lang="en-GB" spc="-65" dirty="0">
                <a:latin typeface="Carlito"/>
                <a:cs typeface="Carlito"/>
              </a:rPr>
              <a:t> </a:t>
            </a:r>
            <a:r>
              <a:rPr lang="en-GB" u="heavy" dirty="0">
                <a:uFill>
                  <a:solidFill>
                    <a:srgbClr val="000000"/>
                  </a:solidFill>
                </a:uFill>
                <a:latin typeface="Carlito"/>
                <a:cs typeface="Carlito"/>
              </a:rPr>
              <a:t>software</a:t>
            </a:r>
            <a:r>
              <a:rPr lang="en-GB" u="heavy" spc="-65" dirty="0">
                <a:uFill>
                  <a:solidFill>
                    <a:srgbClr val="000000"/>
                  </a:solidFill>
                </a:uFill>
                <a:latin typeface="Carlito"/>
                <a:cs typeface="Carlito"/>
              </a:rPr>
              <a:t> </a:t>
            </a:r>
            <a:r>
              <a:rPr lang="en-GB" u="heavy" dirty="0">
                <a:uFill>
                  <a:solidFill>
                    <a:srgbClr val="000000"/>
                  </a:solidFill>
                </a:uFill>
                <a:latin typeface="Carlito"/>
                <a:cs typeface="Carlito"/>
              </a:rPr>
              <a:t>engineering</a:t>
            </a:r>
            <a:r>
              <a:rPr lang="en-GB" u="heavy" spc="-60" dirty="0">
                <a:uFill>
                  <a:solidFill>
                    <a:srgbClr val="000000"/>
                  </a:solidFill>
                </a:uFill>
                <a:latin typeface="Carlito"/>
                <a:cs typeface="Carlito"/>
              </a:rPr>
              <a:t> </a:t>
            </a:r>
            <a:r>
              <a:rPr lang="en-GB" u="heavy" dirty="0">
                <a:uFill>
                  <a:solidFill>
                    <a:srgbClr val="000000"/>
                  </a:solidFill>
                </a:uFill>
                <a:latin typeface="Carlito"/>
                <a:cs typeface="Carlito"/>
              </a:rPr>
              <a:t>and</a:t>
            </a:r>
            <a:r>
              <a:rPr lang="en-GB" u="heavy" spc="-55" dirty="0">
                <a:uFill>
                  <a:solidFill>
                    <a:srgbClr val="000000"/>
                  </a:solidFill>
                </a:uFill>
                <a:latin typeface="Carlito"/>
                <a:cs typeface="Carlito"/>
              </a:rPr>
              <a:t> </a:t>
            </a:r>
            <a:r>
              <a:rPr lang="en-GB" u="heavy" dirty="0">
                <a:uFill>
                  <a:solidFill>
                    <a:srgbClr val="000000"/>
                  </a:solidFill>
                </a:uFill>
                <a:latin typeface="Carlito"/>
                <a:cs typeface="Carlito"/>
              </a:rPr>
              <a:t>web</a:t>
            </a:r>
            <a:r>
              <a:rPr lang="en-GB" u="heavy" spc="-60" dirty="0">
                <a:uFill>
                  <a:solidFill>
                    <a:srgbClr val="000000"/>
                  </a:solidFill>
                </a:uFill>
                <a:latin typeface="Carlito"/>
                <a:cs typeface="Carlito"/>
              </a:rPr>
              <a:t> </a:t>
            </a:r>
            <a:r>
              <a:rPr lang="en-GB" u="heavy" spc="-10" dirty="0">
                <a:uFill>
                  <a:solidFill>
                    <a:srgbClr val="000000"/>
                  </a:solidFill>
                </a:uFill>
                <a:latin typeface="Carlito"/>
                <a:cs typeface="Carlito"/>
              </a:rPr>
              <a:t>design</a:t>
            </a:r>
          </a:p>
          <a:p>
            <a:pPr marL="12700" marR="5080" indent="0">
              <a:spcBef>
                <a:spcPts val="969"/>
              </a:spcBef>
              <a:buNone/>
              <a:tabLst>
                <a:tab pos="241300" algn="l"/>
              </a:tabLst>
            </a:pPr>
            <a:endParaRPr lang="en-GB" dirty="0">
              <a:latin typeface="Carlito"/>
              <a:cs typeface="Carlito"/>
            </a:endParaRPr>
          </a:p>
          <a:p>
            <a:pPr marL="241300" marR="231140" indent="-228600">
              <a:spcBef>
                <a:spcPts val="985"/>
              </a:spcBef>
              <a:buFont typeface="Arial"/>
              <a:buChar char="•"/>
              <a:tabLst>
                <a:tab pos="241300" algn="l"/>
              </a:tabLst>
            </a:pPr>
            <a:r>
              <a:rPr lang="en-GB" dirty="0">
                <a:latin typeface="Carlito"/>
                <a:cs typeface="Carlito"/>
              </a:rPr>
              <a:t>The</a:t>
            </a:r>
            <a:r>
              <a:rPr lang="en-GB" spc="-55" dirty="0">
                <a:latin typeface="Carlito"/>
                <a:cs typeface="Carlito"/>
              </a:rPr>
              <a:t> </a:t>
            </a:r>
            <a:r>
              <a:rPr lang="en-GB" dirty="0">
                <a:latin typeface="Carlito"/>
                <a:cs typeface="Carlito"/>
              </a:rPr>
              <a:t>lab</a:t>
            </a:r>
            <a:r>
              <a:rPr lang="en-GB" spc="-50" dirty="0">
                <a:latin typeface="Carlito"/>
                <a:cs typeface="Carlito"/>
              </a:rPr>
              <a:t> </a:t>
            </a:r>
            <a:r>
              <a:rPr lang="en-GB" dirty="0">
                <a:latin typeface="Carlito"/>
                <a:cs typeface="Carlito"/>
              </a:rPr>
              <a:t>sessions</a:t>
            </a:r>
            <a:r>
              <a:rPr lang="en-GB" spc="-45" dirty="0">
                <a:latin typeface="Carlito"/>
                <a:cs typeface="Carlito"/>
              </a:rPr>
              <a:t> </a:t>
            </a:r>
            <a:r>
              <a:rPr lang="en-GB" dirty="0">
                <a:latin typeface="Carlito"/>
                <a:cs typeface="Carlito"/>
              </a:rPr>
              <a:t>deal</a:t>
            </a:r>
            <a:r>
              <a:rPr lang="en-GB" spc="-55" dirty="0">
                <a:latin typeface="Carlito"/>
                <a:cs typeface="Carlito"/>
              </a:rPr>
              <a:t> </a:t>
            </a:r>
            <a:r>
              <a:rPr lang="en-GB" dirty="0">
                <a:latin typeface="Carlito"/>
                <a:cs typeface="Carlito"/>
              </a:rPr>
              <a:t>with</a:t>
            </a:r>
            <a:r>
              <a:rPr lang="en-GB" spc="-45" dirty="0">
                <a:latin typeface="Carlito"/>
                <a:cs typeface="Carlito"/>
              </a:rPr>
              <a:t> </a:t>
            </a:r>
            <a:r>
              <a:rPr lang="en-GB" dirty="0">
                <a:latin typeface="Carlito"/>
                <a:cs typeface="Carlito"/>
              </a:rPr>
              <a:t>the</a:t>
            </a:r>
            <a:r>
              <a:rPr lang="en-GB" spc="-55" dirty="0">
                <a:latin typeface="Carlito"/>
                <a:cs typeface="Carlito"/>
              </a:rPr>
              <a:t> </a:t>
            </a:r>
            <a:r>
              <a:rPr lang="en-GB" dirty="0">
                <a:latin typeface="Carlito"/>
                <a:cs typeface="Carlito"/>
              </a:rPr>
              <a:t>actual</a:t>
            </a:r>
            <a:r>
              <a:rPr lang="en-GB" spc="-55" dirty="0">
                <a:latin typeface="Carlito"/>
                <a:cs typeface="Carlito"/>
              </a:rPr>
              <a:t> </a:t>
            </a:r>
            <a:r>
              <a:rPr lang="en-GB" spc="-10" dirty="0">
                <a:latin typeface="Carlito"/>
                <a:cs typeface="Carlito"/>
              </a:rPr>
              <a:t>development</a:t>
            </a:r>
            <a:r>
              <a:rPr lang="en-GB" spc="-50" dirty="0">
                <a:latin typeface="Carlito"/>
                <a:cs typeface="Carlito"/>
              </a:rPr>
              <a:t> </a:t>
            </a:r>
            <a:r>
              <a:rPr lang="en-GB" spc="-25" dirty="0">
                <a:latin typeface="Carlito"/>
                <a:cs typeface="Carlito"/>
              </a:rPr>
              <a:t>of </a:t>
            </a:r>
            <a:r>
              <a:rPr lang="en-GB" dirty="0">
                <a:latin typeface="Carlito"/>
                <a:cs typeface="Carlito"/>
              </a:rPr>
              <a:t>web</a:t>
            </a:r>
            <a:r>
              <a:rPr lang="en-GB" spc="-50" dirty="0">
                <a:latin typeface="Carlito"/>
                <a:cs typeface="Carlito"/>
              </a:rPr>
              <a:t> </a:t>
            </a:r>
            <a:r>
              <a:rPr lang="en-GB" dirty="0">
                <a:latin typeface="Carlito"/>
                <a:cs typeface="Carlito"/>
              </a:rPr>
              <a:t>sites</a:t>
            </a:r>
            <a:r>
              <a:rPr lang="en-GB" spc="-50" dirty="0">
                <a:latin typeface="Carlito"/>
                <a:cs typeface="Carlito"/>
              </a:rPr>
              <a:t> </a:t>
            </a:r>
            <a:r>
              <a:rPr lang="en-GB" dirty="0">
                <a:latin typeface="Carlito"/>
                <a:cs typeface="Carlito"/>
              </a:rPr>
              <a:t>and</a:t>
            </a:r>
            <a:r>
              <a:rPr lang="en-GB" spc="-50" dirty="0">
                <a:latin typeface="Carlito"/>
                <a:cs typeface="Carlito"/>
              </a:rPr>
              <a:t> </a:t>
            </a:r>
            <a:r>
              <a:rPr lang="en-GB" spc="-10" dirty="0">
                <a:latin typeface="Carlito"/>
                <a:cs typeface="Carlito"/>
              </a:rPr>
              <a:t>multimedia.</a:t>
            </a:r>
            <a:endParaRPr lang="en-GB" dirty="0">
              <a:latin typeface="Carlito"/>
              <a:cs typeface="Carlito"/>
            </a:endParaRPr>
          </a:p>
          <a:p>
            <a:pPr marL="697230" lvl="1" indent="-227329">
              <a:spcBef>
                <a:spcPts val="190"/>
              </a:spcBef>
              <a:buFont typeface="Arial"/>
              <a:buChar char="•"/>
              <a:tabLst>
                <a:tab pos="697230" algn="l"/>
              </a:tabLst>
            </a:pPr>
            <a:r>
              <a:rPr lang="en-GB" sz="2600" spc="-10" dirty="0">
                <a:latin typeface="Carlito"/>
                <a:cs typeface="Carlito"/>
              </a:rPr>
              <a:t>Worksheet</a:t>
            </a:r>
            <a:endParaRPr lang="en-GB" sz="2600" dirty="0">
              <a:latin typeface="Carlito"/>
              <a:cs typeface="Carlito"/>
            </a:endParaRPr>
          </a:p>
          <a:p>
            <a:pPr marL="697230" lvl="1" indent="-227329">
              <a:spcBef>
                <a:spcPts val="240"/>
              </a:spcBef>
              <a:buFont typeface="Arial"/>
              <a:buChar char="•"/>
              <a:tabLst>
                <a:tab pos="697230" algn="l"/>
              </a:tabLst>
            </a:pPr>
            <a:r>
              <a:rPr lang="en-GB" sz="2600" dirty="0">
                <a:latin typeface="Carlito"/>
                <a:cs typeface="Carlito"/>
              </a:rPr>
              <a:t>Other</a:t>
            </a:r>
            <a:r>
              <a:rPr lang="en-GB" sz="2600" spc="-35" dirty="0">
                <a:latin typeface="Carlito"/>
                <a:cs typeface="Carlito"/>
              </a:rPr>
              <a:t> </a:t>
            </a:r>
            <a:r>
              <a:rPr lang="en-GB" sz="2600" spc="-10" dirty="0">
                <a:latin typeface="Carlito"/>
                <a:cs typeface="Carlito"/>
              </a:rPr>
              <a:t>resources</a:t>
            </a:r>
            <a:r>
              <a:rPr lang="en-GB" sz="2600" spc="-40" dirty="0">
                <a:latin typeface="Carlito"/>
                <a:cs typeface="Carlito"/>
              </a:rPr>
              <a:t> </a:t>
            </a:r>
            <a:r>
              <a:rPr lang="en-GB" sz="2600" dirty="0">
                <a:latin typeface="Carlito"/>
                <a:cs typeface="Carlito"/>
              </a:rPr>
              <a:t>–</a:t>
            </a:r>
            <a:r>
              <a:rPr lang="en-GB" sz="2600" spc="-35" dirty="0">
                <a:latin typeface="Carlito"/>
                <a:cs typeface="Carlito"/>
              </a:rPr>
              <a:t> </a:t>
            </a:r>
            <a:r>
              <a:rPr lang="en-GB" sz="2600" spc="-25" dirty="0">
                <a:latin typeface="Carlito"/>
                <a:cs typeface="Carlito"/>
              </a:rPr>
              <a:t>W3S</a:t>
            </a:r>
            <a:endParaRPr lang="en-GB" sz="2600" dirty="0">
              <a:latin typeface="Carlito"/>
              <a:cs typeface="Carlito"/>
            </a:endParaRPr>
          </a:p>
        </p:txBody>
      </p:sp>
    </p:spTree>
    <p:extLst>
      <p:ext uri="{BB962C8B-B14F-4D97-AF65-F5344CB8AC3E}">
        <p14:creationId xmlns:p14="http://schemas.microsoft.com/office/powerpoint/2010/main" val="13295293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2EAEDD4-69AF-C6C9-AADE-05B87ED747B4}"/>
              </a:ext>
            </a:extLst>
          </p:cNvPr>
          <p:cNvSpPr>
            <a:spLocks noGrp="1"/>
          </p:cNvSpPr>
          <p:nvPr>
            <p:ph type="title"/>
          </p:nvPr>
        </p:nvSpPr>
        <p:spPr>
          <a:xfrm>
            <a:off x="1115568" y="548640"/>
            <a:ext cx="10168128" cy="1179576"/>
          </a:xfrm>
        </p:spPr>
        <p:txBody>
          <a:bodyPr>
            <a:normAutofit/>
          </a:bodyPr>
          <a:lstStyle/>
          <a:p>
            <a:r>
              <a:rPr lang="en-GB" sz="4000" spc="-10" dirty="0">
                <a:latin typeface="Carlito"/>
                <a:cs typeface="Carlito"/>
              </a:rPr>
              <a:t>Module Overview: Theory</a:t>
            </a:r>
            <a:endParaRPr lang="en-GB" sz="4000" dirty="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A9CF746A-0B5B-E092-E4A5-B536D1EE6600}"/>
              </a:ext>
            </a:extLst>
          </p:cNvPr>
          <p:cNvSpPr>
            <a:spLocks noGrp="1"/>
          </p:cNvSpPr>
          <p:nvPr>
            <p:ph idx="1"/>
          </p:nvPr>
        </p:nvSpPr>
        <p:spPr>
          <a:xfrm>
            <a:off x="1115568" y="2481943"/>
            <a:ext cx="10405872" cy="3961060"/>
          </a:xfrm>
        </p:spPr>
        <p:txBody>
          <a:bodyPr>
            <a:normAutofit fontScale="92500" lnSpcReduction="10000"/>
          </a:bodyPr>
          <a:lstStyle/>
          <a:p>
            <a:r>
              <a:rPr lang="en-GB" sz="2400" b="1" dirty="0"/>
              <a:t>The</a:t>
            </a:r>
            <a:r>
              <a:rPr lang="en-GB" sz="2400" b="1" spc="-35" dirty="0"/>
              <a:t> </a:t>
            </a:r>
            <a:r>
              <a:rPr lang="en-GB" sz="2400" b="1" dirty="0"/>
              <a:t>User</a:t>
            </a:r>
            <a:r>
              <a:rPr lang="en-GB" sz="2400" b="1" spc="-30" dirty="0"/>
              <a:t> </a:t>
            </a:r>
            <a:r>
              <a:rPr lang="en-GB" sz="2400" b="1" spc="-10" dirty="0"/>
              <a:t>Experience</a:t>
            </a:r>
          </a:p>
          <a:p>
            <a:pPr marL="412750" marR="1410335">
              <a:lnSpc>
                <a:spcPct val="100000"/>
              </a:lnSpc>
              <a:spcBef>
                <a:spcPts val="100"/>
              </a:spcBef>
            </a:pPr>
            <a:r>
              <a:rPr lang="en-GB" sz="2400" spc="-10" dirty="0">
                <a:latin typeface="Carlito"/>
                <a:cs typeface="Carlito"/>
              </a:rPr>
              <a:t>Strategy</a:t>
            </a:r>
            <a:r>
              <a:rPr lang="en-GB" sz="2400" spc="-40" dirty="0">
                <a:latin typeface="Carlito"/>
                <a:cs typeface="Carlito"/>
              </a:rPr>
              <a:t> </a:t>
            </a:r>
            <a:r>
              <a:rPr lang="en-GB" sz="2400" dirty="0">
                <a:latin typeface="Carlito"/>
                <a:cs typeface="Carlito"/>
              </a:rPr>
              <a:t>and</a:t>
            </a:r>
            <a:r>
              <a:rPr lang="en-GB" sz="2400" spc="-30" dirty="0">
                <a:latin typeface="Carlito"/>
                <a:cs typeface="Carlito"/>
              </a:rPr>
              <a:t> </a:t>
            </a:r>
            <a:r>
              <a:rPr lang="en-GB" sz="2400" spc="-10" dirty="0">
                <a:latin typeface="Carlito"/>
                <a:cs typeface="Carlito"/>
              </a:rPr>
              <a:t>Requirements </a:t>
            </a:r>
          </a:p>
          <a:p>
            <a:pPr marL="412750" marR="1410335">
              <a:lnSpc>
                <a:spcPct val="100000"/>
              </a:lnSpc>
              <a:spcBef>
                <a:spcPts val="100"/>
              </a:spcBef>
            </a:pPr>
            <a:r>
              <a:rPr lang="en-GB" sz="2400" dirty="0">
                <a:latin typeface="Carlito"/>
                <a:cs typeface="Carlito"/>
              </a:rPr>
              <a:t>Content</a:t>
            </a:r>
            <a:r>
              <a:rPr lang="en-GB" sz="2400" spc="-55" dirty="0">
                <a:latin typeface="Carlito"/>
                <a:cs typeface="Carlito"/>
              </a:rPr>
              <a:t> </a:t>
            </a:r>
            <a:r>
              <a:rPr lang="en-GB" sz="2400" dirty="0">
                <a:latin typeface="Carlito"/>
                <a:cs typeface="Carlito"/>
              </a:rPr>
              <a:t>and</a:t>
            </a:r>
            <a:r>
              <a:rPr lang="en-GB" sz="2400" spc="-60" dirty="0">
                <a:latin typeface="Carlito"/>
                <a:cs typeface="Carlito"/>
              </a:rPr>
              <a:t> </a:t>
            </a:r>
            <a:r>
              <a:rPr lang="en-GB" sz="2400" spc="-10" dirty="0">
                <a:latin typeface="Carlito"/>
                <a:cs typeface="Carlito"/>
              </a:rPr>
              <a:t>Specification </a:t>
            </a:r>
          </a:p>
          <a:p>
            <a:pPr marL="412750" marR="1410335">
              <a:lnSpc>
                <a:spcPct val="100000"/>
              </a:lnSpc>
              <a:spcBef>
                <a:spcPts val="100"/>
              </a:spcBef>
            </a:pPr>
            <a:r>
              <a:rPr lang="en-GB" sz="2400" spc="-10" dirty="0">
                <a:latin typeface="Carlito"/>
                <a:cs typeface="Carlito"/>
              </a:rPr>
              <a:t>Interaction</a:t>
            </a:r>
            <a:r>
              <a:rPr lang="en-GB" sz="2400" spc="-35" dirty="0">
                <a:latin typeface="Carlito"/>
                <a:cs typeface="Carlito"/>
              </a:rPr>
              <a:t> </a:t>
            </a:r>
            <a:r>
              <a:rPr lang="en-GB" sz="2400" spc="-10" dirty="0">
                <a:latin typeface="Carlito"/>
                <a:cs typeface="Carlito"/>
              </a:rPr>
              <a:t>Design </a:t>
            </a:r>
          </a:p>
          <a:p>
            <a:pPr marL="412750" marR="1410335">
              <a:lnSpc>
                <a:spcPct val="100000"/>
              </a:lnSpc>
              <a:spcBef>
                <a:spcPts val="100"/>
              </a:spcBef>
            </a:pPr>
            <a:r>
              <a:rPr lang="en-GB" sz="2400" spc="-10" dirty="0">
                <a:latin typeface="Carlito"/>
                <a:cs typeface="Carlito"/>
              </a:rPr>
              <a:t>Information</a:t>
            </a:r>
            <a:r>
              <a:rPr lang="en-GB" sz="2400" spc="-30" dirty="0">
                <a:latin typeface="Carlito"/>
                <a:cs typeface="Carlito"/>
              </a:rPr>
              <a:t> </a:t>
            </a:r>
            <a:r>
              <a:rPr lang="en-GB" sz="2400" spc="-10" dirty="0">
                <a:latin typeface="Carlito"/>
                <a:cs typeface="Carlito"/>
              </a:rPr>
              <a:t>Architecture </a:t>
            </a:r>
          </a:p>
          <a:p>
            <a:pPr marL="412750" marR="1410335">
              <a:lnSpc>
                <a:spcPct val="100000"/>
              </a:lnSpc>
              <a:spcBef>
                <a:spcPts val="100"/>
              </a:spcBef>
            </a:pPr>
            <a:r>
              <a:rPr lang="en-GB" sz="2400" spc="-10" dirty="0">
                <a:latin typeface="Carlito"/>
                <a:cs typeface="Carlito"/>
              </a:rPr>
              <a:t>Interface</a:t>
            </a:r>
            <a:r>
              <a:rPr lang="en-GB" sz="2400" spc="-55" dirty="0">
                <a:latin typeface="Carlito"/>
                <a:cs typeface="Carlito"/>
              </a:rPr>
              <a:t> </a:t>
            </a:r>
            <a:r>
              <a:rPr lang="en-GB" sz="2400" spc="-10" dirty="0">
                <a:latin typeface="Carlito"/>
                <a:cs typeface="Carlito"/>
              </a:rPr>
              <a:t>Design</a:t>
            </a:r>
            <a:endParaRPr lang="en-GB" sz="2400" dirty="0">
              <a:latin typeface="Carlito"/>
              <a:cs typeface="Carlito"/>
            </a:endParaRPr>
          </a:p>
          <a:p>
            <a:pPr marL="412750">
              <a:lnSpc>
                <a:spcPct val="100000"/>
              </a:lnSpc>
              <a:spcBef>
                <a:spcPts val="95"/>
              </a:spcBef>
            </a:pPr>
            <a:r>
              <a:rPr lang="en-GB" sz="2400" dirty="0">
                <a:latin typeface="Carlito"/>
                <a:cs typeface="Carlito"/>
              </a:rPr>
              <a:t>Visual</a:t>
            </a:r>
            <a:r>
              <a:rPr lang="en-GB" sz="2400" spc="-45" dirty="0">
                <a:latin typeface="Carlito"/>
                <a:cs typeface="Carlito"/>
              </a:rPr>
              <a:t> </a:t>
            </a:r>
            <a:r>
              <a:rPr lang="en-GB" sz="2400" spc="-10" dirty="0">
                <a:latin typeface="Carlito"/>
                <a:cs typeface="Carlito"/>
              </a:rPr>
              <a:t>Design</a:t>
            </a:r>
            <a:endParaRPr lang="en-GB" sz="2400" dirty="0">
              <a:latin typeface="Carlito"/>
              <a:cs typeface="Carlito"/>
            </a:endParaRPr>
          </a:p>
          <a:p>
            <a:pPr marL="12700" marR="135890" algn="just">
              <a:lnSpc>
                <a:spcPct val="79000"/>
              </a:lnSpc>
              <a:spcBef>
                <a:spcPts val="1005"/>
              </a:spcBef>
            </a:pPr>
            <a:r>
              <a:rPr lang="en-GB" sz="2400" b="1" dirty="0">
                <a:latin typeface="Carlito"/>
                <a:cs typeface="Carlito"/>
              </a:rPr>
              <a:t>Usability</a:t>
            </a:r>
            <a:r>
              <a:rPr lang="en-GB" sz="2400" dirty="0">
                <a:latin typeface="Carlito"/>
                <a:cs typeface="Carlito"/>
              </a:rPr>
              <a:t>:</a:t>
            </a:r>
            <a:r>
              <a:rPr lang="en-GB" sz="2400" spc="-50" dirty="0">
                <a:latin typeface="Carlito"/>
                <a:cs typeface="Carlito"/>
              </a:rPr>
              <a:t> </a:t>
            </a:r>
            <a:r>
              <a:rPr lang="en-GB" sz="2400" dirty="0">
                <a:latin typeface="Carlito"/>
                <a:cs typeface="Carlito"/>
              </a:rPr>
              <a:t>is</a:t>
            </a:r>
            <a:r>
              <a:rPr lang="en-GB" sz="2400" spc="-45" dirty="0">
                <a:latin typeface="Carlito"/>
                <a:cs typeface="Carlito"/>
              </a:rPr>
              <a:t> </a:t>
            </a:r>
            <a:r>
              <a:rPr lang="en-GB" sz="2400" dirty="0">
                <a:latin typeface="Carlito"/>
                <a:cs typeface="Carlito"/>
              </a:rPr>
              <a:t>about</a:t>
            </a:r>
            <a:r>
              <a:rPr lang="en-GB" sz="2400" spc="-50" dirty="0">
                <a:latin typeface="Carlito"/>
                <a:cs typeface="Carlito"/>
              </a:rPr>
              <a:t> </a:t>
            </a:r>
            <a:r>
              <a:rPr lang="en-GB" sz="2400" dirty="0">
                <a:latin typeface="Carlito"/>
                <a:cs typeface="Carlito"/>
              </a:rPr>
              <a:t>designing</a:t>
            </a:r>
            <a:r>
              <a:rPr lang="en-GB" sz="2400" spc="-55" dirty="0">
                <a:latin typeface="Carlito"/>
                <a:cs typeface="Carlito"/>
              </a:rPr>
              <a:t> </a:t>
            </a:r>
            <a:r>
              <a:rPr lang="en-GB" sz="2400" dirty="0">
                <a:latin typeface="Carlito"/>
                <a:cs typeface="Carlito"/>
              </a:rPr>
              <a:t>products</a:t>
            </a:r>
            <a:r>
              <a:rPr lang="en-GB" sz="2400" spc="-50" dirty="0">
                <a:latin typeface="Carlito"/>
                <a:cs typeface="Carlito"/>
              </a:rPr>
              <a:t> </a:t>
            </a:r>
            <a:r>
              <a:rPr lang="en-GB" sz="2400" dirty="0">
                <a:latin typeface="Carlito"/>
                <a:cs typeface="Carlito"/>
              </a:rPr>
              <a:t>to</a:t>
            </a:r>
            <a:r>
              <a:rPr lang="en-GB" sz="2400" spc="-55" dirty="0">
                <a:latin typeface="Carlito"/>
                <a:cs typeface="Carlito"/>
              </a:rPr>
              <a:t> </a:t>
            </a:r>
            <a:r>
              <a:rPr lang="en-GB" sz="2400" spc="-25" dirty="0">
                <a:latin typeface="Carlito"/>
                <a:cs typeface="Carlito"/>
              </a:rPr>
              <a:t>be </a:t>
            </a:r>
            <a:r>
              <a:rPr lang="en-GB" sz="2400" spc="-10" dirty="0">
                <a:latin typeface="Carlito"/>
                <a:cs typeface="Carlito"/>
              </a:rPr>
              <a:t>effective,</a:t>
            </a:r>
            <a:r>
              <a:rPr lang="en-GB" sz="2400" spc="-50" dirty="0">
                <a:latin typeface="Carlito"/>
                <a:cs typeface="Carlito"/>
              </a:rPr>
              <a:t> </a:t>
            </a:r>
            <a:r>
              <a:rPr lang="en-GB" sz="2400" spc="-10" dirty="0">
                <a:latin typeface="Carlito"/>
                <a:cs typeface="Carlito"/>
              </a:rPr>
              <a:t>efficient,</a:t>
            </a:r>
            <a:r>
              <a:rPr lang="en-GB" sz="2400" spc="-50" dirty="0">
                <a:latin typeface="Carlito"/>
                <a:cs typeface="Carlito"/>
              </a:rPr>
              <a:t> </a:t>
            </a:r>
            <a:r>
              <a:rPr lang="en-GB" sz="2400" dirty="0">
                <a:latin typeface="Carlito"/>
                <a:cs typeface="Carlito"/>
              </a:rPr>
              <a:t>and</a:t>
            </a:r>
            <a:r>
              <a:rPr lang="en-GB" sz="2400" spc="-45" dirty="0">
                <a:latin typeface="Carlito"/>
                <a:cs typeface="Carlito"/>
              </a:rPr>
              <a:t> </a:t>
            </a:r>
            <a:r>
              <a:rPr lang="en-GB" sz="2400" dirty="0">
                <a:latin typeface="Carlito"/>
                <a:cs typeface="Carlito"/>
              </a:rPr>
              <a:t>satisfying.</a:t>
            </a:r>
            <a:r>
              <a:rPr lang="en-GB" sz="2400" spc="-55" dirty="0">
                <a:latin typeface="Carlito"/>
                <a:cs typeface="Carlito"/>
              </a:rPr>
              <a:t> </a:t>
            </a:r>
            <a:r>
              <a:rPr lang="en-GB" sz="2400" spc="-10" dirty="0">
                <a:latin typeface="Carlito"/>
                <a:cs typeface="Carlito"/>
              </a:rPr>
              <a:t>Usability </a:t>
            </a:r>
            <a:r>
              <a:rPr lang="en-GB" sz="2400" dirty="0">
                <a:latin typeface="Carlito"/>
                <a:cs typeface="Carlito"/>
              </a:rPr>
              <a:t>includes</a:t>
            </a:r>
            <a:r>
              <a:rPr lang="en-GB" sz="2400" spc="-45" dirty="0">
                <a:latin typeface="Carlito"/>
                <a:cs typeface="Carlito"/>
              </a:rPr>
              <a:t> </a:t>
            </a:r>
            <a:r>
              <a:rPr lang="en-GB" sz="2400" dirty="0">
                <a:latin typeface="Carlito"/>
                <a:cs typeface="Carlito"/>
              </a:rPr>
              <a:t>user</a:t>
            </a:r>
            <a:r>
              <a:rPr lang="en-GB" sz="2400" spc="-40" dirty="0">
                <a:latin typeface="Carlito"/>
                <a:cs typeface="Carlito"/>
              </a:rPr>
              <a:t> </a:t>
            </a:r>
            <a:r>
              <a:rPr lang="en-GB" sz="2400" spc="-10" dirty="0">
                <a:latin typeface="Carlito"/>
                <a:cs typeface="Carlito"/>
              </a:rPr>
              <a:t>experience</a:t>
            </a:r>
            <a:r>
              <a:rPr lang="en-GB" sz="2400" spc="-40" dirty="0">
                <a:latin typeface="Carlito"/>
                <a:cs typeface="Carlito"/>
              </a:rPr>
              <a:t> </a:t>
            </a:r>
            <a:r>
              <a:rPr lang="en-GB" sz="2400" spc="-10" dirty="0">
                <a:latin typeface="Carlito"/>
                <a:cs typeface="Carlito"/>
              </a:rPr>
              <a:t>design.</a:t>
            </a:r>
            <a:endParaRPr lang="en-GB" sz="2400" dirty="0">
              <a:latin typeface="Carlito"/>
              <a:cs typeface="Carlito"/>
            </a:endParaRPr>
          </a:p>
          <a:p>
            <a:pPr marL="12700" marR="5080">
              <a:lnSpc>
                <a:spcPct val="80300"/>
              </a:lnSpc>
              <a:spcBef>
                <a:spcPts val="980"/>
              </a:spcBef>
            </a:pPr>
            <a:r>
              <a:rPr lang="en-GB" sz="2400" b="1" dirty="0">
                <a:latin typeface="Carlito"/>
                <a:cs typeface="Carlito"/>
              </a:rPr>
              <a:t>Accessibility</a:t>
            </a:r>
            <a:r>
              <a:rPr lang="en-GB" sz="2400" dirty="0">
                <a:latin typeface="Carlito"/>
                <a:cs typeface="Carlito"/>
              </a:rPr>
              <a:t>:</a:t>
            </a:r>
            <a:r>
              <a:rPr lang="en-GB" sz="2400" spc="-85" dirty="0">
                <a:latin typeface="Carlito"/>
                <a:cs typeface="Carlito"/>
              </a:rPr>
              <a:t> </a:t>
            </a:r>
            <a:r>
              <a:rPr lang="en-GB" sz="2400" dirty="0">
                <a:latin typeface="Carlito"/>
                <a:cs typeface="Carlito"/>
              </a:rPr>
              <a:t>Web</a:t>
            </a:r>
            <a:r>
              <a:rPr lang="en-GB" sz="2400" spc="-85" dirty="0">
                <a:latin typeface="Carlito"/>
                <a:cs typeface="Carlito"/>
              </a:rPr>
              <a:t> </a:t>
            </a:r>
            <a:r>
              <a:rPr lang="en-GB" sz="2400" dirty="0">
                <a:latin typeface="Carlito"/>
                <a:cs typeface="Carlito"/>
              </a:rPr>
              <a:t>accessibility</a:t>
            </a:r>
            <a:r>
              <a:rPr lang="en-GB" sz="2400" spc="-90" dirty="0">
                <a:latin typeface="Carlito"/>
                <a:cs typeface="Carlito"/>
              </a:rPr>
              <a:t> </a:t>
            </a:r>
            <a:r>
              <a:rPr lang="en-GB" sz="2400" dirty="0">
                <a:latin typeface="Carlito"/>
                <a:cs typeface="Carlito"/>
              </a:rPr>
              <a:t>means</a:t>
            </a:r>
            <a:r>
              <a:rPr lang="en-GB" sz="2400" spc="-80" dirty="0">
                <a:latin typeface="Carlito"/>
                <a:cs typeface="Carlito"/>
              </a:rPr>
              <a:t> </a:t>
            </a:r>
            <a:r>
              <a:rPr lang="en-GB" sz="2400" spc="-20" dirty="0">
                <a:latin typeface="Carlito"/>
                <a:cs typeface="Carlito"/>
              </a:rPr>
              <a:t>that </a:t>
            </a:r>
            <a:r>
              <a:rPr lang="en-GB" sz="2400" dirty="0">
                <a:latin typeface="Carlito"/>
                <a:cs typeface="Carlito"/>
              </a:rPr>
              <a:t>people</a:t>
            </a:r>
            <a:r>
              <a:rPr lang="en-GB" sz="2400" spc="-50" dirty="0">
                <a:latin typeface="Carlito"/>
                <a:cs typeface="Carlito"/>
              </a:rPr>
              <a:t> </a:t>
            </a:r>
            <a:r>
              <a:rPr lang="en-GB" sz="2400" dirty="0">
                <a:latin typeface="Carlito"/>
                <a:cs typeface="Carlito"/>
              </a:rPr>
              <a:t>with</a:t>
            </a:r>
            <a:r>
              <a:rPr lang="en-GB" sz="2400" spc="-50" dirty="0">
                <a:latin typeface="Carlito"/>
                <a:cs typeface="Carlito"/>
              </a:rPr>
              <a:t> </a:t>
            </a:r>
            <a:r>
              <a:rPr lang="en-GB" sz="2400" dirty="0">
                <a:latin typeface="Carlito"/>
                <a:cs typeface="Carlito"/>
              </a:rPr>
              <a:t>disabilities</a:t>
            </a:r>
            <a:r>
              <a:rPr lang="en-GB" sz="2400" spc="-50" dirty="0">
                <a:latin typeface="Carlito"/>
                <a:cs typeface="Carlito"/>
              </a:rPr>
              <a:t> </a:t>
            </a:r>
            <a:r>
              <a:rPr lang="en-GB" sz="2400" dirty="0">
                <a:latin typeface="Carlito"/>
                <a:cs typeface="Carlito"/>
              </a:rPr>
              <a:t>can</a:t>
            </a:r>
            <a:r>
              <a:rPr lang="en-GB" sz="2400" spc="-50" dirty="0">
                <a:latin typeface="Carlito"/>
                <a:cs typeface="Carlito"/>
              </a:rPr>
              <a:t> </a:t>
            </a:r>
            <a:r>
              <a:rPr lang="en-GB" sz="2400" dirty="0">
                <a:latin typeface="Carlito"/>
                <a:cs typeface="Carlito"/>
              </a:rPr>
              <a:t>equally</a:t>
            </a:r>
            <a:r>
              <a:rPr lang="en-GB" sz="2400" spc="-60" dirty="0">
                <a:latin typeface="Carlito"/>
                <a:cs typeface="Carlito"/>
              </a:rPr>
              <a:t> </a:t>
            </a:r>
            <a:r>
              <a:rPr lang="en-GB" sz="2400" spc="-10" dirty="0">
                <a:latin typeface="Carlito"/>
                <a:cs typeface="Carlito"/>
              </a:rPr>
              <a:t>perceive, understand,</a:t>
            </a:r>
            <a:r>
              <a:rPr lang="en-GB" sz="2400" spc="-55" dirty="0">
                <a:latin typeface="Carlito"/>
                <a:cs typeface="Carlito"/>
              </a:rPr>
              <a:t> </a:t>
            </a:r>
            <a:r>
              <a:rPr lang="en-GB" sz="2400" spc="-10" dirty="0">
                <a:latin typeface="Carlito"/>
                <a:cs typeface="Carlito"/>
              </a:rPr>
              <a:t>navigate,</a:t>
            </a:r>
            <a:r>
              <a:rPr lang="en-GB" sz="2400" spc="-50" dirty="0">
                <a:latin typeface="Carlito"/>
                <a:cs typeface="Carlito"/>
              </a:rPr>
              <a:t> </a:t>
            </a:r>
            <a:r>
              <a:rPr lang="en-GB" sz="2400" dirty="0">
                <a:latin typeface="Carlito"/>
                <a:cs typeface="Carlito"/>
              </a:rPr>
              <a:t>and</a:t>
            </a:r>
            <a:r>
              <a:rPr lang="en-GB" sz="2400" spc="-50" dirty="0">
                <a:latin typeface="Carlito"/>
                <a:cs typeface="Carlito"/>
              </a:rPr>
              <a:t> </a:t>
            </a:r>
            <a:r>
              <a:rPr lang="en-GB" sz="2400" spc="-10" dirty="0">
                <a:latin typeface="Carlito"/>
                <a:cs typeface="Carlito"/>
              </a:rPr>
              <a:t>interact</a:t>
            </a:r>
            <a:r>
              <a:rPr lang="en-GB" sz="2400" spc="-50" dirty="0">
                <a:latin typeface="Carlito"/>
                <a:cs typeface="Carlito"/>
              </a:rPr>
              <a:t> </a:t>
            </a:r>
            <a:r>
              <a:rPr lang="en-GB" sz="2400" spc="-20" dirty="0">
                <a:latin typeface="Carlito"/>
                <a:cs typeface="Carlito"/>
              </a:rPr>
              <a:t>with </a:t>
            </a:r>
            <a:r>
              <a:rPr lang="en-GB" sz="2400" dirty="0">
                <a:latin typeface="Carlito"/>
                <a:cs typeface="Carlito"/>
              </a:rPr>
              <a:t>websites</a:t>
            </a:r>
            <a:r>
              <a:rPr lang="en-GB" sz="2400" spc="-60" dirty="0">
                <a:latin typeface="Carlito"/>
                <a:cs typeface="Carlito"/>
              </a:rPr>
              <a:t> </a:t>
            </a:r>
            <a:r>
              <a:rPr lang="en-GB" sz="2400" dirty="0">
                <a:latin typeface="Carlito"/>
                <a:cs typeface="Carlito"/>
              </a:rPr>
              <a:t>and</a:t>
            </a:r>
            <a:r>
              <a:rPr lang="en-GB" sz="2400" spc="-65" dirty="0">
                <a:latin typeface="Carlito"/>
                <a:cs typeface="Carlito"/>
              </a:rPr>
              <a:t> </a:t>
            </a:r>
            <a:r>
              <a:rPr lang="en-GB" sz="2400" spc="-10" dirty="0">
                <a:latin typeface="Carlito"/>
                <a:cs typeface="Carlito"/>
              </a:rPr>
              <a:t>tools.</a:t>
            </a:r>
          </a:p>
          <a:p>
            <a:pPr marL="12700" marR="5080">
              <a:lnSpc>
                <a:spcPct val="80300"/>
              </a:lnSpc>
              <a:spcBef>
                <a:spcPts val="980"/>
              </a:spcBef>
            </a:pPr>
            <a:r>
              <a:rPr lang="en-GB" sz="2400" u="sng" spc="-10" dirty="0">
                <a:solidFill>
                  <a:srgbClr val="0563C1"/>
                </a:solidFill>
                <a:uFill>
                  <a:solidFill>
                    <a:srgbClr val="0563C1"/>
                  </a:solidFill>
                </a:uFill>
                <a:latin typeface="Carlito"/>
                <a:cs typeface="Carlito"/>
              </a:rPr>
              <a:t>https://</a:t>
            </a:r>
            <a:r>
              <a:rPr lang="en-GB" sz="2400" u="sng" spc="-10" dirty="0">
                <a:solidFill>
                  <a:srgbClr val="0563C1"/>
                </a:solidFill>
                <a:uFill>
                  <a:solidFill>
                    <a:srgbClr val="0563C1"/>
                  </a:solidFill>
                </a:uFill>
                <a:latin typeface="Carlito"/>
                <a:cs typeface="Carlito"/>
                <a:hlinkClick r:id="rId2"/>
              </a:rPr>
              <a:t>www.w3.org/</a:t>
            </a:r>
            <a:endParaRPr lang="en-GB" sz="2400" dirty="0">
              <a:latin typeface="Carlito"/>
              <a:cs typeface="Carlito"/>
            </a:endParaRPr>
          </a:p>
          <a:p>
            <a:pPr marL="12700" marR="5080">
              <a:lnSpc>
                <a:spcPct val="80300"/>
              </a:lnSpc>
              <a:spcBef>
                <a:spcPts val="980"/>
              </a:spcBef>
            </a:pPr>
            <a:endParaRPr lang="en-GB" sz="2400" dirty="0">
              <a:latin typeface="Carlito"/>
              <a:cs typeface="Carlito"/>
            </a:endParaRPr>
          </a:p>
          <a:p>
            <a:endParaRPr lang="en-GB" sz="2200" dirty="0"/>
          </a:p>
        </p:txBody>
      </p:sp>
    </p:spTree>
    <p:extLst>
      <p:ext uri="{BB962C8B-B14F-4D97-AF65-F5344CB8AC3E}">
        <p14:creationId xmlns:p14="http://schemas.microsoft.com/office/powerpoint/2010/main" val="31633859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61C0B7C-0E0F-5CA3-59B3-D12A47E59D51}"/>
              </a:ext>
            </a:extLst>
          </p:cNvPr>
          <p:cNvSpPr>
            <a:spLocks noGrp="1"/>
          </p:cNvSpPr>
          <p:nvPr>
            <p:ph type="title"/>
          </p:nvPr>
        </p:nvSpPr>
        <p:spPr>
          <a:xfrm>
            <a:off x="1115568" y="548640"/>
            <a:ext cx="10168128" cy="1179576"/>
          </a:xfrm>
        </p:spPr>
        <p:txBody>
          <a:bodyPr>
            <a:normAutofit fontScale="90000"/>
          </a:bodyPr>
          <a:lstStyle/>
          <a:p>
            <a:r>
              <a:rPr lang="en-GB" sz="4000" spc="-10" dirty="0">
                <a:latin typeface="Carlito"/>
                <a:cs typeface="Carlito"/>
              </a:rPr>
              <a:t>Module Overview: Practical</a:t>
            </a:r>
            <a:br>
              <a:rPr lang="en-GB" sz="4000" dirty="0">
                <a:latin typeface="Carlito"/>
                <a:cs typeface="Carlito"/>
              </a:rPr>
            </a:br>
            <a:endParaRPr lang="en-GB" sz="4000" dirty="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FBAE82FC-B120-3F53-DBEB-17EFF7544829}"/>
              </a:ext>
            </a:extLst>
          </p:cNvPr>
          <p:cNvSpPr>
            <a:spLocks noGrp="1"/>
          </p:cNvSpPr>
          <p:nvPr>
            <p:ph idx="1"/>
          </p:nvPr>
        </p:nvSpPr>
        <p:spPr>
          <a:xfrm>
            <a:off x="1115568" y="2481943"/>
            <a:ext cx="10168128" cy="3695020"/>
          </a:xfrm>
        </p:spPr>
        <p:txBody>
          <a:bodyPr>
            <a:normAutofit/>
          </a:bodyPr>
          <a:lstStyle/>
          <a:p>
            <a:pPr marL="527050" indent="-514350">
              <a:lnSpc>
                <a:spcPct val="100000"/>
              </a:lnSpc>
              <a:spcBef>
                <a:spcPts val="720"/>
              </a:spcBef>
              <a:buFont typeface="+mj-lt"/>
              <a:buAutoNum type="arabicPeriod"/>
            </a:pPr>
            <a:r>
              <a:rPr lang="en-GB" b="1" dirty="0">
                <a:latin typeface="Carlito"/>
                <a:cs typeface="Carlito"/>
              </a:rPr>
              <a:t>HTML</a:t>
            </a:r>
            <a:r>
              <a:rPr lang="en-GB" dirty="0">
                <a:latin typeface="Carlito"/>
                <a:cs typeface="Carlito"/>
              </a:rPr>
              <a:t> (</a:t>
            </a:r>
            <a:r>
              <a:rPr lang="en-GB" dirty="0" err="1">
                <a:latin typeface="Carlito"/>
                <a:cs typeface="Carlito"/>
              </a:rPr>
              <a:t>HyperText</a:t>
            </a:r>
            <a:r>
              <a:rPr lang="en-GB" dirty="0">
                <a:latin typeface="Carlito"/>
                <a:cs typeface="Carlito"/>
              </a:rPr>
              <a:t> Markup Language) – Content of webpages</a:t>
            </a:r>
          </a:p>
          <a:p>
            <a:pPr marL="527050" indent="-514350">
              <a:lnSpc>
                <a:spcPct val="100000"/>
              </a:lnSpc>
              <a:spcBef>
                <a:spcPts val="720"/>
              </a:spcBef>
              <a:buFont typeface="+mj-lt"/>
              <a:buAutoNum type="arabicPeriod"/>
            </a:pPr>
            <a:r>
              <a:rPr lang="en-GB" b="1" dirty="0">
                <a:latin typeface="Carlito"/>
                <a:cs typeface="Carlito"/>
              </a:rPr>
              <a:t>CSS</a:t>
            </a:r>
            <a:r>
              <a:rPr lang="en-GB" dirty="0">
                <a:latin typeface="Carlito"/>
                <a:cs typeface="Carlito"/>
              </a:rPr>
              <a:t> (Cascading Style Sheets) – Presentation &amp; styling</a:t>
            </a:r>
          </a:p>
          <a:p>
            <a:pPr marL="527050" indent="-514350">
              <a:lnSpc>
                <a:spcPct val="100000"/>
              </a:lnSpc>
              <a:spcBef>
                <a:spcPts val="625"/>
              </a:spcBef>
              <a:buFont typeface="+mj-lt"/>
              <a:buAutoNum type="arabicPeriod"/>
            </a:pPr>
            <a:r>
              <a:rPr lang="en-GB" b="1" spc="-10" dirty="0">
                <a:latin typeface="Carlito"/>
                <a:cs typeface="Carlito"/>
              </a:rPr>
              <a:t>JavaScript </a:t>
            </a:r>
            <a:r>
              <a:rPr lang="en-GB" spc="-10" dirty="0">
                <a:latin typeface="Carlito"/>
                <a:cs typeface="Carlito"/>
              </a:rPr>
              <a:t>– </a:t>
            </a:r>
            <a:r>
              <a:rPr lang="en-GB" dirty="0" err="1">
                <a:latin typeface="Carlito"/>
                <a:cs typeface="Carlito"/>
              </a:rPr>
              <a:t>Client</a:t>
            </a:r>
            <a:r>
              <a:rPr lang="en-GB" spc="-45" dirty="0" err="1">
                <a:latin typeface="Carlito"/>
                <a:cs typeface="Carlito"/>
              </a:rPr>
              <a:t>s</a:t>
            </a:r>
            <a:r>
              <a:rPr lang="en-GB" dirty="0" err="1">
                <a:latin typeface="Carlito"/>
                <a:cs typeface="Carlito"/>
              </a:rPr>
              <a:t>ide</a:t>
            </a:r>
            <a:r>
              <a:rPr lang="en-GB" spc="-50" dirty="0">
                <a:latin typeface="Carlito"/>
                <a:cs typeface="Carlito"/>
              </a:rPr>
              <a:t> </a:t>
            </a:r>
            <a:r>
              <a:rPr lang="en-GB" dirty="0">
                <a:latin typeface="Carlito"/>
                <a:cs typeface="Carlito"/>
              </a:rPr>
              <a:t>scripting</a:t>
            </a:r>
          </a:p>
          <a:p>
            <a:pPr marL="527050" marR="746760" indent="-514350">
              <a:lnSpc>
                <a:spcPct val="119300"/>
              </a:lnSpc>
              <a:spcBef>
                <a:spcPts val="95"/>
              </a:spcBef>
              <a:buFont typeface="+mj-lt"/>
              <a:buAutoNum type="arabicPeriod"/>
            </a:pPr>
            <a:r>
              <a:rPr lang="en-GB" b="1" spc="-25" dirty="0">
                <a:latin typeface="Carlito"/>
                <a:cs typeface="Carlito"/>
              </a:rPr>
              <a:t>PHP</a:t>
            </a:r>
            <a:r>
              <a:rPr lang="en-GB" spc="-25" dirty="0">
                <a:latin typeface="Carlito"/>
                <a:cs typeface="Carlito"/>
              </a:rPr>
              <a:t> – </a:t>
            </a:r>
            <a:r>
              <a:rPr lang="en-GB" dirty="0" err="1">
                <a:latin typeface="Carlito"/>
                <a:cs typeface="Carlito"/>
              </a:rPr>
              <a:t>Server</a:t>
            </a:r>
            <a:r>
              <a:rPr lang="en-GB" spc="-40" dirty="0" err="1">
                <a:latin typeface="Carlito"/>
                <a:cs typeface="Carlito"/>
              </a:rPr>
              <a:t>s</a:t>
            </a:r>
            <a:r>
              <a:rPr lang="en-GB" dirty="0" err="1">
                <a:latin typeface="Carlito"/>
                <a:cs typeface="Carlito"/>
              </a:rPr>
              <a:t>ide</a:t>
            </a:r>
            <a:r>
              <a:rPr lang="en-GB" spc="-40" dirty="0">
                <a:latin typeface="Carlito"/>
                <a:cs typeface="Carlito"/>
              </a:rPr>
              <a:t> </a:t>
            </a:r>
            <a:r>
              <a:rPr lang="en-GB" dirty="0">
                <a:latin typeface="Carlito"/>
                <a:cs typeface="Carlito"/>
              </a:rPr>
              <a:t>scripting</a:t>
            </a:r>
          </a:p>
          <a:p>
            <a:pPr marL="527050" marR="746760" indent="-514350">
              <a:lnSpc>
                <a:spcPct val="119300"/>
              </a:lnSpc>
              <a:spcBef>
                <a:spcPts val="95"/>
              </a:spcBef>
              <a:buFont typeface="+mj-lt"/>
              <a:buAutoNum type="arabicPeriod"/>
            </a:pPr>
            <a:r>
              <a:rPr lang="en-GB" b="1" spc="-20" dirty="0">
                <a:latin typeface="Carlito"/>
                <a:cs typeface="Carlito"/>
              </a:rPr>
              <a:t>MySQL</a:t>
            </a:r>
            <a:r>
              <a:rPr lang="en-GB" spc="-20" dirty="0">
                <a:latin typeface="Carlito"/>
                <a:cs typeface="Carlito"/>
              </a:rPr>
              <a:t> – Database integration</a:t>
            </a:r>
          </a:p>
          <a:p>
            <a:endParaRPr lang="en-GB" dirty="0"/>
          </a:p>
        </p:txBody>
      </p:sp>
    </p:spTree>
    <p:extLst>
      <p:ext uri="{BB962C8B-B14F-4D97-AF65-F5344CB8AC3E}">
        <p14:creationId xmlns:p14="http://schemas.microsoft.com/office/powerpoint/2010/main" val="21279287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CBDEC11-1583-6B7E-1727-51422639176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2CF37F1-3FCE-6293-8758-063BD6C9F217}"/>
              </a:ext>
            </a:extLst>
          </p:cNvPr>
          <p:cNvSpPr>
            <a:spLocks noGrp="1"/>
          </p:cNvSpPr>
          <p:nvPr>
            <p:ph type="title"/>
          </p:nvPr>
        </p:nvSpPr>
        <p:spPr>
          <a:xfrm>
            <a:off x="1115568" y="548640"/>
            <a:ext cx="10168128" cy="1179576"/>
          </a:xfrm>
        </p:spPr>
        <p:txBody>
          <a:bodyPr>
            <a:normAutofit/>
          </a:bodyPr>
          <a:lstStyle/>
          <a:p>
            <a:r>
              <a:rPr lang="en-GB" sz="4000" spc="-10" dirty="0"/>
              <a:t>Assessment</a:t>
            </a:r>
            <a:endParaRPr lang="en-GB" sz="4000" dirty="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AD67270E-980E-4E5C-2073-FCD35DA254AB}"/>
              </a:ext>
            </a:extLst>
          </p:cNvPr>
          <p:cNvSpPr>
            <a:spLocks noGrp="1"/>
          </p:cNvSpPr>
          <p:nvPr>
            <p:ph idx="1"/>
          </p:nvPr>
        </p:nvSpPr>
        <p:spPr>
          <a:xfrm>
            <a:off x="1115568" y="2481943"/>
            <a:ext cx="10168128" cy="3695020"/>
          </a:xfrm>
        </p:spPr>
        <p:txBody>
          <a:bodyPr>
            <a:normAutofit/>
          </a:bodyPr>
          <a:lstStyle/>
          <a:p>
            <a:r>
              <a:rPr lang="en-GB" sz="3600" dirty="0"/>
              <a:t>100% assessment base</a:t>
            </a:r>
            <a:endParaRPr lang="en-GB" sz="3600" spc="-10" dirty="0">
              <a:latin typeface="Carlito"/>
              <a:cs typeface="Carlito"/>
            </a:endParaRPr>
          </a:p>
          <a:p>
            <a:pPr marL="240665" indent="-227965">
              <a:lnSpc>
                <a:spcPct val="100000"/>
              </a:lnSpc>
              <a:spcBef>
                <a:spcPts val="100"/>
              </a:spcBef>
              <a:buFont typeface="Arial"/>
              <a:buChar char="•"/>
              <a:tabLst>
                <a:tab pos="240665" algn="l"/>
              </a:tabLst>
            </a:pPr>
            <a:r>
              <a:rPr lang="en-GB" sz="3600" spc="-10" dirty="0">
                <a:latin typeface="Carlito"/>
                <a:cs typeface="Carlito"/>
              </a:rPr>
              <a:t>Website</a:t>
            </a:r>
            <a:r>
              <a:rPr lang="en-GB" sz="3600" spc="-170" dirty="0">
                <a:latin typeface="Carlito"/>
                <a:cs typeface="Carlito"/>
              </a:rPr>
              <a:t> </a:t>
            </a:r>
            <a:r>
              <a:rPr lang="en-GB" sz="3600" spc="-10" dirty="0">
                <a:latin typeface="Carlito"/>
                <a:cs typeface="Carlito"/>
              </a:rPr>
              <a:t>development</a:t>
            </a:r>
            <a:endParaRPr lang="en-GB" sz="3600" dirty="0">
              <a:latin typeface="Carlito"/>
              <a:cs typeface="Carlito"/>
            </a:endParaRPr>
          </a:p>
          <a:p>
            <a:pPr marL="697865" lvl="1" indent="-227965">
              <a:lnSpc>
                <a:spcPct val="100000"/>
              </a:lnSpc>
              <a:spcBef>
                <a:spcPts val="70"/>
              </a:spcBef>
              <a:buFont typeface="Arial"/>
              <a:buChar char="•"/>
              <a:tabLst>
                <a:tab pos="697865" algn="l"/>
              </a:tabLst>
            </a:pPr>
            <a:r>
              <a:rPr lang="en-GB" sz="3600" spc="-10" dirty="0">
                <a:latin typeface="Carlito"/>
                <a:cs typeface="Carlito"/>
              </a:rPr>
              <a:t>Design</a:t>
            </a:r>
            <a:endParaRPr lang="en-GB" sz="3600" dirty="0">
              <a:latin typeface="Carlito"/>
              <a:cs typeface="Carlito"/>
            </a:endParaRPr>
          </a:p>
          <a:p>
            <a:pPr marL="697865" lvl="1" indent="-227965">
              <a:lnSpc>
                <a:spcPct val="100000"/>
              </a:lnSpc>
              <a:spcBef>
                <a:spcPts val="70"/>
              </a:spcBef>
              <a:buFont typeface="Arial"/>
              <a:buChar char="•"/>
              <a:tabLst>
                <a:tab pos="697865" algn="l"/>
              </a:tabLst>
            </a:pPr>
            <a:r>
              <a:rPr lang="en-GB" sz="3600" spc="-10" dirty="0">
                <a:latin typeface="Carlito"/>
                <a:cs typeface="Carlito"/>
              </a:rPr>
              <a:t>Implementation</a:t>
            </a:r>
            <a:endParaRPr lang="en-GB" sz="3600" dirty="0">
              <a:latin typeface="Carlito"/>
              <a:cs typeface="Carlito"/>
            </a:endParaRPr>
          </a:p>
          <a:p>
            <a:pPr marL="697865" lvl="1" indent="-227965">
              <a:lnSpc>
                <a:spcPct val="100000"/>
              </a:lnSpc>
              <a:spcBef>
                <a:spcPts val="100"/>
              </a:spcBef>
              <a:buFont typeface="Arial"/>
              <a:buChar char="•"/>
              <a:tabLst>
                <a:tab pos="697865" algn="l"/>
              </a:tabLst>
            </a:pPr>
            <a:r>
              <a:rPr lang="en-GB" sz="3600" spc="-10" dirty="0">
                <a:latin typeface="Carlito"/>
                <a:cs typeface="Carlito"/>
              </a:rPr>
              <a:t>Presentation</a:t>
            </a:r>
            <a:r>
              <a:rPr lang="en-GB" sz="3600" spc="-50" dirty="0">
                <a:latin typeface="Carlito"/>
                <a:cs typeface="Carlito"/>
              </a:rPr>
              <a:t> </a:t>
            </a:r>
            <a:r>
              <a:rPr lang="en-GB" sz="3600" dirty="0">
                <a:latin typeface="Carlito"/>
                <a:cs typeface="Carlito"/>
              </a:rPr>
              <a:t>–</a:t>
            </a:r>
            <a:r>
              <a:rPr lang="en-GB" sz="3600" spc="-45" dirty="0">
                <a:latin typeface="Carlito"/>
                <a:cs typeface="Carlito"/>
              </a:rPr>
              <a:t> </a:t>
            </a:r>
            <a:r>
              <a:rPr lang="en-GB" sz="3600" dirty="0">
                <a:latin typeface="Carlito"/>
                <a:cs typeface="Carlito"/>
              </a:rPr>
              <a:t>how</a:t>
            </a:r>
            <a:r>
              <a:rPr lang="en-GB" sz="3600" spc="-45" dirty="0">
                <a:latin typeface="Carlito"/>
                <a:cs typeface="Carlito"/>
              </a:rPr>
              <a:t> </a:t>
            </a:r>
            <a:r>
              <a:rPr lang="en-GB" sz="3600" dirty="0">
                <a:latin typeface="Carlito"/>
                <a:cs typeface="Carlito"/>
              </a:rPr>
              <a:t>does</a:t>
            </a:r>
            <a:r>
              <a:rPr lang="en-GB" sz="3600" spc="-35" dirty="0">
                <a:latin typeface="Carlito"/>
                <a:cs typeface="Carlito"/>
              </a:rPr>
              <a:t> </a:t>
            </a:r>
            <a:r>
              <a:rPr lang="en-GB" sz="3600" dirty="0">
                <a:latin typeface="Carlito"/>
                <a:cs typeface="Carlito"/>
              </a:rPr>
              <a:t>it</a:t>
            </a:r>
            <a:r>
              <a:rPr lang="en-GB" sz="3600" spc="-50" dirty="0">
                <a:latin typeface="Carlito"/>
                <a:cs typeface="Carlito"/>
              </a:rPr>
              <a:t> </a:t>
            </a:r>
            <a:r>
              <a:rPr lang="en-GB" sz="3600" spc="-20" dirty="0">
                <a:latin typeface="Carlito"/>
                <a:cs typeface="Carlito"/>
              </a:rPr>
              <a:t>look</a:t>
            </a:r>
            <a:endParaRPr lang="en-GB" sz="3600" dirty="0">
              <a:latin typeface="Carlito"/>
              <a:cs typeface="Carlito"/>
            </a:endParaRPr>
          </a:p>
          <a:p>
            <a:pPr marL="697865" lvl="1" indent="-227965">
              <a:lnSpc>
                <a:spcPct val="100000"/>
              </a:lnSpc>
              <a:spcBef>
                <a:spcPts val="70"/>
              </a:spcBef>
              <a:buFont typeface="Arial"/>
              <a:buChar char="•"/>
              <a:tabLst>
                <a:tab pos="697865" algn="l"/>
              </a:tabLst>
            </a:pPr>
            <a:r>
              <a:rPr lang="en-GB" sz="3600" dirty="0">
                <a:latin typeface="Carlito"/>
                <a:cs typeface="Carlito"/>
              </a:rPr>
              <a:t>Development</a:t>
            </a:r>
            <a:r>
              <a:rPr lang="en-GB" sz="3600" spc="-120" dirty="0">
                <a:latin typeface="Carlito"/>
                <a:cs typeface="Carlito"/>
              </a:rPr>
              <a:t> </a:t>
            </a:r>
            <a:r>
              <a:rPr lang="en-GB" sz="3600" dirty="0">
                <a:latin typeface="Carlito"/>
                <a:cs typeface="Carlito"/>
              </a:rPr>
              <a:t>and</a:t>
            </a:r>
            <a:r>
              <a:rPr lang="en-GB" sz="3600" spc="-110" dirty="0">
                <a:latin typeface="Carlito"/>
                <a:cs typeface="Carlito"/>
              </a:rPr>
              <a:t> </a:t>
            </a:r>
            <a:r>
              <a:rPr lang="en-GB" sz="3600" dirty="0">
                <a:latin typeface="Carlito"/>
                <a:cs typeface="Carlito"/>
              </a:rPr>
              <a:t>testing</a:t>
            </a:r>
            <a:r>
              <a:rPr lang="en-GB" sz="3600" spc="-100" dirty="0">
                <a:latin typeface="Carlito"/>
                <a:cs typeface="Carlito"/>
              </a:rPr>
              <a:t> </a:t>
            </a:r>
            <a:r>
              <a:rPr lang="en-GB" sz="3600" dirty="0">
                <a:latin typeface="Carlito"/>
                <a:cs typeface="Carlito"/>
              </a:rPr>
              <a:t>(source</a:t>
            </a:r>
            <a:r>
              <a:rPr lang="en-GB" sz="3600" spc="-114" dirty="0">
                <a:latin typeface="Carlito"/>
                <a:cs typeface="Carlito"/>
              </a:rPr>
              <a:t> </a:t>
            </a:r>
            <a:r>
              <a:rPr lang="en-GB" sz="3600" spc="-10" dirty="0">
                <a:latin typeface="Carlito"/>
                <a:cs typeface="Carlito"/>
              </a:rPr>
              <a:t>files)</a:t>
            </a:r>
            <a:endParaRPr lang="en-GB" sz="3600" dirty="0">
              <a:latin typeface="Carlito"/>
              <a:cs typeface="Carlito"/>
            </a:endParaRPr>
          </a:p>
          <a:p>
            <a:endParaRPr lang="en-GB" sz="2200" dirty="0"/>
          </a:p>
        </p:txBody>
      </p:sp>
    </p:spTree>
    <p:extLst>
      <p:ext uri="{BB962C8B-B14F-4D97-AF65-F5344CB8AC3E}">
        <p14:creationId xmlns:p14="http://schemas.microsoft.com/office/powerpoint/2010/main" val="38165396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816075-C2ED-4810-65D3-36AB9490624D}"/>
              </a:ext>
            </a:extLst>
          </p:cNvPr>
          <p:cNvSpPr>
            <a:spLocks noGrp="1"/>
          </p:cNvSpPr>
          <p:nvPr>
            <p:ph type="title"/>
          </p:nvPr>
        </p:nvSpPr>
        <p:spPr>
          <a:xfrm>
            <a:off x="838199" y="1093788"/>
            <a:ext cx="10506455" cy="2967208"/>
          </a:xfrm>
        </p:spPr>
        <p:txBody>
          <a:bodyPr vert="horz" lIns="91440" tIns="45720" rIns="91440" bIns="45720" rtlCol="0" anchor="b">
            <a:normAutofit/>
          </a:bodyPr>
          <a:lstStyle/>
          <a:p>
            <a:r>
              <a:rPr lang="en-US" sz="8000" kern="1200" dirty="0">
                <a:solidFill>
                  <a:schemeClr val="tx1"/>
                </a:solidFill>
                <a:latin typeface="+mj-lt"/>
                <a:ea typeface="+mj-ea"/>
                <a:cs typeface="+mj-cs"/>
              </a:rPr>
              <a:t>Introduction </a:t>
            </a:r>
          </a:p>
        </p:txBody>
      </p:sp>
      <p:sp>
        <p:nvSpPr>
          <p:cNvPr id="10" name="Rectangle 9">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2" name="Rectangle 11">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819022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6B2618E-C6E7-F1A9-EB53-CE9BE5C7E3DF}"/>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B23FE733-F95B-4DF6-AFC5-BEEB3577C4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7" name="Rectangle 26">
            <a:extLst>
              <a:ext uri="{FF2B5EF4-FFF2-40B4-BE49-F238E27FC236}">
                <a16:creationId xmlns:a16="http://schemas.microsoft.com/office/drawing/2014/main" id="{9080D120-BD54-46E1-BA37-82F5E8089E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3" y="633619"/>
            <a:ext cx="6852464" cy="5495925"/>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CB55FF1-3B6B-A4FE-2A78-D06F249F3CC2}"/>
              </a:ext>
            </a:extLst>
          </p:cNvPr>
          <p:cNvSpPr>
            <a:spLocks noGrp="1"/>
          </p:cNvSpPr>
          <p:nvPr>
            <p:ph type="title"/>
          </p:nvPr>
        </p:nvSpPr>
        <p:spPr>
          <a:xfrm>
            <a:off x="838196" y="978408"/>
            <a:ext cx="6007608" cy="1106424"/>
          </a:xfrm>
        </p:spPr>
        <p:txBody>
          <a:bodyPr>
            <a:normAutofit/>
          </a:bodyPr>
          <a:lstStyle/>
          <a:p>
            <a:r>
              <a:rPr lang="en-GB" sz="2800" spc="-10"/>
              <a:t>Introduction</a:t>
            </a:r>
            <a:endParaRPr lang="en-GB" sz="2800"/>
          </a:p>
        </p:txBody>
      </p:sp>
      <p:sp>
        <p:nvSpPr>
          <p:cNvPr id="28" name="Rectangle 27">
            <a:extLst>
              <a:ext uri="{FF2B5EF4-FFF2-40B4-BE49-F238E27FC236}">
                <a16:creationId xmlns:a16="http://schemas.microsoft.com/office/drawing/2014/main" id="{81D83946-74FA-498A-AC80-9926F041B5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5" y="1181536"/>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5" name="Rectangle 24">
            <a:extLst>
              <a:ext uri="{FF2B5EF4-FFF2-40B4-BE49-F238E27FC236}">
                <a16:creationId xmlns:a16="http://schemas.microsoft.com/office/drawing/2014/main" id="{5060D983-8B52-443A-8183-2A1DE0561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4" y="2121408"/>
            <a:ext cx="5824728"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descr="Waterfall software model">
            <a:extLst>
              <a:ext uri="{FF2B5EF4-FFF2-40B4-BE49-F238E27FC236}">
                <a16:creationId xmlns:a16="http://schemas.microsoft.com/office/drawing/2014/main" id="{18135DEF-BC02-764C-E11A-4711ADB395C0}"/>
              </a:ext>
            </a:extLst>
          </p:cNvPr>
          <p:cNvSpPr>
            <a:spLocks noGrp="1"/>
          </p:cNvSpPr>
          <p:nvPr>
            <p:ph idx="1"/>
          </p:nvPr>
        </p:nvSpPr>
        <p:spPr>
          <a:xfrm>
            <a:off x="841244" y="2359152"/>
            <a:ext cx="6007608" cy="3429000"/>
          </a:xfrm>
        </p:spPr>
        <p:txBody>
          <a:bodyPr>
            <a:normAutofit/>
          </a:bodyPr>
          <a:lstStyle/>
          <a:p>
            <a:pPr marL="12700" marR="144780">
              <a:spcBef>
                <a:spcPts val="355"/>
              </a:spcBef>
            </a:pPr>
            <a:r>
              <a:rPr lang="en-GB" sz="2000" b="0" i="0" dirty="0">
                <a:latin typeface="Carlito"/>
                <a:cs typeface="Carlito"/>
              </a:rPr>
              <a:t>This</a:t>
            </a:r>
            <a:r>
              <a:rPr lang="en-GB" sz="2000" b="0" i="0" spc="-55" dirty="0">
                <a:latin typeface="Carlito"/>
                <a:cs typeface="Carlito"/>
              </a:rPr>
              <a:t> </a:t>
            </a:r>
            <a:r>
              <a:rPr lang="en-GB" sz="2000" b="0" i="0" dirty="0">
                <a:latin typeface="Carlito"/>
                <a:cs typeface="Carlito"/>
              </a:rPr>
              <a:t>module</a:t>
            </a:r>
            <a:r>
              <a:rPr lang="en-GB" sz="2000" b="0" i="0" spc="-50" dirty="0">
                <a:latin typeface="Carlito"/>
                <a:cs typeface="Carlito"/>
              </a:rPr>
              <a:t> </a:t>
            </a:r>
            <a:r>
              <a:rPr lang="en-GB" sz="2000" b="0" i="0" dirty="0">
                <a:latin typeface="Carlito"/>
                <a:cs typeface="Carlito"/>
              </a:rPr>
              <a:t>is</a:t>
            </a:r>
            <a:r>
              <a:rPr lang="en-GB" sz="2000" b="0" i="0" spc="-50" dirty="0">
                <a:latin typeface="Carlito"/>
                <a:cs typeface="Carlito"/>
              </a:rPr>
              <a:t> </a:t>
            </a:r>
            <a:r>
              <a:rPr lang="en-GB" sz="2000" b="0" i="0" dirty="0">
                <a:latin typeface="Carlito"/>
                <a:cs typeface="Carlito"/>
              </a:rPr>
              <a:t>about</a:t>
            </a:r>
            <a:r>
              <a:rPr lang="en-GB" sz="2000" b="0" i="0" spc="-50" dirty="0">
                <a:latin typeface="Carlito"/>
                <a:cs typeface="Carlito"/>
              </a:rPr>
              <a:t> </a:t>
            </a:r>
            <a:r>
              <a:rPr lang="en-GB" sz="2000" dirty="0"/>
              <a:t>Software</a:t>
            </a:r>
            <a:r>
              <a:rPr lang="en-GB" sz="2000" spc="-50" dirty="0"/>
              <a:t> </a:t>
            </a:r>
            <a:r>
              <a:rPr lang="en-GB" sz="2000" dirty="0"/>
              <a:t>Engineering</a:t>
            </a:r>
            <a:r>
              <a:rPr lang="en-GB" sz="2000" spc="-55" dirty="0"/>
              <a:t> </a:t>
            </a:r>
            <a:r>
              <a:rPr lang="en-GB" sz="2000" spc="-25" dirty="0"/>
              <a:t>for</a:t>
            </a:r>
            <a:r>
              <a:rPr lang="en-GB" sz="2000" i="1" spc="-25" dirty="0"/>
              <a:t> </a:t>
            </a:r>
            <a:r>
              <a:rPr lang="en-GB" sz="2000" i="1" dirty="0"/>
              <a:t>the</a:t>
            </a:r>
            <a:r>
              <a:rPr lang="en-GB" sz="2000" i="1" spc="-30" dirty="0"/>
              <a:t> </a:t>
            </a:r>
            <a:r>
              <a:rPr lang="en-GB" sz="2000" i="1" spc="-20" dirty="0"/>
              <a:t>Web</a:t>
            </a:r>
            <a:r>
              <a:rPr lang="en-GB" sz="2000" b="0" i="0" spc="-20" dirty="0">
                <a:latin typeface="Carlito"/>
                <a:cs typeface="Carlito"/>
              </a:rPr>
              <a:t>.</a:t>
            </a:r>
          </a:p>
          <a:p>
            <a:pPr marL="12700" marR="137160">
              <a:spcBef>
                <a:spcPts val="1055"/>
              </a:spcBef>
            </a:pPr>
            <a:r>
              <a:rPr lang="en-GB" sz="2000" b="0" i="0" dirty="0">
                <a:latin typeface="Carlito"/>
                <a:cs typeface="Carlito"/>
              </a:rPr>
              <a:t>Software</a:t>
            </a:r>
            <a:r>
              <a:rPr lang="en-GB" sz="2000" b="0" i="0" spc="-55" dirty="0">
                <a:latin typeface="Carlito"/>
                <a:cs typeface="Carlito"/>
              </a:rPr>
              <a:t> </a:t>
            </a:r>
            <a:r>
              <a:rPr lang="en-GB" sz="2000" b="0" i="0" dirty="0">
                <a:latin typeface="Carlito"/>
                <a:cs typeface="Carlito"/>
              </a:rPr>
              <a:t>Engineering</a:t>
            </a:r>
            <a:r>
              <a:rPr lang="en-GB" sz="2000" b="0" i="0" spc="-65" dirty="0">
                <a:latin typeface="Carlito"/>
                <a:cs typeface="Carlito"/>
              </a:rPr>
              <a:t> </a:t>
            </a:r>
            <a:r>
              <a:rPr lang="en-GB" sz="2000" b="0" i="0" dirty="0">
                <a:latin typeface="Carlito"/>
                <a:cs typeface="Carlito"/>
              </a:rPr>
              <a:t>design</a:t>
            </a:r>
            <a:r>
              <a:rPr lang="en-GB" sz="2000" b="0" i="0" spc="-60" dirty="0">
                <a:latin typeface="Carlito"/>
                <a:cs typeface="Carlito"/>
              </a:rPr>
              <a:t> </a:t>
            </a:r>
            <a:r>
              <a:rPr lang="en-GB" sz="2000" b="0" i="0" dirty="0">
                <a:latin typeface="Carlito"/>
                <a:cs typeface="Carlito"/>
              </a:rPr>
              <a:t>and</a:t>
            </a:r>
            <a:r>
              <a:rPr lang="en-GB" sz="2000" b="0" i="0" spc="-55" dirty="0">
                <a:latin typeface="Carlito"/>
                <a:cs typeface="Carlito"/>
              </a:rPr>
              <a:t> </a:t>
            </a:r>
            <a:r>
              <a:rPr lang="en-GB" sz="2000" b="0" i="0" spc="-10" dirty="0">
                <a:latin typeface="Carlito"/>
                <a:cs typeface="Carlito"/>
              </a:rPr>
              <a:t>development </a:t>
            </a:r>
            <a:r>
              <a:rPr lang="en-GB" sz="2000" b="0" i="0" dirty="0">
                <a:latin typeface="Carlito"/>
                <a:cs typeface="Carlito"/>
              </a:rPr>
              <a:t>methodologies</a:t>
            </a:r>
            <a:r>
              <a:rPr lang="en-GB" sz="2000" b="0" i="0" spc="-25" dirty="0">
                <a:latin typeface="Carlito"/>
                <a:cs typeface="Carlito"/>
              </a:rPr>
              <a:t> </a:t>
            </a:r>
            <a:r>
              <a:rPr lang="en-GB" sz="2000" b="0" i="0" spc="-20" dirty="0">
                <a:latin typeface="Carlito"/>
                <a:cs typeface="Carlito"/>
              </a:rPr>
              <a:t>(Waterfall,</a:t>
            </a:r>
            <a:r>
              <a:rPr lang="en-GB" sz="2000" b="0" i="0" spc="-30" dirty="0">
                <a:latin typeface="Carlito"/>
                <a:cs typeface="Carlito"/>
              </a:rPr>
              <a:t> </a:t>
            </a:r>
            <a:r>
              <a:rPr lang="en-GB" sz="2000" b="0" i="0" spc="-10" dirty="0">
                <a:latin typeface="Carlito"/>
                <a:cs typeface="Carlito"/>
              </a:rPr>
              <a:t>Prototyping</a:t>
            </a:r>
            <a:r>
              <a:rPr lang="en-GB" sz="2000" b="0" i="0" spc="-35" dirty="0">
                <a:latin typeface="Carlito"/>
                <a:cs typeface="Carlito"/>
              </a:rPr>
              <a:t> </a:t>
            </a:r>
            <a:r>
              <a:rPr lang="en-GB" sz="2000" b="0" i="0" dirty="0">
                <a:latin typeface="Carlito"/>
                <a:cs typeface="Carlito"/>
              </a:rPr>
              <a:t>,</a:t>
            </a:r>
            <a:r>
              <a:rPr lang="en-GB" sz="2000" b="0" i="0" spc="-30" dirty="0">
                <a:latin typeface="Carlito"/>
                <a:cs typeface="Carlito"/>
              </a:rPr>
              <a:t> </a:t>
            </a:r>
            <a:r>
              <a:rPr lang="en-GB" sz="2000" b="0" i="0" spc="-10" dirty="0">
                <a:latin typeface="Carlito"/>
                <a:cs typeface="Carlito"/>
              </a:rPr>
              <a:t>Agile manifesto</a:t>
            </a:r>
            <a:r>
              <a:rPr lang="en-GB" sz="2000" b="0" i="0" spc="-75" dirty="0">
                <a:latin typeface="Carlito"/>
                <a:cs typeface="Carlito"/>
              </a:rPr>
              <a:t> </a:t>
            </a:r>
            <a:r>
              <a:rPr lang="en-GB" sz="2000" b="0" i="0" dirty="0">
                <a:latin typeface="Carlito"/>
                <a:cs typeface="Carlito"/>
              </a:rPr>
              <a:t>etc…),</a:t>
            </a:r>
            <a:r>
              <a:rPr lang="en-GB" sz="2000" b="0" i="0" spc="-70" dirty="0">
                <a:latin typeface="Carlito"/>
                <a:cs typeface="Carlito"/>
              </a:rPr>
              <a:t> </a:t>
            </a:r>
            <a:r>
              <a:rPr lang="en-GB" sz="2000" b="0" i="0" dirty="0">
                <a:latin typeface="Carlito"/>
                <a:cs typeface="Carlito"/>
              </a:rPr>
              <a:t>what</a:t>
            </a:r>
            <a:r>
              <a:rPr lang="en-GB" sz="2000" b="0" i="0" spc="-65" dirty="0">
                <a:latin typeface="Carlito"/>
                <a:cs typeface="Carlito"/>
              </a:rPr>
              <a:t> </a:t>
            </a:r>
            <a:r>
              <a:rPr lang="en-GB" sz="2000" b="0" i="0" dirty="0">
                <a:latin typeface="Carlito"/>
                <a:cs typeface="Carlito"/>
              </a:rPr>
              <a:t>this</a:t>
            </a:r>
            <a:r>
              <a:rPr lang="en-GB" sz="2000" b="0" i="0" spc="-65" dirty="0">
                <a:latin typeface="Carlito"/>
                <a:cs typeface="Carlito"/>
              </a:rPr>
              <a:t> </a:t>
            </a:r>
            <a:r>
              <a:rPr lang="en-GB" sz="2000" b="0" i="0" dirty="0">
                <a:latin typeface="Carlito"/>
                <a:cs typeface="Carlito"/>
              </a:rPr>
              <a:t>module</a:t>
            </a:r>
            <a:r>
              <a:rPr lang="en-GB" sz="2000" b="0" i="0" spc="-65" dirty="0">
                <a:latin typeface="Carlito"/>
                <a:cs typeface="Carlito"/>
              </a:rPr>
              <a:t> </a:t>
            </a:r>
            <a:r>
              <a:rPr lang="en-GB" sz="2000" b="0" i="0" dirty="0">
                <a:latin typeface="Carlito"/>
                <a:cs typeface="Carlito"/>
              </a:rPr>
              <a:t>focusses</a:t>
            </a:r>
            <a:r>
              <a:rPr lang="en-GB" sz="2000" b="0" i="0" spc="-60" dirty="0">
                <a:latin typeface="Carlito"/>
                <a:cs typeface="Carlito"/>
              </a:rPr>
              <a:t> </a:t>
            </a:r>
            <a:r>
              <a:rPr lang="en-GB" sz="2000" b="0" i="0" spc="-25" dirty="0">
                <a:latin typeface="Carlito"/>
                <a:cs typeface="Carlito"/>
              </a:rPr>
              <a:t>on </a:t>
            </a:r>
            <a:r>
              <a:rPr lang="en-GB" sz="2000" b="0" i="0" dirty="0">
                <a:latin typeface="Carlito"/>
                <a:cs typeface="Carlito"/>
              </a:rPr>
              <a:t>is</a:t>
            </a:r>
            <a:r>
              <a:rPr lang="en-GB" sz="2000" b="0" i="0" spc="-40" dirty="0">
                <a:latin typeface="Carlito"/>
                <a:cs typeface="Carlito"/>
              </a:rPr>
              <a:t> </a:t>
            </a:r>
            <a:r>
              <a:rPr lang="en-GB" sz="2000" b="0" i="0" dirty="0">
                <a:latin typeface="Carlito"/>
                <a:cs typeface="Carlito"/>
              </a:rPr>
              <a:t>an</a:t>
            </a:r>
            <a:r>
              <a:rPr lang="en-GB" sz="2000" b="0" i="0" spc="-40" dirty="0">
                <a:latin typeface="Carlito"/>
                <a:cs typeface="Carlito"/>
              </a:rPr>
              <a:t> </a:t>
            </a:r>
            <a:r>
              <a:rPr lang="en-GB" sz="2000" b="0" i="0" dirty="0">
                <a:latin typeface="Carlito"/>
                <a:cs typeface="Carlito"/>
              </a:rPr>
              <a:t>approach</a:t>
            </a:r>
            <a:r>
              <a:rPr lang="en-GB" sz="2000" b="0" i="0" spc="-40" dirty="0">
                <a:latin typeface="Carlito"/>
                <a:cs typeface="Carlito"/>
              </a:rPr>
              <a:t> </a:t>
            </a:r>
            <a:r>
              <a:rPr lang="en-GB" sz="2000" b="0" i="0" dirty="0">
                <a:latin typeface="Carlito"/>
                <a:cs typeface="Carlito"/>
              </a:rPr>
              <a:t>to</a:t>
            </a:r>
            <a:r>
              <a:rPr lang="en-GB" sz="2000" b="0" i="0" spc="-50" dirty="0">
                <a:latin typeface="Carlito"/>
                <a:cs typeface="Carlito"/>
              </a:rPr>
              <a:t> </a:t>
            </a:r>
            <a:r>
              <a:rPr lang="en-GB" sz="2000" b="0" i="0" dirty="0">
                <a:latin typeface="Carlito"/>
                <a:cs typeface="Carlito"/>
              </a:rPr>
              <a:t>the</a:t>
            </a:r>
            <a:r>
              <a:rPr lang="en-GB" sz="2000" b="0" i="0" spc="-35" dirty="0">
                <a:latin typeface="Carlito"/>
                <a:cs typeface="Carlito"/>
              </a:rPr>
              <a:t> </a:t>
            </a:r>
            <a:r>
              <a:rPr lang="en-GB" sz="2000" b="0" i="0" dirty="0">
                <a:latin typeface="Carlito"/>
                <a:cs typeface="Carlito"/>
              </a:rPr>
              <a:t>design</a:t>
            </a:r>
            <a:r>
              <a:rPr lang="en-GB" sz="2000" b="0" i="0" spc="-40" dirty="0">
                <a:latin typeface="Carlito"/>
                <a:cs typeface="Carlito"/>
              </a:rPr>
              <a:t> </a:t>
            </a:r>
            <a:r>
              <a:rPr lang="en-GB" sz="2000" b="0" i="0" dirty="0">
                <a:latin typeface="Carlito"/>
                <a:cs typeface="Carlito"/>
              </a:rPr>
              <a:t>of</a:t>
            </a:r>
            <a:r>
              <a:rPr lang="en-GB" sz="2000" b="0" i="0" spc="-35" dirty="0">
                <a:latin typeface="Carlito"/>
                <a:cs typeface="Carlito"/>
              </a:rPr>
              <a:t> </a:t>
            </a:r>
            <a:r>
              <a:rPr lang="en-GB" sz="2000" b="0" i="0" dirty="0">
                <a:latin typeface="Carlito"/>
                <a:cs typeface="Carlito"/>
              </a:rPr>
              <a:t>Web</a:t>
            </a:r>
            <a:r>
              <a:rPr lang="en-GB" sz="2000" b="0" i="0" spc="-45" dirty="0">
                <a:latin typeface="Carlito"/>
                <a:cs typeface="Carlito"/>
              </a:rPr>
              <a:t> </a:t>
            </a:r>
            <a:r>
              <a:rPr lang="en-GB" sz="2000" b="0" i="0" spc="-10" dirty="0">
                <a:latin typeface="Carlito"/>
                <a:cs typeface="Carlito"/>
              </a:rPr>
              <a:t>Systems.</a:t>
            </a:r>
          </a:p>
          <a:p>
            <a:pPr marL="12700" marR="5080">
              <a:spcBef>
                <a:spcPts val="1070"/>
              </a:spcBef>
            </a:pPr>
            <a:r>
              <a:rPr lang="en-GB" sz="2000" b="0" i="0" dirty="0">
                <a:latin typeface="Carlito"/>
                <a:cs typeface="Carlito"/>
              </a:rPr>
              <a:t>This</a:t>
            </a:r>
            <a:r>
              <a:rPr lang="en-GB" sz="2000" b="0" i="0" spc="-45" dirty="0">
                <a:latin typeface="Carlito"/>
                <a:cs typeface="Carlito"/>
              </a:rPr>
              <a:t> </a:t>
            </a:r>
            <a:r>
              <a:rPr lang="en-GB" sz="2000" b="0" i="0" dirty="0">
                <a:latin typeface="Carlito"/>
                <a:cs typeface="Carlito"/>
              </a:rPr>
              <a:t>approach</a:t>
            </a:r>
            <a:r>
              <a:rPr lang="en-GB" sz="2000" b="0" i="0" spc="-50" dirty="0">
                <a:latin typeface="Carlito"/>
                <a:cs typeface="Carlito"/>
              </a:rPr>
              <a:t> </a:t>
            </a:r>
            <a:r>
              <a:rPr lang="en-GB" sz="2000" b="0" i="0" dirty="0">
                <a:latin typeface="Carlito"/>
                <a:cs typeface="Carlito"/>
              </a:rPr>
              <a:t>is</a:t>
            </a:r>
            <a:r>
              <a:rPr lang="en-GB" sz="2000" b="0" i="0" spc="-40" dirty="0">
                <a:latin typeface="Carlito"/>
                <a:cs typeface="Carlito"/>
              </a:rPr>
              <a:t> </a:t>
            </a:r>
            <a:r>
              <a:rPr lang="en-GB" sz="2000" b="0" i="0" dirty="0">
                <a:latin typeface="Carlito"/>
                <a:cs typeface="Carlito"/>
              </a:rPr>
              <a:t>called</a:t>
            </a:r>
            <a:r>
              <a:rPr lang="en-GB" sz="2000" b="0" i="0" spc="-50" dirty="0">
                <a:latin typeface="Carlito"/>
                <a:cs typeface="Carlito"/>
              </a:rPr>
              <a:t> </a:t>
            </a:r>
            <a:r>
              <a:rPr lang="en-GB" sz="2000" b="0" i="0" dirty="0">
                <a:latin typeface="Carlito"/>
                <a:cs typeface="Carlito"/>
              </a:rPr>
              <a:t>the</a:t>
            </a:r>
            <a:r>
              <a:rPr lang="en-GB" sz="2000" b="0" i="0" spc="-45" dirty="0">
                <a:latin typeface="Carlito"/>
                <a:cs typeface="Carlito"/>
              </a:rPr>
              <a:t> </a:t>
            </a:r>
            <a:r>
              <a:rPr lang="en-GB" sz="2000" dirty="0"/>
              <a:t>User</a:t>
            </a:r>
            <a:r>
              <a:rPr lang="en-GB" sz="2000" spc="-50" dirty="0"/>
              <a:t> </a:t>
            </a:r>
            <a:r>
              <a:rPr lang="en-GB" sz="2000" dirty="0"/>
              <a:t>Experience</a:t>
            </a:r>
            <a:r>
              <a:rPr lang="en-GB" sz="2000" spc="-45" dirty="0"/>
              <a:t> </a:t>
            </a:r>
            <a:r>
              <a:rPr lang="en-GB" sz="2000" b="0" i="0" spc="-20" dirty="0">
                <a:latin typeface="Carlito"/>
                <a:cs typeface="Carlito"/>
              </a:rPr>
              <a:t>(UX) </a:t>
            </a:r>
            <a:r>
              <a:rPr lang="en-GB" sz="2000" b="0" i="0" dirty="0">
                <a:latin typeface="Carlito"/>
                <a:cs typeface="Carlito"/>
              </a:rPr>
              <a:t>and</a:t>
            </a:r>
            <a:r>
              <a:rPr lang="en-GB" sz="2000" b="0" i="0" spc="-40" dirty="0">
                <a:latin typeface="Carlito"/>
                <a:cs typeface="Carlito"/>
              </a:rPr>
              <a:t> </a:t>
            </a:r>
            <a:r>
              <a:rPr lang="en-GB" sz="2000" dirty="0"/>
              <a:t>User</a:t>
            </a:r>
            <a:r>
              <a:rPr lang="en-GB" sz="2000" spc="-45" dirty="0"/>
              <a:t> </a:t>
            </a:r>
            <a:r>
              <a:rPr lang="en-GB" sz="2000" dirty="0"/>
              <a:t>Experience</a:t>
            </a:r>
            <a:r>
              <a:rPr lang="en-GB" sz="2000" spc="-35" dirty="0"/>
              <a:t> </a:t>
            </a:r>
            <a:r>
              <a:rPr lang="en-GB" sz="2000" dirty="0"/>
              <a:t>Design</a:t>
            </a:r>
            <a:r>
              <a:rPr lang="en-GB" sz="2000" spc="-45" dirty="0"/>
              <a:t> </a:t>
            </a:r>
            <a:r>
              <a:rPr lang="en-GB" sz="2000" b="0" i="0" spc="-10" dirty="0">
                <a:latin typeface="Carlito"/>
                <a:cs typeface="Carlito"/>
              </a:rPr>
              <a:t>(UXD)</a:t>
            </a:r>
          </a:p>
          <a:p>
            <a:pPr marL="240665" indent="-227965">
              <a:spcBef>
                <a:spcPts val="690"/>
              </a:spcBef>
              <a:buFont typeface="Arial"/>
              <a:buChar char="•"/>
              <a:tabLst>
                <a:tab pos="240665" algn="l"/>
              </a:tabLst>
            </a:pPr>
            <a:endParaRPr lang="en-GB" sz="2000" b="0" i="0" spc="-10" dirty="0">
              <a:latin typeface="Carlito"/>
              <a:cs typeface="Carlito"/>
            </a:endParaRPr>
          </a:p>
        </p:txBody>
      </p:sp>
      <p:pic>
        <p:nvPicPr>
          <p:cNvPr id="4" name="object 7" descr="Waterfall software model">
            <a:extLst>
              <a:ext uri="{FF2B5EF4-FFF2-40B4-BE49-F238E27FC236}">
                <a16:creationId xmlns:a16="http://schemas.microsoft.com/office/drawing/2014/main" id="{3A275D1A-3461-FFAD-78F8-A2793FBAB3EE}"/>
              </a:ext>
            </a:extLst>
          </p:cNvPr>
          <p:cNvPicPr/>
          <p:nvPr/>
        </p:nvPicPr>
        <p:blipFill>
          <a:blip r:embed="rId2" cstate="print"/>
          <a:stretch>
            <a:fillRect/>
          </a:stretch>
        </p:blipFill>
        <p:spPr>
          <a:xfrm>
            <a:off x="8029956" y="633619"/>
            <a:ext cx="3535680" cy="2651760"/>
          </a:xfrm>
          <a:prstGeom prst="rect">
            <a:avLst/>
          </a:prstGeom>
        </p:spPr>
      </p:pic>
      <p:pic>
        <p:nvPicPr>
          <p:cNvPr id="5" name="object 9" descr="Agile software model">
            <a:extLst>
              <a:ext uri="{FF2B5EF4-FFF2-40B4-BE49-F238E27FC236}">
                <a16:creationId xmlns:a16="http://schemas.microsoft.com/office/drawing/2014/main" id="{D7B7B770-9F66-8C93-D127-3B78F3508804}"/>
              </a:ext>
            </a:extLst>
          </p:cNvPr>
          <p:cNvPicPr/>
          <p:nvPr/>
        </p:nvPicPr>
        <p:blipFill>
          <a:blip r:embed="rId3" cstate="print"/>
          <a:stretch>
            <a:fillRect/>
          </a:stretch>
        </p:blipFill>
        <p:spPr>
          <a:xfrm>
            <a:off x="8417287" y="3472468"/>
            <a:ext cx="2757462" cy="2651760"/>
          </a:xfrm>
          <a:prstGeom prst="rect">
            <a:avLst/>
          </a:prstGeom>
        </p:spPr>
      </p:pic>
    </p:spTree>
    <p:extLst>
      <p:ext uri="{BB962C8B-B14F-4D97-AF65-F5344CB8AC3E}">
        <p14:creationId xmlns:p14="http://schemas.microsoft.com/office/powerpoint/2010/main" val="17927352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4C572D4-8D66-BE71-E6FE-B56436A683A9}"/>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descr="Waterfall software model">
            <a:extLst>
              <a:ext uri="{FF2B5EF4-FFF2-40B4-BE49-F238E27FC236}">
                <a16:creationId xmlns:a16="http://schemas.microsoft.com/office/drawing/2014/main" id="{32EC12C9-37EC-53DC-E2C3-2F17E937AA95}"/>
              </a:ext>
            </a:extLst>
          </p:cNvPr>
          <p:cNvSpPr>
            <a:spLocks noGrp="1"/>
          </p:cNvSpPr>
          <p:nvPr>
            <p:ph type="title"/>
          </p:nvPr>
        </p:nvSpPr>
        <p:spPr>
          <a:xfrm>
            <a:off x="411480" y="991443"/>
            <a:ext cx="4443154" cy="1087819"/>
          </a:xfrm>
        </p:spPr>
        <p:txBody>
          <a:bodyPr anchor="b">
            <a:normAutofit/>
          </a:bodyPr>
          <a:lstStyle/>
          <a:p>
            <a:r>
              <a:rPr lang="en-GB" sz="3400" u="sng"/>
              <a:t>Waterfall</a:t>
            </a:r>
            <a:endParaRPr lang="en-GB" sz="3400"/>
          </a:p>
        </p:txBody>
      </p:sp>
      <p:sp>
        <p:nvSpPr>
          <p:cNvPr id="21" name="Rectangle 20">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3" name="Rectangle 22">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988DB681-6DAD-AC5C-0C71-DCB6345DF78B}"/>
              </a:ext>
            </a:extLst>
          </p:cNvPr>
          <p:cNvSpPr>
            <a:spLocks noGrp="1"/>
          </p:cNvSpPr>
          <p:nvPr>
            <p:ph idx="1"/>
          </p:nvPr>
        </p:nvSpPr>
        <p:spPr>
          <a:xfrm>
            <a:off x="411480" y="2684095"/>
            <a:ext cx="4443154" cy="3492868"/>
          </a:xfrm>
        </p:spPr>
        <p:txBody>
          <a:bodyPr>
            <a:normAutofit/>
          </a:bodyPr>
          <a:lstStyle/>
          <a:p>
            <a:r>
              <a:rPr lang="en-GB" sz="1800" b="0" i="0" dirty="0">
                <a:latin typeface="Carlito"/>
                <a:cs typeface="Carlito"/>
              </a:rPr>
              <a:t>The waterfall method is moving from one phase to another, one at a time, without revisiting the completed phases until all other phases are complete.</a:t>
            </a:r>
            <a:endParaRPr lang="en-GB" sz="1800" b="0" i="0" spc="-10" dirty="0">
              <a:latin typeface="Carlito"/>
              <a:cs typeface="Carlito"/>
            </a:endParaRPr>
          </a:p>
          <a:p>
            <a:endParaRPr lang="en-GB" sz="1800"/>
          </a:p>
        </p:txBody>
      </p:sp>
      <p:pic>
        <p:nvPicPr>
          <p:cNvPr id="5" name="Picture 4" descr="Waterfall software model ">
            <a:extLst>
              <a:ext uri="{FF2B5EF4-FFF2-40B4-BE49-F238E27FC236}">
                <a16:creationId xmlns:a16="http://schemas.microsoft.com/office/drawing/2014/main" id="{5CFFF77D-F8FD-B7AE-ED8F-960A64999189}"/>
              </a:ext>
            </a:extLst>
          </p:cNvPr>
          <p:cNvPicPr>
            <a:picLocks noChangeAspect="1"/>
          </p:cNvPicPr>
          <p:nvPr/>
        </p:nvPicPr>
        <p:blipFill>
          <a:blip r:embed="rId2"/>
          <a:stretch>
            <a:fillRect/>
          </a:stretch>
        </p:blipFill>
        <p:spPr>
          <a:xfrm>
            <a:off x="5385816" y="978114"/>
            <a:ext cx="6440424" cy="4846417"/>
          </a:xfrm>
          <a:prstGeom prst="rect">
            <a:avLst/>
          </a:prstGeom>
        </p:spPr>
      </p:pic>
      <p:sp>
        <p:nvSpPr>
          <p:cNvPr id="7" name="object 3">
            <a:extLst>
              <a:ext uri="{FF2B5EF4-FFF2-40B4-BE49-F238E27FC236}">
                <a16:creationId xmlns:a16="http://schemas.microsoft.com/office/drawing/2014/main" id="{9EE4FAB3-F6BD-07C2-115F-97BFCDF13FC4}"/>
              </a:ext>
            </a:extLst>
          </p:cNvPr>
          <p:cNvSpPr txBox="1"/>
          <p:nvPr/>
        </p:nvSpPr>
        <p:spPr>
          <a:xfrm>
            <a:off x="6324862" y="5952342"/>
            <a:ext cx="4689909" cy="182101"/>
          </a:xfrm>
          <a:prstGeom prst="rect">
            <a:avLst/>
          </a:prstGeom>
        </p:spPr>
        <p:txBody>
          <a:bodyPr vert="horz" wrap="square" lIns="0" tIns="12700" rIns="0" bIns="0" rtlCol="0">
            <a:spAutoFit/>
          </a:bodyPr>
          <a:lstStyle/>
          <a:p>
            <a:pPr marL="12700">
              <a:lnSpc>
                <a:spcPct val="100000"/>
              </a:lnSpc>
              <a:spcBef>
                <a:spcPts val="100"/>
              </a:spcBef>
            </a:pPr>
            <a:r>
              <a:rPr lang="en-GB" sz="1100" dirty="0">
                <a:latin typeface="Carlito"/>
                <a:cs typeface="Carlito"/>
              </a:rPr>
              <a:t>S</a:t>
            </a:r>
            <a:r>
              <a:rPr sz="1100" dirty="0" err="1">
                <a:latin typeface="Carlito"/>
                <a:cs typeface="Carlito"/>
              </a:rPr>
              <a:t>ource</a:t>
            </a:r>
            <a:r>
              <a:rPr sz="1100" dirty="0">
                <a:latin typeface="Carlito"/>
                <a:cs typeface="Carlito"/>
              </a:rPr>
              <a:t>:</a:t>
            </a:r>
            <a:r>
              <a:rPr sz="1100" spc="-60" dirty="0">
                <a:latin typeface="Carlito"/>
                <a:cs typeface="Carlito"/>
              </a:rPr>
              <a:t> </a:t>
            </a:r>
            <a:r>
              <a:rPr lang="en-GB" sz="1100" dirty="0">
                <a:hlinkClick r:id="rId3"/>
              </a:rPr>
              <a:t>Agile Web Design vs Waterfall Web Design | Growth Driven Design</a:t>
            </a:r>
            <a:endParaRPr sz="1100" dirty="0">
              <a:latin typeface="Carlito"/>
              <a:cs typeface="Carlito"/>
            </a:endParaRPr>
          </a:p>
        </p:txBody>
      </p:sp>
    </p:spTree>
    <p:extLst>
      <p:ext uri="{BB962C8B-B14F-4D97-AF65-F5344CB8AC3E}">
        <p14:creationId xmlns:p14="http://schemas.microsoft.com/office/powerpoint/2010/main" val="29942198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5CA519-0F94-379F-19CA-A22A887E80C1}"/>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90249D-DFDC-C72A-9AA0-1E50B8A49E42}"/>
              </a:ext>
            </a:extLst>
          </p:cNvPr>
          <p:cNvSpPr>
            <a:spLocks noGrp="1"/>
          </p:cNvSpPr>
          <p:nvPr>
            <p:ph type="title"/>
          </p:nvPr>
        </p:nvSpPr>
        <p:spPr>
          <a:xfrm>
            <a:off x="411480" y="991443"/>
            <a:ext cx="4443154" cy="1087819"/>
          </a:xfrm>
        </p:spPr>
        <p:txBody>
          <a:bodyPr anchor="b">
            <a:normAutofit/>
          </a:bodyPr>
          <a:lstStyle/>
          <a:p>
            <a:r>
              <a:rPr lang="en-GB" sz="3400" u="sng"/>
              <a:t>Agile</a:t>
            </a:r>
            <a:endParaRPr lang="en-GB" sz="3400"/>
          </a:p>
        </p:txBody>
      </p:sp>
      <p:sp>
        <p:nvSpPr>
          <p:cNvPr id="21" name="Rectangle 20">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3" name="Rectangle 22">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F7C5BD1A-B42A-CEC5-E117-228578AB4381}"/>
              </a:ext>
            </a:extLst>
          </p:cNvPr>
          <p:cNvSpPr>
            <a:spLocks noGrp="1"/>
          </p:cNvSpPr>
          <p:nvPr>
            <p:ph idx="1"/>
          </p:nvPr>
        </p:nvSpPr>
        <p:spPr>
          <a:xfrm>
            <a:off x="411480" y="2684095"/>
            <a:ext cx="4443154" cy="3492868"/>
          </a:xfrm>
        </p:spPr>
        <p:txBody>
          <a:bodyPr>
            <a:normAutofit/>
          </a:bodyPr>
          <a:lstStyle/>
          <a:p>
            <a:r>
              <a:rPr lang="en-GB" sz="1800" b="0" i="0">
                <a:effectLst/>
                <a:latin typeface="proxima-nova"/>
              </a:rPr>
              <a:t>The agile process is about getting something to market very quickly, even though it might not be ready for prime time, so you can iterate and make the best changes to optimise the product.</a:t>
            </a:r>
            <a:endParaRPr lang="en-GB" sz="1800" b="0" i="0" spc="-10">
              <a:latin typeface="Carlito"/>
              <a:cs typeface="Carlito"/>
            </a:endParaRPr>
          </a:p>
          <a:p>
            <a:endParaRPr lang="en-GB" sz="1800"/>
          </a:p>
        </p:txBody>
      </p:sp>
      <p:pic>
        <p:nvPicPr>
          <p:cNvPr id="4" name="Picture 3" descr="Agile software model">
            <a:extLst>
              <a:ext uri="{FF2B5EF4-FFF2-40B4-BE49-F238E27FC236}">
                <a16:creationId xmlns:a16="http://schemas.microsoft.com/office/drawing/2014/main" id="{EEAE90D5-D4DE-07B0-F919-FA77E00A14C5}"/>
              </a:ext>
            </a:extLst>
          </p:cNvPr>
          <p:cNvPicPr>
            <a:picLocks noChangeAspect="1"/>
          </p:cNvPicPr>
          <p:nvPr/>
        </p:nvPicPr>
        <p:blipFill>
          <a:blip r:embed="rId2"/>
          <a:stretch>
            <a:fillRect/>
          </a:stretch>
        </p:blipFill>
        <p:spPr>
          <a:xfrm>
            <a:off x="5385816" y="986164"/>
            <a:ext cx="6440424" cy="4830317"/>
          </a:xfrm>
          <a:prstGeom prst="rect">
            <a:avLst/>
          </a:prstGeom>
        </p:spPr>
      </p:pic>
      <p:sp>
        <p:nvSpPr>
          <p:cNvPr id="6" name="object 3">
            <a:extLst>
              <a:ext uri="{FF2B5EF4-FFF2-40B4-BE49-F238E27FC236}">
                <a16:creationId xmlns:a16="http://schemas.microsoft.com/office/drawing/2014/main" id="{29EF89B9-AB2F-3A06-665E-28163BFF6B0C}"/>
              </a:ext>
            </a:extLst>
          </p:cNvPr>
          <p:cNvSpPr txBox="1"/>
          <p:nvPr/>
        </p:nvSpPr>
        <p:spPr>
          <a:xfrm>
            <a:off x="6256673" y="5994862"/>
            <a:ext cx="4689909" cy="182101"/>
          </a:xfrm>
          <a:prstGeom prst="rect">
            <a:avLst/>
          </a:prstGeom>
        </p:spPr>
        <p:txBody>
          <a:bodyPr vert="horz" wrap="square" lIns="0" tIns="12700" rIns="0" bIns="0" rtlCol="0">
            <a:spAutoFit/>
          </a:bodyPr>
          <a:lstStyle/>
          <a:p>
            <a:pPr marL="12700">
              <a:lnSpc>
                <a:spcPct val="100000"/>
              </a:lnSpc>
              <a:spcBef>
                <a:spcPts val="100"/>
              </a:spcBef>
            </a:pPr>
            <a:r>
              <a:rPr lang="en-GB" sz="1100" dirty="0">
                <a:latin typeface="Carlito"/>
                <a:cs typeface="Carlito"/>
              </a:rPr>
              <a:t>S</a:t>
            </a:r>
            <a:r>
              <a:rPr sz="1100" dirty="0" err="1">
                <a:latin typeface="Carlito"/>
                <a:cs typeface="Carlito"/>
              </a:rPr>
              <a:t>ource</a:t>
            </a:r>
            <a:r>
              <a:rPr sz="1100" dirty="0">
                <a:latin typeface="Carlito"/>
                <a:cs typeface="Carlito"/>
              </a:rPr>
              <a:t>:</a:t>
            </a:r>
            <a:r>
              <a:rPr sz="1100" spc="-60" dirty="0">
                <a:latin typeface="Carlito"/>
                <a:cs typeface="Carlito"/>
              </a:rPr>
              <a:t> </a:t>
            </a:r>
            <a:r>
              <a:rPr lang="en-GB" sz="1100" dirty="0">
                <a:hlinkClick r:id="rId3"/>
              </a:rPr>
              <a:t>Agile Web Design vs Waterfall Web Design | Growth Driven Design</a:t>
            </a:r>
            <a:endParaRPr sz="1100" dirty="0">
              <a:latin typeface="Carlito"/>
              <a:cs typeface="Carlito"/>
            </a:endParaRPr>
          </a:p>
        </p:txBody>
      </p:sp>
    </p:spTree>
    <p:extLst>
      <p:ext uri="{BB962C8B-B14F-4D97-AF65-F5344CB8AC3E}">
        <p14:creationId xmlns:p14="http://schemas.microsoft.com/office/powerpoint/2010/main" val="10469906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CF93532-2410-BF42-B1EE-FCDAA1B0685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03AF9A8-628A-1B5B-870D-34E6DE5AE9D0}"/>
              </a:ext>
            </a:extLst>
          </p:cNvPr>
          <p:cNvSpPr>
            <a:spLocks noGrp="1"/>
          </p:cNvSpPr>
          <p:nvPr>
            <p:ph type="title"/>
          </p:nvPr>
        </p:nvSpPr>
        <p:spPr>
          <a:xfrm>
            <a:off x="1115568" y="548640"/>
            <a:ext cx="10168128" cy="1179576"/>
          </a:xfrm>
        </p:spPr>
        <p:txBody>
          <a:bodyPr>
            <a:normAutofit/>
          </a:bodyPr>
          <a:lstStyle/>
          <a:p>
            <a:r>
              <a:rPr lang="en-GB" sz="4000" dirty="0">
                <a:latin typeface="Carlito"/>
                <a:cs typeface="Carlito"/>
              </a:rPr>
              <a:t>UX</a:t>
            </a:r>
            <a:r>
              <a:rPr lang="en-GB" sz="4000" spc="-50" dirty="0">
                <a:latin typeface="Carlito"/>
                <a:cs typeface="Carlito"/>
              </a:rPr>
              <a:t> </a:t>
            </a:r>
            <a:r>
              <a:rPr lang="en-GB" sz="4000" dirty="0">
                <a:latin typeface="Carlito"/>
                <a:cs typeface="Carlito"/>
              </a:rPr>
              <a:t>Design</a:t>
            </a:r>
            <a:endParaRPr lang="en-GB" sz="4000" dirty="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3B2B373D-980C-3635-144E-BD67FD47B2A3}"/>
              </a:ext>
            </a:extLst>
          </p:cNvPr>
          <p:cNvSpPr>
            <a:spLocks noGrp="1"/>
          </p:cNvSpPr>
          <p:nvPr>
            <p:ph idx="1"/>
          </p:nvPr>
        </p:nvSpPr>
        <p:spPr>
          <a:xfrm>
            <a:off x="1115568" y="2157852"/>
            <a:ext cx="10168128" cy="3695020"/>
          </a:xfrm>
        </p:spPr>
        <p:txBody>
          <a:bodyPr>
            <a:normAutofit/>
          </a:bodyPr>
          <a:lstStyle/>
          <a:p>
            <a:r>
              <a:rPr lang="en-GB" sz="2400" dirty="0">
                <a:latin typeface="Carlito"/>
                <a:cs typeface="Carlito"/>
              </a:rPr>
              <a:t>UX</a:t>
            </a:r>
            <a:r>
              <a:rPr lang="en-GB" sz="2400" spc="-50" dirty="0">
                <a:latin typeface="Carlito"/>
                <a:cs typeface="Carlito"/>
              </a:rPr>
              <a:t> </a:t>
            </a:r>
            <a:r>
              <a:rPr lang="en-GB" sz="2400" dirty="0">
                <a:latin typeface="Carlito"/>
                <a:cs typeface="Carlito"/>
              </a:rPr>
              <a:t>Design</a:t>
            </a:r>
            <a:r>
              <a:rPr lang="en-GB" sz="2400" spc="-30" dirty="0">
                <a:latin typeface="Carlito"/>
                <a:cs typeface="Carlito"/>
              </a:rPr>
              <a:t> </a:t>
            </a:r>
            <a:r>
              <a:rPr lang="en-GB" sz="2400" b="1" i="1" dirty="0">
                <a:latin typeface="Carlito"/>
                <a:cs typeface="Carlito"/>
              </a:rPr>
              <a:t>brings</a:t>
            </a:r>
            <a:r>
              <a:rPr lang="en-GB" sz="2400" b="1" i="1" spc="-40" dirty="0">
                <a:latin typeface="Carlito"/>
                <a:cs typeface="Carlito"/>
              </a:rPr>
              <a:t> </a:t>
            </a:r>
            <a:r>
              <a:rPr lang="en-GB" sz="2400" b="1" i="1" dirty="0">
                <a:latin typeface="Carlito"/>
                <a:cs typeface="Carlito"/>
              </a:rPr>
              <a:t>together</a:t>
            </a:r>
            <a:r>
              <a:rPr lang="en-GB" sz="2400" b="1" i="1" spc="-30" dirty="0">
                <a:latin typeface="Carlito"/>
                <a:cs typeface="Carlito"/>
              </a:rPr>
              <a:t> </a:t>
            </a:r>
            <a:r>
              <a:rPr lang="en-GB" sz="2400" b="1" i="1" dirty="0">
                <a:latin typeface="Carlito"/>
                <a:cs typeface="Carlito"/>
              </a:rPr>
              <a:t>many</a:t>
            </a:r>
            <a:r>
              <a:rPr lang="en-GB" sz="2400" b="1" i="1" spc="-40" dirty="0">
                <a:latin typeface="Carlito"/>
                <a:cs typeface="Carlito"/>
              </a:rPr>
              <a:t> </a:t>
            </a:r>
            <a:r>
              <a:rPr lang="en-GB" sz="2400" b="1" i="1" dirty="0">
                <a:latin typeface="Carlito"/>
                <a:cs typeface="Carlito"/>
              </a:rPr>
              <a:t>of</a:t>
            </a:r>
            <a:r>
              <a:rPr lang="en-GB" sz="2400" b="1" i="1" spc="-35" dirty="0">
                <a:latin typeface="Carlito"/>
                <a:cs typeface="Carlito"/>
              </a:rPr>
              <a:t> </a:t>
            </a:r>
            <a:r>
              <a:rPr lang="en-GB" sz="2400" b="1" i="1" dirty="0">
                <a:latin typeface="Carlito"/>
                <a:cs typeface="Carlito"/>
              </a:rPr>
              <a:t>the</a:t>
            </a:r>
            <a:r>
              <a:rPr lang="en-GB" sz="2400" b="1" i="1" spc="-35" dirty="0">
                <a:latin typeface="Carlito"/>
                <a:cs typeface="Carlito"/>
              </a:rPr>
              <a:t> </a:t>
            </a:r>
            <a:r>
              <a:rPr lang="en-GB" sz="2400" b="1" i="1" spc="-10" dirty="0">
                <a:latin typeface="Carlito"/>
                <a:cs typeface="Carlito"/>
              </a:rPr>
              <a:t>different </a:t>
            </a:r>
            <a:r>
              <a:rPr lang="en-GB" sz="2400" b="1" i="1" dirty="0">
                <a:latin typeface="Carlito"/>
                <a:cs typeface="Carlito"/>
              </a:rPr>
              <a:t>elements</a:t>
            </a:r>
            <a:r>
              <a:rPr lang="en-GB" sz="2400" b="1" i="1" spc="-40" dirty="0">
                <a:latin typeface="Carlito"/>
                <a:cs typeface="Carlito"/>
              </a:rPr>
              <a:t> </a:t>
            </a:r>
            <a:r>
              <a:rPr lang="en-GB" sz="2400" b="1" i="1" dirty="0">
                <a:latin typeface="Carlito"/>
                <a:cs typeface="Carlito"/>
              </a:rPr>
              <a:t>of</a:t>
            </a:r>
            <a:r>
              <a:rPr lang="en-GB" sz="2400" b="1" i="1" spc="-35" dirty="0">
                <a:latin typeface="Carlito"/>
                <a:cs typeface="Carlito"/>
              </a:rPr>
              <a:t> </a:t>
            </a:r>
            <a:r>
              <a:rPr lang="en-GB" sz="2400" b="1" i="1" dirty="0">
                <a:latin typeface="Carlito"/>
                <a:cs typeface="Carlito"/>
              </a:rPr>
              <a:t>web</a:t>
            </a:r>
            <a:r>
              <a:rPr lang="en-GB" sz="2400" b="1" i="1" spc="-35" dirty="0">
                <a:latin typeface="Carlito"/>
                <a:cs typeface="Carlito"/>
              </a:rPr>
              <a:t> </a:t>
            </a:r>
            <a:r>
              <a:rPr lang="en-GB" sz="2400" b="1" i="1" dirty="0">
                <a:latin typeface="Carlito"/>
                <a:cs typeface="Carlito"/>
              </a:rPr>
              <a:t>design</a:t>
            </a:r>
            <a:r>
              <a:rPr lang="en-GB" sz="2400" b="1" i="1" spc="-45" dirty="0">
                <a:latin typeface="Carlito"/>
                <a:cs typeface="Carlito"/>
              </a:rPr>
              <a:t> </a:t>
            </a:r>
            <a:r>
              <a:rPr lang="en-GB" sz="2400" dirty="0">
                <a:latin typeface="Carlito"/>
                <a:cs typeface="Carlito"/>
              </a:rPr>
              <a:t>into</a:t>
            </a:r>
            <a:r>
              <a:rPr lang="en-GB" sz="2400" spc="-40" dirty="0">
                <a:latin typeface="Carlito"/>
                <a:cs typeface="Carlito"/>
              </a:rPr>
              <a:t> </a:t>
            </a:r>
            <a:r>
              <a:rPr lang="en-GB" sz="2400" dirty="0">
                <a:latin typeface="Carlito"/>
                <a:cs typeface="Carlito"/>
              </a:rPr>
              <a:t>a</a:t>
            </a:r>
            <a:r>
              <a:rPr lang="en-GB" sz="2400" spc="-35" dirty="0">
                <a:latin typeface="Carlito"/>
                <a:cs typeface="Carlito"/>
              </a:rPr>
              <a:t> </a:t>
            </a:r>
            <a:r>
              <a:rPr lang="en-GB" sz="2400" b="1" i="1" dirty="0">
                <a:latin typeface="Carlito"/>
                <a:cs typeface="Carlito"/>
              </a:rPr>
              <a:t>structure</a:t>
            </a:r>
            <a:r>
              <a:rPr lang="en-GB" sz="2400" b="1" i="1" spc="-45" dirty="0">
                <a:latin typeface="Carlito"/>
                <a:cs typeface="Carlito"/>
              </a:rPr>
              <a:t> </a:t>
            </a:r>
            <a:r>
              <a:rPr lang="en-GB" sz="2400" dirty="0">
                <a:latin typeface="Carlito"/>
                <a:cs typeface="Carlito"/>
              </a:rPr>
              <a:t>that</a:t>
            </a:r>
            <a:r>
              <a:rPr lang="en-GB" sz="2400" spc="-35" dirty="0">
                <a:latin typeface="Carlito"/>
                <a:cs typeface="Carlito"/>
              </a:rPr>
              <a:t> </a:t>
            </a:r>
            <a:r>
              <a:rPr lang="en-GB" sz="2400" spc="-10" dirty="0">
                <a:latin typeface="Carlito"/>
                <a:cs typeface="Carlito"/>
              </a:rPr>
              <a:t>enables </a:t>
            </a:r>
            <a:r>
              <a:rPr lang="en-GB" sz="2400" dirty="0">
                <a:latin typeface="Carlito"/>
                <a:cs typeface="Carlito"/>
              </a:rPr>
              <a:t>you</a:t>
            </a:r>
            <a:r>
              <a:rPr lang="en-GB" sz="2400" spc="-30" dirty="0">
                <a:latin typeface="Carlito"/>
                <a:cs typeface="Carlito"/>
              </a:rPr>
              <a:t> </a:t>
            </a:r>
            <a:r>
              <a:rPr lang="en-GB" sz="2400" dirty="0">
                <a:latin typeface="Carlito"/>
                <a:cs typeface="Carlito"/>
              </a:rPr>
              <a:t>to</a:t>
            </a:r>
            <a:r>
              <a:rPr lang="en-GB" sz="2400" spc="-30" dirty="0">
                <a:latin typeface="Carlito"/>
                <a:cs typeface="Carlito"/>
              </a:rPr>
              <a:t> </a:t>
            </a:r>
            <a:r>
              <a:rPr lang="en-GB" sz="2400" dirty="0">
                <a:latin typeface="Carlito"/>
                <a:cs typeface="Carlito"/>
              </a:rPr>
              <a:t>consider</a:t>
            </a:r>
            <a:r>
              <a:rPr lang="en-GB" sz="2400" spc="-35" dirty="0">
                <a:latin typeface="Carlito"/>
                <a:cs typeface="Carlito"/>
              </a:rPr>
              <a:t> </a:t>
            </a:r>
            <a:r>
              <a:rPr lang="en-GB" sz="2400" dirty="0">
                <a:latin typeface="Carlito"/>
                <a:cs typeface="Carlito"/>
              </a:rPr>
              <a:t>the</a:t>
            </a:r>
            <a:r>
              <a:rPr lang="en-GB" sz="2400" spc="-40" dirty="0">
                <a:latin typeface="Carlito"/>
                <a:cs typeface="Carlito"/>
              </a:rPr>
              <a:t> </a:t>
            </a:r>
            <a:r>
              <a:rPr lang="en-GB" sz="2400" dirty="0">
                <a:latin typeface="Carlito"/>
                <a:cs typeface="Carlito"/>
              </a:rPr>
              <a:t>design</a:t>
            </a:r>
            <a:r>
              <a:rPr lang="en-GB" sz="2400" spc="-30" dirty="0">
                <a:latin typeface="Carlito"/>
                <a:cs typeface="Carlito"/>
              </a:rPr>
              <a:t> </a:t>
            </a:r>
            <a:r>
              <a:rPr lang="en-GB" sz="2400" dirty="0">
                <a:latin typeface="Carlito"/>
                <a:cs typeface="Carlito"/>
              </a:rPr>
              <a:t>of</a:t>
            </a:r>
            <a:r>
              <a:rPr lang="en-GB" sz="2400" spc="-35" dirty="0">
                <a:latin typeface="Carlito"/>
                <a:cs typeface="Carlito"/>
              </a:rPr>
              <a:t> </a:t>
            </a:r>
            <a:r>
              <a:rPr lang="en-GB" sz="2400" dirty="0">
                <a:latin typeface="Carlito"/>
                <a:cs typeface="Carlito"/>
              </a:rPr>
              <a:t>all</a:t>
            </a:r>
            <a:r>
              <a:rPr lang="en-GB" sz="2400" spc="-35" dirty="0">
                <a:latin typeface="Carlito"/>
                <a:cs typeface="Carlito"/>
              </a:rPr>
              <a:t> </a:t>
            </a:r>
            <a:r>
              <a:rPr lang="en-GB" sz="2400" dirty="0">
                <a:latin typeface="Carlito"/>
                <a:cs typeface="Carlito"/>
              </a:rPr>
              <a:t>aspects</a:t>
            </a:r>
            <a:r>
              <a:rPr lang="en-GB" sz="2400" spc="-25" dirty="0">
                <a:latin typeface="Carlito"/>
                <a:cs typeface="Carlito"/>
              </a:rPr>
              <a:t> </a:t>
            </a:r>
            <a:r>
              <a:rPr lang="en-GB" sz="2400" dirty="0">
                <a:latin typeface="Carlito"/>
                <a:cs typeface="Carlito"/>
              </a:rPr>
              <a:t>of</a:t>
            </a:r>
            <a:r>
              <a:rPr lang="en-GB" sz="2400" spc="-40" dirty="0">
                <a:latin typeface="Carlito"/>
                <a:cs typeface="Carlito"/>
              </a:rPr>
              <a:t> </a:t>
            </a:r>
            <a:r>
              <a:rPr lang="en-GB" sz="2400" spc="-25" dirty="0">
                <a:latin typeface="Carlito"/>
                <a:cs typeface="Carlito"/>
              </a:rPr>
              <a:t>web </a:t>
            </a:r>
            <a:r>
              <a:rPr lang="en-GB" sz="2400" dirty="0">
                <a:latin typeface="Carlito"/>
                <a:cs typeface="Carlito"/>
              </a:rPr>
              <a:t>applications</a:t>
            </a:r>
            <a:r>
              <a:rPr lang="en-GB" sz="2400" spc="-145" dirty="0">
                <a:latin typeface="Carlito"/>
                <a:cs typeface="Carlito"/>
              </a:rPr>
              <a:t> </a:t>
            </a:r>
            <a:r>
              <a:rPr lang="en-GB" sz="2400" spc="-10" dirty="0">
                <a:latin typeface="Carlito"/>
                <a:cs typeface="Carlito"/>
              </a:rPr>
              <a:t>together.</a:t>
            </a:r>
          </a:p>
          <a:p>
            <a:r>
              <a:rPr lang="en-GB" sz="2400" spc="-10" dirty="0">
                <a:latin typeface="Carlito"/>
                <a:cs typeface="Carlito"/>
              </a:rPr>
              <a:t>The foundational concepts of design can be traced back to the 1940s. </a:t>
            </a:r>
          </a:p>
          <a:p>
            <a:r>
              <a:rPr lang="en-GB" sz="2400" spc="-10" dirty="0">
                <a:latin typeface="Carlito"/>
                <a:cs typeface="Carlito"/>
              </a:rPr>
              <a:t>Notably, Don Norman is credited with coining the term </a:t>
            </a:r>
            <a:r>
              <a:rPr lang="en-GB" sz="2400" b="1" i="1" spc="-10" dirty="0">
                <a:latin typeface="Carlito"/>
                <a:cs typeface="Carlito"/>
              </a:rPr>
              <a:t>"User Experience" </a:t>
            </a:r>
            <a:r>
              <a:rPr lang="en-GB" sz="2400" spc="-10" dirty="0">
                <a:latin typeface="Carlito"/>
                <a:cs typeface="Carlito"/>
              </a:rPr>
              <a:t>in the early 1990s.</a:t>
            </a:r>
            <a:endParaRPr lang="en-GB" sz="2200" dirty="0"/>
          </a:p>
        </p:txBody>
      </p:sp>
    </p:spTree>
    <p:extLst>
      <p:ext uri="{BB962C8B-B14F-4D97-AF65-F5344CB8AC3E}">
        <p14:creationId xmlns:p14="http://schemas.microsoft.com/office/powerpoint/2010/main" val="40384294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9F689EC-F030-E8D8-E220-B0EFE88FEDF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08F5683-8C52-0D3E-0200-563DC1B1D9CB}"/>
              </a:ext>
            </a:extLst>
          </p:cNvPr>
          <p:cNvSpPr>
            <a:spLocks noGrp="1"/>
          </p:cNvSpPr>
          <p:nvPr>
            <p:ph type="title"/>
          </p:nvPr>
        </p:nvSpPr>
        <p:spPr>
          <a:xfrm>
            <a:off x="1115568" y="548640"/>
            <a:ext cx="10168128" cy="1179576"/>
          </a:xfrm>
        </p:spPr>
        <p:txBody>
          <a:bodyPr>
            <a:normAutofit/>
          </a:bodyPr>
          <a:lstStyle/>
          <a:p>
            <a:r>
              <a:rPr lang="en-GB" sz="4000" dirty="0"/>
              <a:t>The</a:t>
            </a:r>
            <a:r>
              <a:rPr lang="en-GB" sz="4000" spc="-55" dirty="0"/>
              <a:t> </a:t>
            </a:r>
            <a:r>
              <a:rPr lang="en-GB" sz="4000" dirty="0"/>
              <a:t>User</a:t>
            </a:r>
            <a:r>
              <a:rPr lang="en-GB" sz="4000" spc="-55" dirty="0"/>
              <a:t> </a:t>
            </a:r>
            <a:r>
              <a:rPr lang="en-GB" sz="4000" spc="-10" dirty="0"/>
              <a:t>Experience</a:t>
            </a:r>
            <a:endParaRPr lang="en-GB" sz="4000" dirty="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F94A8E7D-18CF-9A2F-9980-BB3A8EB5F685}"/>
              </a:ext>
            </a:extLst>
          </p:cNvPr>
          <p:cNvSpPr>
            <a:spLocks noGrp="1"/>
          </p:cNvSpPr>
          <p:nvPr>
            <p:ph idx="1"/>
          </p:nvPr>
        </p:nvSpPr>
        <p:spPr>
          <a:xfrm>
            <a:off x="1115568" y="2481943"/>
            <a:ext cx="10168128" cy="3695020"/>
          </a:xfrm>
        </p:spPr>
        <p:txBody>
          <a:bodyPr>
            <a:normAutofit/>
          </a:bodyPr>
          <a:lstStyle/>
          <a:p>
            <a:pPr marL="12700" marR="5080" algn="just">
              <a:lnSpc>
                <a:spcPts val="3000"/>
              </a:lnSpc>
              <a:spcBef>
                <a:spcPts val="500"/>
              </a:spcBef>
              <a:spcAft>
                <a:spcPts val="600"/>
              </a:spcAft>
            </a:pPr>
            <a:r>
              <a:rPr lang="en-GB" sz="2400" dirty="0">
                <a:latin typeface="Carlito"/>
                <a:cs typeface="Carlito"/>
              </a:rPr>
              <a:t>The development of User experience (UX) is about making sure every part of how a user interacts with your website or app is exactly what you want them to experience.</a:t>
            </a:r>
            <a:endParaRPr lang="en-GB" sz="1000" dirty="0">
              <a:latin typeface="Carlito"/>
              <a:cs typeface="Carlito"/>
            </a:endParaRPr>
          </a:p>
          <a:p>
            <a:pPr marL="12700" marR="5080" algn="just">
              <a:lnSpc>
                <a:spcPts val="3000"/>
              </a:lnSpc>
              <a:spcBef>
                <a:spcPts val="500"/>
              </a:spcBef>
            </a:pPr>
            <a:r>
              <a:rPr lang="en-GB" sz="2400" dirty="0">
                <a:latin typeface="Carlito"/>
                <a:cs typeface="Carlito"/>
              </a:rPr>
              <a:t>It means thinking about what the user might want to do, and what they might expect to happen, at every point. You consider all the different actions they might take and design your website or app to make it easy and enjoyable for them.</a:t>
            </a:r>
          </a:p>
        </p:txBody>
      </p:sp>
    </p:spTree>
    <p:extLst>
      <p:ext uri="{BB962C8B-B14F-4D97-AF65-F5344CB8AC3E}">
        <p14:creationId xmlns:p14="http://schemas.microsoft.com/office/powerpoint/2010/main" val="16005073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7D21FE2-9B84-5D5D-198A-FABA0916FC26}"/>
            </a:ext>
          </a:extLst>
        </p:cNvPr>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8DFF29-7330-14B8-5F35-EA595880F918}"/>
              </a:ext>
            </a:extLst>
          </p:cNvPr>
          <p:cNvSpPr>
            <a:spLocks noGrp="1"/>
          </p:cNvSpPr>
          <p:nvPr>
            <p:ph type="title"/>
          </p:nvPr>
        </p:nvSpPr>
        <p:spPr>
          <a:xfrm>
            <a:off x="1328581" y="271762"/>
            <a:ext cx="8602225" cy="1335034"/>
          </a:xfrm>
        </p:spPr>
        <p:txBody>
          <a:bodyPr vert="horz" lIns="91440" tIns="45720" rIns="91440" bIns="45720" rtlCol="0" anchor="b">
            <a:normAutofit fontScale="90000"/>
          </a:bodyPr>
          <a:lstStyle/>
          <a:p>
            <a:r>
              <a:rPr lang="en-US" sz="4800" kern="1200" dirty="0">
                <a:solidFill>
                  <a:schemeClr val="tx1"/>
                </a:solidFill>
                <a:latin typeface="+mj-lt"/>
                <a:ea typeface="+mj-ea"/>
                <a:cs typeface="+mj-cs"/>
              </a:rPr>
              <a:t>The</a:t>
            </a:r>
            <a:r>
              <a:rPr lang="en-US" sz="4800" kern="1200" spc="-114" dirty="0">
                <a:solidFill>
                  <a:schemeClr val="tx1"/>
                </a:solidFill>
                <a:latin typeface="+mj-lt"/>
                <a:ea typeface="+mj-ea"/>
                <a:cs typeface="+mj-cs"/>
              </a:rPr>
              <a:t> </a:t>
            </a:r>
            <a:r>
              <a:rPr lang="en-US" sz="4800" kern="1200" spc="-20" dirty="0">
                <a:solidFill>
                  <a:schemeClr val="tx1"/>
                </a:solidFill>
                <a:latin typeface="+mj-lt"/>
                <a:ea typeface="+mj-ea"/>
                <a:cs typeface="+mj-cs"/>
              </a:rPr>
              <a:t>Elements</a:t>
            </a:r>
            <a:r>
              <a:rPr lang="en-US" sz="4800" kern="1200" spc="-114" dirty="0">
                <a:solidFill>
                  <a:schemeClr val="tx1"/>
                </a:solidFill>
                <a:latin typeface="+mj-lt"/>
                <a:ea typeface="+mj-ea"/>
                <a:cs typeface="+mj-cs"/>
              </a:rPr>
              <a:t> </a:t>
            </a:r>
            <a:r>
              <a:rPr lang="en-US" sz="4800" kern="1200" dirty="0">
                <a:solidFill>
                  <a:schemeClr val="tx1"/>
                </a:solidFill>
                <a:latin typeface="+mj-lt"/>
                <a:ea typeface="+mj-ea"/>
                <a:cs typeface="+mj-cs"/>
              </a:rPr>
              <a:t>of</a:t>
            </a:r>
            <a:r>
              <a:rPr lang="en-US" sz="4800" kern="1200" spc="-110" dirty="0">
                <a:solidFill>
                  <a:schemeClr val="tx1"/>
                </a:solidFill>
                <a:latin typeface="+mj-lt"/>
                <a:ea typeface="+mj-ea"/>
                <a:cs typeface="+mj-cs"/>
              </a:rPr>
              <a:t> </a:t>
            </a:r>
            <a:r>
              <a:rPr lang="en-US" sz="4800" kern="1200" spc="-25" dirty="0">
                <a:solidFill>
                  <a:schemeClr val="tx1"/>
                </a:solidFill>
                <a:latin typeface="+mj-lt"/>
                <a:ea typeface="+mj-ea"/>
                <a:cs typeface="+mj-cs"/>
              </a:rPr>
              <a:t>UX</a:t>
            </a:r>
            <a:br>
              <a:rPr lang="en-US" sz="4800" kern="1200" dirty="0">
                <a:solidFill>
                  <a:schemeClr val="tx1"/>
                </a:solidFill>
                <a:latin typeface="+mj-lt"/>
                <a:ea typeface="+mj-ea"/>
                <a:cs typeface="+mj-cs"/>
              </a:rPr>
            </a:br>
            <a:endParaRPr lang="en-US" sz="4800" kern="1200" dirty="0">
              <a:solidFill>
                <a:schemeClr val="tx1"/>
              </a:solidFill>
              <a:latin typeface="+mj-lt"/>
              <a:ea typeface="+mj-ea"/>
              <a:cs typeface="+mj-cs"/>
            </a:endParaRPr>
          </a:p>
        </p:txBody>
      </p:sp>
      <p:sp>
        <p:nvSpPr>
          <p:cNvPr id="34" name="Rectangle 3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Rectangle 31">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4" name="object 2" descr="A diagram of a UX elements ">
            <a:extLst>
              <a:ext uri="{FF2B5EF4-FFF2-40B4-BE49-F238E27FC236}">
                <a16:creationId xmlns:a16="http://schemas.microsoft.com/office/drawing/2014/main" id="{C1CDF971-DD56-BB86-5C6D-BF86CE603A1D}"/>
              </a:ext>
            </a:extLst>
          </p:cNvPr>
          <p:cNvPicPr/>
          <p:nvPr/>
        </p:nvPicPr>
        <p:blipFill>
          <a:blip r:embed="rId2" cstate="print"/>
          <a:stretch>
            <a:fillRect/>
          </a:stretch>
        </p:blipFill>
        <p:spPr>
          <a:xfrm>
            <a:off x="935666" y="1168954"/>
            <a:ext cx="10568762" cy="5387177"/>
          </a:xfrm>
          <a:prstGeom prst="rect">
            <a:avLst/>
          </a:prstGeom>
        </p:spPr>
      </p:pic>
      <p:sp>
        <p:nvSpPr>
          <p:cNvPr id="7" name="Content Placeholder 2">
            <a:extLst>
              <a:ext uri="{FF2B5EF4-FFF2-40B4-BE49-F238E27FC236}">
                <a16:creationId xmlns:a16="http://schemas.microsoft.com/office/drawing/2014/main" id="{EA959975-35AF-7AC4-D5EA-24C12D67ADDE}"/>
              </a:ext>
            </a:extLst>
          </p:cNvPr>
          <p:cNvSpPr>
            <a:spLocks noGrp="1"/>
          </p:cNvSpPr>
          <p:nvPr>
            <p:ph idx="1"/>
          </p:nvPr>
        </p:nvSpPr>
        <p:spPr>
          <a:xfrm>
            <a:off x="363212" y="6312943"/>
            <a:ext cx="8282354" cy="546589"/>
          </a:xfrm>
        </p:spPr>
        <p:txBody>
          <a:bodyPr>
            <a:normAutofit lnSpcReduction="10000"/>
          </a:bodyPr>
          <a:lstStyle/>
          <a:p>
            <a:pPr>
              <a:spcBef>
                <a:spcPts val="1275"/>
              </a:spcBef>
            </a:pPr>
            <a:endParaRPr lang="en-US" sz="1800" dirty="0">
              <a:latin typeface="Times New Roman"/>
              <a:cs typeface="Times New Roman"/>
            </a:endParaRPr>
          </a:p>
          <a:p>
            <a:pPr>
              <a:spcBef>
                <a:spcPts val="5"/>
              </a:spcBef>
            </a:pPr>
            <a:r>
              <a:rPr lang="en-US" sz="1800" dirty="0">
                <a:latin typeface="Carlito"/>
                <a:cs typeface="Carlito"/>
              </a:rPr>
              <a:t>Source:</a:t>
            </a:r>
            <a:r>
              <a:rPr lang="en-US" sz="1800" spc="-30" dirty="0">
                <a:latin typeface="Carlito"/>
                <a:cs typeface="Carlito"/>
              </a:rPr>
              <a:t> </a:t>
            </a:r>
            <a:r>
              <a:rPr lang="en-US" sz="1800" dirty="0">
                <a:latin typeface="Carlito"/>
                <a:cs typeface="Carlito"/>
              </a:rPr>
              <a:t>Jesse</a:t>
            </a:r>
            <a:r>
              <a:rPr lang="en-US" sz="1800" spc="-25" dirty="0">
                <a:latin typeface="Carlito"/>
                <a:cs typeface="Carlito"/>
              </a:rPr>
              <a:t> </a:t>
            </a:r>
            <a:r>
              <a:rPr lang="en-US" sz="1800" dirty="0">
                <a:latin typeface="Carlito"/>
                <a:cs typeface="Carlito"/>
              </a:rPr>
              <a:t>James</a:t>
            </a:r>
            <a:r>
              <a:rPr lang="en-US" sz="1800" spc="-20" dirty="0">
                <a:latin typeface="Carlito"/>
                <a:cs typeface="Carlito"/>
              </a:rPr>
              <a:t> </a:t>
            </a:r>
            <a:r>
              <a:rPr lang="en-US" sz="1800" spc="-10" dirty="0">
                <a:latin typeface="Carlito"/>
                <a:cs typeface="Carlito"/>
              </a:rPr>
              <a:t>Garrett,</a:t>
            </a:r>
            <a:r>
              <a:rPr lang="en-US" sz="1800" spc="-25" dirty="0">
                <a:latin typeface="Carlito"/>
                <a:cs typeface="Carlito"/>
              </a:rPr>
              <a:t> </a:t>
            </a:r>
            <a:r>
              <a:rPr lang="en-US" sz="1800" spc="-20" dirty="0">
                <a:latin typeface="Carlito"/>
                <a:cs typeface="Carlito"/>
              </a:rPr>
              <a:t>2002</a:t>
            </a:r>
            <a:endParaRPr lang="en-US" sz="1800" dirty="0">
              <a:latin typeface="Carlito"/>
              <a:cs typeface="Carlito"/>
            </a:endParaRPr>
          </a:p>
        </p:txBody>
      </p:sp>
    </p:spTree>
    <p:extLst>
      <p:ext uri="{BB962C8B-B14F-4D97-AF65-F5344CB8AC3E}">
        <p14:creationId xmlns:p14="http://schemas.microsoft.com/office/powerpoint/2010/main" val="5705670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1E49A1E-F51D-D112-59AA-A78AF155BF46}"/>
            </a:ext>
          </a:extLst>
        </p:cNvPr>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334321C0-5C48-514F-F1F3-83B3344F07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0D555E-422A-5E6A-DD20-F759F2CF3A3C}"/>
              </a:ext>
            </a:extLst>
          </p:cNvPr>
          <p:cNvSpPr>
            <a:spLocks noGrp="1"/>
          </p:cNvSpPr>
          <p:nvPr>
            <p:ph type="title"/>
          </p:nvPr>
        </p:nvSpPr>
        <p:spPr>
          <a:xfrm>
            <a:off x="1328581" y="271762"/>
            <a:ext cx="8602225" cy="1335034"/>
          </a:xfrm>
        </p:spPr>
        <p:txBody>
          <a:bodyPr vert="horz" lIns="91440" tIns="45720" rIns="91440" bIns="45720" rtlCol="0" anchor="b">
            <a:normAutofit fontScale="90000"/>
          </a:bodyPr>
          <a:lstStyle/>
          <a:p>
            <a:r>
              <a:rPr lang="en-US" sz="4800" kern="1200" dirty="0">
                <a:solidFill>
                  <a:schemeClr val="tx1"/>
                </a:solidFill>
                <a:latin typeface="+mj-lt"/>
                <a:ea typeface="+mj-ea"/>
                <a:cs typeface="+mj-cs"/>
              </a:rPr>
              <a:t>The</a:t>
            </a:r>
            <a:r>
              <a:rPr lang="en-US" sz="4800" kern="1200" spc="-114" dirty="0">
                <a:solidFill>
                  <a:schemeClr val="tx1"/>
                </a:solidFill>
                <a:latin typeface="+mj-lt"/>
                <a:ea typeface="+mj-ea"/>
                <a:cs typeface="+mj-cs"/>
              </a:rPr>
              <a:t> </a:t>
            </a:r>
            <a:r>
              <a:rPr lang="en-US" sz="4800" kern="1200" spc="-20" dirty="0">
                <a:solidFill>
                  <a:schemeClr val="tx1"/>
                </a:solidFill>
                <a:latin typeface="+mj-lt"/>
                <a:ea typeface="+mj-ea"/>
                <a:cs typeface="+mj-cs"/>
              </a:rPr>
              <a:t>Elements</a:t>
            </a:r>
            <a:r>
              <a:rPr lang="en-US" sz="4800" kern="1200" spc="-114" dirty="0">
                <a:solidFill>
                  <a:schemeClr val="tx1"/>
                </a:solidFill>
                <a:latin typeface="+mj-lt"/>
                <a:ea typeface="+mj-ea"/>
                <a:cs typeface="+mj-cs"/>
              </a:rPr>
              <a:t> </a:t>
            </a:r>
            <a:r>
              <a:rPr lang="en-US" sz="4800" kern="1200" dirty="0">
                <a:solidFill>
                  <a:schemeClr val="tx1"/>
                </a:solidFill>
                <a:latin typeface="+mj-lt"/>
                <a:ea typeface="+mj-ea"/>
                <a:cs typeface="+mj-cs"/>
              </a:rPr>
              <a:t>of</a:t>
            </a:r>
            <a:r>
              <a:rPr lang="en-US" sz="4800" kern="1200" spc="-110" dirty="0">
                <a:solidFill>
                  <a:schemeClr val="tx1"/>
                </a:solidFill>
                <a:latin typeface="+mj-lt"/>
                <a:ea typeface="+mj-ea"/>
                <a:cs typeface="+mj-cs"/>
              </a:rPr>
              <a:t> </a:t>
            </a:r>
            <a:r>
              <a:rPr lang="en-US" sz="4800" kern="1200" spc="-25" dirty="0">
                <a:solidFill>
                  <a:schemeClr val="tx1"/>
                </a:solidFill>
                <a:latin typeface="+mj-lt"/>
                <a:ea typeface="+mj-ea"/>
                <a:cs typeface="+mj-cs"/>
              </a:rPr>
              <a:t>UX</a:t>
            </a:r>
            <a:br>
              <a:rPr lang="en-US" sz="4800" kern="1200" dirty="0">
                <a:solidFill>
                  <a:schemeClr val="tx1"/>
                </a:solidFill>
                <a:latin typeface="+mj-lt"/>
                <a:ea typeface="+mj-ea"/>
                <a:cs typeface="+mj-cs"/>
              </a:rPr>
            </a:br>
            <a:endParaRPr lang="en-US" sz="4800" kern="1200" dirty="0">
              <a:solidFill>
                <a:schemeClr val="tx1"/>
              </a:solidFill>
              <a:latin typeface="+mj-lt"/>
              <a:ea typeface="+mj-ea"/>
              <a:cs typeface="+mj-cs"/>
            </a:endParaRPr>
          </a:p>
        </p:txBody>
      </p:sp>
      <p:sp>
        <p:nvSpPr>
          <p:cNvPr id="34" name="Rectangle 33">
            <a:extLst>
              <a:ext uri="{FF2B5EF4-FFF2-40B4-BE49-F238E27FC236}">
                <a16:creationId xmlns:a16="http://schemas.microsoft.com/office/drawing/2014/main" id="{61604FBF-41FC-F1AF-2B29-91E40869B6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Rectangle 31">
            <a:extLst>
              <a:ext uri="{FF2B5EF4-FFF2-40B4-BE49-F238E27FC236}">
                <a16:creationId xmlns:a16="http://schemas.microsoft.com/office/drawing/2014/main" id="{7CFD4109-26DE-9893-19A0-048B11F9A1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 name="Content Placeholder 2">
            <a:extLst>
              <a:ext uri="{FF2B5EF4-FFF2-40B4-BE49-F238E27FC236}">
                <a16:creationId xmlns:a16="http://schemas.microsoft.com/office/drawing/2014/main" id="{9915F02E-0FA0-2520-45D5-EAE5567F24A5}"/>
              </a:ext>
            </a:extLst>
          </p:cNvPr>
          <p:cNvSpPr>
            <a:spLocks noGrp="1"/>
          </p:cNvSpPr>
          <p:nvPr>
            <p:ph idx="1"/>
          </p:nvPr>
        </p:nvSpPr>
        <p:spPr>
          <a:xfrm>
            <a:off x="363212" y="6312943"/>
            <a:ext cx="8282354" cy="546589"/>
          </a:xfrm>
        </p:spPr>
        <p:txBody>
          <a:bodyPr>
            <a:normAutofit lnSpcReduction="10000"/>
          </a:bodyPr>
          <a:lstStyle/>
          <a:p>
            <a:pPr>
              <a:spcBef>
                <a:spcPts val="1275"/>
              </a:spcBef>
            </a:pPr>
            <a:endParaRPr lang="en-US" sz="1800" dirty="0">
              <a:latin typeface="Times New Roman"/>
              <a:cs typeface="Times New Roman"/>
            </a:endParaRPr>
          </a:p>
          <a:p>
            <a:pPr>
              <a:spcBef>
                <a:spcPts val="5"/>
              </a:spcBef>
            </a:pPr>
            <a:r>
              <a:rPr lang="en-US" sz="1800" dirty="0">
                <a:latin typeface="Carlito"/>
                <a:cs typeface="Carlito"/>
              </a:rPr>
              <a:t>Source:</a:t>
            </a:r>
            <a:r>
              <a:rPr lang="en-US" sz="1800" spc="-30" dirty="0">
                <a:latin typeface="Carlito"/>
                <a:cs typeface="Carlito"/>
              </a:rPr>
              <a:t> </a:t>
            </a:r>
            <a:r>
              <a:rPr lang="en-US" sz="1800" dirty="0">
                <a:latin typeface="Carlito"/>
                <a:cs typeface="Carlito"/>
              </a:rPr>
              <a:t>Jesse</a:t>
            </a:r>
            <a:r>
              <a:rPr lang="en-US" sz="1800" spc="-25" dirty="0">
                <a:latin typeface="Carlito"/>
                <a:cs typeface="Carlito"/>
              </a:rPr>
              <a:t> </a:t>
            </a:r>
            <a:r>
              <a:rPr lang="en-US" sz="1800" dirty="0">
                <a:latin typeface="Carlito"/>
                <a:cs typeface="Carlito"/>
              </a:rPr>
              <a:t>James</a:t>
            </a:r>
            <a:r>
              <a:rPr lang="en-US" sz="1800" spc="-20" dirty="0">
                <a:latin typeface="Carlito"/>
                <a:cs typeface="Carlito"/>
              </a:rPr>
              <a:t> </a:t>
            </a:r>
            <a:r>
              <a:rPr lang="en-US" sz="1800" spc="-10" dirty="0">
                <a:latin typeface="Carlito"/>
                <a:cs typeface="Carlito"/>
              </a:rPr>
              <a:t>Garrett,</a:t>
            </a:r>
            <a:r>
              <a:rPr lang="en-US" sz="1800" spc="-25" dirty="0">
                <a:latin typeface="Carlito"/>
                <a:cs typeface="Carlito"/>
              </a:rPr>
              <a:t> </a:t>
            </a:r>
            <a:r>
              <a:rPr lang="en-US" sz="1800" spc="-20" dirty="0">
                <a:latin typeface="Carlito"/>
                <a:cs typeface="Carlito"/>
              </a:rPr>
              <a:t>2002</a:t>
            </a:r>
            <a:endParaRPr lang="en-US" sz="1800" dirty="0">
              <a:latin typeface="Carlito"/>
              <a:cs typeface="Carlito"/>
            </a:endParaRPr>
          </a:p>
        </p:txBody>
      </p:sp>
      <p:sp>
        <p:nvSpPr>
          <p:cNvPr id="3" name="TextBox 2">
            <a:extLst>
              <a:ext uri="{FF2B5EF4-FFF2-40B4-BE49-F238E27FC236}">
                <a16:creationId xmlns:a16="http://schemas.microsoft.com/office/drawing/2014/main" id="{C584F2D8-5CB4-439D-25BC-9B4ED5BEA7C9}"/>
              </a:ext>
            </a:extLst>
          </p:cNvPr>
          <p:cNvSpPr txBox="1"/>
          <p:nvPr/>
        </p:nvSpPr>
        <p:spPr>
          <a:xfrm>
            <a:off x="-69271" y="1634834"/>
            <a:ext cx="12269449" cy="4293483"/>
          </a:xfrm>
          <a:prstGeom prst="rect">
            <a:avLst/>
          </a:prstGeom>
          <a:noFill/>
        </p:spPr>
        <p:txBody>
          <a:bodyPr wrap="none" rtlCol="0">
            <a:spAutoFit/>
          </a:bodyPr>
          <a:lstStyle/>
          <a:p>
            <a:pPr algn="l">
              <a:buFont typeface="Arial" panose="020B0604020202020204" pitchFamily="34" charset="0"/>
              <a:buChar char="•"/>
            </a:pPr>
            <a:r>
              <a:rPr lang="en-GB" sz="2100" b="0" i="0" dirty="0">
                <a:solidFill>
                  <a:srgbClr val="24292E"/>
                </a:solidFill>
                <a:effectLst/>
                <a:latin typeface="-apple-system"/>
              </a:rPr>
              <a:t>This framework helps designers understand the different aspects of user experience and how they interrelate.</a:t>
            </a:r>
          </a:p>
          <a:p>
            <a:pPr algn="l">
              <a:buFont typeface="Arial" panose="020B0604020202020204" pitchFamily="34" charset="0"/>
              <a:buChar char="•"/>
            </a:pPr>
            <a:endParaRPr lang="en-GB" sz="2100" b="0" i="0" dirty="0">
              <a:solidFill>
                <a:srgbClr val="24292E"/>
              </a:solidFill>
              <a:effectLst/>
              <a:latin typeface="-apple-system"/>
            </a:endParaRPr>
          </a:p>
          <a:p>
            <a:pPr algn="l">
              <a:buFont typeface="Arial" panose="020B0604020202020204" pitchFamily="34" charset="0"/>
              <a:buChar char="•"/>
            </a:pPr>
            <a:r>
              <a:rPr lang="en-GB" sz="2100" b="0" i="0" dirty="0">
                <a:solidFill>
                  <a:srgbClr val="24292E"/>
                </a:solidFill>
                <a:effectLst/>
                <a:latin typeface="-apple-system"/>
              </a:rPr>
              <a:t>Each plane builds upon the previous one, starting with the overall strategy and moving down to the</a:t>
            </a:r>
          </a:p>
          <a:p>
            <a:pPr algn="l"/>
            <a:r>
              <a:rPr lang="en-GB" sz="2100" b="0" i="0" dirty="0">
                <a:solidFill>
                  <a:srgbClr val="24292E"/>
                </a:solidFill>
                <a:effectLst/>
                <a:latin typeface="-apple-system"/>
              </a:rPr>
              <a:t> visual design of the interface.</a:t>
            </a:r>
          </a:p>
          <a:p>
            <a:pPr algn="l"/>
            <a:endParaRPr lang="en-GB" sz="2100" b="0" i="0" dirty="0">
              <a:solidFill>
                <a:srgbClr val="24292E"/>
              </a:solidFill>
              <a:effectLst/>
              <a:latin typeface="-apple-system"/>
            </a:endParaRPr>
          </a:p>
          <a:p>
            <a:pPr algn="l">
              <a:buFont typeface="Arial" panose="020B0604020202020204" pitchFamily="34" charset="0"/>
              <a:buChar char="•"/>
            </a:pPr>
            <a:r>
              <a:rPr lang="en-GB" sz="2100" b="0" i="0" dirty="0">
                <a:solidFill>
                  <a:srgbClr val="24292E"/>
                </a:solidFill>
                <a:effectLst/>
                <a:latin typeface="-apple-system"/>
              </a:rPr>
              <a:t>Plan your project so that work on each plane is completed before moving to the next.</a:t>
            </a:r>
          </a:p>
          <a:p>
            <a:pPr algn="l">
              <a:buFont typeface="Arial" panose="020B0604020202020204" pitchFamily="34" charset="0"/>
              <a:buChar char="•"/>
            </a:pPr>
            <a:endParaRPr lang="en-GB" sz="2100" b="0" i="0" dirty="0">
              <a:solidFill>
                <a:srgbClr val="24292E"/>
              </a:solidFill>
              <a:effectLst/>
              <a:latin typeface="-apple-system"/>
            </a:endParaRPr>
          </a:p>
          <a:p>
            <a:pPr algn="l">
              <a:buFont typeface="Arial" panose="020B0604020202020204" pitchFamily="34" charset="0"/>
              <a:buChar char="•"/>
            </a:pPr>
            <a:r>
              <a:rPr lang="en-GB" sz="2100" b="0" i="0" dirty="0">
                <a:solidFill>
                  <a:srgbClr val="24292E"/>
                </a:solidFill>
                <a:effectLst/>
                <a:latin typeface="-apple-system"/>
              </a:rPr>
              <a:t>🤔 When the Web started, there were two groups of people: </a:t>
            </a:r>
          </a:p>
          <a:p>
            <a:pPr lvl="1">
              <a:buFont typeface="Arial" panose="020B0604020202020204" pitchFamily="34" charset="0"/>
              <a:buChar char="•"/>
            </a:pPr>
            <a:r>
              <a:rPr lang="en-GB" sz="2100" b="0" i="0" dirty="0">
                <a:solidFill>
                  <a:srgbClr val="24292E"/>
                </a:solidFill>
                <a:effectLst/>
                <a:latin typeface="-apple-system"/>
              </a:rPr>
              <a:t>one saw Web pages as documents (and applied principles from traditional media such as publishing)</a:t>
            </a:r>
          </a:p>
          <a:p>
            <a:pPr lvl="1">
              <a:buFont typeface="Arial" panose="020B0604020202020204" pitchFamily="34" charset="0"/>
              <a:buChar char="•"/>
            </a:pPr>
            <a:r>
              <a:rPr lang="en-GB" sz="2100" b="0" i="0" dirty="0">
                <a:solidFill>
                  <a:srgbClr val="24292E"/>
                </a:solidFill>
                <a:effectLst/>
                <a:latin typeface="-apple-system"/>
              </a:rPr>
              <a:t>the other saw them as applications (and applied principles from desktop applications).</a:t>
            </a:r>
          </a:p>
          <a:p>
            <a:pPr lvl="1">
              <a:buFont typeface="Arial" panose="020B0604020202020204" pitchFamily="34" charset="0"/>
              <a:buChar char="•"/>
            </a:pPr>
            <a:endParaRPr lang="en-GB" sz="2100" b="0" i="0" dirty="0">
              <a:solidFill>
                <a:srgbClr val="24292E"/>
              </a:solidFill>
              <a:effectLst/>
              <a:latin typeface="-apple-system"/>
            </a:endParaRPr>
          </a:p>
          <a:p>
            <a:pPr algn="l">
              <a:buFont typeface="Arial" panose="020B0604020202020204" pitchFamily="34" charset="0"/>
              <a:buChar char="•"/>
            </a:pPr>
            <a:r>
              <a:rPr lang="en-GB" sz="2100" b="0" i="0" dirty="0">
                <a:solidFill>
                  <a:srgbClr val="24292E"/>
                </a:solidFill>
                <a:effectLst/>
                <a:latin typeface="-apple-system"/>
              </a:rPr>
              <a:t>Today, most Web sites are a mixture of both.</a:t>
            </a:r>
          </a:p>
          <a:p>
            <a:endParaRPr lang="en-US" sz="2100" dirty="0"/>
          </a:p>
        </p:txBody>
      </p:sp>
    </p:spTree>
    <p:extLst>
      <p:ext uri="{BB962C8B-B14F-4D97-AF65-F5344CB8AC3E}">
        <p14:creationId xmlns:p14="http://schemas.microsoft.com/office/powerpoint/2010/main" val="25205398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74CF23C-A1ED-A093-DE5D-F87C333B1B17}"/>
            </a:ext>
          </a:extLst>
        </p:cNvPr>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9B788BCA-F9D6-170A-E667-4855665BF4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5520D6-84E8-85FD-8638-5D84C9D71D4D}"/>
              </a:ext>
            </a:extLst>
          </p:cNvPr>
          <p:cNvSpPr>
            <a:spLocks noGrp="1"/>
          </p:cNvSpPr>
          <p:nvPr>
            <p:ph type="title"/>
          </p:nvPr>
        </p:nvSpPr>
        <p:spPr>
          <a:xfrm>
            <a:off x="1328581" y="271762"/>
            <a:ext cx="8602225" cy="1335034"/>
          </a:xfrm>
        </p:spPr>
        <p:txBody>
          <a:bodyPr vert="horz" lIns="91440" tIns="45720" rIns="91440" bIns="45720" rtlCol="0" anchor="b">
            <a:normAutofit fontScale="90000"/>
          </a:bodyPr>
          <a:lstStyle/>
          <a:p>
            <a:r>
              <a:rPr lang="en-US" sz="4800" kern="1200" dirty="0">
                <a:solidFill>
                  <a:schemeClr val="tx1"/>
                </a:solidFill>
                <a:latin typeface="+mj-lt"/>
                <a:ea typeface="+mj-ea"/>
                <a:cs typeface="+mj-cs"/>
              </a:rPr>
              <a:t>Duality of Web</a:t>
            </a:r>
            <a:br>
              <a:rPr lang="en-US" sz="4800" kern="1200" dirty="0">
                <a:solidFill>
                  <a:schemeClr val="tx1"/>
                </a:solidFill>
                <a:latin typeface="+mj-lt"/>
                <a:ea typeface="+mj-ea"/>
                <a:cs typeface="+mj-cs"/>
              </a:rPr>
            </a:br>
            <a:endParaRPr lang="en-US" sz="4800" kern="1200" dirty="0">
              <a:solidFill>
                <a:schemeClr val="tx1"/>
              </a:solidFill>
              <a:latin typeface="+mj-lt"/>
              <a:ea typeface="+mj-ea"/>
              <a:cs typeface="+mj-cs"/>
            </a:endParaRPr>
          </a:p>
        </p:txBody>
      </p:sp>
      <p:sp>
        <p:nvSpPr>
          <p:cNvPr id="34" name="Rectangle 33">
            <a:extLst>
              <a:ext uri="{FF2B5EF4-FFF2-40B4-BE49-F238E27FC236}">
                <a16:creationId xmlns:a16="http://schemas.microsoft.com/office/drawing/2014/main" id="{00866F36-5D3C-9045-B81E-6FF8F2320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Rectangle 31">
            <a:extLst>
              <a:ext uri="{FF2B5EF4-FFF2-40B4-BE49-F238E27FC236}">
                <a16:creationId xmlns:a16="http://schemas.microsoft.com/office/drawing/2014/main" id="{BDC2FCFF-7211-28AA-F195-C2B0BFA136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 name="Content Placeholder 2">
            <a:extLst>
              <a:ext uri="{FF2B5EF4-FFF2-40B4-BE49-F238E27FC236}">
                <a16:creationId xmlns:a16="http://schemas.microsoft.com/office/drawing/2014/main" id="{49400BD1-E98A-E4B8-1B3A-93E0D8DDAC08}"/>
              </a:ext>
            </a:extLst>
          </p:cNvPr>
          <p:cNvSpPr>
            <a:spLocks noGrp="1"/>
          </p:cNvSpPr>
          <p:nvPr>
            <p:ph idx="1"/>
          </p:nvPr>
        </p:nvSpPr>
        <p:spPr>
          <a:xfrm>
            <a:off x="363212" y="6312943"/>
            <a:ext cx="8282354" cy="546589"/>
          </a:xfrm>
        </p:spPr>
        <p:txBody>
          <a:bodyPr>
            <a:normAutofit lnSpcReduction="10000"/>
          </a:bodyPr>
          <a:lstStyle/>
          <a:p>
            <a:pPr>
              <a:spcBef>
                <a:spcPts val="1275"/>
              </a:spcBef>
            </a:pPr>
            <a:endParaRPr lang="en-US" sz="1800" dirty="0">
              <a:latin typeface="Times New Roman"/>
              <a:cs typeface="Times New Roman"/>
            </a:endParaRPr>
          </a:p>
          <a:p>
            <a:pPr>
              <a:spcBef>
                <a:spcPts val="5"/>
              </a:spcBef>
            </a:pPr>
            <a:r>
              <a:rPr lang="en-US" sz="1800" dirty="0">
                <a:latin typeface="Carlito"/>
                <a:cs typeface="Carlito"/>
              </a:rPr>
              <a:t>Source:</a:t>
            </a:r>
            <a:r>
              <a:rPr lang="en-US" sz="1800" spc="-30" dirty="0">
                <a:latin typeface="Carlito"/>
                <a:cs typeface="Carlito"/>
              </a:rPr>
              <a:t> </a:t>
            </a:r>
            <a:r>
              <a:rPr lang="en-US" sz="1800" dirty="0">
                <a:latin typeface="Carlito"/>
                <a:cs typeface="Carlito"/>
              </a:rPr>
              <a:t>Jesse</a:t>
            </a:r>
            <a:r>
              <a:rPr lang="en-US" sz="1800" spc="-25" dirty="0">
                <a:latin typeface="Carlito"/>
                <a:cs typeface="Carlito"/>
              </a:rPr>
              <a:t> </a:t>
            </a:r>
            <a:r>
              <a:rPr lang="en-US" sz="1800" dirty="0">
                <a:latin typeface="Carlito"/>
                <a:cs typeface="Carlito"/>
              </a:rPr>
              <a:t>James</a:t>
            </a:r>
            <a:r>
              <a:rPr lang="en-US" sz="1800" spc="-20" dirty="0">
                <a:latin typeface="Carlito"/>
                <a:cs typeface="Carlito"/>
              </a:rPr>
              <a:t> </a:t>
            </a:r>
            <a:r>
              <a:rPr lang="en-US" sz="1800" spc="-10" dirty="0">
                <a:latin typeface="Carlito"/>
                <a:cs typeface="Carlito"/>
              </a:rPr>
              <a:t>Garrett,</a:t>
            </a:r>
            <a:r>
              <a:rPr lang="en-US" sz="1800" spc="-25" dirty="0">
                <a:latin typeface="Carlito"/>
                <a:cs typeface="Carlito"/>
              </a:rPr>
              <a:t> </a:t>
            </a:r>
            <a:r>
              <a:rPr lang="en-US" sz="1800" spc="-20" dirty="0">
                <a:latin typeface="Carlito"/>
                <a:cs typeface="Carlito"/>
              </a:rPr>
              <a:t>2002</a:t>
            </a:r>
            <a:endParaRPr lang="en-US" sz="1800" dirty="0">
              <a:latin typeface="Carlito"/>
              <a:cs typeface="Carlito"/>
            </a:endParaRPr>
          </a:p>
        </p:txBody>
      </p:sp>
      <p:sp>
        <p:nvSpPr>
          <p:cNvPr id="3" name="TextBox 2">
            <a:extLst>
              <a:ext uri="{FF2B5EF4-FFF2-40B4-BE49-F238E27FC236}">
                <a16:creationId xmlns:a16="http://schemas.microsoft.com/office/drawing/2014/main" id="{747B64B2-A2E1-2643-6BD5-D3E736DE1C2D}"/>
              </a:ext>
            </a:extLst>
          </p:cNvPr>
          <p:cNvSpPr txBox="1"/>
          <p:nvPr/>
        </p:nvSpPr>
        <p:spPr>
          <a:xfrm>
            <a:off x="124695" y="2521527"/>
            <a:ext cx="11867480" cy="3416320"/>
          </a:xfrm>
          <a:prstGeom prst="rect">
            <a:avLst/>
          </a:prstGeom>
          <a:noFill/>
        </p:spPr>
        <p:txBody>
          <a:bodyPr wrap="none" rtlCol="0">
            <a:spAutoFit/>
          </a:bodyPr>
          <a:lstStyle/>
          <a:p>
            <a:pPr algn="l">
              <a:buFont typeface="Arial" panose="020B0604020202020204" pitchFamily="34" charset="0"/>
              <a:buChar char="•"/>
            </a:pPr>
            <a:r>
              <a:rPr lang="en-GB" sz="2400" b="0" i="0" dirty="0">
                <a:solidFill>
                  <a:srgbClr val="24292E"/>
                </a:solidFill>
                <a:effectLst/>
                <a:latin typeface="-apple-system"/>
              </a:rPr>
              <a:t>Web as Document: Focuses on delivering </a:t>
            </a:r>
            <a:r>
              <a:rPr lang="en-GB" sz="2400" b="0" i="1" dirty="0">
                <a:solidFill>
                  <a:srgbClr val="24292E"/>
                </a:solidFill>
                <a:effectLst/>
                <a:latin typeface="-apple-system"/>
              </a:rPr>
              <a:t>content</a:t>
            </a:r>
            <a:r>
              <a:rPr lang="en-GB" sz="2400" b="0" i="0" dirty="0">
                <a:solidFill>
                  <a:srgbClr val="24292E"/>
                </a:solidFill>
                <a:effectLst/>
                <a:latin typeface="-apple-system"/>
              </a:rPr>
              <a:t>, such as articles, images, and videos. </a:t>
            </a:r>
          </a:p>
          <a:p>
            <a:pPr algn="l">
              <a:buFont typeface="Arial" panose="020B0604020202020204" pitchFamily="34" charset="0"/>
              <a:buChar char="•"/>
            </a:pPr>
            <a:endParaRPr lang="en-GB" sz="2400" b="0" i="0" dirty="0">
              <a:solidFill>
                <a:srgbClr val="24292E"/>
              </a:solidFill>
              <a:effectLst/>
              <a:latin typeface="-apple-system"/>
            </a:endParaRPr>
          </a:p>
          <a:p>
            <a:pPr algn="l">
              <a:buFont typeface="Arial" panose="020B0604020202020204" pitchFamily="34" charset="0"/>
              <a:buChar char="•"/>
            </a:pPr>
            <a:r>
              <a:rPr lang="en-GB" sz="2400" b="0" i="0" dirty="0">
                <a:solidFill>
                  <a:srgbClr val="24292E"/>
                </a:solidFill>
                <a:effectLst/>
                <a:latin typeface="-apple-system"/>
              </a:rPr>
              <a:t>The primary goal is to inform or entertain the user.</a:t>
            </a:r>
          </a:p>
          <a:p>
            <a:pPr algn="l">
              <a:buFont typeface="Arial" panose="020B0604020202020204" pitchFamily="34" charset="0"/>
              <a:buChar char="•"/>
            </a:pPr>
            <a:endParaRPr lang="en-GB" sz="2400" b="0" i="0" dirty="0">
              <a:solidFill>
                <a:srgbClr val="24292E"/>
              </a:solidFill>
              <a:effectLst/>
              <a:latin typeface="-apple-system"/>
            </a:endParaRPr>
          </a:p>
          <a:p>
            <a:pPr algn="l">
              <a:buFont typeface="Arial" panose="020B0604020202020204" pitchFamily="34" charset="0"/>
              <a:buChar char="•"/>
            </a:pPr>
            <a:r>
              <a:rPr lang="en-GB" sz="2400" b="0" i="0" dirty="0">
                <a:solidFill>
                  <a:srgbClr val="24292E"/>
                </a:solidFill>
                <a:effectLst/>
                <a:latin typeface="-apple-system"/>
              </a:rPr>
              <a:t>Web as Application: Emphasizes </a:t>
            </a:r>
            <a:r>
              <a:rPr lang="en-GB" sz="2400" b="0" i="1" dirty="0">
                <a:solidFill>
                  <a:srgbClr val="24292E"/>
                </a:solidFill>
                <a:effectLst/>
                <a:latin typeface="-apple-system"/>
              </a:rPr>
              <a:t>tasks</a:t>
            </a:r>
            <a:r>
              <a:rPr lang="en-GB" sz="2400" b="0" i="0" dirty="0">
                <a:solidFill>
                  <a:srgbClr val="24292E"/>
                </a:solidFill>
                <a:effectLst/>
                <a:latin typeface="-apple-system"/>
              </a:rPr>
              <a:t>: interactivity and functionality, </a:t>
            </a:r>
          </a:p>
          <a:p>
            <a:pPr algn="l"/>
            <a:r>
              <a:rPr lang="en-GB" sz="2400" b="0" i="0" dirty="0">
                <a:solidFill>
                  <a:srgbClr val="24292E"/>
                </a:solidFill>
                <a:effectLst/>
                <a:latin typeface="-apple-system"/>
              </a:rPr>
              <a:t>allowing users to perform tasks such as filling out forms, making purchases, </a:t>
            </a:r>
          </a:p>
          <a:p>
            <a:pPr algn="l"/>
            <a:r>
              <a:rPr lang="en-GB" sz="2400" b="0" i="0" dirty="0">
                <a:solidFill>
                  <a:srgbClr val="24292E"/>
                </a:solidFill>
                <a:effectLst/>
                <a:latin typeface="-apple-system"/>
              </a:rPr>
              <a:t>or using web-based software.</a:t>
            </a:r>
          </a:p>
          <a:p>
            <a:pPr algn="l"/>
            <a:endParaRPr lang="en-GB" sz="2400" b="0" i="0" dirty="0">
              <a:solidFill>
                <a:srgbClr val="24292E"/>
              </a:solidFill>
              <a:effectLst/>
              <a:latin typeface="-apple-system"/>
            </a:endParaRPr>
          </a:p>
          <a:p>
            <a:pPr algn="l">
              <a:buFont typeface="Arial" panose="020B0604020202020204" pitchFamily="34" charset="0"/>
              <a:buChar char="•"/>
            </a:pPr>
            <a:r>
              <a:rPr lang="en-GB" sz="2400" b="0" i="0" dirty="0">
                <a:solidFill>
                  <a:srgbClr val="24292E"/>
                </a:solidFill>
                <a:effectLst/>
                <a:latin typeface="-apple-system"/>
              </a:rPr>
              <a:t>Designers must balance these two aspects to create effective and engaging web experiences.</a:t>
            </a:r>
          </a:p>
        </p:txBody>
      </p:sp>
    </p:spTree>
    <p:extLst>
      <p:ext uri="{BB962C8B-B14F-4D97-AF65-F5344CB8AC3E}">
        <p14:creationId xmlns:p14="http://schemas.microsoft.com/office/powerpoint/2010/main" val="39804470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9D59361E-4D7A-5BED-168E-0EEB44CC9080}"/>
              </a:ext>
            </a:extLst>
          </p:cNvPr>
          <p:cNvSpPr>
            <a:spLocks noGrp="1" noChangeArrowheads="1"/>
          </p:cNvSpPr>
          <p:nvPr>
            <p:ph type="title"/>
          </p:nvPr>
        </p:nvSpPr>
        <p:spPr>
          <a:noFill/>
          <a:ln/>
        </p:spPr>
        <p:txBody>
          <a:bodyPr/>
          <a:lstStyle/>
          <a:p>
            <a:r>
              <a:rPr lang="en-GB" altLang="en-NO" dirty="0"/>
              <a:t>User interface design principles</a:t>
            </a:r>
          </a:p>
        </p:txBody>
      </p:sp>
      <p:graphicFrame>
        <p:nvGraphicFramePr>
          <p:cNvPr id="17412" name="Object 4" descr="User interface design principles">
            <a:extLst>
              <a:ext uri="{FF2B5EF4-FFF2-40B4-BE49-F238E27FC236}">
                <a16:creationId xmlns:a16="http://schemas.microsoft.com/office/drawing/2014/main" id="{37B310E5-B53C-FA0F-1933-6973348E024D}"/>
              </a:ext>
            </a:extLst>
          </p:cNvPr>
          <p:cNvGraphicFramePr>
            <a:graphicFrameLocks noChangeAspect="1"/>
          </p:cNvGraphicFramePr>
          <p:nvPr>
            <p:extLst>
              <p:ext uri="{D42A27DB-BD31-4B8C-83A1-F6EECF244321}">
                <p14:modId xmlns:p14="http://schemas.microsoft.com/office/powerpoint/2010/main" val="2310816832"/>
              </p:ext>
            </p:extLst>
          </p:nvPr>
        </p:nvGraphicFramePr>
        <p:xfrm>
          <a:off x="1461866" y="1650747"/>
          <a:ext cx="9155723" cy="5122845"/>
        </p:xfrm>
        <a:graphic>
          <a:graphicData uri="http://schemas.openxmlformats.org/presentationml/2006/ole">
            <mc:AlternateContent xmlns:mc="http://schemas.openxmlformats.org/markup-compatibility/2006">
              <mc:Choice xmlns:v="urn:schemas-microsoft-com:vml" Requires="v">
                <p:oleObj name="Document" r:id="rId2" imgW="13398500" imgH="9753600" progId="Word.Document.8">
                  <p:embed/>
                </p:oleObj>
              </mc:Choice>
              <mc:Fallback>
                <p:oleObj name="Document" r:id="rId2" imgW="13398500" imgH="9753600" progId="Word.Document.8">
                  <p:embed/>
                  <p:pic>
                    <p:nvPicPr>
                      <p:cNvPr id="17412" name="Object 4">
                        <a:extLst>
                          <a:ext uri="{FF2B5EF4-FFF2-40B4-BE49-F238E27FC236}">
                            <a16:creationId xmlns:a16="http://schemas.microsoft.com/office/drawing/2014/main" id="{37B310E5-B53C-FA0F-1933-6973348E02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1866" y="1650747"/>
                        <a:ext cx="9155723" cy="5122845"/>
                      </a:xfrm>
                      <a:prstGeom prst="rect">
                        <a:avLst/>
                      </a:prstGeom>
                      <a:noFill/>
                      <a:ln>
                        <a:noFill/>
                      </a:ln>
                      <a:effectLst/>
                    </p:spPr>
                  </p:pic>
                </p:oleObj>
              </mc:Fallback>
            </mc:AlternateContent>
          </a:graphicData>
        </a:graphic>
      </p:graphicFrame>
      <p:sp>
        <p:nvSpPr>
          <p:cNvPr id="2" name="TextBox 1">
            <a:extLst>
              <a:ext uri="{FF2B5EF4-FFF2-40B4-BE49-F238E27FC236}">
                <a16:creationId xmlns:a16="http://schemas.microsoft.com/office/drawing/2014/main" id="{2FC0A10C-EEAB-1E38-3815-118473D6BC2F}"/>
              </a:ext>
            </a:extLst>
          </p:cNvPr>
          <p:cNvSpPr txBox="1"/>
          <p:nvPr/>
        </p:nvSpPr>
        <p:spPr>
          <a:xfrm>
            <a:off x="3108960" y="6488668"/>
            <a:ext cx="6471138" cy="369332"/>
          </a:xfrm>
          <a:prstGeom prst="rect">
            <a:avLst/>
          </a:prstGeom>
          <a:noFill/>
        </p:spPr>
        <p:txBody>
          <a:bodyPr wrap="square" rtlCol="0">
            <a:spAutoFit/>
          </a:bodyPr>
          <a:lstStyle/>
          <a:p>
            <a:r>
              <a:rPr lang="en-GB" dirty="0"/>
              <a:t>Source: Ian Sommerville, 2000, Software Engineering 6</a:t>
            </a:r>
            <a:r>
              <a:rPr lang="en-GB" baseline="30000" dirty="0"/>
              <a:t>th</a:t>
            </a:r>
            <a:r>
              <a:rPr lang="en-GB" dirty="0"/>
              <a:t> edition</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9C5CA1F-125B-ED29-DBB5-2AF80DA00B3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7D05C15-E8DA-167E-0AA9-D10C8E75B622}"/>
              </a:ext>
            </a:extLst>
          </p:cNvPr>
          <p:cNvSpPr>
            <a:spLocks noGrp="1"/>
          </p:cNvSpPr>
          <p:nvPr>
            <p:ph type="title"/>
          </p:nvPr>
        </p:nvSpPr>
        <p:spPr>
          <a:xfrm>
            <a:off x="1115568" y="548640"/>
            <a:ext cx="10168128" cy="1179576"/>
          </a:xfrm>
        </p:spPr>
        <p:txBody>
          <a:bodyPr>
            <a:normAutofit/>
          </a:bodyPr>
          <a:lstStyle/>
          <a:p>
            <a:r>
              <a:rPr lang="en-GB" sz="4000" spc="-10" dirty="0"/>
              <a:t>Usability</a:t>
            </a:r>
            <a:endParaRPr lang="en-GB" sz="4000" dirty="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8FD3F40E-2AE2-A630-5E08-E6C3DC5EB323}"/>
              </a:ext>
            </a:extLst>
          </p:cNvPr>
          <p:cNvSpPr>
            <a:spLocks noGrp="1"/>
          </p:cNvSpPr>
          <p:nvPr>
            <p:ph idx="1"/>
          </p:nvPr>
        </p:nvSpPr>
        <p:spPr>
          <a:xfrm>
            <a:off x="1115568" y="2481943"/>
            <a:ext cx="10168128" cy="3695020"/>
          </a:xfrm>
        </p:spPr>
        <p:txBody>
          <a:bodyPr>
            <a:normAutofit/>
          </a:bodyPr>
          <a:lstStyle/>
          <a:p>
            <a:pPr marL="12700" marR="440055">
              <a:lnSpc>
                <a:spcPts val="2620"/>
              </a:lnSpc>
              <a:spcBef>
                <a:spcPts val="405"/>
              </a:spcBef>
            </a:pPr>
            <a:r>
              <a:rPr lang="en-GB" dirty="0">
                <a:latin typeface="Carlito"/>
                <a:cs typeface="Carlito"/>
              </a:rPr>
              <a:t>The</a:t>
            </a:r>
            <a:r>
              <a:rPr lang="en-GB" spc="-35" dirty="0">
                <a:latin typeface="Carlito"/>
                <a:cs typeface="Carlito"/>
              </a:rPr>
              <a:t> </a:t>
            </a:r>
            <a:r>
              <a:rPr lang="en-GB" dirty="0">
                <a:latin typeface="Carlito"/>
                <a:cs typeface="Carlito"/>
              </a:rPr>
              <a:t>primary</a:t>
            </a:r>
            <a:r>
              <a:rPr lang="en-GB" spc="-40" dirty="0">
                <a:latin typeface="Carlito"/>
                <a:cs typeface="Carlito"/>
              </a:rPr>
              <a:t> </a:t>
            </a:r>
            <a:r>
              <a:rPr lang="en-GB" dirty="0">
                <a:latin typeface="Carlito"/>
                <a:cs typeface="Carlito"/>
              </a:rPr>
              <a:t>notion</a:t>
            </a:r>
            <a:r>
              <a:rPr lang="en-GB" spc="-35" dirty="0">
                <a:latin typeface="Carlito"/>
                <a:cs typeface="Carlito"/>
              </a:rPr>
              <a:t> </a:t>
            </a:r>
            <a:r>
              <a:rPr lang="en-GB" dirty="0">
                <a:latin typeface="Carlito"/>
                <a:cs typeface="Carlito"/>
              </a:rPr>
              <a:t>of</a:t>
            </a:r>
            <a:r>
              <a:rPr lang="en-GB" spc="-35" dirty="0">
                <a:latin typeface="Carlito"/>
                <a:cs typeface="Carlito"/>
              </a:rPr>
              <a:t> </a:t>
            </a:r>
            <a:r>
              <a:rPr lang="en-GB" i="1" dirty="0">
                <a:latin typeface="Carlito"/>
                <a:cs typeface="Carlito"/>
              </a:rPr>
              <a:t>usability</a:t>
            </a:r>
            <a:r>
              <a:rPr lang="en-GB" i="1" spc="-35" dirty="0">
                <a:latin typeface="Carlito"/>
                <a:cs typeface="Carlito"/>
              </a:rPr>
              <a:t> </a:t>
            </a:r>
            <a:r>
              <a:rPr lang="en-GB" dirty="0">
                <a:latin typeface="Carlito"/>
                <a:cs typeface="Carlito"/>
              </a:rPr>
              <a:t>is</a:t>
            </a:r>
            <a:r>
              <a:rPr lang="en-GB" spc="-40" dirty="0">
                <a:latin typeface="Carlito"/>
                <a:cs typeface="Carlito"/>
              </a:rPr>
              <a:t> </a:t>
            </a:r>
            <a:r>
              <a:rPr lang="en-GB" dirty="0">
                <a:latin typeface="Carlito"/>
                <a:cs typeface="Carlito"/>
              </a:rPr>
              <a:t>that</a:t>
            </a:r>
            <a:r>
              <a:rPr lang="en-GB" spc="-45" dirty="0">
                <a:latin typeface="Carlito"/>
                <a:cs typeface="Carlito"/>
              </a:rPr>
              <a:t> </a:t>
            </a:r>
            <a:r>
              <a:rPr lang="en-GB" dirty="0">
                <a:latin typeface="Carlito"/>
                <a:cs typeface="Carlito"/>
              </a:rPr>
              <a:t>an</a:t>
            </a:r>
            <a:r>
              <a:rPr lang="en-GB" spc="-35" dirty="0">
                <a:latin typeface="Carlito"/>
                <a:cs typeface="Carlito"/>
              </a:rPr>
              <a:t> </a:t>
            </a:r>
            <a:r>
              <a:rPr lang="en-GB" dirty="0">
                <a:latin typeface="Carlito"/>
                <a:cs typeface="Carlito"/>
              </a:rPr>
              <a:t>object</a:t>
            </a:r>
            <a:r>
              <a:rPr lang="en-GB" spc="-45" dirty="0">
                <a:latin typeface="Carlito"/>
                <a:cs typeface="Carlito"/>
              </a:rPr>
              <a:t> </a:t>
            </a:r>
            <a:r>
              <a:rPr lang="en-GB" dirty="0">
                <a:latin typeface="Carlito"/>
                <a:cs typeface="Carlito"/>
              </a:rPr>
              <a:t>is</a:t>
            </a:r>
            <a:r>
              <a:rPr lang="en-GB" spc="-40" dirty="0">
                <a:latin typeface="Carlito"/>
                <a:cs typeface="Carlito"/>
              </a:rPr>
              <a:t> </a:t>
            </a:r>
            <a:r>
              <a:rPr lang="en-GB" spc="-10" dirty="0">
                <a:latin typeface="Carlito"/>
                <a:cs typeface="Carlito"/>
              </a:rPr>
              <a:t>designed </a:t>
            </a:r>
            <a:r>
              <a:rPr lang="en-GB" dirty="0">
                <a:latin typeface="Carlito"/>
                <a:cs typeface="Carlito"/>
              </a:rPr>
              <a:t>with</a:t>
            </a:r>
            <a:r>
              <a:rPr lang="en-GB" spc="-45" dirty="0">
                <a:latin typeface="Carlito"/>
                <a:cs typeface="Carlito"/>
              </a:rPr>
              <a:t> </a:t>
            </a:r>
            <a:r>
              <a:rPr lang="en-GB" dirty="0">
                <a:latin typeface="Carlito"/>
                <a:cs typeface="Carlito"/>
              </a:rPr>
              <a:t>the</a:t>
            </a:r>
            <a:r>
              <a:rPr lang="en-GB" spc="-35" dirty="0">
                <a:latin typeface="Carlito"/>
                <a:cs typeface="Carlito"/>
              </a:rPr>
              <a:t> </a:t>
            </a:r>
            <a:r>
              <a:rPr lang="en-GB" dirty="0">
                <a:latin typeface="Carlito"/>
                <a:cs typeface="Carlito"/>
              </a:rPr>
              <a:t>users'</a:t>
            </a:r>
            <a:r>
              <a:rPr lang="en-GB" spc="-50" dirty="0">
                <a:latin typeface="Carlito"/>
                <a:cs typeface="Carlito"/>
              </a:rPr>
              <a:t> </a:t>
            </a:r>
            <a:r>
              <a:rPr lang="en-GB" spc="-10" dirty="0">
                <a:latin typeface="Carlito"/>
                <a:cs typeface="Carlito"/>
              </a:rPr>
              <a:t>psychology</a:t>
            </a:r>
            <a:r>
              <a:rPr lang="en-GB" spc="-40" dirty="0">
                <a:latin typeface="Carlito"/>
                <a:cs typeface="Carlito"/>
              </a:rPr>
              <a:t> </a:t>
            </a:r>
            <a:r>
              <a:rPr lang="en-GB" dirty="0">
                <a:latin typeface="Carlito"/>
                <a:cs typeface="Carlito"/>
              </a:rPr>
              <a:t>and</a:t>
            </a:r>
            <a:r>
              <a:rPr lang="en-GB" spc="-40" dirty="0">
                <a:latin typeface="Carlito"/>
                <a:cs typeface="Carlito"/>
              </a:rPr>
              <a:t> </a:t>
            </a:r>
            <a:r>
              <a:rPr lang="en-GB" spc="-10" dirty="0">
                <a:latin typeface="Carlito"/>
                <a:cs typeface="Carlito"/>
              </a:rPr>
              <a:t>physiology</a:t>
            </a:r>
            <a:r>
              <a:rPr lang="en-GB" spc="-40" dirty="0">
                <a:latin typeface="Carlito"/>
                <a:cs typeface="Carlito"/>
              </a:rPr>
              <a:t> </a:t>
            </a:r>
            <a:r>
              <a:rPr lang="en-GB" dirty="0">
                <a:latin typeface="Carlito"/>
                <a:cs typeface="Carlito"/>
              </a:rPr>
              <a:t>in</a:t>
            </a:r>
            <a:r>
              <a:rPr lang="en-GB" spc="-40" dirty="0">
                <a:latin typeface="Carlito"/>
                <a:cs typeface="Carlito"/>
              </a:rPr>
              <a:t> </a:t>
            </a:r>
            <a:r>
              <a:rPr lang="en-GB" spc="-10" dirty="0">
                <a:latin typeface="Carlito"/>
                <a:cs typeface="Carlito"/>
              </a:rPr>
              <a:t>mind.</a:t>
            </a:r>
            <a:endParaRPr lang="en-GB" dirty="0">
              <a:latin typeface="Carlito"/>
              <a:cs typeface="Carlito"/>
            </a:endParaRPr>
          </a:p>
          <a:p>
            <a:pPr>
              <a:lnSpc>
                <a:spcPct val="100000"/>
              </a:lnSpc>
              <a:spcBef>
                <a:spcPts val="1500"/>
              </a:spcBef>
            </a:pPr>
            <a:endParaRPr lang="en-GB" dirty="0">
              <a:latin typeface="Carlito"/>
              <a:cs typeface="Carlito"/>
            </a:endParaRPr>
          </a:p>
          <a:p>
            <a:pPr marL="12700" marR="5080">
              <a:lnSpc>
                <a:spcPct val="90300"/>
              </a:lnSpc>
            </a:pPr>
            <a:r>
              <a:rPr lang="en-GB" dirty="0">
                <a:latin typeface="Carlito"/>
                <a:cs typeface="Carlito"/>
              </a:rPr>
              <a:t>“Usability</a:t>
            </a:r>
            <a:r>
              <a:rPr lang="en-GB" spc="-50" dirty="0">
                <a:latin typeface="Carlito"/>
                <a:cs typeface="Carlito"/>
              </a:rPr>
              <a:t> </a:t>
            </a:r>
            <a:r>
              <a:rPr lang="en-GB" dirty="0">
                <a:latin typeface="Carlito"/>
                <a:cs typeface="Carlito"/>
              </a:rPr>
              <a:t>is</a:t>
            </a:r>
            <a:r>
              <a:rPr lang="en-GB" spc="-50" dirty="0">
                <a:latin typeface="Carlito"/>
                <a:cs typeface="Carlito"/>
              </a:rPr>
              <a:t> </a:t>
            </a:r>
            <a:r>
              <a:rPr lang="en-GB" dirty="0">
                <a:latin typeface="Carlito"/>
                <a:cs typeface="Carlito"/>
              </a:rPr>
              <a:t>a</a:t>
            </a:r>
            <a:r>
              <a:rPr lang="en-GB" spc="-50" dirty="0">
                <a:latin typeface="Carlito"/>
                <a:cs typeface="Carlito"/>
              </a:rPr>
              <a:t> </a:t>
            </a:r>
            <a:r>
              <a:rPr lang="en-GB" b="1" dirty="0">
                <a:latin typeface="Carlito"/>
                <a:cs typeface="Carlito"/>
              </a:rPr>
              <a:t>quality</a:t>
            </a:r>
            <a:r>
              <a:rPr lang="en-GB" b="1" spc="-40" dirty="0">
                <a:latin typeface="Carlito"/>
                <a:cs typeface="Carlito"/>
              </a:rPr>
              <a:t> </a:t>
            </a:r>
            <a:r>
              <a:rPr lang="en-GB" b="1" spc="-10" dirty="0">
                <a:latin typeface="Carlito"/>
                <a:cs typeface="Carlito"/>
              </a:rPr>
              <a:t>attribute</a:t>
            </a:r>
            <a:r>
              <a:rPr lang="en-GB" b="1" spc="-45" dirty="0">
                <a:latin typeface="Carlito"/>
                <a:cs typeface="Carlito"/>
              </a:rPr>
              <a:t> </a:t>
            </a:r>
            <a:r>
              <a:rPr lang="en-GB" dirty="0">
                <a:latin typeface="Carlito"/>
                <a:cs typeface="Carlito"/>
              </a:rPr>
              <a:t>that</a:t>
            </a:r>
            <a:r>
              <a:rPr lang="en-GB" spc="-50" dirty="0">
                <a:latin typeface="Carlito"/>
                <a:cs typeface="Carlito"/>
              </a:rPr>
              <a:t> </a:t>
            </a:r>
            <a:r>
              <a:rPr lang="en-GB" dirty="0">
                <a:latin typeface="Carlito"/>
                <a:cs typeface="Carlito"/>
              </a:rPr>
              <a:t>assesses</a:t>
            </a:r>
            <a:r>
              <a:rPr lang="en-GB" spc="-50" dirty="0">
                <a:latin typeface="Carlito"/>
                <a:cs typeface="Carlito"/>
              </a:rPr>
              <a:t> </a:t>
            </a:r>
            <a:r>
              <a:rPr lang="en-GB" dirty="0">
                <a:latin typeface="Carlito"/>
                <a:cs typeface="Carlito"/>
              </a:rPr>
              <a:t>how</a:t>
            </a:r>
            <a:r>
              <a:rPr lang="en-GB" spc="-45" dirty="0">
                <a:latin typeface="Carlito"/>
                <a:cs typeface="Carlito"/>
              </a:rPr>
              <a:t> </a:t>
            </a:r>
            <a:r>
              <a:rPr lang="en-GB" dirty="0">
                <a:latin typeface="Carlito"/>
                <a:cs typeface="Carlito"/>
              </a:rPr>
              <a:t>easy</a:t>
            </a:r>
            <a:r>
              <a:rPr lang="en-GB" spc="-45" dirty="0">
                <a:latin typeface="Carlito"/>
                <a:cs typeface="Carlito"/>
              </a:rPr>
              <a:t> </a:t>
            </a:r>
            <a:r>
              <a:rPr lang="en-GB" spc="-20" dirty="0">
                <a:latin typeface="Carlito"/>
                <a:cs typeface="Carlito"/>
              </a:rPr>
              <a:t>user </a:t>
            </a:r>
            <a:r>
              <a:rPr lang="en-GB" spc="-10" dirty="0">
                <a:latin typeface="Carlito"/>
                <a:cs typeface="Carlito"/>
              </a:rPr>
              <a:t>interfaces</a:t>
            </a:r>
            <a:r>
              <a:rPr lang="en-GB" spc="-70" dirty="0">
                <a:latin typeface="Carlito"/>
                <a:cs typeface="Carlito"/>
              </a:rPr>
              <a:t> </a:t>
            </a:r>
            <a:r>
              <a:rPr lang="en-GB" dirty="0">
                <a:latin typeface="Carlito"/>
                <a:cs typeface="Carlito"/>
              </a:rPr>
              <a:t>are</a:t>
            </a:r>
            <a:r>
              <a:rPr lang="en-GB" spc="-55" dirty="0">
                <a:latin typeface="Carlito"/>
                <a:cs typeface="Carlito"/>
              </a:rPr>
              <a:t> </a:t>
            </a:r>
            <a:r>
              <a:rPr lang="en-GB" dirty="0">
                <a:latin typeface="Carlito"/>
                <a:cs typeface="Carlito"/>
              </a:rPr>
              <a:t>to</a:t>
            </a:r>
            <a:r>
              <a:rPr lang="en-GB" spc="-65" dirty="0">
                <a:latin typeface="Carlito"/>
                <a:cs typeface="Carlito"/>
              </a:rPr>
              <a:t> </a:t>
            </a:r>
            <a:r>
              <a:rPr lang="en-GB" dirty="0">
                <a:latin typeface="Carlito"/>
                <a:cs typeface="Carlito"/>
              </a:rPr>
              <a:t>use.</a:t>
            </a:r>
            <a:r>
              <a:rPr lang="en-GB" spc="-75" dirty="0">
                <a:latin typeface="Carlito"/>
                <a:cs typeface="Carlito"/>
              </a:rPr>
              <a:t> </a:t>
            </a:r>
            <a:r>
              <a:rPr lang="en-GB" dirty="0">
                <a:latin typeface="Carlito"/>
                <a:cs typeface="Carlito"/>
              </a:rPr>
              <a:t>The</a:t>
            </a:r>
            <a:r>
              <a:rPr lang="en-GB" spc="-55" dirty="0">
                <a:latin typeface="Carlito"/>
                <a:cs typeface="Carlito"/>
              </a:rPr>
              <a:t> </a:t>
            </a:r>
            <a:r>
              <a:rPr lang="en-GB" dirty="0">
                <a:latin typeface="Carlito"/>
                <a:cs typeface="Carlito"/>
              </a:rPr>
              <a:t>word</a:t>
            </a:r>
            <a:r>
              <a:rPr lang="en-GB" spc="-60" dirty="0">
                <a:latin typeface="Carlito"/>
                <a:cs typeface="Carlito"/>
              </a:rPr>
              <a:t> </a:t>
            </a:r>
            <a:r>
              <a:rPr lang="en-GB" dirty="0">
                <a:latin typeface="Carlito"/>
                <a:cs typeface="Carlito"/>
              </a:rPr>
              <a:t>"usability"</a:t>
            </a:r>
            <a:r>
              <a:rPr lang="en-GB" spc="-65" dirty="0">
                <a:latin typeface="Carlito"/>
                <a:cs typeface="Carlito"/>
              </a:rPr>
              <a:t> </a:t>
            </a:r>
            <a:r>
              <a:rPr lang="en-GB" dirty="0">
                <a:latin typeface="Carlito"/>
                <a:cs typeface="Carlito"/>
              </a:rPr>
              <a:t>also</a:t>
            </a:r>
            <a:r>
              <a:rPr lang="en-GB" spc="-65" dirty="0">
                <a:latin typeface="Carlito"/>
                <a:cs typeface="Carlito"/>
              </a:rPr>
              <a:t> </a:t>
            </a:r>
            <a:r>
              <a:rPr lang="en-GB" spc="-20" dirty="0">
                <a:latin typeface="Carlito"/>
                <a:cs typeface="Carlito"/>
              </a:rPr>
              <a:t>refers</a:t>
            </a:r>
            <a:r>
              <a:rPr lang="en-GB" spc="-65" dirty="0">
                <a:latin typeface="Carlito"/>
                <a:cs typeface="Carlito"/>
              </a:rPr>
              <a:t> </a:t>
            </a:r>
            <a:r>
              <a:rPr lang="en-GB" spc="-25" dirty="0">
                <a:latin typeface="Carlito"/>
                <a:cs typeface="Carlito"/>
              </a:rPr>
              <a:t>to </a:t>
            </a:r>
            <a:r>
              <a:rPr lang="en-GB" dirty="0">
                <a:latin typeface="Carlito"/>
                <a:cs typeface="Carlito"/>
              </a:rPr>
              <a:t>methods</a:t>
            </a:r>
            <a:r>
              <a:rPr lang="en-GB" spc="-65" dirty="0">
                <a:latin typeface="Carlito"/>
                <a:cs typeface="Carlito"/>
              </a:rPr>
              <a:t> </a:t>
            </a:r>
            <a:r>
              <a:rPr lang="en-GB" dirty="0">
                <a:latin typeface="Carlito"/>
                <a:cs typeface="Carlito"/>
              </a:rPr>
              <a:t>for</a:t>
            </a:r>
            <a:r>
              <a:rPr lang="en-GB" spc="-60" dirty="0">
                <a:latin typeface="Carlito"/>
                <a:cs typeface="Carlito"/>
              </a:rPr>
              <a:t> </a:t>
            </a:r>
            <a:r>
              <a:rPr lang="en-GB" dirty="0">
                <a:latin typeface="Carlito"/>
                <a:cs typeface="Carlito"/>
              </a:rPr>
              <a:t>improving</a:t>
            </a:r>
            <a:r>
              <a:rPr lang="en-GB" spc="-65" dirty="0">
                <a:latin typeface="Carlito"/>
                <a:cs typeface="Carlito"/>
              </a:rPr>
              <a:t> </a:t>
            </a:r>
            <a:r>
              <a:rPr lang="en-GB" u="heavy" spc="-10" dirty="0">
                <a:uFill>
                  <a:solidFill>
                    <a:srgbClr val="000000"/>
                  </a:solidFill>
                </a:uFill>
                <a:latin typeface="Carlito"/>
                <a:cs typeface="Carlito"/>
              </a:rPr>
              <a:t>ease-</a:t>
            </a:r>
            <a:r>
              <a:rPr lang="en-GB" u="heavy" spc="-40" dirty="0">
                <a:uFill>
                  <a:solidFill>
                    <a:srgbClr val="000000"/>
                  </a:solidFill>
                </a:uFill>
                <a:latin typeface="Carlito"/>
                <a:cs typeface="Carlito"/>
              </a:rPr>
              <a:t>of-</a:t>
            </a:r>
            <a:r>
              <a:rPr lang="en-GB" u="heavy" dirty="0">
                <a:uFill>
                  <a:solidFill>
                    <a:srgbClr val="000000"/>
                  </a:solidFill>
                </a:uFill>
                <a:latin typeface="Carlito"/>
                <a:cs typeface="Carlito"/>
              </a:rPr>
              <a:t>use</a:t>
            </a:r>
            <a:r>
              <a:rPr lang="en-GB" u="none" spc="-55" dirty="0">
                <a:latin typeface="Carlito"/>
                <a:cs typeface="Carlito"/>
              </a:rPr>
              <a:t> </a:t>
            </a:r>
            <a:r>
              <a:rPr lang="en-GB" u="none" dirty="0">
                <a:latin typeface="Carlito"/>
                <a:cs typeface="Carlito"/>
              </a:rPr>
              <a:t>during</a:t>
            </a:r>
            <a:r>
              <a:rPr lang="en-GB" u="none" spc="-65" dirty="0">
                <a:latin typeface="Carlito"/>
                <a:cs typeface="Carlito"/>
              </a:rPr>
              <a:t> </a:t>
            </a:r>
            <a:r>
              <a:rPr lang="en-GB" u="none" dirty="0">
                <a:latin typeface="Carlito"/>
                <a:cs typeface="Carlito"/>
              </a:rPr>
              <a:t>the</a:t>
            </a:r>
            <a:r>
              <a:rPr lang="en-GB" u="none" spc="-55" dirty="0">
                <a:latin typeface="Carlito"/>
                <a:cs typeface="Carlito"/>
              </a:rPr>
              <a:t> </a:t>
            </a:r>
            <a:r>
              <a:rPr lang="en-GB" u="none" dirty="0">
                <a:latin typeface="Carlito"/>
                <a:cs typeface="Carlito"/>
              </a:rPr>
              <a:t>design</a:t>
            </a:r>
            <a:r>
              <a:rPr lang="en-GB" u="none" spc="-60" dirty="0">
                <a:latin typeface="Carlito"/>
                <a:cs typeface="Carlito"/>
              </a:rPr>
              <a:t> </a:t>
            </a:r>
            <a:r>
              <a:rPr lang="en-GB" u="none" spc="-10" dirty="0">
                <a:latin typeface="Carlito"/>
                <a:cs typeface="Carlito"/>
              </a:rPr>
              <a:t>process”. </a:t>
            </a:r>
            <a:r>
              <a:rPr lang="en-GB" u="none" dirty="0">
                <a:latin typeface="Carlito"/>
                <a:cs typeface="Carlito"/>
              </a:rPr>
              <a:t>(Jakob</a:t>
            </a:r>
            <a:r>
              <a:rPr lang="en-GB" u="none" spc="-100" dirty="0">
                <a:latin typeface="Carlito"/>
                <a:cs typeface="Carlito"/>
              </a:rPr>
              <a:t> </a:t>
            </a:r>
            <a:r>
              <a:rPr lang="en-GB" u="none" dirty="0">
                <a:latin typeface="Carlito"/>
                <a:cs typeface="Carlito"/>
              </a:rPr>
              <a:t>Nielsen,</a:t>
            </a:r>
            <a:r>
              <a:rPr lang="en-GB" u="none" spc="-100" dirty="0">
                <a:latin typeface="Carlito"/>
                <a:cs typeface="Carlito"/>
              </a:rPr>
              <a:t> </a:t>
            </a:r>
            <a:r>
              <a:rPr lang="en-GB" u="none" spc="-10" dirty="0">
                <a:latin typeface="Carlito"/>
                <a:cs typeface="Carlito"/>
              </a:rPr>
              <a:t>1993)</a:t>
            </a:r>
            <a:endParaRPr lang="en-GB" dirty="0">
              <a:latin typeface="Carlito"/>
              <a:cs typeface="Carlito"/>
            </a:endParaRPr>
          </a:p>
          <a:p>
            <a:endParaRPr lang="en-GB" sz="2200" dirty="0"/>
          </a:p>
        </p:txBody>
      </p:sp>
      <p:sp>
        <p:nvSpPr>
          <p:cNvPr id="4" name="object 6">
            <a:extLst>
              <a:ext uri="{FF2B5EF4-FFF2-40B4-BE49-F238E27FC236}">
                <a16:creationId xmlns:a16="http://schemas.microsoft.com/office/drawing/2014/main" id="{BB682A68-54C1-D8C1-56FD-11B3A0688040}"/>
              </a:ext>
            </a:extLst>
          </p:cNvPr>
          <p:cNvSpPr txBox="1"/>
          <p:nvPr/>
        </p:nvSpPr>
        <p:spPr>
          <a:xfrm>
            <a:off x="2033331" y="6495795"/>
            <a:ext cx="8027670"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Carlito"/>
                <a:cs typeface="Carlito"/>
              </a:rPr>
              <a:t>J.</a:t>
            </a:r>
            <a:r>
              <a:rPr sz="1600" spc="-35" dirty="0">
                <a:latin typeface="Carlito"/>
                <a:cs typeface="Carlito"/>
              </a:rPr>
              <a:t> </a:t>
            </a:r>
            <a:r>
              <a:rPr sz="1600" dirty="0">
                <a:latin typeface="Carlito"/>
                <a:cs typeface="Carlito"/>
              </a:rPr>
              <a:t>Nielsen.</a:t>
            </a:r>
            <a:r>
              <a:rPr sz="1600" spc="-30" dirty="0">
                <a:latin typeface="Carlito"/>
                <a:cs typeface="Carlito"/>
              </a:rPr>
              <a:t> </a:t>
            </a:r>
            <a:r>
              <a:rPr sz="1600" dirty="0">
                <a:latin typeface="Carlito"/>
                <a:cs typeface="Carlito"/>
              </a:rPr>
              <a:t>“What</a:t>
            </a:r>
            <a:r>
              <a:rPr sz="1600" spc="-25" dirty="0">
                <a:latin typeface="Carlito"/>
                <a:cs typeface="Carlito"/>
              </a:rPr>
              <a:t> </a:t>
            </a:r>
            <a:r>
              <a:rPr sz="1600" dirty="0">
                <a:latin typeface="Carlito"/>
                <a:cs typeface="Carlito"/>
              </a:rPr>
              <a:t>is</a:t>
            </a:r>
            <a:r>
              <a:rPr sz="1600" spc="-30" dirty="0">
                <a:latin typeface="Carlito"/>
                <a:cs typeface="Carlito"/>
              </a:rPr>
              <a:t> </a:t>
            </a:r>
            <a:r>
              <a:rPr sz="1600" dirty="0">
                <a:latin typeface="Carlito"/>
                <a:cs typeface="Carlito"/>
              </a:rPr>
              <a:t>Usability”</a:t>
            </a:r>
            <a:r>
              <a:rPr sz="1600" spc="-20" dirty="0">
                <a:latin typeface="Carlito"/>
                <a:cs typeface="Carlito"/>
              </a:rPr>
              <a:t> </a:t>
            </a:r>
            <a:r>
              <a:rPr sz="1600" dirty="0">
                <a:latin typeface="Carlito"/>
                <a:cs typeface="Carlito"/>
              </a:rPr>
              <a:t>in</a:t>
            </a:r>
            <a:r>
              <a:rPr sz="1600" spc="-35" dirty="0">
                <a:latin typeface="Carlito"/>
                <a:cs typeface="Carlito"/>
              </a:rPr>
              <a:t> </a:t>
            </a:r>
            <a:r>
              <a:rPr sz="1600" dirty="0">
                <a:latin typeface="Carlito"/>
                <a:cs typeface="Carlito"/>
              </a:rPr>
              <a:t>Usability</a:t>
            </a:r>
            <a:r>
              <a:rPr sz="1600" spc="-25" dirty="0">
                <a:latin typeface="Carlito"/>
                <a:cs typeface="Carlito"/>
              </a:rPr>
              <a:t> </a:t>
            </a:r>
            <a:r>
              <a:rPr sz="1600" dirty="0">
                <a:latin typeface="Carlito"/>
                <a:cs typeface="Carlito"/>
              </a:rPr>
              <a:t>Engineering,</a:t>
            </a:r>
            <a:r>
              <a:rPr sz="1600" spc="-25" dirty="0">
                <a:latin typeface="Carlito"/>
                <a:cs typeface="Carlito"/>
              </a:rPr>
              <a:t> </a:t>
            </a:r>
            <a:r>
              <a:rPr sz="1600" dirty="0">
                <a:latin typeface="Carlito"/>
                <a:cs typeface="Carlito"/>
              </a:rPr>
              <a:t>An</a:t>
            </a:r>
            <a:r>
              <a:rPr sz="1600" spc="-35" dirty="0">
                <a:latin typeface="Carlito"/>
                <a:cs typeface="Carlito"/>
              </a:rPr>
              <a:t> </a:t>
            </a:r>
            <a:r>
              <a:rPr sz="1600" dirty="0">
                <a:latin typeface="Carlito"/>
                <a:cs typeface="Carlito"/>
              </a:rPr>
              <a:t>Imprint</a:t>
            </a:r>
            <a:r>
              <a:rPr sz="1600" spc="-25" dirty="0">
                <a:latin typeface="Carlito"/>
                <a:cs typeface="Carlito"/>
              </a:rPr>
              <a:t> </a:t>
            </a:r>
            <a:r>
              <a:rPr sz="1600" dirty="0">
                <a:latin typeface="Carlito"/>
                <a:cs typeface="Carlito"/>
              </a:rPr>
              <a:t>of</a:t>
            </a:r>
            <a:r>
              <a:rPr sz="1600" spc="-25" dirty="0">
                <a:latin typeface="Carlito"/>
                <a:cs typeface="Carlito"/>
              </a:rPr>
              <a:t> </a:t>
            </a:r>
            <a:r>
              <a:rPr sz="1600" dirty="0">
                <a:latin typeface="Carlito"/>
                <a:cs typeface="Carlito"/>
              </a:rPr>
              <a:t>Academic</a:t>
            </a:r>
            <a:r>
              <a:rPr sz="1600" spc="-35" dirty="0">
                <a:latin typeface="Carlito"/>
                <a:cs typeface="Carlito"/>
              </a:rPr>
              <a:t> </a:t>
            </a:r>
            <a:r>
              <a:rPr sz="1600" dirty="0">
                <a:latin typeface="Carlito"/>
                <a:cs typeface="Carlito"/>
              </a:rPr>
              <a:t>Press,</a:t>
            </a:r>
            <a:r>
              <a:rPr sz="1600" spc="-25" dirty="0">
                <a:latin typeface="Carlito"/>
                <a:cs typeface="Carlito"/>
              </a:rPr>
              <a:t> </a:t>
            </a:r>
            <a:r>
              <a:rPr sz="1600" dirty="0">
                <a:latin typeface="Carlito"/>
                <a:cs typeface="Carlito"/>
              </a:rPr>
              <a:t>1993,</a:t>
            </a:r>
            <a:r>
              <a:rPr sz="1600" spc="-25" dirty="0">
                <a:latin typeface="Carlito"/>
                <a:cs typeface="Carlito"/>
              </a:rPr>
              <a:t> </a:t>
            </a:r>
            <a:r>
              <a:rPr sz="1600" spc="-10" dirty="0">
                <a:latin typeface="Carlito"/>
                <a:cs typeface="Carlito"/>
              </a:rPr>
              <a:t>pp.26</a:t>
            </a:r>
            <a:endParaRPr sz="1600">
              <a:latin typeface="Carlito"/>
              <a:cs typeface="Carlito"/>
            </a:endParaRPr>
          </a:p>
        </p:txBody>
      </p:sp>
    </p:spTree>
    <p:extLst>
      <p:ext uri="{BB962C8B-B14F-4D97-AF65-F5344CB8AC3E}">
        <p14:creationId xmlns:p14="http://schemas.microsoft.com/office/powerpoint/2010/main" val="38620557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22788FE-B9B8-692F-C0F0-D8D7A7D3BC0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9416E2A-D7E7-C7CD-958C-5A6122040B3F}"/>
              </a:ext>
            </a:extLst>
          </p:cNvPr>
          <p:cNvSpPr>
            <a:spLocks noGrp="1"/>
          </p:cNvSpPr>
          <p:nvPr>
            <p:ph type="title"/>
          </p:nvPr>
        </p:nvSpPr>
        <p:spPr>
          <a:xfrm>
            <a:off x="1115568" y="548640"/>
            <a:ext cx="10168128" cy="1179576"/>
          </a:xfrm>
        </p:spPr>
        <p:txBody>
          <a:bodyPr>
            <a:normAutofit/>
          </a:bodyPr>
          <a:lstStyle/>
          <a:p>
            <a:r>
              <a:rPr lang="en-GB" sz="4000" dirty="0"/>
              <a:t>Key</a:t>
            </a:r>
            <a:r>
              <a:rPr lang="en-GB" sz="4000" spc="45" dirty="0"/>
              <a:t> </a:t>
            </a:r>
            <a:r>
              <a:rPr lang="en-GB" sz="4000" dirty="0"/>
              <a:t>Usability</a:t>
            </a:r>
            <a:r>
              <a:rPr lang="en-GB" sz="4000" spc="45" dirty="0"/>
              <a:t> </a:t>
            </a:r>
            <a:r>
              <a:rPr lang="en-GB" sz="4000" spc="-20" dirty="0"/>
              <a:t>Goals</a:t>
            </a:r>
            <a:endParaRPr lang="en-GB" sz="4000" dirty="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1498F769-0BBB-B29B-D291-6B99CF3B6578}"/>
              </a:ext>
            </a:extLst>
          </p:cNvPr>
          <p:cNvSpPr>
            <a:spLocks noGrp="1"/>
          </p:cNvSpPr>
          <p:nvPr>
            <p:ph idx="1"/>
          </p:nvPr>
        </p:nvSpPr>
        <p:spPr>
          <a:xfrm>
            <a:off x="1115568" y="2481943"/>
            <a:ext cx="10168128" cy="3695020"/>
          </a:xfrm>
        </p:spPr>
        <p:txBody>
          <a:bodyPr>
            <a:normAutofit/>
          </a:bodyPr>
          <a:lstStyle/>
          <a:p>
            <a:pPr marL="240029" indent="-227329">
              <a:lnSpc>
                <a:spcPct val="100000"/>
              </a:lnSpc>
              <a:spcBef>
                <a:spcPts val="820"/>
              </a:spcBef>
              <a:buFont typeface="Arial"/>
              <a:buChar char="•"/>
              <a:tabLst>
                <a:tab pos="240029" algn="l"/>
              </a:tabLst>
            </a:pPr>
            <a:r>
              <a:rPr lang="en-GB" spc="-10" dirty="0">
                <a:latin typeface="Carlito"/>
                <a:cs typeface="Carlito"/>
              </a:rPr>
              <a:t>Efficient</a:t>
            </a:r>
            <a:r>
              <a:rPr lang="en-GB" spc="-60" dirty="0">
                <a:latin typeface="Carlito"/>
                <a:cs typeface="Carlito"/>
              </a:rPr>
              <a:t> </a:t>
            </a:r>
            <a:r>
              <a:rPr lang="en-GB" dirty="0">
                <a:latin typeface="Carlito"/>
                <a:cs typeface="Carlito"/>
              </a:rPr>
              <a:t>to</a:t>
            </a:r>
            <a:r>
              <a:rPr lang="en-GB" spc="-60" dirty="0">
                <a:latin typeface="Carlito"/>
                <a:cs typeface="Carlito"/>
              </a:rPr>
              <a:t> </a:t>
            </a:r>
            <a:r>
              <a:rPr lang="en-GB" dirty="0">
                <a:latin typeface="Carlito"/>
                <a:cs typeface="Carlito"/>
              </a:rPr>
              <a:t>use</a:t>
            </a:r>
            <a:r>
              <a:rPr lang="en-GB" spc="-50" dirty="0">
                <a:latin typeface="Carlito"/>
                <a:cs typeface="Carlito"/>
              </a:rPr>
              <a:t> </a:t>
            </a:r>
            <a:r>
              <a:rPr lang="en-GB" spc="-10" dirty="0">
                <a:latin typeface="Carlito"/>
                <a:cs typeface="Carlito"/>
              </a:rPr>
              <a:t>[</a:t>
            </a:r>
            <a:r>
              <a:rPr lang="en-GB" b="1" i="1" spc="-10" dirty="0">
                <a:latin typeface="Carlito"/>
                <a:cs typeface="Carlito"/>
              </a:rPr>
              <a:t>efficiency</a:t>
            </a:r>
            <a:r>
              <a:rPr lang="en-GB" spc="-10" dirty="0">
                <a:latin typeface="Carlito"/>
                <a:cs typeface="Carlito"/>
              </a:rPr>
              <a:t>]</a:t>
            </a:r>
            <a:endParaRPr lang="en-GB" dirty="0">
              <a:latin typeface="Carlito"/>
              <a:cs typeface="Carlito"/>
            </a:endParaRPr>
          </a:p>
          <a:p>
            <a:pPr marL="240029" indent="-227329">
              <a:lnSpc>
                <a:spcPct val="100000"/>
              </a:lnSpc>
              <a:spcBef>
                <a:spcPts val="720"/>
              </a:spcBef>
              <a:buFont typeface="Arial"/>
              <a:buChar char="•"/>
              <a:tabLst>
                <a:tab pos="240029" algn="l"/>
              </a:tabLst>
            </a:pPr>
            <a:r>
              <a:rPr lang="en-GB" dirty="0">
                <a:latin typeface="Carlito"/>
                <a:cs typeface="Carlito"/>
              </a:rPr>
              <a:t>Safe</a:t>
            </a:r>
            <a:r>
              <a:rPr lang="en-GB" spc="-55" dirty="0">
                <a:latin typeface="Carlito"/>
                <a:cs typeface="Carlito"/>
              </a:rPr>
              <a:t> </a:t>
            </a:r>
            <a:r>
              <a:rPr lang="en-GB" dirty="0">
                <a:latin typeface="Carlito"/>
                <a:cs typeface="Carlito"/>
              </a:rPr>
              <a:t>to</a:t>
            </a:r>
            <a:r>
              <a:rPr lang="en-GB" spc="-65" dirty="0">
                <a:latin typeface="Carlito"/>
                <a:cs typeface="Carlito"/>
              </a:rPr>
              <a:t> </a:t>
            </a:r>
            <a:r>
              <a:rPr lang="en-GB" dirty="0">
                <a:latin typeface="Carlito"/>
                <a:cs typeface="Carlito"/>
              </a:rPr>
              <a:t>use</a:t>
            </a:r>
            <a:r>
              <a:rPr lang="en-GB" spc="-55" dirty="0">
                <a:latin typeface="Carlito"/>
                <a:cs typeface="Carlito"/>
              </a:rPr>
              <a:t> </a:t>
            </a:r>
            <a:r>
              <a:rPr lang="en-GB" spc="-10" dirty="0">
                <a:latin typeface="Carlito"/>
                <a:cs typeface="Carlito"/>
              </a:rPr>
              <a:t>[</a:t>
            </a:r>
            <a:r>
              <a:rPr lang="en-GB" b="1" i="1" spc="-10" dirty="0">
                <a:latin typeface="Carlito"/>
                <a:cs typeface="Carlito"/>
              </a:rPr>
              <a:t>safety</a:t>
            </a:r>
            <a:r>
              <a:rPr lang="en-GB" spc="-10" dirty="0">
                <a:latin typeface="Carlito"/>
                <a:cs typeface="Carlito"/>
              </a:rPr>
              <a:t>]</a:t>
            </a:r>
            <a:endParaRPr lang="en-GB" dirty="0">
              <a:latin typeface="Carlito"/>
              <a:cs typeface="Carlito"/>
            </a:endParaRPr>
          </a:p>
          <a:p>
            <a:pPr marL="240029" indent="-227329">
              <a:lnSpc>
                <a:spcPct val="100000"/>
              </a:lnSpc>
              <a:spcBef>
                <a:spcPts val="625"/>
              </a:spcBef>
              <a:buFont typeface="Arial"/>
              <a:buChar char="•"/>
              <a:tabLst>
                <a:tab pos="240029" algn="l"/>
              </a:tabLst>
            </a:pPr>
            <a:r>
              <a:rPr lang="en-GB" dirty="0">
                <a:latin typeface="Carlito"/>
                <a:cs typeface="Carlito"/>
              </a:rPr>
              <a:t>Easy</a:t>
            </a:r>
            <a:r>
              <a:rPr lang="en-GB" spc="-75" dirty="0">
                <a:latin typeface="Carlito"/>
                <a:cs typeface="Carlito"/>
              </a:rPr>
              <a:t> </a:t>
            </a:r>
            <a:r>
              <a:rPr lang="en-GB" dirty="0">
                <a:latin typeface="Carlito"/>
                <a:cs typeface="Carlito"/>
              </a:rPr>
              <a:t>to</a:t>
            </a:r>
            <a:r>
              <a:rPr lang="en-GB" spc="-75" dirty="0">
                <a:latin typeface="Carlito"/>
                <a:cs typeface="Carlito"/>
              </a:rPr>
              <a:t> </a:t>
            </a:r>
            <a:r>
              <a:rPr lang="en-GB" dirty="0">
                <a:latin typeface="Carlito"/>
                <a:cs typeface="Carlito"/>
              </a:rPr>
              <a:t>learn</a:t>
            </a:r>
            <a:r>
              <a:rPr lang="en-GB" spc="-70" dirty="0">
                <a:latin typeface="Carlito"/>
                <a:cs typeface="Carlito"/>
              </a:rPr>
              <a:t> </a:t>
            </a:r>
            <a:r>
              <a:rPr lang="en-GB" spc="-10" dirty="0">
                <a:latin typeface="Carlito"/>
                <a:cs typeface="Carlito"/>
              </a:rPr>
              <a:t>[</a:t>
            </a:r>
            <a:r>
              <a:rPr lang="en-GB" b="1" i="1" spc="-10" dirty="0">
                <a:latin typeface="Carlito"/>
                <a:cs typeface="Carlito"/>
              </a:rPr>
              <a:t>learnability</a:t>
            </a:r>
            <a:r>
              <a:rPr lang="en-GB" spc="-10" dirty="0">
                <a:latin typeface="Carlito"/>
                <a:cs typeface="Carlito"/>
              </a:rPr>
              <a:t>]</a:t>
            </a:r>
            <a:endParaRPr lang="en-GB" dirty="0">
              <a:latin typeface="Carlito"/>
              <a:cs typeface="Carlito"/>
            </a:endParaRPr>
          </a:p>
          <a:p>
            <a:pPr marL="240029" indent="-227329">
              <a:lnSpc>
                <a:spcPct val="100000"/>
              </a:lnSpc>
              <a:spcBef>
                <a:spcPts val="720"/>
              </a:spcBef>
              <a:buFont typeface="Arial"/>
              <a:buChar char="•"/>
              <a:tabLst>
                <a:tab pos="240029" algn="l"/>
              </a:tabLst>
            </a:pPr>
            <a:r>
              <a:rPr lang="en-GB" dirty="0">
                <a:latin typeface="Carlito"/>
                <a:cs typeface="Carlito"/>
              </a:rPr>
              <a:t>Easy</a:t>
            </a:r>
            <a:r>
              <a:rPr lang="en-GB" spc="-65" dirty="0">
                <a:latin typeface="Carlito"/>
                <a:cs typeface="Carlito"/>
              </a:rPr>
              <a:t> </a:t>
            </a:r>
            <a:r>
              <a:rPr lang="en-GB" dirty="0">
                <a:latin typeface="Carlito"/>
                <a:cs typeface="Carlito"/>
              </a:rPr>
              <a:t>to</a:t>
            </a:r>
            <a:r>
              <a:rPr lang="en-GB" spc="-65" dirty="0">
                <a:latin typeface="Carlito"/>
                <a:cs typeface="Carlito"/>
              </a:rPr>
              <a:t> </a:t>
            </a:r>
            <a:r>
              <a:rPr lang="en-GB" dirty="0">
                <a:latin typeface="Carlito"/>
                <a:cs typeface="Carlito"/>
              </a:rPr>
              <a:t>remember</a:t>
            </a:r>
            <a:r>
              <a:rPr lang="en-GB" spc="-60" dirty="0">
                <a:latin typeface="Carlito"/>
                <a:cs typeface="Carlito"/>
              </a:rPr>
              <a:t> </a:t>
            </a:r>
            <a:r>
              <a:rPr lang="en-GB" dirty="0">
                <a:latin typeface="Carlito"/>
                <a:cs typeface="Carlito"/>
              </a:rPr>
              <a:t>how</a:t>
            </a:r>
            <a:r>
              <a:rPr lang="en-GB" spc="-65" dirty="0">
                <a:latin typeface="Carlito"/>
                <a:cs typeface="Carlito"/>
              </a:rPr>
              <a:t> </a:t>
            </a:r>
            <a:r>
              <a:rPr lang="en-GB" dirty="0">
                <a:latin typeface="Carlito"/>
                <a:cs typeface="Carlito"/>
              </a:rPr>
              <a:t>to</a:t>
            </a:r>
            <a:r>
              <a:rPr lang="en-GB" spc="-65" dirty="0">
                <a:latin typeface="Carlito"/>
                <a:cs typeface="Carlito"/>
              </a:rPr>
              <a:t> </a:t>
            </a:r>
            <a:r>
              <a:rPr lang="en-GB" dirty="0">
                <a:latin typeface="Carlito"/>
                <a:cs typeface="Carlito"/>
              </a:rPr>
              <a:t>use</a:t>
            </a:r>
            <a:r>
              <a:rPr lang="en-GB" spc="-55" dirty="0">
                <a:latin typeface="Carlito"/>
                <a:cs typeface="Carlito"/>
              </a:rPr>
              <a:t> </a:t>
            </a:r>
            <a:r>
              <a:rPr lang="en-GB" spc="-10" dirty="0">
                <a:latin typeface="Carlito"/>
                <a:cs typeface="Carlito"/>
              </a:rPr>
              <a:t>[</a:t>
            </a:r>
            <a:r>
              <a:rPr lang="en-GB" b="1" i="1" spc="-10" dirty="0">
                <a:latin typeface="Carlito"/>
                <a:cs typeface="Carlito"/>
              </a:rPr>
              <a:t>memorability</a:t>
            </a:r>
            <a:r>
              <a:rPr lang="en-GB" spc="-10" dirty="0">
                <a:latin typeface="Carlito"/>
                <a:cs typeface="Carlito"/>
              </a:rPr>
              <a:t>]</a:t>
            </a:r>
            <a:endParaRPr lang="en-GB" dirty="0">
              <a:latin typeface="Carlito"/>
              <a:cs typeface="Carlito"/>
            </a:endParaRPr>
          </a:p>
          <a:p>
            <a:pPr marL="240029" indent="-227329">
              <a:lnSpc>
                <a:spcPct val="100000"/>
              </a:lnSpc>
              <a:spcBef>
                <a:spcPts val="720"/>
              </a:spcBef>
              <a:buFont typeface="Arial"/>
              <a:buChar char="•"/>
              <a:tabLst>
                <a:tab pos="240029" algn="l"/>
              </a:tabLst>
            </a:pPr>
            <a:r>
              <a:rPr lang="en-GB" dirty="0">
                <a:latin typeface="Carlito"/>
                <a:cs typeface="Carlito"/>
              </a:rPr>
              <a:t>How</a:t>
            </a:r>
            <a:r>
              <a:rPr lang="en-GB" spc="-60" dirty="0">
                <a:latin typeface="Carlito"/>
                <a:cs typeface="Carlito"/>
              </a:rPr>
              <a:t> </a:t>
            </a:r>
            <a:r>
              <a:rPr lang="en-GB" dirty="0">
                <a:latin typeface="Carlito"/>
                <a:cs typeface="Carlito"/>
              </a:rPr>
              <a:t>pleasant</a:t>
            </a:r>
            <a:r>
              <a:rPr lang="en-GB" spc="-60" dirty="0">
                <a:latin typeface="Carlito"/>
                <a:cs typeface="Carlito"/>
              </a:rPr>
              <a:t> </a:t>
            </a:r>
            <a:r>
              <a:rPr lang="en-GB" dirty="0">
                <a:latin typeface="Carlito"/>
                <a:cs typeface="Carlito"/>
              </a:rPr>
              <a:t>to</a:t>
            </a:r>
            <a:r>
              <a:rPr lang="en-GB" spc="-60" dirty="0">
                <a:latin typeface="Carlito"/>
                <a:cs typeface="Carlito"/>
              </a:rPr>
              <a:t> </a:t>
            </a:r>
            <a:r>
              <a:rPr lang="en-GB" dirty="0">
                <a:latin typeface="Carlito"/>
                <a:cs typeface="Carlito"/>
              </a:rPr>
              <a:t>use</a:t>
            </a:r>
            <a:r>
              <a:rPr lang="en-GB" spc="-50" dirty="0">
                <a:latin typeface="Carlito"/>
                <a:cs typeface="Carlito"/>
              </a:rPr>
              <a:t> </a:t>
            </a:r>
            <a:r>
              <a:rPr lang="en-GB" spc="-10" dirty="0">
                <a:latin typeface="Carlito"/>
                <a:cs typeface="Carlito"/>
              </a:rPr>
              <a:t>[</a:t>
            </a:r>
            <a:r>
              <a:rPr lang="en-GB" b="1" i="1" spc="-10" dirty="0">
                <a:latin typeface="Carlito"/>
                <a:cs typeface="Carlito"/>
              </a:rPr>
              <a:t>satisfaction</a:t>
            </a:r>
            <a:r>
              <a:rPr lang="en-GB" spc="-10" dirty="0">
                <a:latin typeface="Carlito"/>
                <a:cs typeface="Carlito"/>
              </a:rPr>
              <a:t>]</a:t>
            </a:r>
            <a:endParaRPr lang="en-GB" dirty="0">
              <a:latin typeface="Carlito"/>
              <a:cs typeface="Carlito"/>
            </a:endParaRPr>
          </a:p>
          <a:p>
            <a:pPr marL="0" indent="0">
              <a:buNone/>
            </a:pPr>
            <a:endParaRPr lang="en-GB" sz="2200" dirty="0"/>
          </a:p>
        </p:txBody>
      </p:sp>
    </p:spTree>
    <p:extLst>
      <p:ext uri="{BB962C8B-B14F-4D97-AF65-F5344CB8AC3E}">
        <p14:creationId xmlns:p14="http://schemas.microsoft.com/office/powerpoint/2010/main" val="22350057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0EACB09-E2D1-0571-F201-42C32E87364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5298EC2-A575-A70B-90DE-5737BFBC20E3}"/>
              </a:ext>
            </a:extLst>
          </p:cNvPr>
          <p:cNvSpPr>
            <a:spLocks noGrp="1"/>
          </p:cNvSpPr>
          <p:nvPr>
            <p:ph type="title"/>
          </p:nvPr>
        </p:nvSpPr>
        <p:spPr>
          <a:xfrm>
            <a:off x="1115568" y="548640"/>
            <a:ext cx="10168128" cy="1179576"/>
          </a:xfrm>
        </p:spPr>
        <p:txBody>
          <a:bodyPr>
            <a:normAutofit/>
          </a:bodyPr>
          <a:lstStyle/>
          <a:p>
            <a:r>
              <a:rPr lang="en-GB" sz="4000" spc="-25" dirty="0"/>
              <a:t>Key </a:t>
            </a:r>
            <a:r>
              <a:rPr lang="en-GB" sz="4000" spc="-10" dirty="0"/>
              <a:t>Usability Goals</a:t>
            </a:r>
            <a:endParaRPr lang="en-GB" sz="4000" dirty="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object 4">
            <a:extLst>
              <a:ext uri="{FF2B5EF4-FFF2-40B4-BE49-F238E27FC236}">
                <a16:creationId xmlns:a16="http://schemas.microsoft.com/office/drawing/2014/main" id="{3372FAFB-E7A1-20D2-32DD-CD3C01FDC80B}"/>
              </a:ext>
            </a:extLst>
          </p:cNvPr>
          <p:cNvSpPr txBox="1"/>
          <p:nvPr/>
        </p:nvSpPr>
        <p:spPr>
          <a:xfrm>
            <a:off x="1589371" y="2792951"/>
            <a:ext cx="3404660" cy="3162148"/>
          </a:xfrm>
          <a:prstGeom prst="rect">
            <a:avLst/>
          </a:prstGeom>
        </p:spPr>
        <p:txBody>
          <a:bodyPr vert="horz" wrap="square" lIns="0" tIns="41910" rIns="0" bIns="0" rtlCol="0">
            <a:spAutoFit/>
          </a:bodyPr>
          <a:lstStyle/>
          <a:p>
            <a:pPr marL="241300" marR="5080" indent="-228600">
              <a:lnSpc>
                <a:spcPct val="90300"/>
              </a:lnSpc>
              <a:spcBef>
                <a:spcPts val="330"/>
              </a:spcBef>
              <a:buFont typeface="Arial"/>
              <a:buChar char="•"/>
              <a:tabLst>
                <a:tab pos="241300" algn="l"/>
              </a:tabLst>
            </a:pPr>
            <a:r>
              <a:rPr sz="2400" b="1" i="1" dirty="0">
                <a:latin typeface="Carlito"/>
                <a:cs typeface="Carlito"/>
              </a:rPr>
              <a:t>Efficiency:</a:t>
            </a:r>
            <a:r>
              <a:rPr sz="2400" b="1" i="1" spc="-65" dirty="0">
                <a:latin typeface="Carlito"/>
                <a:cs typeface="Carlito"/>
              </a:rPr>
              <a:t> </a:t>
            </a:r>
            <a:r>
              <a:rPr sz="2400" dirty="0">
                <a:latin typeface="Carlito"/>
                <a:cs typeface="Carlito"/>
              </a:rPr>
              <a:t>how</a:t>
            </a:r>
            <a:r>
              <a:rPr sz="2400" spc="-70" dirty="0">
                <a:latin typeface="Carlito"/>
                <a:cs typeface="Carlito"/>
              </a:rPr>
              <a:t> </a:t>
            </a:r>
            <a:r>
              <a:rPr sz="2400" spc="-20" dirty="0">
                <a:latin typeface="Carlito"/>
                <a:cs typeface="Carlito"/>
              </a:rPr>
              <a:t>does </a:t>
            </a:r>
            <a:r>
              <a:rPr sz="2400" spc="-10" dirty="0">
                <a:latin typeface="Carlito"/>
                <a:cs typeface="Carlito"/>
              </a:rPr>
              <a:t>system</a:t>
            </a:r>
            <a:r>
              <a:rPr sz="2400" spc="-90" dirty="0">
                <a:latin typeface="Carlito"/>
                <a:cs typeface="Carlito"/>
              </a:rPr>
              <a:t> </a:t>
            </a:r>
            <a:r>
              <a:rPr sz="2400" spc="-10" dirty="0">
                <a:latin typeface="Carlito"/>
                <a:cs typeface="Carlito"/>
              </a:rPr>
              <a:t>support </a:t>
            </a:r>
            <a:r>
              <a:rPr sz="2400" dirty="0">
                <a:latin typeface="Carlito"/>
                <a:cs typeface="Carlito"/>
              </a:rPr>
              <a:t>users</a:t>
            </a:r>
            <a:r>
              <a:rPr sz="2400" spc="-45" dirty="0">
                <a:latin typeface="Carlito"/>
                <a:cs typeface="Carlito"/>
              </a:rPr>
              <a:t> </a:t>
            </a:r>
            <a:r>
              <a:rPr sz="2400" dirty="0">
                <a:latin typeface="Carlito"/>
                <a:cs typeface="Carlito"/>
              </a:rPr>
              <a:t>in</a:t>
            </a:r>
            <a:r>
              <a:rPr sz="2400" spc="-45" dirty="0">
                <a:latin typeface="Carlito"/>
                <a:cs typeface="Carlito"/>
              </a:rPr>
              <a:t> </a:t>
            </a:r>
            <a:r>
              <a:rPr sz="2400" spc="-20" dirty="0">
                <a:latin typeface="Carlito"/>
                <a:cs typeface="Carlito"/>
              </a:rPr>
              <a:t>task </a:t>
            </a:r>
            <a:r>
              <a:rPr sz="2400" spc="-10" dirty="0">
                <a:latin typeface="Carlito"/>
                <a:cs typeface="Carlito"/>
              </a:rPr>
              <a:t>completion?</a:t>
            </a:r>
            <a:r>
              <a:rPr lang="en-GB" sz="2400" spc="-10" dirty="0">
                <a:latin typeface="Carlito"/>
                <a:cs typeface="Carlito"/>
              </a:rPr>
              <a:t> Unwritten 3 click rule.</a:t>
            </a:r>
            <a:endParaRPr sz="2400" dirty="0">
              <a:latin typeface="Carlito"/>
              <a:cs typeface="Carlito"/>
            </a:endParaRPr>
          </a:p>
          <a:p>
            <a:pPr marL="241300" marR="112395" indent="-228600">
              <a:lnSpc>
                <a:spcPct val="89700"/>
              </a:lnSpc>
              <a:spcBef>
                <a:spcPts val="1040"/>
              </a:spcBef>
              <a:buFont typeface="Arial"/>
              <a:buChar char="•"/>
              <a:tabLst>
                <a:tab pos="241300" algn="l"/>
              </a:tabLst>
            </a:pPr>
            <a:r>
              <a:rPr sz="2400" b="1" i="1" dirty="0">
                <a:latin typeface="Carlito"/>
                <a:cs typeface="Carlito"/>
              </a:rPr>
              <a:t>Safety:</a:t>
            </a:r>
            <a:r>
              <a:rPr sz="2400" b="1" i="1" spc="-85" dirty="0">
                <a:latin typeface="Carlito"/>
                <a:cs typeface="Carlito"/>
              </a:rPr>
              <a:t> </a:t>
            </a:r>
            <a:r>
              <a:rPr sz="2400" spc="-10" dirty="0">
                <a:latin typeface="Carlito"/>
                <a:cs typeface="Carlito"/>
              </a:rPr>
              <a:t>protection </a:t>
            </a:r>
            <a:r>
              <a:rPr sz="2400" dirty="0">
                <a:latin typeface="Carlito"/>
                <a:cs typeface="Carlito"/>
              </a:rPr>
              <a:t>from</a:t>
            </a:r>
            <a:r>
              <a:rPr sz="2400" spc="-65" dirty="0">
                <a:latin typeface="Carlito"/>
                <a:cs typeface="Carlito"/>
              </a:rPr>
              <a:t> </a:t>
            </a:r>
            <a:r>
              <a:rPr sz="2400" spc="-10" dirty="0">
                <a:latin typeface="Carlito"/>
                <a:cs typeface="Carlito"/>
              </a:rPr>
              <a:t>dangerous conditions [</a:t>
            </a:r>
            <a:r>
              <a:rPr sz="2400" u="sng" spc="-10" dirty="0">
                <a:uFill>
                  <a:solidFill>
                    <a:srgbClr val="000000"/>
                  </a:solidFill>
                </a:uFill>
                <a:latin typeface="Carlito"/>
                <a:cs typeface="Carlito"/>
              </a:rPr>
              <a:t>ergonomic</a:t>
            </a:r>
            <a:r>
              <a:rPr sz="2400" u="none" spc="-10" dirty="0">
                <a:latin typeface="Carlito"/>
                <a:cs typeface="Carlito"/>
              </a:rPr>
              <a:t> </a:t>
            </a:r>
            <a:r>
              <a:rPr sz="2400" u="sng" dirty="0">
                <a:uFill>
                  <a:solidFill>
                    <a:srgbClr val="000000"/>
                  </a:solidFill>
                </a:uFill>
                <a:latin typeface="Carlito"/>
                <a:cs typeface="Carlito"/>
              </a:rPr>
              <a:t>concerns</a:t>
            </a:r>
            <a:r>
              <a:rPr sz="2400" u="none" dirty="0">
                <a:latin typeface="Carlito"/>
                <a:cs typeface="Carlito"/>
              </a:rPr>
              <a:t>]</a:t>
            </a:r>
            <a:r>
              <a:rPr sz="2400" u="none" spc="-95" dirty="0">
                <a:latin typeface="Carlito"/>
                <a:cs typeface="Carlito"/>
              </a:rPr>
              <a:t> </a:t>
            </a:r>
            <a:r>
              <a:rPr sz="2400" u="none" spc="-50" dirty="0">
                <a:latin typeface="Carlito"/>
                <a:cs typeface="Carlito"/>
              </a:rPr>
              <a:t>&amp; </a:t>
            </a:r>
            <a:r>
              <a:rPr sz="2400" u="none" spc="-10" dirty="0">
                <a:latin typeface="Carlito"/>
                <a:cs typeface="Carlito"/>
              </a:rPr>
              <a:t>undesirable</a:t>
            </a:r>
            <a:r>
              <a:rPr sz="2400" u="none" spc="-30" dirty="0">
                <a:latin typeface="Carlito"/>
                <a:cs typeface="Carlito"/>
              </a:rPr>
              <a:t> </a:t>
            </a:r>
            <a:r>
              <a:rPr sz="2400" u="none" spc="-10" dirty="0">
                <a:latin typeface="Carlito"/>
                <a:cs typeface="Carlito"/>
              </a:rPr>
              <a:t>actions </a:t>
            </a:r>
            <a:r>
              <a:rPr sz="2400" u="none" dirty="0">
                <a:latin typeface="Carlito"/>
                <a:cs typeface="Carlito"/>
              </a:rPr>
              <a:t>[</a:t>
            </a:r>
            <a:r>
              <a:rPr sz="2400" u="sng" dirty="0">
                <a:uFill>
                  <a:solidFill>
                    <a:srgbClr val="000000"/>
                  </a:solidFill>
                </a:uFill>
                <a:latin typeface="Carlito"/>
                <a:cs typeface="Carlito"/>
              </a:rPr>
              <a:t>error</a:t>
            </a:r>
            <a:r>
              <a:rPr sz="2400" u="sng" spc="-75" dirty="0">
                <a:uFill>
                  <a:solidFill>
                    <a:srgbClr val="000000"/>
                  </a:solidFill>
                </a:uFill>
                <a:latin typeface="Carlito"/>
                <a:cs typeface="Carlito"/>
              </a:rPr>
              <a:t> </a:t>
            </a:r>
            <a:r>
              <a:rPr sz="2400" u="sng" spc="-10" dirty="0">
                <a:uFill>
                  <a:solidFill>
                    <a:srgbClr val="000000"/>
                  </a:solidFill>
                </a:uFill>
                <a:latin typeface="Carlito"/>
                <a:cs typeface="Carlito"/>
              </a:rPr>
              <a:t>prevention</a:t>
            </a:r>
            <a:r>
              <a:rPr sz="2400" u="none" spc="-10" dirty="0">
                <a:latin typeface="Carlito"/>
                <a:cs typeface="Carlito"/>
              </a:rPr>
              <a:t>]</a:t>
            </a:r>
            <a:endParaRPr sz="2400" dirty="0">
              <a:latin typeface="Carlito"/>
              <a:cs typeface="Carlito"/>
            </a:endParaRPr>
          </a:p>
        </p:txBody>
      </p:sp>
      <p:sp>
        <p:nvSpPr>
          <p:cNvPr id="5" name="object 6">
            <a:extLst>
              <a:ext uri="{FF2B5EF4-FFF2-40B4-BE49-F238E27FC236}">
                <a16:creationId xmlns:a16="http://schemas.microsoft.com/office/drawing/2014/main" id="{CFE98853-3466-F102-70A6-C3901958788B}"/>
              </a:ext>
            </a:extLst>
          </p:cNvPr>
          <p:cNvSpPr txBox="1"/>
          <p:nvPr/>
        </p:nvSpPr>
        <p:spPr>
          <a:xfrm>
            <a:off x="6417436" y="2792951"/>
            <a:ext cx="3849238" cy="2868221"/>
          </a:xfrm>
          <a:prstGeom prst="rect">
            <a:avLst/>
          </a:prstGeom>
        </p:spPr>
        <p:txBody>
          <a:bodyPr vert="horz" wrap="square" lIns="0" tIns="41910" rIns="0" bIns="0" rtlCol="0">
            <a:spAutoFit/>
          </a:bodyPr>
          <a:lstStyle/>
          <a:p>
            <a:pPr marL="240665" marR="5080" indent="-228600">
              <a:lnSpc>
                <a:spcPct val="90300"/>
              </a:lnSpc>
              <a:spcBef>
                <a:spcPts val="330"/>
              </a:spcBef>
              <a:buFont typeface="Arial"/>
              <a:buChar char="•"/>
              <a:tabLst>
                <a:tab pos="240665" algn="l"/>
              </a:tabLst>
            </a:pPr>
            <a:r>
              <a:rPr lang="en-GB" sz="2400" b="1" i="1" dirty="0">
                <a:latin typeface="Carlito"/>
                <a:cs typeface="Carlito"/>
              </a:rPr>
              <a:t>Learnability</a:t>
            </a:r>
            <a:r>
              <a:rPr lang="en-GB" sz="2400" i="1" dirty="0">
                <a:latin typeface="Carlito"/>
                <a:cs typeface="Carlito"/>
              </a:rPr>
              <a:t>:</a:t>
            </a:r>
            <a:r>
              <a:rPr lang="en-GB" sz="2400" i="1" spc="-90" dirty="0">
                <a:latin typeface="Carlito"/>
                <a:cs typeface="Carlito"/>
              </a:rPr>
              <a:t> </a:t>
            </a:r>
            <a:r>
              <a:rPr lang="en-GB" sz="2400" spc="-25" dirty="0">
                <a:latin typeface="Carlito"/>
                <a:cs typeface="Carlito"/>
              </a:rPr>
              <a:t>how </a:t>
            </a:r>
            <a:r>
              <a:rPr lang="en-GB" sz="2400" dirty="0">
                <a:latin typeface="Carlito"/>
                <a:cs typeface="Carlito"/>
              </a:rPr>
              <a:t>easy</a:t>
            </a:r>
            <a:r>
              <a:rPr lang="en-GB" sz="2400" spc="-40" dirty="0">
                <a:latin typeface="Carlito"/>
                <a:cs typeface="Carlito"/>
              </a:rPr>
              <a:t> </a:t>
            </a:r>
            <a:r>
              <a:rPr lang="en-GB" sz="2400" dirty="0">
                <a:latin typeface="Carlito"/>
                <a:cs typeface="Carlito"/>
              </a:rPr>
              <a:t>to</a:t>
            </a:r>
            <a:r>
              <a:rPr lang="en-GB" sz="2400" spc="-40" dirty="0">
                <a:latin typeface="Carlito"/>
                <a:cs typeface="Carlito"/>
              </a:rPr>
              <a:t> </a:t>
            </a:r>
            <a:r>
              <a:rPr lang="en-GB" sz="2400" dirty="0">
                <a:latin typeface="Carlito"/>
                <a:cs typeface="Carlito"/>
              </a:rPr>
              <a:t>learn</a:t>
            </a:r>
            <a:r>
              <a:rPr lang="en-GB" sz="2400" spc="-35" dirty="0">
                <a:latin typeface="Carlito"/>
                <a:cs typeface="Carlito"/>
              </a:rPr>
              <a:t> </a:t>
            </a:r>
            <a:r>
              <a:rPr lang="en-GB" sz="2400" dirty="0">
                <a:latin typeface="Carlito"/>
                <a:cs typeface="Carlito"/>
              </a:rPr>
              <a:t>&amp;</a:t>
            </a:r>
            <a:r>
              <a:rPr lang="en-GB" sz="2400" spc="-35" dirty="0">
                <a:latin typeface="Carlito"/>
                <a:cs typeface="Carlito"/>
              </a:rPr>
              <a:t> </a:t>
            </a:r>
            <a:r>
              <a:rPr lang="en-GB" sz="2400" spc="-20" dirty="0">
                <a:latin typeface="Carlito"/>
                <a:cs typeface="Carlito"/>
              </a:rPr>
              <a:t>use?</a:t>
            </a:r>
            <a:endParaRPr lang="en-GB" sz="2400" b="1" i="1" spc="-10" dirty="0">
              <a:latin typeface="Carlito"/>
              <a:cs typeface="Carlito"/>
            </a:endParaRPr>
          </a:p>
          <a:p>
            <a:pPr marL="240665" marR="5080" indent="-228600">
              <a:lnSpc>
                <a:spcPct val="90300"/>
              </a:lnSpc>
              <a:spcBef>
                <a:spcPts val="330"/>
              </a:spcBef>
              <a:buFont typeface="Arial"/>
              <a:buChar char="•"/>
              <a:tabLst>
                <a:tab pos="240665" algn="l"/>
              </a:tabLst>
            </a:pPr>
            <a:r>
              <a:rPr sz="2400" b="1" i="1" spc="-10" dirty="0">
                <a:latin typeface="Carlito"/>
                <a:cs typeface="Carlito"/>
              </a:rPr>
              <a:t>Memorability: </a:t>
            </a:r>
            <a:r>
              <a:rPr sz="2400" dirty="0">
                <a:latin typeface="Carlito"/>
                <a:cs typeface="Carlito"/>
              </a:rPr>
              <a:t>how</a:t>
            </a:r>
            <a:r>
              <a:rPr sz="2400" spc="-40" dirty="0">
                <a:latin typeface="Carlito"/>
                <a:cs typeface="Carlito"/>
              </a:rPr>
              <a:t> </a:t>
            </a:r>
            <a:r>
              <a:rPr sz="2400" dirty="0">
                <a:latin typeface="Carlito"/>
                <a:cs typeface="Carlito"/>
              </a:rPr>
              <a:t>easy</a:t>
            </a:r>
            <a:r>
              <a:rPr sz="2400" spc="-35" dirty="0">
                <a:latin typeface="Carlito"/>
                <a:cs typeface="Carlito"/>
              </a:rPr>
              <a:t> </a:t>
            </a:r>
            <a:r>
              <a:rPr sz="2400" dirty="0">
                <a:latin typeface="Carlito"/>
                <a:cs typeface="Carlito"/>
              </a:rPr>
              <a:t>is</a:t>
            </a:r>
            <a:r>
              <a:rPr sz="2400" spc="-25" dirty="0">
                <a:latin typeface="Carlito"/>
                <a:cs typeface="Carlito"/>
              </a:rPr>
              <a:t> </a:t>
            </a:r>
            <a:r>
              <a:rPr sz="2400" dirty="0">
                <a:latin typeface="Carlito"/>
                <a:cs typeface="Carlito"/>
              </a:rPr>
              <a:t>it</a:t>
            </a:r>
            <a:r>
              <a:rPr sz="2400" spc="-30" dirty="0">
                <a:latin typeface="Carlito"/>
                <a:cs typeface="Carlito"/>
              </a:rPr>
              <a:t> </a:t>
            </a:r>
            <a:r>
              <a:rPr sz="2400" spc="-25" dirty="0">
                <a:latin typeface="Carlito"/>
                <a:cs typeface="Carlito"/>
              </a:rPr>
              <a:t>to </a:t>
            </a:r>
            <a:r>
              <a:rPr sz="2400" dirty="0">
                <a:latin typeface="Carlito"/>
                <a:cs typeface="Carlito"/>
              </a:rPr>
              <a:t>remember</a:t>
            </a:r>
            <a:r>
              <a:rPr sz="2400" spc="-70" dirty="0">
                <a:latin typeface="Carlito"/>
                <a:cs typeface="Carlito"/>
              </a:rPr>
              <a:t> </a:t>
            </a:r>
            <a:r>
              <a:rPr sz="2400" dirty="0">
                <a:latin typeface="Carlito"/>
                <a:cs typeface="Carlito"/>
              </a:rPr>
              <a:t>how</a:t>
            </a:r>
            <a:r>
              <a:rPr sz="2400" spc="-75" dirty="0">
                <a:latin typeface="Carlito"/>
                <a:cs typeface="Carlito"/>
              </a:rPr>
              <a:t> </a:t>
            </a:r>
            <a:r>
              <a:rPr sz="2400" spc="-25" dirty="0">
                <a:latin typeface="Carlito"/>
                <a:cs typeface="Carlito"/>
              </a:rPr>
              <a:t>to </a:t>
            </a:r>
            <a:r>
              <a:rPr sz="2400" dirty="0">
                <a:latin typeface="Carlito"/>
                <a:cs typeface="Carlito"/>
              </a:rPr>
              <a:t>use</a:t>
            </a:r>
            <a:r>
              <a:rPr sz="2400" spc="-35" dirty="0">
                <a:latin typeface="Carlito"/>
                <a:cs typeface="Carlito"/>
              </a:rPr>
              <a:t> </a:t>
            </a:r>
            <a:r>
              <a:rPr sz="2400" dirty="0">
                <a:latin typeface="Carlito"/>
                <a:cs typeface="Carlito"/>
              </a:rPr>
              <a:t>once</a:t>
            </a:r>
            <a:r>
              <a:rPr sz="2400" spc="-30" dirty="0">
                <a:latin typeface="Carlito"/>
                <a:cs typeface="Carlito"/>
              </a:rPr>
              <a:t> </a:t>
            </a:r>
            <a:r>
              <a:rPr sz="2400" spc="-10" dirty="0">
                <a:latin typeface="Carlito"/>
                <a:cs typeface="Carlito"/>
              </a:rPr>
              <a:t>learned?</a:t>
            </a:r>
            <a:endParaRPr sz="2400" dirty="0">
              <a:latin typeface="Carlito"/>
              <a:cs typeface="Carlito"/>
            </a:endParaRPr>
          </a:p>
          <a:p>
            <a:pPr marL="240665" marR="57150" indent="-228600">
              <a:lnSpc>
                <a:spcPct val="90300"/>
              </a:lnSpc>
              <a:spcBef>
                <a:spcPts val="1025"/>
              </a:spcBef>
              <a:buFont typeface="Arial"/>
              <a:buChar char="•"/>
              <a:tabLst>
                <a:tab pos="240665" algn="l"/>
              </a:tabLst>
            </a:pPr>
            <a:r>
              <a:rPr sz="2400" b="1" i="1" dirty="0">
                <a:latin typeface="Carlito"/>
                <a:cs typeface="Carlito"/>
              </a:rPr>
              <a:t>Satisfaction:</a:t>
            </a:r>
            <a:r>
              <a:rPr sz="2400" b="1" i="1" spc="-110" dirty="0">
                <a:latin typeface="Carlito"/>
                <a:cs typeface="Carlito"/>
              </a:rPr>
              <a:t> </a:t>
            </a:r>
            <a:r>
              <a:rPr sz="2400" spc="-25" dirty="0">
                <a:latin typeface="Carlito"/>
                <a:cs typeface="Carlito"/>
              </a:rPr>
              <a:t>How </a:t>
            </a:r>
            <a:r>
              <a:rPr sz="2400" dirty="0">
                <a:latin typeface="Carlito"/>
                <a:cs typeface="Carlito"/>
              </a:rPr>
              <a:t>much</a:t>
            </a:r>
            <a:r>
              <a:rPr sz="2400" spc="-65" dirty="0">
                <a:latin typeface="Carlito"/>
                <a:cs typeface="Carlito"/>
              </a:rPr>
              <a:t> </a:t>
            </a:r>
            <a:r>
              <a:rPr sz="2400" dirty="0">
                <a:latin typeface="Carlito"/>
                <a:cs typeface="Carlito"/>
              </a:rPr>
              <a:t>users</a:t>
            </a:r>
            <a:r>
              <a:rPr sz="2400" spc="-55" dirty="0">
                <a:latin typeface="Carlito"/>
                <a:cs typeface="Carlito"/>
              </a:rPr>
              <a:t> </a:t>
            </a:r>
            <a:r>
              <a:rPr sz="2400" spc="-20" dirty="0">
                <a:latin typeface="Carlito"/>
                <a:cs typeface="Carlito"/>
              </a:rPr>
              <a:t>find </a:t>
            </a:r>
            <a:r>
              <a:rPr sz="2400" dirty="0">
                <a:latin typeface="Carlito"/>
                <a:cs typeface="Carlito"/>
              </a:rPr>
              <a:t>the</a:t>
            </a:r>
            <a:r>
              <a:rPr sz="2400" spc="-25" dirty="0">
                <a:latin typeface="Carlito"/>
                <a:cs typeface="Carlito"/>
              </a:rPr>
              <a:t> </a:t>
            </a:r>
            <a:r>
              <a:rPr sz="2400" spc="-10" dirty="0">
                <a:latin typeface="Carlito"/>
                <a:cs typeface="Carlito"/>
              </a:rPr>
              <a:t>system appealing</a:t>
            </a:r>
            <a:endParaRPr sz="2400" dirty="0">
              <a:latin typeface="Carlito"/>
              <a:cs typeface="Carlito"/>
            </a:endParaRPr>
          </a:p>
        </p:txBody>
      </p:sp>
      <p:sp>
        <p:nvSpPr>
          <p:cNvPr id="6" name="object 5" descr="Line separating two sections">
            <a:extLst>
              <a:ext uri="{FF2B5EF4-FFF2-40B4-BE49-F238E27FC236}">
                <a16:creationId xmlns:a16="http://schemas.microsoft.com/office/drawing/2014/main" id="{2C57ED5E-C2A0-5A09-EAFA-97AECC38C873}"/>
              </a:ext>
            </a:extLst>
          </p:cNvPr>
          <p:cNvSpPr/>
          <p:nvPr/>
        </p:nvSpPr>
        <p:spPr>
          <a:xfrm>
            <a:off x="5441455" y="2810393"/>
            <a:ext cx="45719" cy="3256020"/>
          </a:xfrm>
          <a:custGeom>
            <a:avLst/>
            <a:gdLst/>
            <a:ahLst/>
            <a:cxnLst/>
            <a:rect l="l" t="t" r="r" b="b"/>
            <a:pathLst>
              <a:path h="3657600">
                <a:moveTo>
                  <a:pt x="0" y="0"/>
                </a:moveTo>
                <a:lnTo>
                  <a:pt x="1" y="3657602"/>
                </a:lnTo>
              </a:path>
            </a:pathLst>
          </a:custGeom>
          <a:ln w="12700">
            <a:solidFill>
              <a:srgbClr val="7F7F7F"/>
            </a:solidFill>
          </a:ln>
        </p:spPr>
        <p:txBody>
          <a:bodyPr wrap="square" lIns="0" tIns="0" rIns="0" bIns="0" rtlCol="0"/>
          <a:lstStyle/>
          <a:p>
            <a:pPr algn="l" rtl="0"/>
            <a:endParaRPr sz="4400" dirty="0"/>
          </a:p>
        </p:txBody>
      </p:sp>
    </p:spTree>
    <p:extLst>
      <p:ext uri="{BB962C8B-B14F-4D97-AF65-F5344CB8AC3E}">
        <p14:creationId xmlns:p14="http://schemas.microsoft.com/office/powerpoint/2010/main" val="17524275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19AD634-CCEC-C00E-BB54-DA2B53E3B50E}"/>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A38BB2-8186-F6F3-C557-5B366FE93B91}"/>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kern="1200" spc="-35">
                <a:solidFill>
                  <a:schemeClr val="tx1"/>
                </a:solidFill>
                <a:latin typeface="+mj-lt"/>
                <a:ea typeface="+mj-ea"/>
                <a:cs typeface="+mj-cs"/>
              </a:rPr>
              <a:t>Usability</a:t>
            </a:r>
            <a:endParaRPr lang="en-US" sz="4800" kern="1200">
              <a:solidFill>
                <a:schemeClr val="tx1"/>
              </a:solidFill>
              <a:latin typeface="+mj-lt"/>
              <a:ea typeface="+mj-ea"/>
              <a:cs typeface="+mj-cs"/>
            </a:endParaRPr>
          </a:p>
        </p:txBody>
      </p:sp>
      <p:sp>
        <p:nvSpPr>
          <p:cNvPr id="4" name="object 3">
            <a:extLst>
              <a:ext uri="{FF2B5EF4-FFF2-40B4-BE49-F238E27FC236}">
                <a16:creationId xmlns:a16="http://schemas.microsoft.com/office/drawing/2014/main" id="{6FEF6BE9-7420-8DA3-01EA-EB8B838166BA}"/>
              </a:ext>
            </a:extLst>
          </p:cNvPr>
          <p:cNvSpPr txBox="1"/>
          <p:nvPr/>
        </p:nvSpPr>
        <p:spPr>
          <a:xfrm>
            <a:off x="477981" y="4872922"/>
            <a:ext cx="3933306" cy="1208141"/>
          </a:xfrm>
          <a:prstGeom prst="rect">
            <a:avLst/>
          </a:prstGeom>
        </p:spPr>
        <p:txBody>
          <a:bodyPr vert="horz" lIns="91440" tIns="45720" rIns="91440" bIns="45720" rtlCol="0">
            <a:normAutofit/>
          </a:bodyPr>
          <a:lstStyle/>
          <a:p>
            <a:pPr>
              <a:lnSpc>
                <a:spcPct val="90000"/>
              </a:lnSpc>
              <a:spcBef>
                <a:spcPts val="1000"/>
              </a:spcBef>
            </a:pPr>
            <a:r>
              <a:rPr lang="en-US" sz="2000" kern="1200">
                <a:solidFill>
                  <a:schemeClr val="tx1"/>
                </a:solidFill>
                <a:latin typeface="+mn-lt"/>
                <a:ea typeface="+mn-ea"/>
                <a:cs typeface="+mn-cs"/>
              </a:rPr>
              <a:t>Image</a:t>
            </a:r>
            <a:r>
              <a:rPr lang="en-US" sz="2000" kern="1200" spc="-45">
                <a:solidFill>
                  <a:schemeClr val="tx1"/>
                </a:solidFill>
                <a:latin typeface="+mn-lt"/>
                <a:ea typeface="+mn-ea"/>
                <a:cs typeface="+mn-cs"/>
              </a:rPr>
              <a:t> </a:t>
            </a:r>
            <a:r>
              <a:rPr lang="en-US" sz="2000" kern="1200">
                <a:solidFill>
                  <a:schemeClr val="tx1"/>
                </a:solidFill>
                <a:latin typeface="+mn-lt"/>
                <a:ea typeface="+mn-ea"/>
                <a:cs typeface="+mn-cs"/>
              </a:rPr>
              <a:t>source:</a:t>
            </a:r>
            <a:r>
              <a:rPr lang="en-US" sz="2000" kern="1200" spc="-45">
                <a:solidFill>
                  <a:schemeClr val="tx1"/>
                </a:solidFill>
                <a:latin typeface="+mn-lt"/>
                <a:ea typeface="+mn-ea"/>
                <a:cs typeface="+mn-cs"/>
              </a:rPr>
              <a:t> </a:t>
            </a:r>
            <a:r>
              <a:rPr lang="en-US" sz="2000" u="sng" kern="1200" spc="-10">
                <a:solidFill>
                  <a:schemeClr val="tx1"/>
                </a:solidFill>
                <a:uFill>
                  <a:solidFill>
                    <a:srgbClr val="0563C1"/>
                  </a:solidFill>
                </a:uFill>
                <a:latin typeface="+mn-lt"/>
                <a:ea typeface="+mn-ea"/>
                <a:cs typeface="+mn-cs"/>
              </a:rPr>
              <a:t>image.slidesharecdn.com</a:t>
            </a:r>
            <a:endParaRPr lang="en-US" sz="2000" kern="1200">
              <a:solidFill>
                <a:schemeClr val="tx1"/>
              </a:solidFill>
              <a:latin typeface="+mn-lt"/>
              <a:ea typeface="+mn-ea"/>
              <a:cs typeface="+mn-cs"/>
            </a:endParaRPr>
          </a:p>
        </p:txBody>
      </p:sp>
      <p:sp>
        <p:nvSpPr>
          <p:cNvPr id="21" name="Rectangle 20">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5" name="object 4" descr="Usability Iceberg">
            <a:extLst>
              <a:ext uri="{FF2B5EF4-FFF2-40B4-BE49-F238E27FC236}">
                <a16:creationId xmlns:a16="http://schemas.microsoft.com/office/drawing/2014/main" id="{9F8C75EB-9DFE-78B7-DAE3-0D1BA747CF0F}"/>
              </a:ext>
            </a:extLst>
          </p:cNvPr>
          <p:cNvPicPr/>
          <p:nvPr/>
        </p:nvPicPr>
        <p:blipFill>
          <a:blip r:embed="rId2" cstate="print"/>
          <a:stretch>
            <a:fillRect/>
          </a:stretch>
        </p:blipFill>
        <p:spPr>
          <a:xfrm>
            <a:off x="4864608" y="783304"/>
            <a:ext cx="6846363" cy="5140137"/>
          </a:xfrm>
          <a:prstGeom prst="rect">
            <a:avLst/>
          </a:prstGeom>
        </p:spPr>
      </p:pic>
    </p:spTree>
    <p:extLst>
      <p:ext uri="{BB962C8B-B14F-4D97-AF65-F5344CB8AC3E}">
        <p14:creationId xmlns:p14="http://schemas.microsoft.com/office/powerpoint/2010/main" val="13783572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16AC063-F74B-BBAA-D27B-A66E9F04E31F}"/>
            </a:ext>
          </a:extLst>
        </p:cNvPr>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8BDA92-B3C1-6128-84BA-BDCD3272AC8B}"/>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6600" kern="1200" spc="-30" dirty="0">
                <a:solidFill>
                  <a:schemeClr val="tx1"/>
                </a:solidFill>
                <a:latin typeface="+mj-lt"/>
                <a:ea typeface="+mj-ea"/>
                <a:cs typeface="+mj-cs"/>
              </a:rPr>
              <a:t>Usability</a:t>
            </a:r>
            <a:r>
              <a:rPr lang="en-US" sz="6600" kern="1200" spc="-145" dirty="0">
                <a:solidFill>
                  <a:schemeClr val="tx1"/>
                </a:solidFill>
                <a:latin typeface="+mj-lt"/>
                <a:ea typeface="+mj-ea"/>
                <a:cs typeface="+mj-cs"/>
              </a:rPr>
              <a:t> </a:t>
            </a:r>
            <a:r>
              <a:rPr lang="en-US" sz="6600" kern="1200" dirty="0">
                <a:solidFill>
                  <a:schemeClr val="tx1"/>
                </a:solidFill>
                <a:latin typeface="+mj-lt"/>
                <a:ea typeface="+mj-ea"/>
                <a:cs typeface="+mj-cs"/>
              </a:rPr>
              <a:t>and</a:t>
            </a:r>
            <a:r>
              <a:rPr lang="en-US" sz="6600" kern="1200" spc="-135" dirty="0">
                <a:solidFill>
                  <a:schemeClr val="tx1"/>
                </a:solidFill>
                <a:latin typeface="+mj-lt"/>
                <a:ea typeface="+mj-ea"/>
                <a:cs typeface="+mj-cs"/>
              </a:rPr>
              <a:t> </a:t>
            </a:r>
            <a:r>
              <a:rPr lang="en-US" sz="6600" kern="1200" dirty="0">
                <a:solidFill>
                  <a:schemeClr val="tx1"/>
                </a:solidFill>
                <a:latin typeface="+mj-lt"/>
                <a:ea typeface="+mj-ea"/>
                <a:cs typeface="+mj-cs"/>
              </a:rPr>
              <a:t>the</a:t>
            </a:r>
            <a:r>
              <a:rPr lang="en-US" sz="6600" kern="1200" spc="-135" dirty="0">
                <a:solidFill>
                  <a:schemeClr val="tx1"/>
                </a:solidFill>
                <a:latin typeface="+mj-lt"/>
                <a:ea typeface="+mj-ea"/>
                <a:cs typeface="+mj-cs"/>
              </a:rPr>
              <a:t> </a:t>
            </a:r>
            <a:r>
              <a:rPr lang="en-US" sz="6600" kern="1200" spc="-25" dirty="0">
                <a:solidFill>
                  <a:schemeClr val="tx1"/>
                </a:solidFill>
                <a:latin typeface="+mj-lt"/>
                <a:ea typeface="+mj-ea"/>
                <a:cs typeface="+mj-cs"/>
              </a:rPr>
              <a:t>UX</a:t>
            </a:r>
            <a:endParaRPr lang="en-US" sz="6600" kern="1200" dirty="0">
              <a:solidFill>
                <a:schemeClr val="tx1"/>
              </a:solidFill>
              <a:latin typeface="+mj-lt"/>
              <a:ea typeface="+mj-ea"/>
              <a:cs typeface="+mj-cs"/>
            </a:endParaRPr>
          </a:p>
        </p:txBody>
      </p:sp>
      <p:sp>
        <p:nvSpPr>
          <p:cNvPr id="4" name="object 3">
            <a:extLst>
              <a:ext uri="{FF2B5EF4-FFF2-40B4-BE49-F238E27FC236}">
                <a16:creationId xmlns:a16="http://schemas.microsoft.com/office/drawing/2014/main" id="{6134E811-208A-3181-7EC1-741F7E3BADF3}"/>
              </a:ext>
            </a:extLst>
          </p:cNvPr>
          <p:cNvSpPr txBox="1"/>
          <p:nvPr/>
        </p:nvSpPr>
        <p:spPr>
          <a:xfrm>
            <a:off x="638881" y="1809541"/>
            <a:ext cx="10909643" cy="687406"/>
          </a:xfrm>
          <a:prstGeom prst="rect">
            <a:avLst/>
          </a:prstGeom>
        </p:spPr>
        <p:txBody>
          <a:bodyPr vert="horz" lIns="91440" tIns="45720" rIns="91440" bIns="45720" rtlCol="0" anchor="ctr">
            <a:normAutofit/>
          </a:bodyPr>
          <a:lstStyle/>
          <a:p>
            <a:pPr algn="ctr">
              <a:lnSpc>
                <a:spcPct val="90000"/>
              </a:lnSpc>
              <a:spcBef>
                <a:spcPts val="1000"/>
              </a:spcBef>
            </a:pPr>
            <a:r>
              <a:rPr lang="en-US" sz="2400" kern="1200">
                <a:solidFill>
                  <a:schemeClr val="tx1"/>
                </a:solidFill>
                <a:latin typeface="+mn-lt"/>
                <a:ea typeface="+mn-ea"/>
                <a:cs typeface="+mn-cs"/>
              </a:rPr>
              <a:t>Image</a:t>
            </a:r>
            <a:r>
              <a:rPr lang="en-US" sz="2400" kern="1200" spc="-50">
                <a:solidFill>
                  <a:schemeClr val="tx1"/>
                </a:solidFill>
                <a:latin typeface="+mn-lt"/>
                <a:ea typeface="+mn-ea"/>
                <a:cs typeface="+mn-cs"/>
              </a:rPr>
              <a:t> </a:t>
            </a:r>
            <a:r>
              <a:rPr lang="en-US" sz="2400" kern="1200">
                <a:solidFill>
                  <a:schemeClr val="tx1"/>
                </a:solidFill>
                <a:latin typeface="+mn-lt"/>
                <a:ea typeface="+mn-ea"/>
                <a:cs typeface="+mn-cs"/>
              </a:rPr>
              <a:t>source:</a:t>
            </a:r>
            <a:r>
              <a:rPr lang="en-US" sz="2400" kern="1200" spc="-60">
                <a:solidFill>
                  <a:schemeClr val="tx1"/>
                </a:solidFill>
                <a:latin typeface="+mn-lt"/>
                <a:ea typeface="+mn-ea"/>
                <a:cs typeface="+mn-cs"/>
              </a:rPr>
              <a:t> </a:t>
            </a:r>
            <a:r>
              <a:rPr lang="en-US" sz="2400" u="sng" kern="1200" spc="-10">
                <a:solidFill>
                  <a:schemeClr val="tx1"/>
                </a:solidFill>
                <a:uFill>
                  <a:solidFill>
                    <a:srgbClr val="0563C1"/>
                  </a:solidFill>
                </a:uFill>
                <a:latin typeface="+mn-lt"/>
                <a:ea typeface="+mn-ea"/>
                <a:cs typeface="+mn-cs"/>
              </a:rPr>
              <a:t>tobiasandtobias.com</a:t>
            </a:r>
            <a:endParaRPr lang="en-US" sz="2400" kern="1200">
              <a:solidFill>
                <a:schemeClr val="tx1"/>
              </a:solidFill>
              <a:latin typeface="+mn-lt"/>
              <a:ea typeface="+mn-ea"/>
              <a:cs typeface="+mn-cs"/>
            </a:endParaRPr>
          </a:p>
        </p:txBody>
      </p:sp>
      <p:sp>
        <p:nvSpPr>
          <p:cNvPr id="30"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onnsiteX0" fmla="*/ 0 w 4572000"/>
              <a:gd name="connsiteY0" fmla="*/ 0 h 18288"/>
              <a:gd name="connsiteX1" fmla="*/ 515983 w 4572000"/>
              <a:gd name="connsiteY1" fmla="*/ 0 h 18288"/>
              <a:gd name="connsiteX2" fmla="*/ 1031966 w 4572000"/>
              <a:gd name="connsiteY2" fmla="*/ 0 h 18288"/>
              <a:gd name="connsiteX3" fmla="*/ 1639389 w 4572000"/>
              <a:gd name="connsiteY3" fmla="*/ 0 h 18288"/>
              <a:gd name="connsiteX4" fmla="*/ 2383971 w 4572000"/>
              <a:gd name="connsiteY4" fmla="*/ 0 h 18288"/>
              <a:gd name="connsiteX5" fmla="*/ 2945674 w 4572000"/>
              <a:gd name="connsiteY5" fmla="*/ 0 h 18288"/>
              <a:gd name="connsiteX6" fmla="*/ 3507377 w 4572000"/>
              <a:gd name="connsiteY6" fmla="*/ 0 h 18288"/>
              <a:gd name="connsiteX7" fmla="*/ 4572000 w 4572000"/>
              <a:gd name="connsiteY7" fmla="*/ 0 h 18288"/>
              <a:gd name="connsiteX8" fmla="*/ 4572000 w 4572000"/>
              <a:gd name="connsiteY8" fmla="*/ 18288 h 18288"/>
              <a:gd name="connsiteX9" fmla="*/ 3873137 w 4572000"/>
              <a:gd name="connsiteY9" fmla="*/ 18288 h 18288"/>
              <a:gd name="connsiteX10" fmla="*/ 3311434 w 4572000"/>
              <a:gd name="connsiteY10" fmla="*/ 18288 h 18288"/>
              <a:gd name="connsiteX11" fmla="*/ 2749731 w 4572000"/>
              <a:gd name="connsiteY11" fmla="*/ 18288 h 18288"/>
              <a:gd name="connsiteX12" fmla="*/ 2050869 w 4572000"/>
              <a:gd name="connsiteY12" fmla="*/ 18288 h 18288"/>
              <a:gd name="connsiteX13" fmla="*/ 1306286 w 4572000"/>
              <a:gd name="connsiteY13" fmla="*/ 18288 h 18288"/>
              <a:gd name="connsiteX14" fmla="*/ 790303 w 4572000"/>
              <a:gd name="connsiteY14" fmla="*/ 18288 h 18288"/>
              <a:gd name="connsiteX15" fmla="*/ 0 w 4572000"/>
              <a:gd name="connsiteY15" fmla="*/ 18288 h 18288"/>
              <a:gd name="connsiteX16" fmla="*/ 0 w 45720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object 4" descr="Usability and the UX">
            <a:extLst>
              <a:ext uri="{FF2B5EF4-FFF2-40B4-BE49-F238E27FC236}">
                <a16:creationId xmlns:a16="http://schemas.microsoft.com/office/drawing/2014/main" id="{2F14B4B7-E8B8-9FF1-05D9-3AE8E409A183}"/>
              </a:ext>
            </a:extLst>
          </p:cNvPr>
          <p:cNvPicPr/>
          <p:nvPr/>
        </p:nvPicPr>
        <p:blipFill>
          <a:blip r:embed="rId2" cstate="print"/>
          <a:stretch>
            <a:fillRect/>
          </a:stretch>
        </p:blipFill>
        <p:spPr>
          <a:xfrm>
            <a:off x="1170826" y="2639518"/>
            <a:ext cx="9845749" cy="3943477"/>
          </a:xfrm>
          <a:prstGeom prst="rect">
            <a:avLst/>
          </a:prstGeom>
        </p:spPr>
      </p:pic>
    </p:spTree>
    <p:extLst>
      <p:ext uri="{BB962C8B-B14F-4D97-AF65-F5344CB8AC3E}">
        <p14:creationId xmlns:p14="http://schemas.microsoft.com/office/powerpoint/2010/main" val="22720219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6D4898-6F50-0F46-3ADB-95AC67183EF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65A1278-4307-5682-812A-5789653A0F3B}"/>
              </a:ext>
            </a:extLst>
          </p:cNvPr>
          <p:cNvSpPr>
            <a:spLocks noGrp="1"/>
          </p:cNvSpPr>
          <p:nvPr>
            <p:ph type="title"/>
          </p:nvPr>
        </p:nvSpPr>
        <p:spPr>
          <a:xfrm>
            <a:off x="1115568" y="548640"/>
            <a:ext cx="10168128" cy="1179576"/>
          </a:xfrm>
        </p:spPr>
        <p:txBody>
          <a:bodyPr>
            <a:normAutofit/>
          </a:bodyPr>
          <a:lstStyle/>
          <a:p>
            <a:r>
              <a:rPr lang="en-GB" sz="4000" spc="-10" dirty="0"/>
              <a:t>Accessibility</a:t>
            </a:r>
            <a:endParaRPr lang="en-GB" sz="4000" dirty="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15BEBDB4-1D2B-308F-59AC-2B87589276AA}"/>
              </a:ext>
            </a:extLst>
          </p:cNvPr>
          <p:cNvSpPr>
            <a:spLocks noGrp="1"/>
          </p:cNvSpPr>
          <p:nvPr>
            <p:ph idx="1"/>
          </p:nvPr>
        </p:nvSpPr>
        <p:spPr>
          <a:xfrm>
            <a:off x="1115568" y="2481943"/>
            <a:ext cx="10168128" cy="3695020"/>
          </a:xfrm>
        </p:spPr>
        <p:txBody>
          <a:bodyPr>
            <a:noAutofit/>
          </a:bodyPr>
          <a:lstStyle/>
          <a:p>
            <a:pPr marL="12700" marR="5080">
              <a:lnSpc>
                <a:spcPts val="2620"/>
              </a:lnSpc>
              <a:spcBef>
                <a:spcPts val="405"/>
              </a:spcBef>
            </a:pPr>
            <a:r>
              <a:rPr lang="en-GB" dirty="0">
                <a:latin typeface="Carlito"/>
                <a:cs typeface="Carlito"/>
              </a:rPr>
              <a:t>Web</a:t>
            </a:r>
            <a:r>
              <a:rPr lang="en-GB" spc="-65" dirty="0">
                <a:latin typeface="Carlito"/>
                <a:cs typeface="Carlito"/>
              </a:rPr>
              <a:t> </a:t>
            </a:r>
            <a:r>
              <a:rPr lang="en-GB" dirty="0">
                <a:latin typeface="Carlito"/>
                <a:cs typeface="Carlito"/>
              </a:rPr>
              <a:t>accessibility</a:t>
            </a:r>
            <a:r>
              <a:rPr lang="en-GB" spc="-65" dirty="0">
                <a:latin typeface="Carlito"/>
                <a:cs typeface="Carlito"/>
              </a:rPr>
              <a:t> often </a:t>
            </a:r>
            <a:r>
              <a:rPr lang="en-GB" dirty="0">
                <a:latin typeface="Carlito"/>
                <a:cs typeface="Carlito"/>
              </a:rPr>
              <a:t>means</a:t>
            </a:r>
            <a:r>
              <a:rPr lang="en-GB" spc="-55" dirty="0">
                <a:latin typeface="Carlito"/>
                <a:cs typeface="Carlito"/>
              </a:rPr>
              <a:t> </a:t>
            </a:r>
            <a:r>
              <a:rPr lang="en-GB" dirty="0">
                <a:latin typeface="Carlito"/>
                <a:cs typeface="Carlito"/>
              </a:rPr>
              <a:t>that</a:t>
            </a:r>
            <a:r>
              <a:rPr lang="en-GB" spc="-55" dirty="0">
                <a:latin typeface="Carlito"/>
                <a:cs typeface="Carlito"/>
              </a:rPr>
              <a:t> </a:t>
            </a:r>
            <a:r>
              <a:rPr lang="en-GB" dirty="0">
                <a:latin typeface="Carlito"/>
                <a:cs typeface="Carlito"/>
              </a:rPr>
              <a:t>people</a:t>
            </a:r>
            <a:r>
              <a:rPr lang="en-GB" spc="-60" dirty="0">
                <a:latin typeface="Carlito"/>
                <a:cs typeface="Carlito"/>
              </a:rPr>
              <a:t> </a:t>
            </a:r>
            <a:r>
              <a:rPr lang="en-GB" dirty="0">
                <a:latin typeface="Carlito"/>
                <a:cs typeface="Carlito"/>
              </a:rPr>
              <a:t>with</a:t>
            </a:r>
            <a:r>
              <a:rPr lang="en-GB" spc="-65" dirty="0">
                <a:latin typeface="Carlito"/>
                <a:cs typeface="Carlito"/>
              </a:rPr>
              <a:t> </a:t>
            </a:r>
            <a:r>
              <a:rPr lang="en-GB" dirty="0">
                <a:latin typeface="Carlito"/>
                <a:cs typeface="Carlito"/>
              </a:rPr>
              <a:t>disabilities</a:t>
            </a:r>
            <a:r>
              <a:rPr lang="en-GB" spc="-55" dirty="0">
                <a:latin typeface="Carlito"/>
                <a:cs typeface="Carlito"/>
              </a:rPr>
              <a:t> </a:t>
            </a:r>
            <a:r>
              <a:rPr lang="en-GB" dirty="0">
                <a:latin typeface="Carlito"/>
                <a:cs typeface="Carlito"/>
              </a:rPr>
              <a:t>can</a:t>
            </a:r>
            <a:r>
              <a:rPr lang="en-GB" spc="-65" dirty="0">
                <a:latin typeface="Carlito"/>
                <a:cs typeface="Carlito"/>
              </a:rPr>
              <a:t> </a:t>
            </a:r>
            <a:r>
              <a:rPr lang="en-GB" spc="-25" dirty="0">
                <a:latin typeface="Carlito"/>
                <a:cs typeface="Carlito"/>
              </a:rPr>
              <a:t>use </a:t>
            </a:r>
            <a:r>
              <a:rPr lang="en-GB" dirty="0">
                <a:latin typeface="Carlito"/>
                <a:cs typeface="Carlito"/>
              </a:rPr>
              <a:t>the</a:t>
            </a:r>
            <a:r>
              <a:rPr lang="en-GB" spc="-40" dirty="0">
                <a:latin typeface="Carlito"/>
                <a:cs typeface="Carlito"/>
              </a:rPr>
              <a:t> </a:t>
            </a:r>
            <a:r>
              <a:rPr lang="en-GB" spc="-20" dirty="0">
                <a:latin typeface="Carlito"/>
                <a:cs typeface="Carlito"/>
              </a:rPr>
              <a:t>Web.</a:t>
            </a:r>
            <a:endParaRPr lang="en-GB" dirty="0">
              <a:latin typeface="Carlito"/>
              <a:cs typeface="Carlito"/>
            </a:endParaRPr>
          </a:p>
          <a:p>
            <a:pPr marL="12700" marR="254635">
              <a:lnSpc>
                <a:spcPct val="90400"/>
              </a:lnSpc>
            </a:pPr>
            <a:r>
              <a:rPr lang="en-GB" dirty="0">
                <a:latin typeface="Carlito"/>
                <a:cs typeface="Carlito"/>
              </a:rPr>
              <a:t>More</a:t>
            </a:r>
            <a:r>
              <a:rPr lang="en-GB" spc="-60" dirty="0">
                <a:latin typeface="Carlito"/>
                <a:cs typeface="Carlito"/>
              </a:rPr>
              <a:t> </a:t>
            </a:r>
            <a:r>
              <a:rPr lang="en-GB" spc="-20" dirty="0">
                <a:latin typeface="Carlito"/>
                <a:cs typeface="Carlito"/>
              </a:rPr>
              <a:t>specifically,</a:t>
            </a:r>
            <a:r>
              <a:rPr lang="en-GB" spc="-65" dirty="0">
                <a:latin typeface="Carlito"/>
                <a:cs typeface="Carlito"/>
              </a:rPr>
              <a:t> </a:t>
            </a:r>
            <a:r>
              <a:rPr lang="en-GB" spc="-10" dirty="0">
                <a:latin typeface="Carlito"/>
                <a:cs typeface="Carlito"/>
              </a:rPr>
              <a:t>Web</a:t>
            </a:r>
            <a:r>
              <a:rPr lang="en-GB" spc="-65" dirty="0">
                <a:latin typeface="Carlito"/>
                <a:cs typeface="Carlito"/>
              </a:rPr>
              <a:t> </a:t>
            </a:r>
            <a:r>
              <a:rPr lang="en-GB" dirty="0">
                <a:latin typeface="Carlito"/>
                <a:cs typeface="Carlito"/>
              </a:rPr>
              <a:t>accessibility</a:t>
            </a:r>
            <a:r>
              <a:rPr lang="en-GB" spc="-65" dirty="0">
                <a:latin typeface="Carlito"/>
                <a:cs typeface="Carlito"/>
              </a:rPr>
              <a:t> </a:t>
            </a:r>
            <a:r>
              <a:rPr lang="en-GB" dirty="0">
                <a:latin typeface="Carlito"/>
                <a:cs typeface="Carlito"/>
              </a:rPr>
              <a:t>means</a:t>
            </a:r>
            <a:r>
              <a:rPr lang="en-GB" spc="-70" dirty="0">
                <a:latin typeface="Carlito"/>
                <a:cs typeface="Carlito"/>
              </a:rPr>
              <a:t> </a:t>
            </a:r>
            <a:r>
              <a:rPr lang="en-GB" dirty="0">
                <a:latin typeface="Carlito"/>
                <a:cs typeface="Carlito"/>
              </a:rPr>
              <a:t>that</a:t>
            </a:r>
            <a:r>
              <a:rPr lang="en-GB" spc="-65" dirty="0">
                <a:latin typeface="Carlito"/>
                <a:cs typeface="Carlito"/>
              </a:rPr>
              <a:t> </a:t>
            </a:r>
            <a:r>
              <a:rPr lang="en-GB" dirty="0">
                <a:latin typeface="Carlito"/>
                <a:cs typeface="Carlito"/>
              </a:rPr>
              <a:t>people</a:t>
            </a:r>
            <a:r>
              <a:rPr lang="en-GB" spc="-60" dirty="0">
                <a:latin typeface="Carlito"/>
                <a:cs typeface="Carlito"/>
              </a:rPr>
              <a:t> </a:t>
            </a:r>
            <a:r>
              <a:rPr lang="en-GB" spc="-20" dirty="0">
                <a:latin typeface="Carlito"/>
                <a:cs typeface="Carlito"/>
              </a:rPr>
              <a:t>with </a:t>
            </a:r>
            <a:r>
              <a:rPr lang="en-GB" dirty="0">
                <a:latin typeface="Carlito"/>
                <a:cs typeface="Carlito"/>
              </a:rPr>
              <a:t>disabilities</a:t>
            </a:r>
            <a:r>
              <a:rPr lang="en-GB" spc="-70" dirty="0">
                <a:latin typeface="Carlito"/>
                <a:cs typeface="Carlito"/>
              </a:rPr>
              <a:t> </a:t>
            </a:r>
            <a:r>
              <a:rPr lang="en-GB" dirty="0">
                <a:latin typeface="Carlito"/>
                <a:cs typeface="Carlito"/>
              </a:rPr>
              <a:t>can</a:t>
            </a:r>
            <a:r>
              <a:rPr lang="en-GB" spc="-55" dirty="0">
                <a:latin typeface="Carlito"/>
                <a:cs typeface="Carlito"/>
              </a:rPr>
              <a:t> </a:t>
            </a:r>
            <a:r>
              <a:rPr lang="en-GB" b="1" i="1" dirty="0">
                <a:latin typeface="Carlito"/>
                <a:cs typeface="Carlito"/>
              </a:rPr>
              <a:t>perceive</a:t>
            </a:r>
            <a:r>
              <a:rPr lang="en-GB" dirty="0">
                <a:latin typeface="Carlito"/>
                <a:cs typeface="Carlito"/>
              </a:rPr>
              <a:t>,</a:t>
            </a:r>
            <a:r>
              <a:rPr lang="en-GB" spc="-65" dirty="0">
                <a:latin typeface="Carlito"/>
                <a:cs typeface="Carlito"/>
              </a:rPr>
              <a:t> </a:t>
            </a:r>
            <a:r>
              <a:rPr lang="en-GB" b="1" i="1" spc="-10" dirty="0">
                <a:latin typeface="Carlito"/>
                <a:cs typeface="Carlito"/>
              </a:rPr>
              <a:t>understand</a:t>
            </a:r>
            <a:r>
              <a:rPr lang="en-GB" spc="-10" dirty="0">
                <a:latin typeface="Carlito"/>
                <a:cs typeface="Carlito"/>
              </a:rPr>
              <a:t>,</a:t>
            </a:r>
            <a:r>
              <a:rPr lang="en-GB" spc="-60" dirty="0">
                <a:latin typeface="Carlito"/>
                <a:cs typeface="Carlito"/>
              </a:rPr>
              <a:t> </a:t>
            </a:r>
            <a:r>
              <a:rPr lang="en-GB" b="1" i="1" dirty="0">
                <a:latin typeface="Carlito"/>
                <a:cs typeface="Carlito"/>
              </a:rPr>
              <a:t>navigate</a:t>
            </a:r>
            <a:r>
              <a:rPr lang="en-GB" dirty="0">
                <a:latin typeface="Carlito"/>
                <a:cs typeface="Carlito"/>
              </a:rPr>
              <a:t>,</a:t>
            </a:r>
            <a:r>
              <a:rPr lang="en-GB" spc="-65" dirty="0">
                <a:latin typeface="Carlito"/>
                <a:cs typeface="Carlito"/>
              </a:rPr>
              <a:t> </a:t>
            </a:r>
            <a:r>
              <a:rPr lang="en-GB" dirty="0">
                <a:latin typeface="Carlito"/>
                <a:cs typeface="Carlito"/>
              </a:rPr>
              <a:t>and</a:t>
            </a:r>
            <a:r>
              <a:rPr lang="en-GB" spc="-60" dirty="0">
                <a:latin typeface="Carlito"/>
                <a:cs typeface="Carlito"/>
              </a:rPr>
              <a:t> </a:t>
            </a:r>
            <a:r>
              <a:rPr lang="en-GB" b="1" i="1" spc="-10" dirty="0">
                <a:latin typeface="Carlito"/>
                <a:cs typeface="Carlito"/>
              </a:rPr>
              <a:t>interact </a:t>
            </a:r>
            <a:r>
              <a:rPr lang="en-GB" dirty="0">
                <a:latin typeface="Carlito"/>
                <a:cs typeface="Carlito"/>
              </a:rPr>
              <a:t>with</a:t>
            </a:r>
            <a:r>
              <a:rPr lang="en-GB" spc="-50" dirty="0">
                <a:latin typeface="Carlito"/>
                <a:cs typeface="Carlito"/>
              </a:rPr>
              <a:t> </a:t>
            </a:r>
            <a:r>
              <a:rPr lang="en-GB" dirty="0">
                <a:latin typeface="Carlito"/>
                <a:cs typeface="Carlito"/>
              </a:rPr>
              <a:t>the</a:t>
            </a:r>
            <a:r>
              <a:rPr lang="en-GB" spc="-45" dirty="0">
                <a:latin typeface="Carlito"/>
                <a:cs typeface="Carlito"/>
              </a:rPr>
              <a:t> </a:t>
            </a:r>
            <a:r>
              <a:rPr lang="en-GB" spc="-10" dirty="0">
                <a:latin typeface="Carlito"/>
                <a:cs typeface="Carlito"/>
              </a:rPr>
              <a:t>Web,</a:t>
            </a:r>
            <a:r>
              <a:rPr lang="en-GB" spc="-45" dirty="0">
                <a:latin typeface="Carlito"/>
                <a:cs typeface="Carlito"/>
              </a:rPr>
              <a:t> </a:t>
            </a:r>
            <a:r>
              <a:rPr lang="en-GB" dirty="0">
                <a:latin typeface="Carlito"/>
                <a:cs typeface="Carlito"/>
              </a:rPr>
              <a:t>and</a:t>
            </a:r>
            <a:r>
              <a:rPr lang="en-GB" spc="-50" dirty="0">
                <a:latin typeface="Carlito"/>
                <a:cs typeface="Carlito"/>
              </a:rPr>
              <a:t> </a:t>
            </a:r>
            <a:r>
              <a:rPr lang="en-GB" dirty="0">
                <a:latin typeface="Carlito"/>
                <a:cs typeface="Carlito"/>
              </a:rPr>
              <a:t>that</a:t>
            </a:r>
            <a:r>
              <a:rPr lang="en-GB" spc="-50" dirty="0">
                <a:latin typeface="Carlito"/>
                <a:cs typeface="Carlito"/>
              </a:rPr>
              <a:t> </a:t>
            </a:r>
            <a:r>
              <a:rPr lang="en-GB" dirty="0">
                <a:latin typeface="Carlito"/>
                <a:cs typeface="Carlito"/>
              </a:rPr>
              <a:t>they</a:t>
            </a:r>
            <a:r>
              <a:rPr lang="en-GB" spc="-50" dirty="0">
                <a:latin typeface="Carlito"/>
                <a:cs typeface="Carlito"/>
              </a:rPr>
              <a:t> </a:t>
            </a:r>
            <a:r>
              <a:rPr lang="en-GB" dirty="0">
                <a:latin typeface="Carlito"/>
                <a:cs typeface="Carlito"/>
              </a:rPr>
              <a:t>can</a:t>
            </a:r>
            <a:r>
              <a:rPr lang="en-GB" spc="-45" dirty="0">
                <a:latin typeface="Carlito"/>
                <a:cs typeface="Carlito"/>
              </a:rPr>
              <a:t> </a:t>
            </a:r>
            <a:r>
              <a:rPr lang="en-GB" b="1" i="1" spc="-10" dirty="0">
                <a:latin typeface="Carlito"/>
                <a:cs typeface="Carlito"/>
              </a:rPr>
              <a:t>contribute</a:t>
            </a:r>
            <a:r>
              <a:rPr lang="en-GB" b="1" i="1" spc="-60" dirty="0">
                <a:latin typeface="Carlito"/>
                <a:cs typeface="Carlito"/>
              </a:rPr>
              <a:t> </a:t>
            </a:r>
            <a:r>
              <a:rPr lang="en-GB" dirty="0">
                <a:latin typeface="Carlito"/>
                <a:cs typeface="Carlito"/>
              </a:rPr>
              <a:t>to</a:t>
            </a:r>
            <a:r>
              <a:rPr lang="en-GB" spc="-50" dirty="0">
                <a:latin typeface="Carlito"/>
                <a:cs typeface="Carlito"/>
              </a:rPr>
              <a:t> </a:t>
            </a:r>
            <a:r>
              <a:rPr lang="en-GB" dirty="0">
                <a:latin typeface="Carlito"/>
                <a:cs typeface="Carlito"/>
              </a:rPr>
              <a:t>the</a:t>
            </a:r>
            <a:r>
              <a:rPr lang="en-GB" spc="-45" dirty="0">
                <a:latin typeface="Carlito"/>
                <a:cs typeface="Carlito"/>
              </a:rPr>
              <a:t> </a:t>
            </a:r>
            <a:r>
              <a:rPr lang="en-GB" spc="-20" dirty="0">
                <a:latin typeface="Carlito"/>
                <a:cs typeface="Carlito"/>
              </a:rPr>
              <a:t>Web.</a:t>
            </a:r>
            <a:endParaRPr lang="en-GB" dirty="0">
              <a:latin typeface="Carlito"/>
              <a:cs typeface="Carlito"/>
            </a:endParaRPr>
          </a:p>
          <a:p>
            <a:pPr marL="469900" marR="254635" lvl="1">
              <a:lnSpc>
                <a:spcPct val="90400"/>
              </a:lnSpc>
            </a:pPr>
            <a:r>
              <a:rPr lang="en-GB" spc="-10" dirty="0">
                <a:latin typeface="Carlito"/>
                <a:cs typeface="Carlito"/>
              </a:rPr>
              <a:t>Read more on: Introduction</a:t>
            </a:r>
            <a:r>
              <a:rPr lang="en-GB" spc="-80" dirty="0">
                <a:latin typeface="Carlito"/>
                <a:cs typeface="Carlito"/>
              </a:rPr>
              <a:t> </a:t>
            </a:r>
            <a:r>
              <a:rPr lang="en-GB" dirty="0">
                <a:latin typeface="Carlito"/>
                <a:cs typeface="Carlito"/>
              </a:rPr>
              <a:t>to</a:t>
            </a:r>
            <a:r>
              <a:rPr lang="en-GB" spc="-80" dirty="0">
                <a:latin typeface="Carlito"/>
                <a:cs typeface="Carlito"/>
              </a:rPr>
              <a:t> </a:t>
            </a:r>
            <a:r>
              <a:rPr lang="en-GB" spc="-10" dirty="0">
                <a:latin typeface="Carlito"/>
                <a:cs typeface="Carlito"/>
              </a:rPr>
              <a:t>Web</a:t>
            </a:r>
            <a:r>
              <a:rPr lang="en-GB" spc="-75" dirty="0">
                <a:latin typeface="Carlito"/>
                <a:cs typeface="Carlito"/>
              </a:rPr>
              <a:t> </a:t>
            </a:r>
            <a:r>
              <a:rPr lang="en-GB" spc="-10" dirty="0">
                <a:latin typeface="Carlito"/>
                <a:cs typeface="Carlito"/>
              </a:rPr>
              <a:t>Accessibility,</a:t>
            </a:r>
            <a:r>
              <a:rPr lang="en-GB" spc="-75" dirty="0">
                <a:latin typeface="Carlito"/>
                <a:cs typeface="Carlito"/>
              </a:rPr>
              <a:t> </a:t>
            </a:r>
            <a:r>
              <a:rPr lang="en-GB" spc="-20" dirty="0">
                <a:latin typeface="Carlito"/>
                <a:cs typeface="Carlito"/>
              </a:rPr>
              <a:t>W3C</a:t>
            </a:r>
          </a:p>
          <a:p>
            <a:pPr marL="0" indent="0">
              <a:buNone/>
            </a:pPr>
            <a:endParaRPr lang="en-GB" dirty="0"/>
          </a:p>
        </p:txBody>
      </p:sp>
    </p:spTree>
    <p:extLst>
      <p:ext uri="{BB962C8B-B14F-4D97-AF65-F5344CB8AC3E}">
        <p14:creationId xmlns:p14="http://schemas.microsoft.com/office/powerpoint/2010/main" val="34619136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9F82F10-4071-81E0-C4F4-7A3824151B1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10B244F-BECA-B9AD-B5A1-26007EE91A0D}"/>
              </a:ext>
            </a:extLst>
          </p:cNvPr>
          <p:cNvSpPr>
            <a:spLocks noGrp="1"/>
          </p:cNvSpPr>
          <p:nvPr>
            <p:ph type="title"/>
          </p:nvPr>
        </p:nvSpPr>
        <p:spPr>
          <a:xfrm>
            <a:off x="1115568" y="548640"/>
            <a:ext cx="10168128" cy="1179576"/>
          </a:xfrm>
        </p:spPr>
        <p:txBody>
          <a:bodyPr>
            <a:normAutofit/>
          </a:bodyPr>
          <a:lstStyle/>
          <a:p>
            <a:r>
              <a:rPr lang="en-GB" sz="4000" spc="-10" dirty="0"/>
              <a:t>Accessibility</a:t>
            </a:r>
            <a:endParaRPr lang="en-GB" sz="4000" dirty="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45C5EB1C-6366-9C90-D2DA-019434FF820E}"/>
              </a:ext>
            </a:extLst>
          </p:cNvPr>
          <p:cNvSpPr>
            <a:spLocks noGrp="1"/>
          </p:cNvSpPr>
          <p:nvPr>
            <p:ph idx="1"/>
          </p:nvPr>
        </p:nvSpPr>
        <p:spPr>
          <a:xfrm>
            <a:off x="1115568" y="2138289"/>
            <a:ext cx="10607040" cy="4318782"/>
          </a:xfrm>
        </p:spPr>
        <p:txBody>
          <a:bodyPr>
            <a:noAutofit/>
          </a:bodyPr>
          <a:lstStyle/>
          <a:p>
            <a:pPr marL="27940" marR="186055">
              <a:lnSpc>
                <a:spcPct val="89100"/>
              </a:lnSpc>
              <a:spcBef>
                <a:spcPts val="385"/>
              </a:spcBef>
            </a:pPr>
            <a:r>
              <a:rPr lang="en-GB" sz="2400" dirty="0">
                <a:latin typeface="Carlito"/>
                <a:cs typeface="Carlito"/>
              </a:rPr>
              <a:t>The</a:t>
            </a:r>
            <a:r>
              <a:rPr lang="en-GB" sz="2400" spc="-55" dirty="0">
                <a:latin typeface="Carlito"/>
                <a:cs typeface="Carlito"/>
              </a:rPr>
              <a:t> </a:t>
            </a:r>
            <a:r>
              <a:rPr lang="en-GB" sz="2400" dirty="0">
                <a:latin typeface="Carlito"/>
                <a:cs typeface="Carlito"/>
              </a:rPr>
              <a:t>Web</a:t>
            </a:r>
            <a:r>
              <a:rPr lang="en-GB" sz="2400" spc="-60" dirty="0">
                <a:latin typeface="Carlito"/>
                <a:cs typeface="Carlito"/>
              </a:rPr>
              <a:t> </a:t>
            </a:r>
            <a:r>
              <a:rPr lang="en-GB" sz="2400" dirty="0">
                <a:latin typeface="Carlito"/>
                <a:cs typeface="Carlito"/>
              </a:rPr>
              <a:t>is</a:t>
            </a:r>
            <a:r>
              <a:rPr lang="en-GB" sz="2400" spc="-55" dirty="0">
                <a:latin typeface="Carlito"/>
                <a:cs typeface="Carlito"/>
              </a:rPr>
              <a:t> </a:t>
            </a:r>
            <a:r>
              <a:rPr lang="en-GB" sz="2400" dirty="0">
                <a:latin typeface="Carlito"/>
                <a:cs typeface="Carlito"/>
              </a:rPr>
              <a:t>an</a:t>
            </a:r>
            <a:r>
              <a:rPr lang="en-GB" sz="2400" spc="-60" dirty="0">
                <a:latin typeface="Carlito"/>
                <a:cs typeface="Carlito"/>
              </a:rPr>
              <a:t> </a:t>
            </a:r>
            <a:r>
              <a:rPr lang="en-GB" sz="2400" dirty="0">
                <a:latin typeface="Carlito"/>
                <a:cs typeface="Carlito"/>
              </a:rPr>
              <a:t>increasingly</a:t>
            </a:r>
            <a:r>
              <a:rPr lang="en-GB" sz="2400" spc="-55" dirty="0">
                <a:latin typeface="Carlito"/>
                <a:cs typeface="Carlito"/>
              </a:rPr>
              <a:t> </a:t>
            </a:r>
            <a:r>
              <a:rPr lang="en-GB" sz="2400" dirty="0">
                <a:latin typeface="Carlito"/>
                <a:cs typeface="Carlito"/>
              </a:rPr>
              <a:t>important</a:t>
            </a:r>
            <a:r>
              <a:rPr lang="en-GB" sz="2400" spc="-55" dirty="0">
                <a:latin typeface="Carlito"/>
                <a:cs typeface="Carlito"/>
              </a:rPr>
              <a:t> </a:t>
            </a:r>
            <a:r>
              <a:rPr lang="en-GB" sz="2400" spc="-10" dirty="0">
                <a:latin typeface="Carlito"/>
                <a:cs typeface="Carlito"/>
              </a:rPr>
              <a:t>resource</a:t>
            </a:r>
            <a:r>
              <a:rPr lang="en-GB" sz="2400" spc="-55" dirty="0">
                <a:latin typeface="Carlito"/>
                <a:cs typeface="Carlito"/>
              </a:rPr>
              <a:t> </a:t>
            </a:r>
            <a:r>
              <a:rPr lang="en-GB" sz="2400" dirty="0">
                <a:latin typeface="Carlito"/>
                <a:cs typeface="Carlito"/>
              </a:rPr>
              <a:t>in</a:t>
            </a:r>
            <a:r>
              <a:rPr lang="en-GB" sz="2400" spc="-60" dirty="0">
                <a:latin typeface="Carlito"/>
                <a:cs typeface="Carlito"/>
              </a:rPr>
              <a:t> </a:t>
            </a:r>
            <a:r>
              <a:rPr lang="en-GB" sz="2400" dirty="0">
                <a:latin typeface="Carlito"/>
                <a:cs typeface="Carlito"/>
              </a:rPr>
              <a:t>many</a:t>
            </a:r>
            <a:r>
              <a:rPr lang="en-GB" sz="2400" spc="-55" dirty="0">
                <a:latin typeface="Carlito"/>
                <a:cs typeface="Carlito"/>
              </a:rPr>
              <a:t> </a:t>
            </a:r>
            <a:r>
              <a:rPr lang="en-GB" sz="2400" dirty="0">
                <a:latin typeface="Carlito"/>
                <a:cs typeface="Carlito"/>
              </a:rPr>
              <a:t>aspects</a:t>
            </a:r>
            <a:r>
              <a:rPr lang="en-GB" sz="2400" spc="-50" dirty="0">
                <a:latin typeface="Carlito"/>
                <a:cs typeface="Carlito"/>
              </a:rPr>
              <a:t> </a:t>
            </a:r>
            <a:r>
              <a:rPr lang="en-GB" sz="2400" spc="-25" dirty="0">
                <a:latin typeface="Carlito"/>
                <a:cs typeface="Carlito"/>
              </a:rPr>
              <a:t>of </a:t>
            </a:r>
            <a:r>
              <a:rPr lang="en-GB" sz="2400" dirty="0">
                <a:latin typeface="Carlito"/>
                <a:cs typeface="Carlito"/>
              </a:rPr>
              <a:t>life:</a:t>
            </a:r>
            <a:r>
              <a:rPr lang="en-GB" sz="2400" spc="-60" dirty="0">
                <a:latin typeface="Carlito"/>
                <a:cs typeface="Carlito"/>
              </a:rPr>
              <a:t> </a:t>
            </a:r>
            <a:r>
              <a:rPr lang="en-GB" sz="2400" dirty="0">
                <a:latin typeface="Carlito"/>
                <a:cs typeface="Carlito"/>
              </a:rPr>
              <a:t>education,</a:t>
            </a:r>
            <a:r>
              <a:rPr lang="en-GB" sz="2400" spc="-55" dirty="0">
                <a:latin typeface="Carlito"/>
                <a:cs typeface="Carlito"/>
              </a:rPr>
              <a:t> </a:t>
            </a:r>
            <a:r>
              <a:rPr lang="en-GB" sz="2400" spc="-10" dirty="0">
                <a:latin typeface="Carlito"/>
                <a:cs typeface="Carlito"/>
              </a:rPr>
              <a:t>employment,</a:t>
            </a:r>
            <a:r>
              <a:rPr lang="en-GB" sz="2400" spc="-55" dirty="0">
                <a:latin typeface="Carlito"/>
                <a:cs typeface="Carlito"/>
              </a:rPr>
              <a:t> </a:t>
            </a:r>
            <a:r>
              <a:rPr lang="en-GB" sz="2400" spc="-10" dirty="0">
                <a:latin typeface="Carlito"/>
                <a:cs typeface="Carlito"/>
              </a:rPr>
              <a:t>government,</a:t>
            </a:r>
            <a:r>
              <a:rPr lang="en-GB" sz="2400" spc="-55" dirty="0">
                <a:latin typeface="Carlito"/>
                <a:cs typeface="Carlito"/>
              </a:rPr>
              <a:t> </a:t>
            </a:r>
            <a:r>
              <a:rPr lang="en-GB" sz="2400" spc="-10" dirty="0">
                <a:latin typeface="Carlito"/>
                <a:cs typeface="Carlito"/>
              </a:rPr>
              <a:t>commerce,</a:t>
            </a:r>
            <a:r>
              <a:rPr lang="en-GB" sz="2400" spc="-55" dirty="0">
                <a:latin typeface="Carlito"/>
                <a:cs typeface="Carlito"/>
              </a:rPr>
              <a:t> </a:t>
            </a:r>
            <a:r>
              <a:rPr lang="en-GB" sz="2400" dirty="0">
                <a:latin typeface="Carlito"/>
                <a:cs typeface="Carlito"/>
              </a:rPr>
              <a:t>health</a:t>
            </a:r>
            <a:r>
              <a:rPr lang="en-GB" sz="2400" spc="-60" dirty="0">
                <a:latin typeface="Carlito"/>
                <a:cs typeface="Carlito"/>
              </a:rPr>
              <a:t> </a:t>
            </a:r>
            <a:r>
              <a:rPr lang="en-GB" sz="2400" spc="-10" dirty="0">
                <a:latin typeface="Carlito"/>
                <a:cs typeface="Carlito"/>
              </a:rPr>
              <a:t>care, recreation,</a:t>
            </a:r>
            <a:r>
              <a:rPr lang="en-GB" sz="2400" spc="-35" dirty="0">
                <a:latin typeface="Carlito"/>
                <a:cs typeface="Carlito"/>
              </a:rPr>
              <a:t> </a:t>
            </a:r>
            <a:r>
              <a:rPr lang="en-GB" sz="2400" dirty="0">
                <a:latin typeface="Carlito"/>
                <a:cs typeface="Carlito"/>
              </a:rPr>
              <a:t>and</a:t>
            </a:r>
            <a:r>
              <a:rPr lang="en-GB" sz="2400" spc="-35" dirty="0">
                <a:latin typeface="Carlito"/>
                <a:cs typeface="Carlito"/>
              </a:rPr>
              <a:t> </a:t>
            </a:r>
            <a:r>
              <a:rPr lang="en-GB" sz="2400" spc="-20" dirty="0">
                <a:latin typeface="Carlito"/>
                <a:cs typeface="Carlito"/>
              </a:rPr>
              <a:t>more.</a:t>
            </a:r>
            <a:endParaRPr lang="en-GB" sz="2400" dirty="0">
              <a:latin typeface="Carlito"/>
              <a:cs typeface="Carlito"/>
            </a:endParaRPr>
          </a:p>
          <a:p>
            <a:pPr marL="469900" marR="5080" lvl="1">
              <a:lnSpc>
                <a:spcPct val="100000"/>
              </a:lnSpc>
              <a:spcBef>
                <a:spcPts val="2039"/>
              </a:spcBef>
            </a:pPr>
            <a:r>
              <a:rPr lang="en-GB" sz="1400" u="sng" spc="-20" dirty="0">
                <a:solidFill>
                  <a:srgbClr val="0563C1"/>
                </a:solidFill>
                <a:uFill>
                  <a:solidFill>
                    <a:srgbClr val="0563C1"/>
                  </a:solidFill>
                </a:uFill>
                <a:latin typeface="Carlito"/>
                <a:cs typeface="Carlito"/>
              </a:rPr>
              <a:t>https://</a:t>
            </a:r>
            <a:r>
              <a:rPr lang="en-GB" sz="1400" u="sng" spc="-20" dirty="0">
                <a:solidFill>
                  <a:srgbClr val="0563C1"/>
                </a:solidFill>
                <a:uFill>
                  <a:solidFill>
                    <a:srgbClr val="0563C1"/>
                  </a:solidFill>
                </a:uFill>
                <a:latin typeface="Carlito"/>
                <a:cs typeface="Carlito"/>
                <a:hlinkClick r:id="rId2"/>
              </a:rPr>
              <a:t>www.gov.uk/guidance/accessibility-requirements-</a:t>
            </a:r>
            <a:r>
              <a:rPr lang="en-GB" sz="1400" u="sng" spc="-30" dirty="0">
                <a:solidFill>
                  <a:srgbClr val="0563C1"/>
                </a:solidFill>
                <a:uFill>
                  <a:solidFill>
                    <a:srgbClr val="0563C1"/>
                  </a:solidFill>
                </a:uFill>
                <a:latin typeface="Carlito"/>
                <a:cs typeface="Carlito"/>
                <a:hlinkClick r:id="rId2"/>
              </a:rPr>
              <a:t>for-</a:t>
            </a:r>
            <a:r>
              <a:rPr lang="en-GB" sz="1400" u="sng" spc="-10" dirty="0">
                <a:solidFill>
                  <a:srgbClr val="0563C1"/>
                </a:solidFill>
                <a:uFill>
                  <a:solidFill>
                    <a:srgbClr val="0563C1"/>
                  </a:solidFill>
                </a:uFill>
                <a:latin typeface="Carlito"/>
                <a:cs typeface="Carlito"/>
                <a:hlinkClick r:id="rId2"/>
              </a:rPr>
              <a:t>public-</a:t>
            </a:r>
            <a:r>
              <a:rPr lang="en-GB" sz="1400" u="sng" spc="-20" dirty="0">
                <a:solidFill>
                  <a:srgbClr val="0563C1"/>
                </a:solidFill>
                <a:uFill>
                  <a:solidFill>
                    <a:srgbClr val="0563C1"/>
                  </a:solidFill>
                </a:uFill>
                <a:latin typeface="Carlito"/>
                <a:cs typeface="Carlito"/>
                <a:hlinkClick r:id="rId2"/>
              </a:rPr>
              <a:t>sector-websites-</a:t>
            </a:r>
            <a:r>
              <a:rPr lang="en-GB" sz="1400" u="sng" spc="-10" dirty="0">
                <a:solidFill>
                  <a:srgbClr val="0563C1"/>
                </a:solidFill>
                <a:uFill>
                  <a:solidFill>
                    <a:srgbClr val="0563C1"/>
                  </a:solidFill>
                </a:uFill>
                <a:latin typeface="Carlito"/>
                <a:cs typeface="Carlito"/>
                <a:hlinkClick r:id="rId2"/>
              </a:rPr>
              <a:t>and-</a:t>
            </a:r>
            <a:r>
              <a:rPr lang="en-GB" sz="1400" u="sng" spc="-20" dirty="0">
                <a:solidFill>
                  <a:srgbClr val="0563C1"/>
                </a:solidFill>
                <a:uFill>
                  <a:solidFill>
                    <a:srgbClr val="0563C1"/>
                  </a:solidFill>
                </a:uFill>
                <a:latin typeface="Carlito"/>
                <a:cs typeface="Carlito"/>
                <a:hlinkClick r:id="rId2"/>
              </a:rPr>
              <a:t>apps</a:t>
            </a:r>
            <a:r>
              <a:rPr lang="en-GB" sz="1400" u="none" spc="-20" dirty="0">
                <a:solidFill>
                  <a:srgbClr val="0563C1"/>
                </a:solidFill>
                <a:latin typeface="Carlito"/>
                <a:cs typeface="Carlito"/>
              </a:rPr>
              <a:t> </a:t>
            </a:r>
          </a:p>
          <a:p>
            <a:pPr marL="469900" marR="5080" lvl="1">
              <a:lnSpc>
                <a:spcPct val="100000"/>
              </a:lnSpc>
              <a:spcBef>
                <a:spcPts val="2039"/>
              </a:spcBef>
            </a:pPr>
            <a:r>
              <a:rPr lang="en-GB" sz="1400" u="sng" spc="-20" dirty="0">
                <a:solidFill>
                  <a:srgbClr val="0563C1"/>
                </a:solidFill>
                <a:uFill>
                  <a:solidFill>
                    <a:srgbClr val="0563C1"/>
                  </a:solidFill>
                </a:uFill>
                <a:latin typeface="Carlito"/>
                <a:cs typeface="Carlito"/>
              </a:rPr>
              <a:t>https://</a:t>
            </a:r>
            <a:r>
              <a:rPr lang="en-GB" sz="1400" u="sng" spc="-20" dirty="0" err="1">
                <a:solidFill>
                  <a:srgbClr val="0563C1"/>
                </a:solidFill>
                <a:uFill>
                  <a:solidFill>
                    <a:srgbClr val="0563C1"/>
                  </a:solidFill>
                </a:uFill>
                <a:latin typeface="Carlito"/>
                <a:cs typeface="Carlito"/>
              </a:rPr>
              <a:t>siteimprove.com</a:t>
            </a:r>
            <a:r>
              <a:rPr lang="en-GB" sz="1400" u="sng" spc="-20" dirty="0">
                <a:solidFill>
                  <a:srgbClr val="0563C1"/>
                </a:solidFill>
                <a:uFill>
                  <a:solidFill>
                    <a:srgbClr val="0563C1"/>
                  </a:solidFill>
                </a:uFill>
                <a:latin typeface="Carlito"/>
                <a:cs typeface="Carlito"/>
              </a:rPr>
              <a:t>/</a:t>
            </a:r>
            <a:r>
              <a:rPr lang="en-GB" sz="1400" u="sng" spc="-20" dirty="0" err="1">
                <a:solidFill>
                  <a:srgbClr val="0563C1"/>
                </a:solidFill>
                <a:uFill>
                  <a:solidFill>
                    <a:srgbClr val="0563C1"/>
                  </a:solidFill>
                </a:uFill>
                <a:latin typeface="Carlito"/>
                <a:cs typeface="Carlito"/>
              </a:rPr>
              <a:t>en-</a:t>
            </a:r>
            <a:r>
              <a:rPr lang="en-GB" sz="1400" u="sng" spc="-10" dirty="0" err="1">
                <a:solidFill>
                  <a:srgbClr val="0563C1"/>
                </a:solidFill>
                <a:uFill>
                  <a:solidFill>
                    <a:srgbClr val="0563C1"/>
                  </a:solidFill>
                </a:uFill>
                <a:latin typeface="Carlito"/>
                <a:cs typeface="Carlito"/>
              </a:rPr>
              <a:t>gb</a:t>
            </a:r>
            <a:r>
              <a:rPr lang="en-GB" sz="1400" u="sng" spc="-10" dirty="0">
                <a:solidFill>
                  <a:srgbClr val="0563C1"/>
                </a:solidFill>
                <a:uFill>
                  <a:solidFill>
                    <a:srgbClr val="0563C1"/>
                  </a:solidFill>
                </a:uFill>
                <a:latin typeface="Carlito"/>
                <a:cs typeface="Carlito"/>
              </a:rPr>
              <a:t>/accessibility/</a:t>
            </a:r>
            <a:r>
              <a:rPr lang="en-GB" sz="1400" u="sng" spc="-10" dirty="0" err="1">
                <a:solidFill>
                  <a:srgbClr val="0563C1"/>
                </a:solidFill>
                <a:uFill>
                  <a:solidFill>
                    <a:srgbClr val="0563C1"/>
                  </a:solidFill>
                </a:uFill>
                <a:latin typeface="Carlito"/>
                <a:cs typeface="Carlito"/>
              </a:rPr>
              <a:t>uk</a:t>
            </a:r>
            <a:r>
              <a:rPr lang="en-GB" sz="1400" u="sng" spc="-10" dirty="0">
                <a:solidFill>
                  <a:srgbClr val="0563C1"/>
                </a:solidFill>
                <a:uFill>
                  <a:solidFill>
                    <a:srgbClr val="0563C1"/>
                  </a:solidFill>
                </a:uFill>
                <a:latin typeface="Carlito"/>
                <a:cs typeface="Carlito"/>
              </a:rPr>
              <a:t>-accessibility-laws/</a:t>
            </a:r>
            <a:endParaRPr lang="en-GB" sz="1400" dirty="0">
              <a:latin typeface="Carlito"/>
              <a:cs typeface="Carlito"/>
            </a:endParaRPr>
          </a:p>
          <a:p>
            <a:pPr marL="0" indent="0">
              <a:lnSpc>
                <a:spcPct val="100000"/>
              </a:lnSpc>
              <a:spcBef>
                <a:spcPts val="535"/>
              </a:spcBef>
              <a:buNone/>
            </a:pPr>
            <a:endParaRPr lang="en-GB" sz="2400" dirty="0">
              <a:latin typeface="Carlito"/>
              <a:cs typeface="Carlito"/>
            </a:endParaRPr>
          </a:p>
          <a:p>
            <a:pPr marL="27940" marR="722630">
              <a:lnSpc>
                <a:spcPts val="2300"/>
              </a:lnSpc>
            </a:pPr>
            <a:r>
              <a:rPr lang="en-GB" sz="2400" dirty="0">
                <a:latin typeface="Carlito"/>
                <a:cs typeface="Carlito"/>
              </a:rPr>
              <a:t>An</a:t>
            </a:r>
            <a:r>
              <a:rPr lang="en-GB" sz="2400" spc="-50" dirty="0">
                <a:latin typeface="Carlito"/>
                <a:cs typeface="Carlito"/>
              </a:rPr>
              <a:t> </a:t>
            </a:r>
            <a:r>
              <a:rPr lang="en-GB" sz="2400" dirty="0">
                <a:latin typeface="Carlito"/>
                <a:cs typeface="Carlito"/>
              </a:rPr>
              <a:t>accessible</a:t>
            </a:r>
            <a:r>
              <a:rPr lang="en-GB" sz="2400" spc="-40" dirty="0">
                <a:latin typeface="Carlito"/>
                <a:cs typeface="Carlito"/>
              </a:rPr>
              <a:t> </a:t>
            </a:r>
            <a:r>
              <a:rPr lang="en-GB" sz="2400" dirty="0">
                <a:latin typeface="Carlito"/>
                <a:cs typeface="Carlito"/>
              </a:rPr>
              <a:t>Web</a:t>
            </a:r>
            <a:r>
              <a:rPr lang="en-GB" sz="2400" spc="-50" dirty="0">
                <a:latin typeface="Carlito"/>
                <a:cs typeface="Carlito"/>
              </a:rPr>
              <a:t> </a:t>
            </a:r>
            <a:r>
              <a:rPr lang="en-GB" sz="2400" dirty="0">
                <a:latin typeface="Carlito"/>
                <a:cs typeface="Carlito"/>
              </a:rPr>
              <a:t>can</a:t>
            </a:r>
            <a:r>
              <a:rPr lang="en-GB" sz="2400" spc="-50" dirty="0">
                <a:latin typeface="Carlito"/>
                <a:cs typeface="Carlito"/>
              </a:rPr>
              <a:t> </a:t>
            </a:r>
            <a:r>
              <a:rPr lang="en-GB" sz="2400" dirty="0">
                <a:latin typeface="Carlito"/>
                <a:cs typeface="Carlito"/>
              </a:rPr>
              <a:t>also</a:t>
            </a:r>
            <a:r>
              <a:rPr lang="en-GB" sz="2400" spc="-40" dirty="0">
                <a:latin typeface="Carlito"/>
                <a:cs typeface="Carlito"/>
              </a:rPr>
              <a:t> </a:t>
            </a:r>
            <a:r>
              <a:rPr lang="en-GB" sz="2400" dirty="0">
                <a:latin typeface="Carlito"/>
                <a:cs typeface="Carlito"/>
              </a:rPr>
              <a:t>help</a:t>
            </a:r>
            <a:r>
              <a:rPr lang="en-GB" sz="2400" spc="-45" dirty="0">
                <a:latin typeface="Carlito"/>
                <a:cs typeface="Carlito"/>
              </a:rPr>
              <a:t> </a:t>
            </a:r>
            <a:r>
              <a:rPr lang="en-GB" sz="2400" dirty="0">
                <a:latin typeface="Carlito"/>
                <a:cs typeface="Carlito"/>
              </a:rPr>
              <a:t>people</a:t>
            </a:r>
            <a:r>
              <a:rPr lang="en-GB" sz="2400" spc="-40" dirty="0">
                <a:latin typeface="Carlito"/>
                <a:cs typeface="Carlito"/>
              </a:rPr>
              <a:t> </a:t>
            </a:r>
            <a:r>
              <a:rPr lang="en-GB" sz="2400" dirty="0">
                <a:latin typeface="Carlito"/>
                <a:cs typeface="Carlito"/>
              </a:rPr>
              <a:t>with</a:t>
            </a:r>
            <a:r>
              <a:rPr lang="en-GB" sz="2400" spc="-50" dirty="0">
                <a:latin typeface="Carlito"/>
                <a:cs typeface="Carlito"/>
              </a:rPr>
              <a:t> </a:t>
            </a:r>
            <a:r>
              <a:rPr lang="en-GB" sz="2400" dirty="0">
                <a:latin typeface="Carlito"/>
                <a:cs typeface="Carlito"/>
              </a:rPr>
              <a:t>disabilities</a:t>
            </a:r>
            <a:r>
              <a:rPr lang="en-GB" sz="2400" spc="-40" dirty="0">
                <a:latin typeface="Carlito"/>
                <a:cs typeface="Carlito"/>
              </a:rPr>
              <a:t> </a:t>
            </a:r>
            <a:r>
              <a:rPr lang="en-GB" sz="2400" spc="-20" dirty="0">
                <a:latin typeface="Carlito"/>
                <a:cs typeface="Carlito"/>
              </a:rPr>
              <a:t>more </a:t>
            </a:r>
            <a:r>
              <a:rPr lang="en-GB" sz="2400" dirty="0">
                <a:latin typeface="Carlito"/>
                <a:cs typeface="Carlito"/>
              </a:rPr>
              <a:t>actively</a:t>
            </a:r>
            <a:r>
              <a:rPr lang="en-GB" sz="2400" spc="-30" dirty="0">
                <a:latin typeface="Carlito"/>
                <a:cs typeface="Carlito"/>
              </a:rPr>
              <a:t> </a:t>
            </a:r>
            <a:r>
              <a:rPr lang="en-GB" sz="2400" spc="-10" dirty="0">
                <a:latin typeface="Carlito"/>
                <a:cs typeface="Carlito"/>
              </a:rPr>
              <a:t>participate</a:t>
            </a:r>
            <a:r>
              <a:rPr lang="en-GB" sz="2400" spc="-25" dirty="0">
                <a:latin typeface="Carlito"/>
                <a:cs typeface="Carlito"/>
              </a:rPr>
              <a:t> </a:t>
            </a:r>
            <a:r>
              <a:rPr lang="en-GB" sz="2400" dirty="0">
                <a:latin typeface="Carlito"/>
                <a:cs typeface="Carlito"/>
              </a:rPr>
              <a:t>in</a:t>
            </a:r>
            <a:r>
              <a:rPr lang="en-GB" sz="2400" spc="-35" dirty="0">
                <a:latin typeface="Carlito"/>
                <a:cs typeface="Carlito"/>
              </a:rPr>
              <a:t> </a:t>
            </a:r>
            <a:r>
              <a:rPr lang="en-GB" sz="2400" spc="-10" dirty="0">
                <a:latin typeface="Carlito"/>
                <a:cs typeface="Carlito"/>
              </a:rPr>
              <a:t>society.</a:t>
            </a:r>
          </a:p>
          <a:p>
            <a:pPr marL="27940" marR="722630">
              <a:lnSpc>
                <a:spcPts val="2300"/>
              </a:lnSpc>
            </a:pPr>
            <a:r>
              <a:rPr lang="en-GB" sz="2400" dirty="0">
                <a:latin typeface="Carlito"/>
                <a:cs typeface="Carlito"/>
              </a:rPr>
              <a:t>It</a:t>
            </a:r>
            <a:r>
              <a:rPr lang="en-GB" sz="2400" spc="-50" dirty="0">
                <a:latin typeface="Carlito"/>
                <a:cs typeface="Carlito"/>
              </a:rPr>
              <a:t> </a:t>
            </a:r>
            <a:r>
              <a:rPr lang="en-GB" sz="2400" dirty="0">
                <a:latin typeface="Carlito"/>
                <a:cs typeface="Carlito"/>
              </a:rPr>
              <a:t>is</a:t>
            </a:r>
            <a:r>
              <a:rPr lang="en-GB" sz="2400" spc="-45" dirty="0">
                <a:latin typeface="Carlito"/>
                <a:cs typeface="Carlito"/>
              </a:rPr>
              <a:t> </a:t>
            </a:r>
            <a:r>
              <a:rPr lang="en-GB" sz="2400" dirty="0">
                <a:latin typeface="Carlito"/>
                <a:cs typeface="Carlito"/>
              </a:rPr>
              <a:t>essential</a:t>
            </a:r>
            <a:r>
              <a:rPr lang="en-GB" sz="2400" spc="-50" dirty="0">
                <a:latin typeface="Carlito"/>
                <a:cs typeface="Carlito"/>
              </a:rPr>
              <a:t> </a:t>
            </a:r>
            <a:r>
              <a:rPr lang="en-GB" sz="2400" dirty="0">
                <a:latin typeface="Carlito"/>
                <a:cs typeface="Carlito"/>
              </a:rPr>
              <a:t>that</a:t>
            </a:r>
            <a:r>
              <a:rPr lang="en-GB" sz="2400" spc="-50" dirty="0">
                <a:latin typeface="Carlito"/>
                <a:cs typeface="Carlito"/>
              </a:rPr>
              <a:t> </a:t>
            </a:r>
            <a:r>
              <a:rPr lang="en-GB" sz="2400" dirty="0">
                <a:latin typeface="Carlito"/>
                <a:cs typeface="Carlito"/>
              </a:rPr>
              <a:t>the</a:t>
            </a:r>
            <a:r>
              <a:rPr lang="en-GB" sz="2400" spc="-45" dirty="0">
                <a:latin typeface="Carlito"/>
                <a:cs typeface="Carlito"/>
              </a:rPr>
              <a:t> </a:t>
            </a:r>
            <a:r>
              <a:rPr lang="en-GB" sz="2400" dirty="0">
                <a:latin typeface="Carlito"/>
                <a:cs typeface="Carlito"/>
              </a:rPr>
              <a:t>Web</a:t>
            </a:r>
            <a:r>
              <a:rPr lang="en-GB" sz="2400" spc="-55" dirty="0">
                <a:latin typeface="Carlito"/>
                <a:cs typeface="Carlito"/>
              </a:rPr>
              <a:t> </a:t>
            </a:r>
            <a:r>
              <a:rPr lang="en-GB" sz="2400" dirty="0">
                <a:latin typeface="Carlito"/>
                <a:cs typeface="Carlito"/>
              </a:rPr>
              <a:t>be</a:t>
            </a:r>
            <a:r>
              <a:rPr lang="en-GB" sz="2400" spc="-45" dirty="0">
                <a:latin typeface="Carlito"/>
                <a:cs typeface="Carlito"/>
              </a:rPr>
              <a:t> </a:t>
            </a:r>
            <a:r>
              <a:rPr lang="en-GB" sz="2400" dirty="0">
                <a:latin typeface="Carlito"/>
                <a:cs typeface="Carlito"/>
              </a:rPr>
              <a:t>accessible</a:t>
            </a:r>
            <a:r>
              <a:rPr lang="en-GB" sz="2400" spc="-45" dirty="0">
                <a:latin typeface="Carlito"/>
                <a:cs typeface="Carlito"/>
              </a:rPr>
              <a:t> </a:t>
            </a:r>
            <a:r>
              <a:rPr lang="en-GB" sz="2400" dirty="0">
                <a:latin typeface="Carlito"/>
                <a:cs typeface="Carlito"/>
              </a:rPr>
              <a:t>in</a:t>
            </a:r>
            <a:r>
              <a:rPr lang="en-GB" sz="2400" spc="-50" dirty="0">
                <a:latin typeface="Carlito"/>
                <a:cs typeface="Carlito"/>
              </a:rPr>
              <a:t> </a:t>
            </a:r>
            <a:r>
              <a:rPr lang="en-GB" sz="2400" dirty="0">
                <a:latin typeface="Carlito"/>
                <a:cs typeface="Carlito"/>
              </a:rPr>
              <a:t>order</a:t>
            </a:r>
            <a:r>
              <a:rPr lang="en-GB" sz="2400" spc="-55" dirty="0">
                <a:latin typeface="Carlito"/>
                <a:cs typeface="Carlito"/>
              </a:rPr>
              <a:t> </a:t>
            </a:r>
            <a:r>
              <a:rPr lang="en-GB" sz="2400" dirty="0">
                <a:latin typeface="Carlito"/>
                <a:cs typeface="Carlito"/>
              </a:rPr>
              <a:t>to</a:t>
            </a:r>
            <a:r>
              <a:rPr lang="en-GB" sz="2400" spc="-50" dirty="0">
                <a:latin typeface="Carlito"/>
                <a:cs typeface="Carlito"/>
              </a:rPr>
              <a:t> </a:t>
            </a:r>
            <a:r>
              <a:rPr lang="en-GB" sz="2400" dirty="0">
                <a:latin typeface="Carlito"/>
                <a:cs typeface="Carlito"/>
              </a:rPr>
              <a:t>provide</a:t>
            </a:r>
            <a:r>
              <a:rPr lang="en-GB" sz="2400" spc="-30" dirty="0">
                <a:latin typeface="Carlito"/>
                <a:cs typeface="Carlito"/>
              </a:rPr>
              <a:t> </a:t>
            </a:r>
            <a:r>
              <a:rPr lang="en-GB" sz="2400" b="1" i="1" spc="-10" dirty="0">
                <a:latin typeface="Carlito"/>
                <a:cs typeface="Carlito"/>
              </a:rPr>
              <a:t>equal </a:t>
            </a:r>
            <a:r>
              <a:rPr lang="en-GB" sz="2400" b="1" i="1" dirty="0">
                <a:latin typeface="Carlito"/>
                <a:cs typeface="Carlito"/>
              </a:rPr>
              <a:t>access</a:t>
            </a:r>
            <a:r>
              <a:rPr lang="en-GB" sz="2400" b="1" i="1" spc="-55" dirty="0">
                <a:latin typeface="Carlito"/>
                <a:cs typeface="Carlito"/>
              </a:rPr>
              <a:t> </a:t>
            </a:r>
            <a:r>
              <a:rPr lang="en-GB" sz="2400" dirty="0">
                <a:latin typeface="Carlito"/>
                <a:cs typeface="Carlito"/>
              </a:rPr>
              <a:t>and</a:t>
            </a:r>
            <a:r>
              <a:rPr lang="en-GB" sz="2400" spc="-55" dirty="0">
                <a:latin typeface="Carlito"/>
                <a:cs typeface="Carlito"/>
              </a:rPr>
              <a:t> </a:t>
            </a:r>
            <a:r>
              <a:rPr lang="en-GB" sz="2400" b="1" i="1" dirty="0">
                <a:latin typeface="Carlito"/>
                <a:cs typeface="Carlito"/>
              </a:rPr>
              <a:t>equal</a:t>
            </a:r>
            <a:r>
              <a:rPr lang="en-GB" sz="2400" b="1" i="1" spc="-50" dirty="0">
                <a:latin typeface="Carlito"/>
                <a:cs typeface="Carlito"/>
              </a:rPr>
              <a:t> </a:t>
            </a:r>
            <a:r>
              <a:rPr lang="en-GB" sz="2400" b="1" i="1" dirty="0">
                <a:latin typeface="Carlito"/>
                <a:cs typeface="Carlito"/>
              </a:rPr>
              <a:t>opportunity</a:t>
            </a:r>
            <a:r>
              <a:rPr lang="en-GB" sz="2400" b="1" i="1" spc="-50" dirty="0">
                <a:latin typeface="Carlito"/>
                <a:cs typeface="Carlito"/>
              </a:rPr>
              <a:t> </a:t>
            </a:r>
            <a:r>
              <a:rPr lang="en-GB" sz="2400" dirty="0">
                <a:latin typeface="Carlito"/>
                <a:cs typeface="Carlito"/>
              </a:rPr>
              <a:t>to</a:t>
            </a:r>
            <a:r>
              <a:rPr lang="en-GB" sz="2400" spc="-45" dirty="0">
                <a:latin typeface="Carlito"/>
                <a:cs typeface="Carlito"/>
              </a:rPr>
              <a:t> </a:t>
            </a:r>
            <a:r>
              <a:rPr lang="en-GB" sz="2400" dirty="0">
                <a:latin typeface="Carlito"/>
                <a:cs typeface="Carlito"/>
              </a:rPr>
              <a:t>people</a:t>
            </a:r>
            <a:r>
              <a:rPr lang="en-GB" sz="2400" spc="-45" dirty="0">
                <a:latin typeface="Carlito"/>
                <a:cs typeface="Carlito"/>
              </a:rPr>
              <a:t> </a:t>
            </a:r>
            <a:r>
              <a:rPr lang="en-GB" sz="2400" dirty="0">
                <a:latin typeface="Carlito"/>
                <a:cs typeface="Carlito"/>
              </a:rPr>
              <a:t>with</a:t>
            </a:r>
            <a:r>
              <a:rPr lang="en-GB" sz="2400" spc="-55" dirty="0">
                <a:latin typeface="Carlito"/>
                <a:cs typeface="Carlito"/>
              </a:rPr>
              <a:t> </a:t>
            </a:r>
            <a:r>
              <a:rPr lang="en-GB" sz="2400" spc="-10" dirty="0">
                <a:latin typeface="Carlito"/>
                <a:cs typeface="Carlito"/>
              </a:rPr>
              <a:t>disabilities.</a:t>
            </a:r>
            <a:endParaRPr lang="en-GB" sz="2400" dirty="0">
              <a:latin typeface="Carlito"/>
              <a:cs typeface="Carlito"/>
            </a:endParaRPr>
          </a:p>
          <a:p>
            <a:pPr marL="485140" lvl="1">
              <a:lnSpc>
                <a:spcPct val="100000"/>
              </a:lnSpc>
            </a:pPr>
            <a:r>
              <a:rPr lang="en-GB" sz="2000" spc="-10" dirty="0">
                <a:latin typeface="Carlito"/>
                <a:cs typeface="Carlito"/>
              </a:rPr>
              <a:t>Read more on: W3C</a:t>
            </a:r>
            <a:endParaRPr lang="en-GB" sz="2000" dirty="0">
              <a:latin typeface="Carlito"/>
              <a:cs typeface="Carlito"/>
            </a:endParaRPr>
          </a:p>
          <a:p>
            <a:pPr marL="0" indent="0">
              <a:buNone/>
            </a:pPr>
            <a:endParaRPr lang="en-GB" sz="2400" dirty="0"/>
          </a:p>
        </p:txBody>
      </p:sp>
    </p:spTree>
    <p:extLst>
      <p:ext uri="{BB962C8B-B14F-4D97-AF65-F5344CB8AC3E}">
        <p14:creationId xmlns:p14="http://schemas.microsoft.com/office/powerpoint/2010/main" val="33767639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57EE1AC-FAF6-C0BC-3E64-A160CD3B5FA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2B934B7-C43E-A2B3-7C80-ED6B5D0CEFDC}"/>
              </a:ext>
            </a:extLst>
          </p:cNvPr>
          <p:cNvSpPr>
            <a:spLocks noGrp="1"/>
          </p:cNvSpPr>
          <p:nvPr>
            <p:ph type="title"/>
          </p:nvPr>
        </p:nvSpPr>
        <p:spPr>
          <a:xfrm>
            <a:off x="1115568" y="548640"/>
            <a:ext cx="10168128" cy="1179576"/>
          </a:xfrm>
        </p:spPr>
        <p:txBody>
          <a:bodyPr>
            <a:normAutofit/>
          </a:bodyPr>
          <a:lstStyle/>
          <a:p>
            <a:r>
              <a:rPr lang="en-GB" sz="4000" spc="-10" dirty="0"/>
              <a:t>Accessibility</a:t>
            </a:r>
            <a:endParaRPr lang="en-GB" sz="4000" dirty="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D037916D-A716-4ABD-7872-47BED9F6F3EC}"/>
              </a:ext>
            </a:extLst>
          </p:cNvPr>
          <p:cNvSpPr>
            <a:spLocks noGrp="1"/>
          </p:cNvSpPr>
          <p:nvPr>
            <p:ph idx="1"/>
          </p:nvPr>
        </p:nvSpPr>
        <p:spPr>
          <a:xfrm>
            <a:off x="1115568" y="2481943"/>
            <a:ext cx="10168128" cy="3695020"/>
          </a:xfrm>
        </p:spPr>
        <p:txBody>
          <a:bodyPr>
            <a:normAutofit/>
          </a:bodyPr>
          <a:lstStyle/>
          <a:p>
            <a:pPr marL="240029" indent="-227329">
              <a:lnSpc>
                <a:spcPct val="100000"/>
              </a:lnSpc>
              <a:spcBef>
                <a:spcPts val="100"/>
              </a:spcBef>
              <a:buFont typeface="Arial"/>
              <a:buChar char="•"/>
              <a:tabLst>
                <a:tab pos="240029" algn="l"/>
              </a:tabLst>
            </a:pPr>
            <a:r>
              <a:rPr lang="en-GB" sz="2400" spc="-10" dirty="0">
                <a:latin typeface="Carlito"/>
                <a:cs typeface="Carlito"/>
              </a:rPr>
              <a:t>Web</a:t>
            </a:r>
            <a:r>
              <a:rPr lang="en-GB" sz="2400" spc="-70" dirty="0">
                <a:latin typeface="Carlito"/>
                <a:cs typeface="Carlito"/>
              </a:rPr>
              <a:t> </a:t>
            </a:r>
            <a:r>
              <a:rPr lang="en-GB" sz="2400" dirty="0">
                <a:latin typeface="Carlito"/>
                <a:cs typeface="Carlito"/>
              </a:rPr>
              <a:t>accessibility</a:t>
            </a:r>
            <a:r>
              <a:rPr lang="en-GB" sz="2400" spc="-70" dirty="0">
                <a:latin typeface="Carlito"/>
                <a:cs typeface="Carlito"/>
              </a:rPr>
              <a:t> </a:t>
            </a:r>
            <a:r>
              <a:rPr lang="en-GB" sz="2400" dirty="0">
                <a:latin typeface="Carlito"/>
                <a:cs typeface="Carlito"/>
              </a:rPr>
              <a:t>also</a:t>
            </a:r>
            <a:r>
              <a:rPr lang="en-GB" sz="2400" spc="-70" dirty="0">
                <a:latin typeface="Carlito"/>
                <a:cs typeface="Carlito"/>
              </a:rPr>
              <a:t> </a:t>
            </a:r>
            <a:r>
              <a:rPr lang="en-GB" sz="2400" dirty="0">
                <a:latin typeface="Carlito"/>
                <a:cs typeface="Carlito"/>
              </a:rPr>
              <a:t>benefits</a:t>
            </a:r>
            <a:r>
              <a:rPr lang="en-GB" sz="2400" spc="-75" dirty="0">
                <a:latin typeface="Carlito"/>
                <a:cs typeface="Carlito"/>
              </a:rPr>
              <a:t> </a:t>
            </a:r>
            <a:r>
              <a:rPr lang="en-GB" sz="2400" dirty="0">
                <a:latin typeface="Carlito"/>
                <a:cs typeface="Carlito"/>
              </a:rPr>
              <a:t>people</a:t>
            </a:r>
            <a:r>
              <a:rPr lang="en-GB" sz="2400" spc="-60" dirty="0">
                <a:latin typeface="Carlito"/>
                <a:cs typeface="Carlito"/>
              </a:rPr>
              <a:t> </a:t>
            </a:r>
            <a:r>
              <a:rPr lang="en-GB" sz="2400" b="1" i="1" dirty="0">
                <a:latin typeface="Carlito"/>
                <a:cs typeface="Carlito"/>
              </a:rPr>
              <a:t>without</a:t>
            </a:r>
            <a:r>
              <a:rPr lang="en-GB" sz="2400" b="1" i="1" spc="-65" dirty="0">
                <a:latin typeface="Carlito"/>
                <a:cs typeface="Carlito"/>
              </a:rPr>
              <a:t> </a:t>
            </a:r>
            <a:r>
              <a:rPr lang="en-GB" sz="2400" spc="-10" dirty="0">
                <a:latin typeface="Carlito"/>
                <a:cs typeface="Carlito"/>
              </a:rPr>
              <a:t>disabilities.</a:t>
            </a:r>
            <a:endParaRPr lang="en-GB" sz="2400" dirty="0">
              <a:latin typeface="Carlito"/>
              <a:cs typeface="Carlito"/>
            </a:endParaRPr>
          </a:p>
          <a:p>
            <a:pPr marL="241300" marR="5080">
              <a:lnSpc>
                <a:spcPts val="2590"/>
              </a:lnSpc>
              <a:spcBef>
                <a:spcPts val="2560"/>
              </a:spcBef>
            </a:pPr>
            <a:r>
              <a:rPr lang="en-GB" sz="2400" dirty="0">
                <a:latin typeface="Carlito"/>
                <a:cs typeface="Carlito"/>
              </a:rPr>
              <a:t>For</a:t>
            </a:r>
            <a:r>
              <a:rPr lang="en-GB" sz="2400" spc="-65" dirty="0">
                <a:latin typeface="Carlito"/>
                <a:cs typeface="Carlito"/>
              </a:rPr>
              <a:t> </a:t>
            </a:r>
            <a:r>
              <a:rPr lang="en-GB" sz="2400" spc="-10" dirty="0">
                <a:latin typeface="Carlito"/>
                <a:cs typeface="Carlito"/>
              </a:rPr>
              <a:t>example,</a:t>
            </a:r>
            <a:r>
              <a:rPr lang="en-GB" sz="2400" spc="-65" dirty="0">
                <a:latin typeface="Carlito"/>
                <a:cs typeface="Carlito"/>
              </a:rPr>
              <a:t> </a:t>
            </a:r>
            <a:r>
              <a:rPr lang="en-GB" sz="2400" dirty="0">
                <a:latin typeface="Carlito"/>
                <a:cs typeface="Carlito"/>
              </a:rPr>
              <a:t>a</a:t>
            </a:r>
            <a:r>
              <a:rPr lang="en-GB" sz="2400" spc="-65" dirty="0">
                <a:latin typeface="Carlito"/>
                <a:cs typeface="Carlito"/>
              </a:rPr>
              <a:t> </a:t>
            </a:r>
            <a:r>
              <a:rPr lang="en-GB" sz="2400" dirty="0">
                <a:latin typeface="Carlito"/>
                <a:cs typeface="Carlito"/>
              </a:rPr>
              <a:t>key</a:t>
            </a:r>
            <a:r>
              <a:rPr lang="en-GB" sz="2400" spc="-60" dirty="0">
                <a:latin typeface="Carlito"/>
                <a:cs typeface="Carlito"/>
              </a:rPr>
              <a:t> </a:t>
            </a:r>
            <a:r>
              <a:rPr lang="en-GB" sz="2400" dirty="0">
                <a:latin typeface="Carlito"/>
                <a:cs typeface="Carlito"/>
              </a:rPr>
              <a:t>principle</a:t>
            </a:r>
            <a:r>
              <a:rPr lang="en-GB" sz="2400" spc="-60" dirty="0">
                <a:latin typeface="Carlito"/>
                <a:cs typeface="Carlito"/>
              </a:rPr>
              <a:t> </a:t>
            </a:r>
            <a:r>
              <a:rPr lang="en-GB" sz="2400" dirty="0">
                <a:latin typeface="Carlito"/>
                <a:cs typeface="Carlito"/>
              </a:rPr>
              <a:t>of</a:t>
            </a:r>
            <a:r>
              <a:rPr lang="en-GB" sz="2400" spc="-60" dirty="0">
                <a:latin typeface="Carlito"/>
                <a:cs typeface="Carlito"/>
              </a:rPr>
              <a:t> </a:t>
            </a:r>
            <a:r>
              <a:rPr lang="en-GB" sz="2400" spc="-10" dirty="0">
                <a:latin typeface="Carlito"/>
                <a:cs typeface="Carlito"/>
              </a:rPr>
              <a:t>Web</a:t>
            </a:r>
            <a:r>
              <a:rPr lang="en-GB" sz="2400" spc="-65" dirty="0">
                <a:latin typeface="Carlito"/>
                <a:cs typeface="Carlito"/>
              </a:rPr>
              <a:t> </a:t>
            </a:r>
            <a:r>
              <a:rPr lang="en-GB" sz="2400" dirty="0">
                <a:latin typeface="Carlito"/>
                <a:cs typeface="Carlito"/>
              </a:rPr>
              <a:t>accessibility</a:t>
            </a:r>
            <a:r>
              <a:rPr lang="en-GB" sz="2400" spc="-60" dirty="0">
                <a:latin typeface="Carlito"/>
                <a:cs typeface="Carlito"/>
              </a:rPr>
              <a:t> </a:t>
            </a:r>
            <a:r>
              <a:rPr lang="en-GB" sz="2400" dirty="0">
                <a:latin typeface="Carlito"/>
                <a:cs typeface="Carlito"/>
              </a:rPr>
              <a:t>is</a:t>
            </a:r>
            <a:r>
              <a:rPr lang="en-GB" sz="2400" spc="-70" dirty="0">
                <a:latin typeface="Carlito"/>
                <a:cs typeface="Carlito"/>
              </a:rPr>
              <a:t> </a:t>
            </a:r>
            <a:r>
              <a:rPr lang="en-GB" sz="2400" spc="-10" dirty="0">
                <a:latin typeface="Carlito"/>
                <a:cs typeface="Carlito"/>
              </a:rPr>
              <a:t>designing Web</a:t>
            </a:r>
            <a:r>
              <a:rPr lang="en-GB" sz="2400" spc="-75" dirty="0">
                <a:latin typeface="Carlito"/>
                <a:cs typeface="Carlito"/>
              </a:rPr>
              <a:t> </a:t>
            </a:r>
            <a:r>
              <a:rPr lang="en-GB" sz="2400" dirty="0">
                <a:latin typeface="Carlito"/>
                <a:cs typeface="Carlito"/>
              </a:rPr>
              <a:t>sites</a:t>
            </a:r>
            <a:r>
              <a:rPr lang="en-GB" sz="2400" spc="-80" dirty="0">
                <a:latin typeface="Carlito"/>
                <a:cs typeface="Carlito"/>
              </a:rPr>
              <a:t> </a:t>
            </a:r>
            <a:r>
              <a:rPr lang="en-GB" sz="2400" dirty="0">
                <a:latin typeface="Carlito"/>
                <a:cs typeface="Carlito"/>
              </a:rPr>
              <a:t>and</a:t>
            </a:r>
            <a:r>
              <a:rPr lang="en-GB" sz="2400" spc="-70" dirty="0">
                <a:latin typeface="Carlito"/>
                <a:cs typeface="Carlito"/>
              </a:rPr>
              <a:t> </a:t>
            </a:r>
            <a:r>
              <a:rPr lang="en-GB" sz="2400" dirty="0">
                <a:latin typeface="Carlito"/>
                <a:cs typeface="Carlito"/>
              </a:rPr>
              <a:t>software</a:t>
            </a:r>
            <a:r>
              <a:rPr lang="en-GB" sz="2400" spc="-70" dirty="0">
                <a:latin typeface="Carlito"/>
                <a:cs typeface="Carlito"/>
              </a:rPr>
              <a:t> </a:t>
            </a:r>
            <a:r>
              <a:rPr lang="en-GB" sz="2400" dirty="0">
                <a:latin typeface="Carlito"/>
                <a:cs typeface="Carlito"/>
              </a:rPr>
              <a:t>that</a:t>
            </a:r>
            <a:r>
              <a:rPr lang="en-GB" sz="2400" spc="-80" dirty="0">
                <a:latin typeface="Carlito"/>
                <a:cs typeface="Carlito"/>
              </a:rPr>
              <a:t> </a:t>
            </a:r>
            <a:r>
              <a:rPr lang="en-GB" sz="2400" dirty="0">
                <a:latin typeface="Carlito"/>
                <a:cs typeface="Carlito"/>
              </a:rPr>
              <a:t>are</a:t>
            </a:r>
            <a:r>
              <a:rPr lang="en-GB" sz="2400" spc="-65" dirty="0">
                <a:latin typeface="Carlito"/>
                <a:cs typeface="Carlito"/>
              </a:rPr>
              <a:t> </a:t>
            </a:r>
            <a:r>
              <a:rPr lang="en-GB" sz="2400" b="1" i="1" dirty="0">
                <a:latin typeface="Carlito"/>
                <a:cs typeface="Carlito"/>
              </a:rPr>
              <a:t>flexible</a:t>
            </a:r>
            <a:r>
              <a:rPr lang="en-GB" sz="2400" b="1" i="1" spc="-85" dirty="0">
                <a:latin typeface="Carlito"/>
                <a:cs typeface="Carlito"/>
              </a:rPr>
              <a:t> </a:t>
            </a:r>
            <a:r>
              <a:rPr lang="en-GB" sz="2400" dirty="0">
                <a:latin typeface="Carlito"/>
                <a:cs typeface="Carlito"/>
              </a:rPr>
              <a:t>to</a:t>
            </a:r>
            <a:r>
              <a:rPr lang="en-GB" sz="2400" spc="-75" dirty="0">
                <a:latin typeface="Carlito"/>
                <a:cs typeface="Carlito"/>
              </a:rPr>
              <a:t> </a:t>
            </a:r>
            <a:r>
              <a:rPr lang="en-GB" sz="2400" dirty="0">
                <a:latin typeface="Carlito"/>
                <a:cs typeface="Carlito"/>
              </a:rPr>
              <a:t>meet</a:t>
            </a:r>
            <a:r>
              <a:rPr lang="en-GB" sz="2400" spc="-85" dirty="0">
                <a:latin typeface="Carlito"/>
                <a:cs typeface="Carlito"/>
              </a:rPr>
              <a:t> </a:t>
            </a:r>
            <a:r>
              <a:rPr lang="en-GB" sz="2400" b="1" i="1" dirty="0">
                <a:latin typeface="Carlito"/>
                <a:cs typeface="Carlito"/>
              </a:rPr>
              <a:t>different</a:t>
            </a:r>
            <a:r>
              <a:rPr lang="en-GB" sz="2400" b="1" i="1" spc="-65" dirty="0">
                <a:latin typeface="Carlito"/>
                <a:cs typeface="Carlito"/>
              </a:rPr>
              <a:t> </a:t>
            </a:r>
            <a:r>
              <a:rPr lang="en-GB" sz="2400" b="1" i="1" spc="-20" dirty="0">
                <a:latin typeface="Carlito"/>
                <a:cs typeface="Carlito"/>
              </a:rPr>
              <a:t>user </a:t>
            </a:r>
            <a:r>
              <a:rPr lang="en-GB" sz="2400" b="1" i="1" dirty="0">
                <a:latin typeface="Carlito"/>
                <a:cs typeface="Carlito"/>
              </a:rPr>
              <a:t>needs,</a:t>
            </a:r>
            <a:r>
              <a:rPr lang="en-GB" sz="2400" b="1" i="1" spc="-25" dirty="0">
                <a:latin typeface="Carlito"/>
                <a:cs typeface="Carlito"/>
              </a:rPr>
              <a:t> </a:t>
            </a:r>
            <a:r>
              <a:rPr lang="en-GB" sz="2400" b="1" i="1" spc="-10" dirty="0">
                <a:latin typeface="Carlito"/>
                <a:cs typeface="Carlito"/>
              </a:rPr>
              <a:t>preferences,</a:t>
            </a:r>
            <a:r>
              <a:rPr lang="en-GB" sz="2400" b="1" i="1" spc="-30" dirty="0">
                <a:latin typeface="Carlito"/>
                <a:cs typeface="Carlito"/>
              </a:rPr>
              <a:t> </a:t>
            </a:r>
            <a:r>
              <a:rPr lang="en-GB" sz="2400" b="1" i="1" dirty="0">
                <a:latin typeface="Carlito"/>
                <a:cs typeface="Carlito"/>
              </a:rPr>
              <a:t>and</a:t>
            </a:r>
            <a:r>
              <a:rPr lang="en-GB" sz="2400" b="1" i="1" spc="-30" dirty="0">
                <a:latin typeface="Carlito"/>
                <a:cs typeface="Carlito"/>
              </a:rPr>
              <a:t> </a:t>
            </a:r>
            <a:r>
              <a:rPr lang="en-GB" sz="2400" b="1" i="1" spc="-10" dirty="0">
                <a:latin typeface="Carlito"/>
                <a:cs typeface="Carlito"/>
              </a:rPr>
              <a:t>situations</a:t>
            </a:r>
            <a:r>
              <a:rPr lang="en-GB" sz="2400" spc="-10" dirty="0">
                <a:latin typeface="Carlito"/>
                <a:cs typeface="Carlito"/>
              </a:rPr>
              <a:t>.</a:t>
            </a:r>
          </a:p>
          <a:p>
            <a:pPr marL="241300" marR="5080">
              <a:lnSpc>
                <a:spcPts val="2590"/>
              </a:lnSpc>
              <a:spcBef>
                <a:spcPts val="2560"/>
              </a:spcBef>
            </a:pPr>
            <a:r>
              <a:rPr lang="en-GB" sz="2400" dirty="0">
                <a:latin typeface="Carlito"/>
                <a:cs typeface="Carlito"/>
              </a:rPr>
              <a:t>One example for improving accessibility is to choose colour palettes suitable  for people with colour vision deficiency (e.g. using </a:t>
            </a:r>
            <a:r>
              <a:rPr lang="en-GB" sz="2400" dirty="0">
                <a:latin typeface="Carlito"/>
                <a:cs typeface="Carlito"/>
                <a:hlinkClick r:id="rId2"/>
              </a:rPr>
              <a:t>ColorBrewer</a:t>
            </a:r>
            <a:r>
              <a:rPr lang="en-GB" sz="2400" dirty="0">
                <a:latin typeface="Carlito"/>
                <a:cs typeface="Carlito"/>
              </a:rPr>
              <a:t>).</a:t>
            </a:r>
          </a:p>
          <a:p>
            <a:pPr marL="12700" marR="5080" indent="0">
              <a:lnSpc>
                <a:spcPts val="2590"/>
              </a:lnSpc>
              <a:spcBef>
                <a:spcPts val="2560"/>
              </a:spcBef>
              <a:buNone/>
            </a:pPr>
            <a:endParaRPr lang="en-GB" sz="2400" dirty="0">
              <a:latin typeface="Carlito"/>
              <a:cs typeface="Carlito"/>
            </a:endParaRPr>
          </a:p>
          <a:p>
            <a:endParaRPr lang="en-GB" sz="2400" dirty="0"/>
          </a:p>
        </p:txBody>
      </p:sp>
    </p:spTree>
    <p:extLst>
      <p:ext uri="{BB962C8B-B14F-4D97-AF65-F5344CB8AC3E}">
        <p14:creationId xmlns:p14="http://schemas.microsoft.com/office/powerpoint/2010/main" val="41683083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46DAB07-303F-569C-4D22-0C4581B20BC3}"/>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descr="Accessibility illustration ">
            <a:extLst>
              <a:ext uri="{FF2B5EF4-FFF2-40B4-BE49-F238E27FC236}">
                <a16:creationId xmlns:a16="http://schemas.microsoft.com/office/drawing/2014/main" id="{ADF6EA9D-0E66-3480-01F2-B576C8762110}"/>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kern="1200" spc="-30" dirty="0">
                <a:solidFill>
                  <a:schemeClr val="tx1"/>
                </a:solidFill>
                <a:latin typeface="+mj-lt"/>
                <a:ea typeface="+mj-ea"/>
                <a:cs typeface="+mj-cs"/>
              </a:rPr>
              <a:t>Accessibility</a:t>
            </a:r>
            <a:endParaRPr lang="en-US" sz="4800" kern="1200" dirty="0">
              <a:solidFill>
                <a:schemeClr val="tx1"/>
              </a:solidFill>
              <a:latin typeface="+mj-lt"/>
              <a:ea typeface="+mj-ea"/>
              <a:cs typeface="+mj-cs"/>
            </a:endParaRPr>
          </a:p>
        </p:txBody>
      </p:sp>
      <p:sp>
        <p:nvSpPr>
          <p:cNvPr id="21" name="Rectangle 20">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5" name="object 4" descr="Accessibility illustration ">
            <a:extLst>
              <a:ext uri="{FF2B5EF4-FFF2-40B4-BE49-F238E27FC236}">
                <a16:creationId xmlns:a16="http://schemas.microsoft.com/office/drawing/2014/main" id="{A6032520-499D-73F2-ECFE-D9185B6A7D90}"/>
              </a:ext>
            </a:extLst>
          </p:cNvPr>
          <p:cNvPicPr>
            <a:picLocks noGrp="1"/>
          </p:cNvPicPr>
          <p:nvPr>
            <p:ph idx="1"/>
          </p:nvPr>
        </p:nvPicPr>
        <p:blipFill>
          <a:blip r:embed="rId2" cstate="print"/>
          <a:stretch>
            <a:fillRect/>
          </a:stretch>
        </p:blipFill>
        <p:spPr>
          <a:xfrm>
            <a:off x="4864608" y="1356517"/>
            <a:ext cx="6846363" cy="3993711"/>
          </a:xfrm>
          <a:prstGeom prst="rect">
            <a:avLst/>
          </a:prstGeom>
        </p:spPr>
      </p:pic>
      <p:sp>
        <p:nvSpPr>
          <p:cNvPr id="4" name="object 3">
            <a:extLst>
              <a:ext uri="{FF2B5EF4-FFF2-40B4-BE49-F238E27FC236}">
                <a16:creationId xmlns:a16="http://schemas.microsoft.com/office/drawing/2014/main" id="{A791B503-0498-2D84-69B5-9FC29798AFC7}"/>
              </a:ext>
            </a:extLst>
          </p:cNvPr>
          <p:cNvSpPr txBox="1"/>
          <p:nvPr/>
        </p:nvSpPr>
        <p:spPr>
          <a:xfrm>
            <a:off x="554377" y="6376923"/>
            <a:ext cx="2588260" cy="269240"/>
          </a:xfrm>
          <a:prstGeom prst="rect">
            <a:avLst/>
          </a:prstGeom>
        </p:spPr>
        <p:txBody>
          <a:bodyPr vert="horz" wrap="square" lIns="0" tIns="12700" rIns="0" bIns="0" rtlCol="0">
            <a:spAutoFit/>
          </a:bodyPr>
          <a:lstStyle/>
          <a:p>
            <a:pPr marL="12700">
              <a:spcBef>
                <a:spcPts val="100"/>
              </a:spcBef>
            </a:pPr>
            <a:r>
              <a:rPr sz="1600" dirty="0">
                <a:latin typeface="Carlito"/>
                <a:cs typeface="Carlito"/>
              </a:rPr>
              <a:t>Image</a:t>
            </a:r>
            <a:r>
              <a:rPr sz="1600" spc="-50" dirty="0">
                <a:latin typeface="Carlito"/>
                <a:cs typeface="Carlito"/>
              </a:rPr>
              <a:t> </a:t>
            </a:r>
            <a:r>
              <a:rPr sz="1600" dirty="0">
                <a:latin typeface="Carlito"/>
                <a:cs typeface="Carlito"/>
              </a:rPr>
              <a:t>Source:</a:t>
            </a:r>
            <a:r>
              <a:rPr sz="1600" spc="-65" dirty="0">
                <a:latin typeface="Carlito"/>
                <a:cs typeface="Carlito"/>
              </a:rPr>
              <a:t> </a:t>
            </a:r>
            <a:r>
              <a:rPr sz="1600" u="sng" spc="-10" dirty="0">
                <a:solidFill>
                  <a:srgbClr val="0563C1"/>
                </a:solidFill>
                <a:uFill>
                  <a:solidFill>
                    <a:srgbClr val="0563C1"/>
                  </a:solidFill>
                </a:uFill>
                <a:latin typeface="Carlito"/>
                <a:cs typeface="Carlito"/>
              </a:rPr>
              <a:t>kinexmedia.com</a:t>
            </a:r>
            <a:endParaRPr lang="en-NO" sz="1600">
              <a:latin typeface="Carlito"/>
              <a:cs typeface="Carlito"/>
            </a:endParaRPr>
          </a:p>
        </p:txBody>
      </p:sp>
    </p:spTree>
    <p:extLst>
      <p:ext uri="{BB962C8B-B14F-4D97-AF65-F5344CB8AC3E}">
        <p14:creationId xmlns:p14="http://schemas.microsoft.com/office/powerpoint/2010/main" val="27670325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4A6B23-033D-86B2-7FF2-109903B8FA4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90DC75C-C841-620A-6357-AFC36048AB07}"/>
              </a:ext>
            </a:extLst>
          </p:cNvPr>
          <p:cNvSpPr>
            <a:spLocks noGrp="1"/>
          </p:cNvSpPr>
          <p:nvPr>
            <p:ph type="title"/>
          </p:nvPr>
        </p:nvSpPr>
        <p:spPr>
          <a:xfrm>
            <a:off x="1115568" y="548640"/>
            <a:ext cx="10168128" cy="1179576"/>
          </a:xfrm>
        </p:spPr>
        <p:txBody>
          <a:bodyPr>
            <a:normAutofit/>
          </a:bodyPr>
          <a:lstStyle/>
          <a:p>
            <a:r>
              <a:rPr lang="en-GB" sz="4000" spc="-10" dirty="0"/>
              <a:t>Summary</a:t>
            </a:r>
            <a:endParaRPr lang="en-GB" sz="4000" dirty="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3B409EB6-0E2E-20BA-FB19-12B8AE194274}"/>
              </a:ext>
            </a:extLst>
          </p:cNvPr>
          <p:cNvSpPr>
            <a:spLocks noGrp="1"/>
          </p:cNvSpPr>
          <p:nvPr>
            <p:ph idx="1"/>
          </p:nvPr>
        </p:nvSpPr>
        <p:spPr>
          <a:xfrm>
            <a:off x="1115568" y="2481943"/>
            <a:ext cx="10168128" cy="3695020"/>
          </a:xfrm>
        </p:spPr>
        <p:txBody>
          <a:bodyPr>
            <a:normAutofit/>
          </a:bodyPr>
          <a:lstStyle/>
          <a:p>
            <a:pPr marL="12700" marR="110489">
              <a:lnSpc>
                <a:spcPct val="88700"/>
              </a:lnSpc>
              <a:spcBef>
                <a:spcPts val="425"/>
              </a:spcBef>
            </a:pPr>
            <a:r>
              <a:rPr lang="en-GB" sz="2000" dirty="0">
                <a:latin typeface="Carlito"/>
                <a:cs typeface="Carlito"/>
              </a:rPr>
              <a:t>This</a:t>
            </a:r>
            <a:r>
              <a:rPr lang="en-GB" sz="2000" spc="-55" dirty="0">
                <a:latin typeface="Carlito"/>
                <a:cs typeface="Carlito"/>
              </a:rPr>
              <a:t> </a:t>
            </a:r>
            <a:r>
              <a:rPr lang="en-GB" sz="2000" dirty="0">
                <a:latin typeface="Carlito"/>
                <a:cs typeface="Carlito"/>
              </a:rPr>
              <a:t>module</a:t>
            </a:r>
            <a:r>
              <a:rPr lang="en-GB" sz="2000" spc="-50" dirty="0">
                <a:latin typeface="Carlito"/>
                <a:cs typeface="Carlito"/>
              </a:rPr>
              <a:t> </a:t>
            </a:r>
            <a:r>
              <a:rPr lang="en-GB" sz="2000" dirty="0">
                <a:latin typeface="Carlito"/>
                <a:cs typeface="Carlito"/>
              </a:rPr>
              <a:t>will</a:t>
            </a:r>
            <a:r>
              <a:rPr lang="en-GB" sz="2000" spc="-55" dirty="0">
                <a:latin typeface="Carlito"/>
                <a:cs typeface="Carlito"/>
              </a:rPr>
              <a:t> </a:t>
            </a:r>
            <a:r>
              <a:rPr lang="en-GB" sz="2000" dirty="0">
                <a:latin typeface="Carlito"/>
                <a:cs typeface="Carlito"/>
              </a:rPr>
              <a:t>focus</a:t>
            </a:r>
            <a:r>
              <a:rPr lang="en-GB" sz="2000" spc="-55" dirty="0">
                <a:latin typeface="Carlito"/>
                <a:cs typeface="Carlito"/>
              </a:rPr>
              <a:t> </a:t>
            </a:r>
            <a:r>
              <a:rPr lang="en-GB" sz="2000" dirty="0">
                <a:latin typeface="Carlito"/>
                <a:cs typeface="Carlito"/>
              </a:rPr>
              <a:t>on</a:t>
            </a:r>
            <a:r>
              <a:rPr lang="en-GB" sz="2000" spc="-50" dirty="0">
                <a:latin typeface="Carlito"/>
                <a:cs typeface="Carlito"/>
              </a:rPr>
              <a:t> </a:t>
            </a:r>
            <a:r>
              <a:rPr lang="en-GB" sz="2000" dirty="0">
                <a:latin typeface="Carlito"/>
                <a:cs typeface="Carlito"/>
              </a:rPr>
              <a:t>the</a:t>
            </a:r>
            <a:r>
              <a:rPr lang="en-GB" sz="2000" spc="-45" dirty="0">
                <a:latin typeface="Carlito"/>
                <a:cs typeface="Carlito"/>
              </a:rPr>
              <a:t> </a:t>
            </a:r>
            <a:r>
              <a:rPr lang="en-GB" sz="2000" dirty="0">
                <a:latin typeface="Carlito"/>
                <a:cs typeface="Carlito"/>
              </a:rPr>
              <a:t>User</a:t>
            </a:r>
            <a:r>
              <a:rPr lang="en-GB" sz="2000" spc="-50" dirty="0">
                <a:latin typeface="Carlito"/>
                <a:cs typeface="Carlito"/>
              </a:rPr>
              <a:t> </a:t>
            </a:r>
            <a:r>
              <a:rPr lang="en-GB" sz="2000" dirty="0">
                <a:latin typeface="Carlito"/>
                <a:cs typeface="Carlito"/>
              </a:rPr>
              <a:t>Experience</a:t>
            </a:r>
            <a:r>
              <a:rPr lang="en-GB" sz="2000" spc="-45" dirty="0">
                <a:latin typeface="Carlito"/>
                <a:cs typeface="Carlito"/>
              </a:rPr>
              <a:t> </a:t>
            </a:r>
            <a:r>
              <a:rPr lang="en-GB" sz="2000" dirty="0">
                <a:latin typeface="Carlito"/>
                <a:cs typeface="Carlito"/>
              </a:rPr>
              <a:t>of</a:t>
            </a:r>
            <a:r>
              <a:rPr lang="en-GB" sz="2000" spc="-50" dirty="0">
                <a:latin typeface="Carlito"/>
                <a:cs typeface="Carlito"/>
              </a:rPr>
              <a:t> </a:t>
            </a:r>
            <a:r>
              <a:rPr lang="en-GB" sz="2000" spc="-10" dirty="0">
                <a:latin typeface="Carlito"/>
                <a:cs typeface="Carlito"/>
              </a:rPr>
              <a:t>Web</a:t>
            </a:r>
            <a:r>
              <a:rPr lang="en-GB" sz="2000" spc="-50" dirty="0">
                <a:latin typeface="Carlito"/>
                <a:cs typeface="Carlito"/>
              </a:rPr>
              <a:t> </a:t>
            </a:r>
            <a:r>
              <a:rPr lang="en-GB" sz="2000" spc="-10" dirty="0">
                <a:latin typeface="Carlito"/>
                <a:cs typeface="Carlito"/>
              </a:rPr>
              <a:t>Design. </a:t>
            </a:r>
            <a:r>
              <a:rPr lang="en-GB" sz="2000" dirty="0">
                <a:latin typeface="Carlito"/>
                <a:cs typeface="Carlito"/>
              </a:rPr>
              <a:t>This</a:t>
            </a:r>
            <a:r>
              <a:rPr lang="en-GB" sz="2000" spc="-50" dirty="0">
                <a:latin typeface="Carlito"/>
                <a:cs typeface="Carlito"/>
              </a:rPr>
              <a:t> </a:t>
            </a:r>
            <a:r>
              <a:rPr lang="en-GB" sz="2000" dirty="0">
                <a:latin typeface="Carlito"/>
                <a:cs typeface="Carlito"/>
              </a:rPr>
              <a:t>is</a:t>
            </a:r>
            <a:r>
              <a:rPr lang="en-GB" sz="2000" spc="-45" dirty="0">
                <a:latin typeface="Carlito"/>
                <a:cs typeface="Carlito"/>
              </a:rPr>
              <a:t> </a:t>
            </a:r>
            <a:r>
              <a:rPr lang="en-GB" sz="2000" dirty="0">
                <a:latin typeface="Carlito"/>
                <a:cs typeface="Carlito"/>
              </a:rPr>
              <a:t>a</a:t>
            </a:r>
            <a:r>
              <a:rPr lang="en-GB" sz="2000" spc="-45" dirty="0">
                <a:latin typeface="Carlito"/>
                <a:cs typeface="Carlito"/>
              </a:rPr>
              <a:t> </a:t>
            </a:r>
            <a:r>
              <a:rPr lang="en-GB" sz="2000" spc="-10" dirty="0">
                <a:latin typeface="Carlito"/>
                <a:cs typeface="Carlito"/>
              </a:rPr>
              <a:t>framework</a:t>
            </a:r>
            <a:r>
              <a:rPr lang="en-GB" sz="2000" spc="-45" dirty="0">
                <a:latin typeface="Carlito"/>
                <a:cs typeface="Carlito"/>
              </a:rPr>
              <a:t> </a:t>
            </a:r>
            <a:r>
              <a:rPr lang="en-GB" sz="2000" dirty="0">
                <a:latin typeface="Carlito"/>
                <a:cs typeface="Carlito"/>
              </a:rPr>
              <a:t>that</a:t>
            </a:r>
            <a:r>
              <a:rPr lang="en-GB" sz="2000" spc="-45" dirty="0">
                <a:latin typeface="Carlito"/>
                <a:cs typeface="Carlito"/>
              </a:rPr>
              <a:t> </a:t>
            </a:r>
            <a:r>
              <a:rPr lang="en-GB" sz="2000" dirty="0">
                <a:latin typeface="Carlito"/>
                <a:cs typeface="Carlito"/>
              </a:rPr>
              <a:t>brings</a:t>
            </a:r>
            <a:r>
              <a:rPr lang="en-GB" sz="2000" spc="-50" dirty="0">
                <a:latin typeface="Carlito"/>
                <a:cs typeface="Carlito"/>
              </a:rPr>
              <a:t> </a:t>
            </a:r>
            <a:r>
              <a:rPr lang="en-GB" sz="2000" dirty="0">
                <a:latin typeface="Carlito"/>
                <a:cs typeface="Carlito"/>
              </a:rPr>
              <a:t>together</a:t>
            </a:r>
            <a:r>
              <a:rPr lang="en-GB" sz="2000" spc="-40" dirty="0">
                <a:latin typeface="Carlito"/>
                <a:cs typeface="Carlito"/>
              </a:rPr>
              <a:t> </a:t>
            </a:r>
            <a:r>
              <a:rPr lang="en-GB" sz="2000" dirty="0">
                <a:latin typeface="Carlito"/>
                <a:cs typeface="Carlito"/>
              </a:rPr>
              <a:t>all</a:t>
            </a:r>
            <a:r>
              <a:rPr lang="en-GB" sz="2000" spc="-50" dirty="0">
                <a:latin typeface="Carlito"/>
                <a:cs typeface="Carlito"/>
              </a:rPr>
              <a:t> </a:t>
            </a:r>
            <a:r>
              <a:rPr lang="en-GB" sz="2000" dirty="0">
                <a:latin typeface="Carlito"/>
                <a:cs typeface="Carlito"/>
              </a:rPr>
              <a:t>aspects</a:t>
            </a:r>
            <a:r>
              <a:rPr lang="en-GB" sz="2000" spc="-45" dirty="0">
                <a:latin typeface="Carlito"/>
                <a:cs typeface="Carlito"/>
              </a:rPr>
              <a:t> </a:t>
            </a:r>
            <a:r>
              <a:rPr lang="en-GB" sz="2000" dirty="0">
                <a:latin typeface="Carlito"/>
                <a:cs typeface="Carlito"/>
              </a:rPr>
              <a:t>of</a:t>
            </a:r>
            <a:r>
              <a:rPr lang="en-GB" sz="2000" spc="-35" dirty="0">
                <a:latin typeface="Carlito"/>
                <a:cs typeface="Carlito"/>
              </a:rPr>
              <a:t> </a:t>
            </a:r>
            <a:r>
              <a:rPr lang="en-GB" sz="2000" spc="-25" dirty="0">
                <a:latin typeface="Carlito"/>
                <a:cs typeface="Carlito"/>
              </a:rPr>
              <a:t>web </a:t>
            </a:r>
            <a:r>
              <a:rPr lang="en-GB" sz="2000" spc="-10" dirty="0">
                <a:latin typeface="Carlito"/>
                <a:cs typeface="Carlito"/>
              </a:rPr>
              <a:t>design.</a:t>
            </a:r>
            <a:endParaRPr lang="en-GB" sz="2000" dirty="0">
              <a:latin typeface="Carlito"/>
              <a:cs typeface="Carlito"/>
            </a:endParaRPr>
          </a:p>
          <a:p>
            <a:pPr marL="12700" marR="449580">
              <a:lnSpc>
                <a:spcPts val="2590"/>
              </a:lnSpc>
              <a:spcBef>
                <a:spcPts val="1045"/>
              </a:spcBef>
            </a:pPr>
            <a:r>
              <a:rPr lang="en-GB" sz="2000" dirty="0">
                <a:latin typeface="Carlito"/>
                <a:cs typeface="Carlito"/>
              </a:rPr>
              <a:t>Alongside</a:t>
            </a:r>
            <a:r>
              <a:rPr lang="en-GB" sz="2000" spc="-50" dirty="0">
                <a:latin typeface="Carlito"/>
                <a:cs typeface="Carlito"/>
              </a:rPr>
              <a:t> </a:t>
            </a:r>
            <a:r>
              <a:rPr lang="en-GB" sz="2000" dirty="0">
                <a:latin typeface="Carlito"/>
                <a:cs typeface="Carlito"/>
              </a:rPr>
              <a:t>this,</a:t>
            </a:r>
            <a:r>
              <a:rPr lang="en-GB" sz="2000" spc="-50" dirty="0">
                <a:latin typeface="Carlito"/>
                <a:cs typeface="Carlito"/>
              </a:rPr>
              <a:t> </a:t>
            </a:r>
            <a:r>
              <a:rPr lang="en-GB" sz="2000" dirty="0">
                <a:latin typeface="Carlito"/>
                <a:cs typeface="Carlito"/>
              </a:rPr>
              <a:t>cutting</a:t>
            </a:r>
            <a:r>
              <a:rPr lang="en-GB" sz="2000" spc="-55" dirty="0">
                <a:latin typeface="Carlito"/>
                <a:cs typeface="Carlito"/>
              </a:rPr>
              <a:t> </a:t>
            </a:r>
            <a:r>
              <a:rPr lang="en-GB" sz="2000" dirty="0">
                <a:latin typeface="Carlito"/>
                <a:cs typeface="Carlito"/>
              </a:rPr>
              <a:t>across</a:t>
            </a:r>
            <a:r>
              <a:rPr lang="en-GB" sz="2000" spc="-60" dirty="0">
                <a:latin typeface="Carlito"/>
                <a:cs typeface="Carlito"/>
              </a:rPr>
              <a:t> </a:t>
            </a:r>
            <a:r>
              <a:rPr lang="en-GB" sz="2000" dirty="0">
                <a:latin typeface="Carlito"/>
                <a:cs typeface="Carlito"/>
              </a:rPr>
              <a:t>almost</a:t>
            </a:r>
            <a:r>
              <a:rPr lang="en-GB" sz="2000" spc="-55" dirty="0">
                <a:latin typeface="Carlito"/>
                <a:cs typeface="Carlito"/>
              </a:rPr>
              <a:t> </a:t>
            </a:r>
            <a:r>
              <a:rPr lang="en-GB" sz="2000" dirty="0">
                <a:latin typeface="Carlito"/>
                <a:cs typeface="Carlito"/>
              </a:rPr>
              <a:t>all</a:t>
            </a:r>
            <a:r>
              <a:rPr lang="en-GB" sz="2000" spc="-55" dirty="0">
                <a:latin typeface="Carlito"/>
                <a:cs typeface="Carlito"/>
              </a:rPr>
              <a:t> </a:t>
            </a:r>
            <a:r>
              <a:rPr lang="en-GB" sz="2000" dirty="0">
                <a:latin typeface="Carlito"/>
                <a:cs typeface="Carlito"/>
              </a:rPr>
              <a:t>aspects</a:t>
            </a:r>
            <a:r>
              <a:rPr lang="en-GB" sz="2000" spc="-55" dirty="0">
                <a:latin typeface="Carlito"/>
                <a:cs typeface="Carlito"/>
              </a:rPr>
              <a:t> </a:t>
            </a:r>
            <a:r>
              <a:rPr lang="en-GB" sz="2000" dirty="0">
                <a:latin typeface="Carlito"/>
                <a:cs typeface="Carlito"/>
              </a:rPr>
              <a:t>of</a:t>
            </a:r>
            <a:r>
              <a:rPr lang="en-GB" sz="2000" spc="-50" dirty="0">
                <a:latin typeface="Carlito"/>
                <a:cs typeface="Carlito"/>
              </a:rPr>
              <a:t> </a:t>
            </a:r>
            <a:r>
              <a:rPr lang="en-GB" sz="2000" dirty="0">
                <a:latin typeface="Carlito"/>
                <a:cs typeface="Carlito"/>
              </a:rPr>
              <a:t>the</a:t>
            </a:r>
            <a:r>
              <a:rPr lang="en-GB" sz="2000" spc="-45" dirty="0">
                <a:latin typeface="Carlito"/>
                <a:cs typeface="Carlito"/>
              </a:rPr>
              <a:t> </a:t>
            </a:r>
            <a:r>
              <a:rPr lang="en-GB" sz="2000" spc="-25" dirty="0">
                <a:latin typeface="Carlito"/>
                <a:cs typeface="Carlito"/>
              </a:rPr>
              <a:t>Web </a:t>
            </a:r>
            <a:r>
              <a:rPr lang="en-GB" sz="2000" dirty="0">
                <a:latin typeface="Carlito"/>
                <a:cs typeface="Carlito"/>
              </a:rPr>
              <a:t>Design</a:t>
            </a:r>
            <a:r>
              <a:rPr lang="en-GB" sz="2000" spc="-55" dirty="0">
                <a:latin typeface="Carlito"/>
                <a:cs typeface="Carlito"/>
              </a:rPr>
              <a:t> </a:t>
            </a:r>
            <a:r>
              <a:rPr lang="en-GB" sz="2000" dirty="0">
                <a:latin typeface="Carlito"/>
                <a:cs typeface="Carlito"/>
              </a:rPr>
              <a:t>is</a:t>
            </a:r>
            <a:r>
              <a:rPr lang="en-GB" sz="2000" spc="-55" dirty="0">
                <a:latin typeface="Carlito"/>
                <a:cs typeface="Carlito"/>
              </a:rPr>
              <a:t> </a:t>
            </a:r>
            <a:r>
              <a:rPr lang="en-GB" sz="2000" dirty="0">
                <a:latin typeface="Carlito"/>
                <a:cs typeface="Carlito"/>
              </a:rPr>
              <a:t>usability</a:t>
            </a:r>
            <a:r>
              <a:rPr lang="en-GB" sz="2000" spc="-50" dirty="0">
                <a:latin typeface="Carlito"/>
                <a:cs typeface="Carlito"/>
              </a:rPr>
              <a:t> </a:t>
            </a:r>
            <a:r>
              <a:rPr lang="en-GB" sz="2000" dirty="0">
                <a:latin typeface="Carlito"/>
                <a:cs typeface="Carlito"/>
              </a:rPr>
              <a:t>and</a:t>
            </a:r>
            <a:r>
              <a:rPr lang="en-GB" sz="2000" spc="-55" dirty="0">
                <a:latin typeface="Carlito"/>
                <a:cs typeface="Carlito"/>
              </a:rPr>
              <a:t> </a:t>
            </a:r>
            <a:r>
              <a:rPr lang="en-GB" sz="2000" spc="-10" dirty="0">
                <a:latin typeface="Carlito"/>
                <a:cs typeface="Carlito"/>
              </a:rPr>
              <a:t>accessibility.</a:t>
            </a:r>
            <a:r>
              <a:rPr lang="en-GB" sz="2000" spc="-55" dirty="0">
                <a:latin typeface="Carlito"/>
                <a:cs typeface="Carlito"/>
              </a:rPr>
              <a:t> </a:t>
            </a:r>
            <a:r>
              <a:rPr lang="en-GB" sz="2000" dirty="0">
                <a:latin typeface="Carlito"/>
                <a:cs typeface="Carlito"/>
              </a:rPr>
              <a:t>These</a:t>
            </a:r>
            <a:r>
              <a:rPr lang="en-GB" sz="2000" spc="-50" dirty="0">
                <a:latin typeface="Carlito"/>
                <a:cs typeface="Carlito"/>
              </a:rPr>
              <a:t> </a:t>
            </a:r>
            <a:r>
              <a:rPr lang="en-GB" sz="2000" dirty="0">
                <a:latin typeface="Carlito"/>
                <a:cs typeface="Carlito"/>
              </a:rPr>
              <a:t>two</a:t>
            </a:r>
            <a:r>
              <a:rPr lang="en-GB" sz="2000" spc="-60" dirty="0">
                <a:latin typeface="Carlito"/>
                <a:cs typeface="Carlito"/>
              </a:rPr>
              <a:t> </a:t>
            </a:r>
            <a:r>
              <a:rPr lang="en-GB" sz="2000" spc="-25" dirty="0">
                <a:latin typeface="Carlito"/>
                <a:cs typeface="Carlito"/>
              </a:rPr>
              <a:t>are </a:t>
            </a:r>
            <a:r>
              <a:rPr lang="en-GB" sz="2000" spc="-10" dirty="0">
                <a:latin typeface="Carlito"/>
                <a:cs typeface="Carlito"/>
              </a:rPr>
              <a:t>fundamental</a:t>
            </a:r>
            <a:r>
              <a:rPr lang="en-GB" sz="2000" spc="-60" dirty="0">
                <a:latin typeface="Carlito"/>
                <a:cs typeface="Carlito"/>
              </a:rPr>
              <a:t> </a:t>
            </a:r>
            <a:r>
              <a:rPr lang="en-GB" sz="2000" dirty="0">
                <a:latin typeface="Carlito"/>
                <a:cs typeface="Carlito"/>
              </a:rPr>
              <a:t>issues</a:t>
            </a:r>
            <a:r>
              <a:rPr lang="en-GB" sz="2000" spc="-60" dirty="0">
                <a:latin typeface="Carlito"/>
                <a:cs typeface="Carlito"/>
              </a:rPr>
              <a:t> </a:t>
            </a:r>
            <a:r>
              <a:rPr lang="en-GB" sz="2000" dirty="0">
                <a:latin typeface="Carlito"/>
                <a:cs typeface="Carlito"/>
              </a:rPr>
              <a:t>in</a:t>
            </a:r>
            <a:r>
              <a:rPr lang="en-GB" sz="2000" spc="-60" dirty="0">
                <a:latin typeface="Carlito"/>
                <a:cs typeface="Carlito"/>
              </a:rPr>
              <a:t> </a:t>
            </a:r>
            <a:r>
              <a:rPr lang="en-GB" sz="2000" spc="-10" dirty="0">
                <a:latin typeface="Carlito"/>
                <a:cs typeface="Carlito"/>
              </a:rPr>
              <a:t>Web</a:t>
            </a:r>
            <a:r>
              <a:rPr lang="en-GB" sz="2000" spc="-60" dirty="0">
                <a:latin typeface="Carlito"/>
                <a:cs typeface="Carlito"/>
              </a:rPr>
              <a:t> </a:t>
            </a:r>
            <a:r>
              <a:rPr lang="en-GB" sz="2000" spc="-10" dirty="0">
                <a:latin typeface="Carlito"/>
                <a:cs typeface="Carlito"/>
              </a:rPr>
              <a:t>Design.</a:t>
            </a:r>
            <a:endParaRPr lang="en-GB" sz="2000" dirty="0">
              <a:latin typeface="Carlito"/>
              <a:cs typeface="Carlito"/>
            </a:endParaRPr>
          </a:p>
          <a:p>
            <a:pPr marL="12700" marR="5080" algn="just">
              <a:lnSpc>
                <a:spcPct val="90400"/>
              </a:lnSpc>
              <a:spcBef>
                <a:spcPts val="965"/>
              </a:spcBef>
            </a:pPr>
            <a:r>
              <a:rPr lang="en-GB" sz="2000" spc="-20" dirty="0">
                <a:latin typeface="Carlito"/>
                <a:cs typeface="Carlito"/>
              </a:rPr>
              <a:t>Finally,</a:t>
            </a:r>
            <a:r>
              <a:rPr lang="en-GB" sz="2000" spc="-70" dirty="0">
                <a:latin typeface="Carlito"/>
                <a:cs typeface="Carlito"/>
              </a:rPr>
              <a:t> </a:t>
            </a:r>
            <a:r>
              <a:rPr lang="en-GB" sz="2000" dirty="0">
                <a:latin typeface="Carlito"/>
                <a:cs typeface="Carlito"/>
              </a:rPr>
              <a:t>applying</a:t>
            </a:r>
            <a:r>
              <a:rPr lang="en-GB" sz="2000" spc="-75" dirty="0">
                <a:latin typeface="Carlito"/>
                <a:cs typeface="Carlito"/>
              </a:rPr>
              <a:t> </a:t>
            </a:r>
            <a:r>
              <a:rPr lang="en-GB" sz="2000" dirty="0">
                <a:latin typeface="Carlito"/>
                <a:cs typeface="Carlito"/>
              </a:rPr>
              <a:t>certain</a:t>
            </a:r>
            <a:r>
              <a:rPr lang="en-GB" sz="2000" spc="-70" dirty="0">
                <a:latin typeface="Carlito"/>
                <a:cs typeface="Carlito"/>
              </a:rPr>
              <a:t> </a:t>
            </a:r>
            <a:r>
              <a:rPr lang="en-GB" sz="2000" dirty="0">
                <a:latin typeface="Carlito"/>
                <a:cs typeface="Carlito"/>
              </a:rPr>
              <a:t>techniques</a:t>
            </a:r>
            <a:r>
              <a:rPr lang="en-GB" sz="2000" spc="-75" dirty="0">
                <a:latin typeface="Carlito"/>
                <a:cs typeface="Carlito"/>
              </a:rPr>
              <a:t> </a:t>
            </a:r>
            <a:r>
              <a:rPr lang="en-GB" sz="2000" dirty="0">
                <a:latin typeface="Carlito"/>
                <a:cs typeface="Carlito"/>
              </a:rPr>
              <a:t>to</a:t>
            </a:r>
            <a:r>
              <a:rPr lang="en-GB" sz="2000" spc="-70" dirty="0">
                <a:latin typeface="Carlito"/>
                <a:cs typeface="Carlito"/>
              </a:rPr>
              <a:t> </a:t>
            </a:r>
            <a:r>
              <a:rPr lang="en-GB" sz="2000" dirty="0">
                <a:latin typeface="Carlito"/>
                <a:cs typeface="Carlito"/>
              </a:rPr>
              <a:t>implement</a:t>
            </a:r>
            <a:r>
              <a:rPr lang="en-GB" sz="2000" spc="-75" dirty="0">
                <a:latin typeface="Carlito"/>
                <a:cs typeface="Carlito"/>
              </a:rPr>
              <a:t> </a:t>
            </a:r>
            <a:r>
              <a:rPr lang="en-GB" sz="2000" dirty="0">
                <a:latin typeface="Carlito"/>
                <a:cs typeface="Carlito"/>
              </a:rPr>
              <a:t>the</a:t>
            </a:r>
            <a:r>
              <a:rPr lang="en-GB" sz="2000" spc="-65" dirty="0">
                <a:latin typeface="Carlito"/>
                <a:cs typeface="Carlito"/>
              </a:rPr>
              <a:t> </a:t>
            </a:r>
            <a:r>
              <a:rPr lang="en-GB" sz="2000" dirty="0">
                <a:latin typeface="Carlito"/>
                <a:cs typeface="Carlito"/>
              </a:rPr>
              <a:t>design</a:t>
            </a:r>
            <a:r>
              <a:rPr lang="en-GB" sz="2000" spc="-70" dirty="0">
                <a:latin typeface="Carlito"/>
                <a:cs typeface="Carlito"/>
              </a:rPr>
              <a:t> </a:t>
            </a:r>
            <a:r>
              <a:rPr lang="en-GB" sz="2000" spc="-25" dirty="0">
                <a:latin typeface="Carlito"/>
                <a:cs typeface="Carlito"/>
              </a:rPr>
              <a:t>in </a:t>
            </a:r>
            <a:r>
              <a:rPr lang="en-GB" sz="2000" dirty="0">
                <a:latin typeface="Carlito"/>
                <a:cs typeface="Carlito"/>
              </a:rPr>
              <a:t>real</a:t>
            </a:r>
            <a:r>
              <a:rPr lang="en-GB" sz="2000" spc="-60" dirty="0">
                <a:latin typeface="Carlito"/>
                <a:cs typeface="Carlito"/>
              </a:rPr>
              <a:t> </a:t>
            </a:r>
            <a:r>
              <a:rPr lang="en-GB" sz="2000" dirty="0">
                <a:latin typeface="Carlito"/>
                <a:cs typeface="Carlito"/>
              </a:rPr>
              <a:t>websites</a:t>
            </a:r>
            <a:r>
              <a:rPr lang="en-GB" sz="2000" spc="-60" dirty="0">
                <a:latin typeface="Carlito"/>
                <a:cs typeface="Carlito"/>
              </a:rPr>
              <a:t> </a:t>
            </a:r>
            <a:r>
              <a:rPr lang="en-GB" sz="2000" dirty="0">
                <a:latin typeface="Carlito"/>
                <a:cs typeface="Carlito"/>
              </a:rPr>
              <a:t>working</a:t>
            </a:r>
            <a:r>
              <a:rPr lang="en-GB" sz="2000" spc="-60" dirty="0">
                <a:latin typeface="Carlito"/>
                <a:cs typeface="Carlito"/>
              </a:rPr>
              <a:t> </a:t>
            </a:r>
            <a:r>
              <a:rPr lang="en-GB" sz="2000" dirty="0">
                <a:latin typeface="Carlito"/>
                <a:cs typeface="Carlito"/>
              </a:rPr>
              <a:t>in</a:t>
            </a:r>
            <a:r>
              <a:rPr lang="en-GB" sz="2000" spc="-50" dirty="0">
                <a:latin typeface="Carlito"/>
                <a:cs typeface="Carlito"/>
              </a:rPr>
              <a:t> </a:t>
            </a:r>
            <a:r>
              <a:rPr lang="en-GB" sz="2000" spc="-10" dirty="0">
                <a:latin typeface="Carlito"/>
                <a:cs typeface="Carlito"/>
              </a:rPr>
              <a:t>accordance</a:t>
            </a:r>
            <a:r>
              <a:rPr lang="en-GB" sz="2000" spc="-50" dirty="0">
                <a:latin typeface="Carlito"/>
                <a:cs typeface="Carlito"/>
              </a:rPr>
              <a:t> </a:t>
            </a:r>
            <a:r>
              <a:rPr lang="en-GB" sz="2000" dirty="0">
                <a:latin typeface="Carlito"/>
                <a:cs typeface="Carlito"/>
              </a:rPr>
              <a:t>with</a:t>
            </a:r>
            <a:r>
              <a:rPr lang="en-GB" sz="2000" spc="-55" dirty="0">
                <a:latin typeface="Carlito"/>
                <a:cs typeface="Carlito"/>
              </a:rPr>
              <a:t> </a:t>
            </a:r>
            <a:r>
              <a:rPr lang="en-GB" sz="2000" dirty="0">
                <a:latin typeface="Carlito"/>
                <a:cs typeface="Carlito"/>
              </a:rPr>
              <a:t>the</a:t>
            </a:r>
            <a:r>
              <a:rPr lang="en-GB" sz="2000" spc="-50" dirty="0">
                <a:latin typeface="Carlito"/>
                <a:cs typeface="Carlito"/>
              </a:rPr>
              <a:t> </a:t>
            </a:r>
            <a:r>
              <a:rPr lang="en-GB" sz="2000" dirty="0">
                <a:latin typeface="Carlito"/>
                <a:cs typeface="Carlito"/>
              </a:rPr>
              <a:t>design</a:t>
            </a:r>
            <a:r>
              <a:rPr lang="en-GB" sz="2000" spc="-55" dirty="0">
                <a:latin typeface="Carlito"/>
                <a:cs typeface="Carlito"/>
              </a:rPr>
              <a:t> </a:t>
            </a:r>
            <a:r>
              <a:rPr lang="en-GB" sz="2000" spc="-10" dirty="0">
                <a:latin typeface="Carlito"/>
                <a:cs typeface="Carlito"/>
              </a:rPr>
              <a:t>principles </a:t>
            </a:r>
            <a:r>
              <a:rPr lang="en-GB" sz="2000" dirty="0">
                <a:latin typeface="Carlito"/>
                <a:cs typeface="Carlito"/>
              </a:rPr>
              <a:t>and</a:t>
            </a:r>
            <a:r>
              <a:rPr lang="en-GB" sz="2000" spc="-50" dirty="0">
                <a:latin typeface="Carlito"/>
                <a:cs typeface="Carlito"/>
              </a:rPr>
              <a:t> </a:t>
            </a:r>
            <a:r>
              <a:rPr lang="en-GB" sz="2000" dirty="0">
                <a:latin typeface="Carlito"/>
                <a:cs typeface="Carlito"/>
              </a:rPr>
              <a:t>quality</a:t>
            </a:r>
            <a:r>
              <a:rPr lang="en-GB" sz="2000" spc="-45" dirty="0">
                <a:latin typeface="Carlito"/>
                <a:cs typeface="Carlito"/>
              </a:rPr>
              <a:t> </a:t>
            </a:r>
            <a:r>
              <a:rPr lang="en-GB" sz="2000" spc="-10" dirty="0">
                <a:latin typeface="Carlito"/>
                <a:cs typeface="Carlito"/>
              </a:rPr>
              <a:t>measures</a:t>
            </a:r>
            <a:endParaRPr lang="en-GB" sz="2000" dirty="0">
              <a:latin typeface="Carlito"/>
              <a:cs typeface="Carlito"/>
            </a:endParaRPr>
          </a:p>
          <a:p>
            <a:endParaRPr lang="en-GB" sz="2200" dirty="0"/>
          </a:p>
        </p:txBody>
      </p:sp>
    </p:spTree>
    <p:extLst>
      <p:ext uri="{BB962C8B-B14F-4D97-AF65-F5344CB8AC3E}">
        <p14:creationId xmlns:p14="http://schemas.microsoft.com/office/powerpoint/2010/main" val="8725922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5D5A9BA-95A2-5FF1-B8BE-7BAA6CFCA32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99A9C27-1CEA-D775-7A75-02C55976D2CE}"/>
              </a:ext>
            </a:extLst>
          </p:cNvPr>
          <p:cNvSpPr>
            <a:spLocks noGrp="1"/>
          </p:cNvSpPr>
          <p:nvPr>
            <p:ph type="title"/>
          </p:nvPr>
        </p:nvSpPr>
        <p:spPr>
          <a:xfrm>
            <a:off x="1115568" y="548640"/>
            <a:ext cx="10168128" cy="1179576"/>
          </a:xfrm>
        </p:spPr>
        <p:txBody>
          <a:bodyPr>
            <a:normAutofit/>
          </a:bodyPr>
          <a:lstStyle/>
          <a:p>
            <a:r>
              <a:rPr lang="en-GB" sz="4000" dirty="0"/>
              <a:t>References</a:t>
            </a:r>
            <a:r>
              <a:rPr lang="en-GB" sz="4000" spc="80" dirty="0"/>
              <a:t> </a:t>
            </a:r>
            <a:r>
              <a:rPr lang="en-GB" sz="4000" dirty="0"/>
              <a:t>&amp;</a:t>
            </a:r>
            <a:r>
              <a:rPr lang="en-GB" sz="4000" spc="80" dirty="0"/>
              <a:t> </a:t>
            </a:r>
            <a:r>
              <a:rPr lang="en-GB" sz="4000" dirty="0"/>
              <a:t>Additional</a:t>
            </a:r>
            <a:r>
              <a:rPr lang="en-GB" sz="4000" spc="80" dirty="0"/>
              <a:t> </a:t>
            </a:r>
            <a:r>
              <a:rPr lang="en-GB" sz="4000" spc="-10" dirty="0"/>
              <a:t>Reading</a:t>
            </a:r>
            <a:endParaRPr lang="en-GB" sz="4000" dirty="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A687139E-BB76-A714-7FF2-E484F926F06E}"/>
              </a:ext>
            </a:extLst>
          </p:cNvPr>
          <p:cNvSpPr>
            <a:spLocks noGrp="1"/>
          </p:cNvSpPr>
          <p:nvPr>
            <p:ph idx="1"/>
          </p:nvPr>
        </p:nvSpPr>
        <p:spPr>
          <a:xfrm>
            <a:off x="1115568" y="2481943"/>
            <a:ext cx="10168128" cy="3695020"/>
          </a:xfrm>
        </p:spPr>
        <p:txBody>
          <a:bodyPr>
            <a:normAutofit fontScale="92500" lnSpcReduction="10000"/>
          </a:bodyPr>
          <a:lstStyle/>
          <a:p>
            <a:pPr marL="12700">
              <a:lnSpc>
                <a:spcPct val="100000"/>
              </a:lnSpc>
              <a:spcBef>
                <a:spcPts val="890"/>
              </a:spcBef>
            </a:pPr>
            <a:r>
              <a:rPr lang="en-GB" sz="2400" b="1" dirty="0">
                <a:latin typeface="Carlito"/>
                <a:cs typeface="Carlito"/>
              </a:rPr>
              <a:t>Reading</a:t>
            </a:r>
            <a:r>
              <a:rPr lang="en-GB" sz="2400" b="1" spc="-65" dirty="0">
                <a:latin typeface="Carlito"/>
                <a:cs typeface="Carlito"/>
              </a:rPr>
              <a:t> </a:t>
            </a:r>
            <a:r>
              <a:rPr lang="en-GB" sz="2400" b="1" dirty="0">
                <a:latin typeface="Carlito"/>
                <a:cs typeface="Carlito"/>
              </a:rPr>
              <a:t>&amp;</a:t>
            </a:r>
            <a:r>
              <a:rPr lang="en-GB" sz="2400" b="1" spc="-65" dirty="0">
                <a:latin typeface="Carlito"/>
                <a:cs typeface="Carlito"/>
              </a:rPr>
              <a:t> </a:t>
            </a:r>
            <a:r>
              <a:rPr lang="en-GB" sz="2400" b="1" spc="-10" dirty="0">
                <a:latin typeface="Carlito"/>
                <a:cs typeface="Carlito"/>
              </a:rPr>
              <a:t>research:</a:t>
            </a:r>
            <a:endParaRPr lang="en-GB" sz="2400" dirty="0">
              <a:latin typeface="Carlito"/>
              <a:cs typeface="Carlito"/>
            </a:endParaRPr>
          </a:p>
          <a:p>
            <a:pPr marL="241300" marR="1625600" indent="-228600">
              <a:lnSpc>
                <a:spcPts val="2210"/>
              </a:lnSpc>
              <a:spcBef>
                <a:spcPts val="1025"/>
              </a:spcBef>
              <a:buFont typeface="Arial"/>
              <a:buChar char="•"/>
              <a:tabLst>
                <a:tab pos="241300" algn="l"/>
              </a:tabLst>
            </a:pPr>
            <a:r>
              <a:rPr lang="en-GB" sz="2400" b="1" i="1" dirty="0">
                <a:latin typeface="Carlito"/>
                <a:cs typeface="Carlito"/>
              </a:rPr>
              <a:t>The</a:t>
            </a:r>
            <a:r>
              <a:rPr lang="en-GB" sz="2400" b="1" i="1" spc="-40" dirty="0">
                <a:latin typeface="Carlito"/>
                <a:cs typeface="Carlito"/>
              </a:rPr>
              <a:t> </a:t>
            </a:r>
            <a:r>
              <a:rPr lang="en-GB" sz="2400" b="1" i="1" dirty="0">
                <a:latin typeface="Carlito"/>
                <a:cs typeface="Carlito"/>
              </a:rPr>
              <a:t>User</a:t>
            </a:r>
            <a:r>
              <a:rPr lang="en-GB" sz="2400" b="1" i="1" spc="-50" dirty="0">
                <a:latin typeface="Carlito"/>
                <a:cs typeface="Carlito"/>
              </a:rPr>
              <a:t> </a:t>
            </a:r>
            <a:r>
              <a:rPr lang="en-GB" sz="2400" b="1" i="1" dirty="0">
                <a:latin typeface="Carlito"/>
                <a:cs typeface="Carlito"/>
              </a:rPr>
              <a:t>Experience:</a:t>
            </a:r>
            <a:r>
              <a:rPr lang="en-GB" sz="2400" b="1" i="1" spc="-40" dirty="0">
                <a:latin typeface="Carlito"/>
                <a:cs typeface="Carlito"/>
              </a:rPr>
              <a:t> </a:t>
            </a:r>
            <a:r>
              <a:rPr lang="en-GB" sz="2400" dirty="0">
                <a:latin typeface="Carlito"/>
                <a:cs typeface="Carlito"/>
              </a:rPr>
              <a:t>The</a:t>
            </a:r>
            <a:r>
              <a:rPr lang="en-GB" sz="2400" spc="-40" dirty="0">
                <a:latin typeface="Carlito"/>
                <a:cs typeface="Carlito"/>
              </a:rPr>
              <a:t> </a:t>
            </a:r>
            <a:r>
              <a:rPr lang="en-GB" sz="2400" dirty="0">
                <a:latin typeface="Carlito"/>
                <a:cs typeface="Carlito"/>
              </a:rPr>
              <a:t>Elements</a:t>
            </a:r>
            <a:r>
              <a:rPr lang="en-GB" sz="2400" spc="-40" dirty="0">
                <a:latin typeface="Carlito"/>
                <a:cs typeface="Carlito"/>
              </a:rPr>
              <a:t> </a:t>
            </a:r>
            <a:r>
              <a:rPr lang="en-GB" sz="2400" dirty="0">
                <a:latin typeface="Carlito"/>
                <a:cs typeface="Carlito"/>
              </a:rPr>
              <a:t>of</a:t>
            </a:r>
            <a:r>
              <a:rPr lang="en-GB" sz="2400" spc="-40" dirty="0">
                <a:latin typeface="Carlito"/>
                <a:cs typeface="Carlito"/>
              </a:rPr>
              <a:t> </a:t>
            </a:r>
            <a:r>
              <a:rPr lang="en-GB" sz="2400" dirty="0">
                <a:latin typeface="Carlito"/>
                <a:cs typeface="Carlito"/>
              </a:rPr>
              <a:t>User</a:t>
            </a:r>
            <a:r>
              <a:rPr lang="en-GB" sz="2400" spc="-40" dirty="0">
                <a:latin typeface="Carlito"/>
                <a:cs typeface="Carlito"/>
              </a:rPr>
              <a:t> </a:t>
            </a:r>
            <a:r>
              <a:rPr lang="en-GB" sz="2400" spc="-10" dirty="0">
                <a:latin typeface="Carlito"/>
                <a:cs typeface="Carlito"/>
              </a:rPr>
              <a:t>Experience </a:t>
            </a:r>
            <a:r>
              <a:rPr lang="en-GB" sz="2400" u="sng" spc="-10" dirty="0">
                <a:solidFill>
                  <a:srgbClr val="0563C1"/>
                </a:solidFill>
                <a:uFill>
                  <a:solidFill>
                    <a:srgbClr val="0563C1"/>
                  </a:solidFill>
                </a:uFill>
                <a:latin typeface="Carlito"/>
                <a:cs typeface="Carlito"/>
                <a:hlinkClick r:id="rId2"/>
              </a:rPr>
              <a:t>http://www.jjg.net/elements/pdf/elements_ch02.pdf</a:t>
            </a:r>
            <a:endParaRPr lang="en-GB" sz="2400" dirty="0">
              <a:latin typeface="Carlito"/>
              <a:cs typeface="Carlito"/>
            </a:endParaRPr>
          </a:p>
          <a:p>
            <a:pPr marL="240665" indent="-227965">
              <a:lnSpc>
                <a:spcPct val="100000"/>
              </a:lnSpc>
              <a:spcBef>
                <a:spcPts val="650"/>
              </a:spcBef>
              <a:buFont typeface="Arial"/>
              <a:buChar char="•"/>
              <a:tabLst>
                <a:tab pos="240665" algn="l"/>
              </a:tabLst>
            </a:pPr>
            <a:r>
              <a:rPr lang="en-GB" sz="2400" b="1" i="1" dirty="0">
                <a:latin typeface="Carlito"/>
                <a:cs typeface="Carlito"/>
              </a:rPr>
              <a:t>Usability:</a:t>
            </a:r>
            <a:r>
              <a:rPr lang="en-GB" sz="2400" b="1" i="1" spc="-55" dirty="0">
                <a:latin typeface="Carlito"/>
                <a:cs typeface="Carlito"/>
              </a:rPr>
              <a:t> </a:t>
            </a:r>
            <a:r>
              <a:rPr lang="en-GB" sz="2400" dirty="0">
                <a:latin typeface="Carlito"/>
                <a:cs typeface="Carlito"/>
              </a:rPr>
              <a:t>Nielsen</a:t>
            </a:r>
            <a:r>
              <a:rPr lang="en-GB" sz="2400" spc="-50" dirty="0">
                <a:latin typeface="Carlito"/>
                <a:cs typeface="Carlito"/>
              </a:rPr>
              <a:t> </a:t>
            </a:r>
            <a:r>
              <a:rPr lang="en-GB" sz="2400" dirty="0">
                <a:latin typeface="Carlito"/>
                <a:cs typeface="Carlito"/>
              </a:rPr>
              <a:t>Norman</a:t>
            </a:r>
            <a:r>
              <a:rPr lang="en-GB" sz="2400" spc="-55" dirty="0">
                <a:latin typeface="Carlito"/>
                <a:cs typeface="Carlito"/>
              </a:rPr>
              <a:t> </a:t>
            </a:r>
            <a:r>
              <a:rPr lang="en-GB" sz="2400" dirty="0">
                <a:latin typeface="Carlito"/>
                <a:cs typeface="Carlito"/>
              </a:rPr>
              <a:t>Group</a:t>
            </a:r>
            <a:r>
              <a:rPr lang="en-GB" sz="2400" spc="-55" dirty="0">
                <a:latin typeface="Carlito"/>
                <a:cs typeface="Carlito"/>
              </a:rPr>
              <a:t> </a:t>
            </a:r>
            <a:r>
              <a:rPr lang="en-GB" sz="2400" u="sng" spc="-10" dirty="0">
                <a:solidFill>
                  <a:srgbClr val="0563C1"/>
                </a:solidFill>
                <a:uFill>
                  <a:solidFill>
                    <a:srgbClr val="0563C1"/>
                  </a:solidFill>
                </a:uFill>
                <a:latin typeface="Carlito"/>
                <a:cs typeface="Carlito"/>
                <a:hlinkClick r:id="rId3"/>
              </a:rPr>
              <a:t>www.useit.com</a:t>
            </a:r>
            <a:endParaRPr lang="en-GB" sz="2400" dirty="0">
              <a:latin typeface="Carlito"/>
              <a:cs typeface="Carlito"/>
            </a:endParaRPr>
          </a:p>
          <a:p>
            <a:pPr marL="240665" indent="-227965">
              <a:lnSpc>
                <a:spcPct val="100000"/>
              </a:lnSpc>
              <a:spcBef>
                <a:spcPts val="795"/>
              </a:spcBef>
              <a:buFont typeface="Arial"/>
              <a:buChar char="•"/>
              <a:tabLst>
                <a:tab pos="240665" algn="l"/>
              </a:tabLst>
            </a:pPr>
            <a:r>
              <a:rPr lang="en-GB" sz="2400" b="1" i="1" spc="-10" dirty="0">
                <a:latin typeface="Carlito"/>
                <a:cs typeface="Carlito"/>
              </a:rPr>
              <a:t>Accessibility:</a:t>
            </a:r>
            <a:r>
              <a:rPr lang="en-GB" sz="2400" b="1" i="1" spc="-60" dirty="0">
                <a:latin typeface="Carlito"/>
                <a:cs typeface="Carlito"/>
              </a:rPr>
              <a:t> </a:t>
            </a:r>
            <a:r>
              <a:rPr lang="en-GB" sz="2400" dirty="0">
                <a:latin typeface="Carlito"/>
                <a:cs typeface="Carlito"/>
              </a:rPr>
              <a:t>W3C</a:t>
            </a:r>
            <a:r>
              <a:rPr lang="en-GB" sz="2400" spc="-60" dirty="0">
                <a:latin typeface="Carlito"/>
                <a:cs typeface="Carlito"/>
              </a:rPr>
              <a:t> </a:t>
            </a:r>
            <a:r>
              <a:rPr lang="en-GB" sz="2400" dirty="0">
                <a:latin typeface="Carlito"/>
                <a:cs typeface="Carlito"/>
              </a:rPr>
              <a:t>Web</a:t>
            </a:r>
            <a:r>
              <a:rPr lang="en-GB" sz="2400" spc="-60" dirty="0">
                <a:latin typeface="Carlito"/>
                <a:cs typeface="Carlito"/>
              </a:rPr>
              <a:t> </a:t>
            </a:r>
            <a:r>
              <a:rPr lang="en-GB" sz="2400" dirty="0">
                <a:latin typeface="Carlito"/>
                <a:cs typeface="Carlito"/>
              </a:rPr>
              <a:t>Accessibility</a:t>
            </a:r>
            <a:r>
              <a:rPr lang="en-GB" sz="2400" spc="-60" dirty="0">
                <a:latin typeface="Carlito"/>
                <a:cs typeface="Carlito"/>
              </a:rPr>
              <a:t> </a:t>
            </a:r>
            <a:r>
              <a:rPr lang="en-GB" sz="2400" dirty="0">
                <a:latin typeface="Carlito"/>
                <a:cs typeface="Carlito"/>
              </a:rPr>
              <a:t>Initiative</a:t>
            </a:r>
            <a:r>
              <a:rPr lang="en-GB" sz="2400" spc="-55" dirty="0">
                <a:latin typeface="Carlito"/>
                <a:cs typeface="Carlito"/>
              </a:rPr>
              <a:t> </a:t>
            </a:r>
            <a:r>
              <a:rPr lang="en-GB" sz="2400" u="sng" spc="-10" dirty="0">
                <a:solidFill>
                  <a:srgbClr val="0563C1"/>
                </a:solidFill>
                <a:uFill>
                  <a:solidFill>
                    <a:srgbClr val="0563C1"/>
                  </a:solidFill>
                </a:uFill>
                <a:latin typeface="Carlito"/>
                <a:cs typeface="Carlito"/>
                <a:hlinkClick r:id="rId4"/>
              </a:rPr>
              <a:t>www.w3c.org/wai</a:t>
            </a:r>
            <a:endParaRPr lang="en-GB" sz="2400" dirty="0">
              <a:latin typeface="Carlito"/>
              <a:cs typeface="Carlito"/>
            </a:endParaRPr>
          </a:p>
          <a:p>
            <a:pPr>
              <a:lnSpc>
                <a:spcPct val="100000"/>
              </a:lnSpc>
              <a:spcBef>
                <a:spcPts val="1470"/>
              </a:spcBef>
              <a:buFont typeface="Arial"/>
              <a:buChar char="•"/>
            </a:pPr>
            <a:endParaRPr lang="en-GB" sz="2400" dirty="0">
              <a:latin typeface="Carlito"/>
              <a:cs typeface="Carlito"/>
            </a:endParaRPr>
          </a:p>
          <a:p>
            <a:pPr marL="12700">
              <a:lnSpc>
                <a:spcPct val="100000"/>
              </a:lnSpc>
            </a:pPr>
            <a:r>
              <a:rPr lang="en-GB" sz="2400" b="1" i="1" dirty="0">
                <a:latin typeface="Carlito"/>
                <a:cs typeface="Carlito"/>
              </a:rPr>
              <a:t>Additional</a:t>
            </a:r>
            <a:r>
              <a:rPr lang="en-GB" sz="2400" b="1" i="1" spc="-70" dirty="0">
                <a:latin typeface="Carlito"/>
                <a:cs typeface="Carlito"/>
              </a:rPr>
              <a:t> </a:t>
            </a:r>
            <a:r>
              <a:rPr lang="en-GB" sz="2400" b="1" i="1" dirty="0">
                <a:latin typeface="Carlito"/>
                <a:cs typeface="Carlito"/>
              </a:rPr>
              <a:t>reference</a:t>
            </a:r>
            <a:r>
              <a:rPr lang="en-GB" sz="2400" b="1" i="1" spc="-60" dirty="0">
                <a:latin typeface="Carlito"/>
                <a:cs typeface="Carlito"/>
              </a:rPr>
              <a:t> </a:t>
            </a:r>
            <a:r>
              <a:rPr lang="en-GB" sz="2400" b="1" i="1" dirty="0">
                <a:latin typeface="Carlito"/>
                <a:cs typeface="Carlito"/>
              </a:rPr>
              <a:t>of</a:t>
            </a:r>
            <a:r>
              <a:rPr lang="en-GB" sz="2400" b="1" i="1" spc="-60" dirty="0">
                <a:latin typeface="Carlito"/>
                <a:cs typeface="Carlito"/>
              </a:rPr>
              <a:t> </a:t>
            </a:r>
            <a:r>
              <a:rPr lang="en-GB" sz="2400" b="1" i="1" spc="-10" dirty="0">
                <a:latin typeface="Carlito"/>
                <a:cs typeface="Carlito"/>
              </a:rPr>
              <a:t>interest:</a:t>
            </a:r>
            <a:endParaRPr lang="en-GB" sz="2400" dirty="0">
              <a:latin typeface="Carlito"/>
              <a:cs typeface="Carlito"/>
            </a:endParaRPr>
          </a:p>
          <a:p>
            <a:pPr marL="240665" indent="-227965">
              <a:lnSpc>
                <a:spcPct val="100000"/>
              </a:lnSpc>
              <a:spcBef>
                <a:spcPts val="790"/>
              </a:spcBef>
              <a:buFont typeface="Arial"/>
              <a:buChar char="•"/>
              <a:tabLst>
                <a:tab pos="240665" algn="l"/>
              </a:tabLst>
            </a:pPr>
            <a:r>
              <a:rPr lang="en-GB" sz="2400" dirty="0">
                <a:latin typeface="Carlito"/>
                <a:cs typeface="Carlito"/>
              </a:rPr>
              <a:t>Williams</a:t>
            </a:r>
            <a:r>
              <a:rPr lang="en-GB" sz="2400" spc="-45" dirty="0">
                <a:latin typeface="Carlito"/>
                <a:cs typeface="Carlito"/>
              </a:rPr>
              <a:t> </a:t>
            </a:r>
            <a:r>
              <a:rPr lang="en-GB" sz="2400" dirty="0">
                <a:latin typeface="Carlito"/>
                <a:cs typeface="Carlito"/>
              </a:rPr>
              <a:t>R</a:t>
            </a:r>
            <a:r>
              <a:rPr lang="en-GB" sz="2400" spc="-50" dirty="0">
                <a:latin typeface="Carlito"/>
                <a:cs typeface="Carlito"/>
              </a:rPr>
              <a:t> </a:t>
            </a:r>
            <a:r>
              <a:rPr lang="en-GB" sz="2400" dirty="0">
                <a:latin typeface="Carlito"/>
                <a:cs typeface="Carlito"/>
              </a:rPr>
              <a:t>(2001)</a:t>
            </a:r>
            <a:r>
              <a:rPr lang="en-GB" sz="2400" spc="-50" dirty="0">
                <a:latin typeface="Carlito"/>
                <a:cs typeface="Carlito"/>
              </a:rPr>
              <a:t> </a:t>
            </a:r>
            <a:r>
              <a:rPr lang="en-GB" sz="2400" i="1" dirty="0">
                <a:latin typeface="Carlito"/>
                <a:cs typeface="Carlito"/>
              </a:rPr>
              <a:t>Web</a:t>
            </a:r>
            <a:r>
              <a:rPr lang="en-GB" sz="2400" i="1" spc="-50" dirty="0">
                <a:latin typeface="Carlito"/>
                <a:cs typeface="Carlito"/>
              </a:rPr>
              <a:t> </a:t>
            </a:r>
            <a:r>
              <a:rPr lang="en-GB" sz="2400" i="1" dirty="0">
                <a:latin typeface="Carlito"/>
                <a:cs typeface="Carlito"/>
              </a:rPr>
              <a:t>Design</a:t>
            </a:r>
            <a:r>
              <a:rPr lang="en-GB" sz="2400" i="1" spc="-50" dirty="0">
                <a:latin typeface="Carlito"/>
                <a:cs typeface="Carlito"/>
              </a:rPr>
              <a:t> </a:t>
            </a:r>
            <a:r>
              <a:rPr lang="en-GB" sz="2400" i="1" spc="-10" dirty="0">
                <a:latin typeface="Carlito"/>
                <a:cs typeface="Carlito"/>
              </a:rPr>
              <a:t>Workshop</a:t>
            </a:r>
            <a:r>
              <a:rPr lang="en-GB" sz="2400" spc="-10" dirty="0">
                <a:latin typeface="Carlito"/>
                <a:cs typeface="Carlito"/>
              </a:rPr>
              <a:t>.</a:t>
            </a:r>
            <a:r>
              <a:rPr lang="en-GB" sz="2400" spc="-55" dirty="0">
                <a:latin typeface="Carlito"/>
                <a:cs typeface="Carlito"/>
              </a:rPr>
              <a:t> </a:t>
            </a:r>
            <a:r>
              <a:rPr lang="en-GB" sz="2400" spc="-10" dirty="0" err="1">
                <a:latin typeface="Carlito"/>
                <a:cs typeface="Carlito"/>
              </a:rPr>
              <a:t>Peachpit</a:t>
            </a:r>
            <a:r>
              <a:rPr lang="en-GB" sz="2400" spc="-45" dirty="0">
                <a:latin typeface="Carlito"/>
                <a:cs typeface="Carlito"/>
              </a:rPr>
              <a:t> </a:t>
            </a:r>
            <a:r>
              <a:rPr lang="en-GB" sz="2400" spc="-10" dirty="0">
                <a:latin typeface="Carlito"/>
                <a:cs typeface="Carlito"/>
              </a:rPr>
              <a:t>Press</a:t>
            </a:r>
            <a:endParaRPr lang="en-GB" sz="2400" dirty="0">
              <a:latin typeface="Carlito"/>
              <a:cs typeface="Carlito"/>
            </a:endParaRPr>
          </a:p>
          <a:p>
            <a:pPr marL="241300" marR="5080" indent="-228600">
              <a:lnSpc>
                <a:spcPts val="2210"/>
              </a:lnSpc>
              <a:spcBef>
                <a:spcPts val="930"/>
              </a:spcBef>
              <a:buFont typeface="Arial"/>
              <a:buChar char="•"/>
              <a:tabLst>
                <a:tab pos="241300" algn="l"/>
              </a:tabLst>
            </a:pPr>
            <a:r>
              <a:rPr lang="en-GB" sz="2400" dirty="0">
                <a:latin typeface="Carlito"/>
                <a:cs typeface="Carlito"/>
              </a:rPr>
              <a:t>Jakob</a:t>
            </a:r>
            <a:r>
              <a:rPr lang="en-GB" sz="2400" spc="-65" dirty="0">
                <a:latin typeface="Carlito"/>
                <a:cs typeface="Carlito"/>
              </a:rPr>
              <a:t> </a:t>
            </a:r>
            <a:r>
              <a:rPr lang="en-GB" sz="2400" dirty="0">
                <a:latin typeface="Carlito"/>
                <a:cs typeface="Carlito"/>
              </a:rPr>
              <a:t>Nielsen</a:t>
            </a:r>
            <a:r>
              <a:rPr lang="en-GB" sz="2400" spc="-65" dirty="0">
                <a:latin typeface="Carlito"/>
                <a:cs typeface="Carlito"/>
              </a:rPr>
              <a:t> </a:t>
            </a:r>
            <a:r>
              <a:rPr lang="en-GB" sz="2400" dirty="0">
                <a:latin typeface="Carlito"/>
                <a:cs typeface="Carlito"/>
              </a:rPr>
              <a:t>and</a:t>
            </a:r>
            <a:r>
              <a:rPr lang="en-GB" sz="2400" spc="-65" dirty="0">
                <a:latin typeface="Carlito"/>
                <a:cs typeface="Carlito"/>
              </a:rPr>
              <a:t> </a:t>
            </a:r>
            <a:r>
              <a:rPr lang="en-GB" sz="2400" dirty="0">
                <a:latin typeface="Carlito"/>
                <a:cs typeface="Carlito"/>
              </a:rPr>
              <a:t>Hoa</a:t>
            </a:r>
            <a:r>
              <a:rPr lang="en-GB" sz="2400" spc="-55" dirty="0">
                <a:latin typeface="Carlito"/>
                <a:cs typeface="Carlito"/>
              </a:rPr>
              <a:t> </a:t>
            </a:r>
            <a:r>
              <a:rPr lang="en-GB" sz="2400" dirty="0">
                <a:latin typeface="Carlito"/>
                <a:cs typeface="Carlito"/>
              </a:rPr>
              <a:t>Loranger</a:t>
            </a:r>
            <a:r>
              <a:rPr lang="en-GB" sz="2400" spc="-60" dirty="0">
                <a:latin typeface="Carlito"/>
                <a:cs typeface="Carlito"/>
              </a:rPr>
              <a:t> </a:t>
            </a:r>
            <a:r>
              <a:rPr lang="en-GB" sz="2400" dirty="0">
                <a:latin typeface="Carlito"/>
                <a:cs typeface="Carlito"/>
              </a:rPr>
              <a:t>(2006)</a:t>
            </a:r>
            <a:r>
              <a:rPr lang="en-GB" sz="2400" spc="-60" dirty="0">
                <a:latin typeface="Carlito"/>
                <a:cs typeface="Carlito"/>
              </a:rPr>
              <a:t> </a:t>
            </a:r>
            <a:r>
              <a:rPr lang="en-GB" sz="2400" i="1" dirty="0">
                <a:latin typeface="Carlito"/>
                <a:cs typeface="Carlito"/>
              </a:rPr>
              <a:t>Prioritising</a:t>
            </a:r>
            <a:r>
              <a:rPr lang="en-GB" sz="2400" i="1" spc="-65" dirty="0">
                <a:latin typeface="Carlito"/>
                <a:cs typeface="Carlito"/>
              </a:rPr>
              <a:t> </a:t>
            </a:r>
            <a:r>
              <a:rPr lang="en-GB" sz="2400" i="1" dirty="0">
                <a:latin typeface="Carlito"/>
                <a:cs typeface="Carlito"/>
              </a:rPr>
              <a:t>Web</a:t>
            </a:r>
            <a:r>
              <a:rPr lang="en-GB" sz="2400" i="1" spc="-65" dirty="0">
                <a:latin typeface="Carlito"/>
                <a:cs typeface="Carlito"/>
              </a:rPr>
              <a:t> </a:t>
            </a:r>
            <a:r>
              <a:rPr lang="en-GB" sz="2400" i="1" dirty="0">
                <a:latin typeface="Carlito"/>
                <a:cs typeface="Carlito"/>
              </a:rPr>
              <a:t>Usability</a:t>
            </a:r>
            <a:r>
              <a:rPr lang="en-GB" sz="2400" dirty="0">
                <a:latin typeface="Carlito"/>
                <a:cs typeface="Carlito"/>
              </a:rPr>
              <a:t>.</a:t>
            </a:r>
            <a:r>
              <a:rPr lang="en-GB" sz="2400" spc="-70" dirty="0">
                <a:latin typeface="Carlito"/>
                <a:cs typeface="Carlito"/>
              </a:rPr>
              <a:t> </a:t>
            </a:r>
            <a:r>
              <a:rPr lang="en-GB" sz="2400" spc="-25" dirty="0">
                <a:latin typeface="Carlito"/>
                <a:cs typeface="Carlito"/>
              </a:rPr>
              <a:t>New </a:t>
            </a:r>
            <a:r>
              <a:rPr lang="en-GB" sz="2400" dirty="0">
                <a:latin typeface="Carlito"/>
                <a:cs typeface="Carlito"/>
              </a:rPr>
              <a:t>Riders</a:t>
            </a:r>
            <a:r>
              <a:rPr lang="en-GB" sz="2400" spc="-90" dirty="0">
                <a:latin typeface="Carlito"/>
                <a:cs typeface="Carlito"/>
              </a:rPr>
              <a:t> </a:t>
            </a:r>
            <a:r>
              <a:rPr lang="en-GB" sz="2400" spc="-20" dirty="0">
                <a:latin typeface="Carlito"/>
                <a:cs typeface="Carlito"/>
              </a:rPr>
              <a:t>Press</a:t>
            </a:r>
            <a:endParaRPr lang="en-GB" sz="2400" dirty="0">
              <a:latin typeface="Carlito"/>
              <a:cs typeface="Carlito"/>
            </a:endParaRPr>
          </a:p>
          <a:p>
            <a:endParaRPr lang="en-GB" sz="2200" dirty="0"/>
          </a:p>
        </p:txBody>
      </p:sp>
    </p:spTree>
    <p:extLst>
      <p:ext uri="{BB962C8B-B14F-4D97-AF65-F5344CB8AC3E}">
        <p14:creationId xmlns:p14="http://schemas.microsoft.com/office/powerpoint/2010/main" val="7221655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855409F-CF16-952D-106E-F6246F2C8E7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FD6BA92-4298-2A89-4B9B-3DBCA48CA078}"/>
              </a:ext>
            </a:extLst>
          </p:cNvPr>
          <p:cNvSpPr>
            <a:spLocks noGrp="1"/>
          </p:cNvSpPr>
          <p:nvPr>
            <p:ph type="title"/>
          </p:nvPr>
        </p:nvSpPr>
        <p:spPr>
          <a:xfrm>
            <a:off x="1115568" y="548640"/>
            <a:ext cx="10168128" cy="1179576"/>
          </a:xfrm>
        </p:spPr>
        <p:txBody>
          <a:bodyPr>
            <a:normAutofit/>
          </a:bodyPr>
          <a:lstStyle/>
          <a:p>
            <a:r>
              <a:rPr lang="en-GB" sz="2800" spc="-25" dirty="0"/>
              <a:t>Exercise:</a:t>
            </a:r>
            <a:r>
              <a:rPr lang="en-GB" sz="2800" spc="-140" dirty="0"/>
              <a:t> </a:t>
            </a:r>
            <a:r>
              <a:rPr lang="en-GB" sz="2800" dirty="0"/>
              <a:t>Assess</a:t>
            </a:r>
            <a:r>
              <a:rPr lang="en-GB" sz="2800" spc="-140" dirty="0"/>
              <a:t> </a:t>
            </a:r>
            <a:r>
              <a:rPr lang="en-GB" sz="2800" dirty="0"/>
              <a:t>web</a:t>
            </a:r>
            <a:r>
              <a:rPr lang="en-GB" sz="2800" spc="-135" dirty="0"/>
              <a:t> </a:t>
            </a:r>
            <a:r>
              <a:rPr lang="en-GB" sz="2800" dirty="0"/>
              <a:t>site</a:t>
            </a:r>
            <a:r>
              <a:rPr lang="en-GB" sz="2800" spc="-130" dirty="0"/>
              <a:t> </a:t>
            </a:r>
            <a:r>
              <a:rPr lang="en-GB" sz="2800" spc="-10" dirty="0"/>
              <a:t>design</a:t>
            </a:r>
            <a:endParaRPr lang="en-GB" sz="4000" dirty="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54C290E0-CFF6-EF22-CDEB-6988E51A8CF1}"/>
              </a:ext>
            </a:extLst>
          </p:cNvPr>
          <p:cNvSpPr>
            <a:spLocks noGrp="1"/>
          </p:cNvSpPr>
          <p:nvPr>
            <p:ph idx="1"/>
          </p:nvPr>
        </p:nvSpPr>
        <p:spPr>
          <a:xfrm>
            <a:off x="1115568" y="2481943"/>
            <a:ext cx="10168128" cy="3695020"/>
          </a:xfrm>
        </p:spPr>
        <p:txBody>
          <a:bodyPr>
            <a:normAutofit/>
          </a:bodyPr>
          <a:lstStyle/>
          <a:p>
            <a:pPr marL="241300" marR="5080" indent="-228600">
              <a:lnSpc>
                <a:spcPct val="89500"/>
              </a:lnSpc>
              <a:spcBef>
                <a:spcPts val="350"/>
              </a:spcBef>
              <a:buFont typeface="Arial"/>
              <a:buChar char="•"/>
              <a:tabLst>
                <a:tab pos="241300" algn="l"/>
              </a:tabLst>
            </a:pPr>
            <a:r>
              <a:rPr lang="en-GB" sz="2400" spc="-35" dirty="0">
                <a:latin typeface="Carlito"/>
                <a:cs typeface="Carlito"/>
              </a:rPr>
              <a:t>You have 15 minutes to review the web page designs from the following list. Please identify and compile a list of at least 5 to 6 positive aspects and 5 to 6 areas for improvement.</a:t>
            </a:r>
          </a:p>
          <a:p>
            <a:pPr marL="241300" marR="5080" indent="-228600">
              <a:lnSpc>
                <a:spcPct val="89500"/>
              </a:lnSpc>
              <a:spcBef>
                <a:spcPts val="350"/>
              </a:spcBef>
              <a:buFont typeface="Arial"/>
              <a:buChar char="•"/>
              <a:tabLst>
                <a:tab pos="241300" algn="l"/>
              </a:tabLst>
            </a:pPr>
            <a:endParaRPr lang="en-GB" sz="2400" spc="-35" dirty="0">
              <a:latin typeface="Carlito"/>
              <a:cs typeface="Carlito"/>
            </a:endParaRPr>
          </a:p>
          <a:p>
            <a:pPr marL="241300" marR="5080" indent="-228600">
              <a:lnSpc>
                <a:spcPct val="89500"/>
              </a:lnSpc>
              <a:spcBef>
                <a:spcPts val="350"/>
              </a:spcBef>
              <a:buFont typeface="Arial"/>
              <a:buChar char="•"/>
              <a:tabLst>
                <a:tab pos="241300" algn="l"/>
              </a:tabLst>
            </a:pPr>
            <a:r>
              <a:rPr lang="en-GB" sz="2400" dirty="0">
                <a:latin typeface="Carlito"/>
                <a:cs typeface="Carlito"/>
              </a:rPr>
              <a:t>Feedback</a:t>
            </a:r>
            <a:r>
              <a:rPr lang="en-GB" sz="2400" spc="-45" dirty="0">
                <a:latin typeface="Carlito"/>
                <a:cs typeface="Carlito"/>
              </a:rPr>
              <a:t> </a:t>
            </a:r>
            <a:r>
              <a:rPr lang="en-GB" sz="2400" dirty="0">
                <a:latin typeface="Carlito"/>
                <a:cs typeface="Carlito"/>
              </a:rPr>
              <a:t>to</a:t>
            </a:r>
            <a:r>
              <a:rPr lang="en-GB" sz="2400" spc="-55" dirty="0">
                <a:latin typeface="Carlito"/>
                <a:cs typeface="Carlito"/>
              </a:rPr>
              <a:t> </a:t>
            </a:r>
            <a:r>
              <a:rPr lang="en-GB" sz="2400" dirty="0">
                <a:latin typeface="Carlito"/>
                <a:cs typeface="Carlito"/>
              </a:rPr>
              <a:t>the</a:t>
            </a:r>
            <a:r>
              <a:rPr lang="en-GB" sz="2400" spc="-45" dirty="0">
                <a:latin typeface="Carlito"/>
                <a:cs typeface="Carlito"/>
              </a:rPr>
              <a:t> </a:t>
            </a:r>
            <a:r>
              <a:rPr lang="en-GB" sz="2400" dirty="0">
                <a:latin typeface="Carlito"/>
                <a:cs typeface="Carlito"/>
              </a:rPr>
              <a:t>whole</a:t>
            </a:r>
            <a:r>
              <a:rPr lang="en-GB" sz="2400" spc="-45" dirty="0">
                <a:latin typeface="Carlito"/>
                <a:cs typeface="Carlito"/>
              </a:rPr>
              <a:t> </a:t>
            </a:r>
            <a:r>
              <a:rPr lang="en-GB" sz="2400" spc="-20" dirty="0">
                <a:latin typeface="Carlito"/>
                <a:cs typeface="Carlito"/>
              </a:rPr>
              <a:t>group</a:t>
            </a:r>
            <a:endParaRPr lang="en-GB" sz="2400" dirty="0">
              <a:latin typeface="Carlito"/>
              <a:cs typeface="Carlito"/>
            </a:endParaRPr>
          </a:p>
          <a:p>
            <a:endParaRPr lang="en-GB" sz="2200" dirty="0"/>
          </a:p>
        </p:txBody>
      </p:sp>
    </p:spTree>
    <p:extLst>
      <p:ext uri="{BB962C8B-B14F-4D97-AF65-F5344CB8AC3E}">
        <p14:creationId xmlns:p14="http://schemas.microsoft.com/office/powerpoint/2010/main" val="15233464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985E5E0-B7E7-DCC5-8C60-FCCF6822FEA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7F0B183-CA04-EF16-EA5E-475A5D0DD89E}"/>
              </a:ext>
            </a:extLst>
          </p:cNvPr>
          <p:cNvSpPr>
            <a:spLocks noGrp="1"/>
          </p:cNvSpPr>
          <p:nvPr>
            <p:ph type="title"/>
          </p:nvPr>
        </p:nvSpPr>
        <p:spPr>
          <a:xfrm>
            <a:off x="1115568" y="548640"/>
            <a:ext cx="10168128" cy="1179576"/>
          </a:xfrm>
        </p:spPr>
        <p:txBody>
          <a:bodyPr>
            <a:normAutofit/>
          </a:bodyPr>
          <a:lstStyle/>
          <a:p>
            <a:r>
              <a:rPr lang="en-GB" sz="4000" spc="-20" dirty="0"/>
              <a:t>Example</a:t>
            </a:r>
            <a:r>
              <a:rPr lang="en-GB" sz="4000" spc="-105" dirty="0"/>
              <a:t> </a:t>
            </a:r>
            <a:r>
              <a:rPr lang="en-GB" sz="4000" spc="-10" dirty="0"/>
              <a:t>Sites</a:t>
            </a:r>
            <a:endParaRPr lang="en-GB" sz="4000" dirty="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32B27D48-B01E-CEA6-254A-BA5115A0561E}"/>
              </a:ext>
            </a:extLst>
          </p:cNvPr>
          <p:cNvSpPr>
            <a:spLocks noGrp="1"/>
          </p:cNvSpPr>
          <p:nvPr>
            <p:ph idx="1"/>
          </p:nvPr>
        </p:nvSpPr>
        <p:spPr>
          <a:xfrm>
            <a:off x="498834" y="2487168"/>
            <a:ext cx="5350089" cy="3822192"/>
          </a:xfrm>
        </p:spPr>
        <p:txBody>
          <a:bodyPr>
            <a:normAutofit/>
          </a:bodyPr>
          <a:lstStyle/>
          <a:p>
            <a:r>
              <a:rPr lang="en-GB" sz="2400" u="sng" spc="-10" dirty="0">
                <a:solidFill>
                  <a:srgbClr val="954F72"/>
                </a:solidFill>
                <a:uFill>
                  <a:solidFill>
                    <a:srgbClr val="954F72"/>
                  </a:solidFill>
                </a:uFill>
                <a:latin typeface="Carlito"/>
                <a:cs typeface="Carlito"/>
                <a:hlinkClick r:id="rId2"/>
              </a:rPr>
              <a:t>http://themagicofbaltimore.blogspot.co.uk/</a:t>
            </a:r>
            <a:endParaRPr lang="en-GB" sz="2400" dirty="0">
              <a:latin typeface="Carlito"/>
              <a:cs typeface="Carlito"/>
            </a:endParaRPr>
          </a:p>
          <a:p>
            <a:r>
              <a:rPr lang="en-GB" sz="2400" u="sng" spc="-10" dirty="0">
                <a:solidFill>
                  <a:srgbClr val="0563C1"/>
                </a:solidFill>
                <a:uFill>
                  <a:solidFill>
                    <a:srgbClr val="0563C1"/>
                  </a:solidFill>
                </a:uFill>
                <a:latin typeface="Carlito"/>
                <a:cs typeface="Carlito"/>
                <a:hlinkClick r:id="rId3"/>
              </a:rPr>
              <a:t>https://www.sphere.bc.ca/oldsite/index.html</a:t>
            </a:r>
            <a:endParaRPr lang="en-GB" sz="2400" u="sng" spc="-10" dirty="0">
              <a:solidFill>
                <a:srgbClr val="0563C1"/>
              </a:solidFill>
              <a:uFill>
                <a:solidFill>
                  <a:srgbClr val="0563C1"/>
                </a:solidFill>
              </a:uFill>
              <a:latin typeface="Carlito"/>
              <a:cs typeface="Carlito"/>
            </a:endParaRPr>
          </a:p>
          <a:p>
            <a:r>
              <a:rPr lang="en-GB" sz="2400" u="sng" spc="-10" dirty="0">
                <a:solidFill>
                  <a:srgbClr val="0563C1"/>
                </a:solidFill>
                <a:uFill>
                  <a:solidFill>
                    <a:srgbClr val="0563C1"/>
                  </a:solidFill>
                </a:uFill>
                <a:latin typeface="Carlito"/>
                <a:cs typeface="Carlito"/>
                <a:hlinkClick r:id="rId4"/>
              </a:rPr>
              <a:t>http://www.libertyvan.com/</a:t>
            </a:r>
            <a:endParaRPr lang="en-GB" sz="2400" dirty="0">
              <a:latin typeface="Carlito"/>
              <a:cs typeface="Carlito"/>
            </a:endParaRPr>
          </a:p>
          <a:p>
            <a:r>
              <a:rPr lang="en-GB" sz="2400" u="sng" spc="-10" dirty="0">
                <a:solidFill>
                  <a:srgbClr val="0563C1"/>
                </a:solidFill>
                <a:uFill>
                  <a:solidFill>
                    <a:srgbClr val="0563C1"/>
                  </a:solidFill>
                </a:uFill>
                <a:latin typeface="Carlito"/>
                <a:cs typeface="Carlito"/>
                <a:hlinkClick r:id="rId5"/>
              </a:rPr>
              <a:t>http://www.gatheringofnations.com/</a:t>
            </a:r>
            <a:endParaRPr lang="en-GB" sz="2400" dirty="0">
              <a:latin typeface="Carlito"/>
              <a:cs typeface="Carlito"/>
            </a:endParaRPr>
          </a:p>
          <a:p>
            <a:pPr marL="12700" marR="1400175">
              <a:lnSpc>
                <a:spcPct val="136000"/>
              </a:lnSpc>
              <a:spcBef>
                <a:spcPts val="145"/>
              </a:spcBef>
            </a:pPr>
            <a:r>
              <a:rPr lang="en-GB" sz="2400" u="sng" spc="-10" dirty="0">
                <a:solidFill>
                  <a:srgbClr val="0563C1"/>
                </a:solidFill>
                <a:uFill>
                  <a:solidFill>
                    <a:srgbClr val="0563C1"/>
                  </a:solidFill>
                </a:uFill>
                <a:latin typeface="Carlito"/>
                <a:cs typeface="Carlito"/>
              </a:rPr>
              <a:t>https://</a:t>
            </a:r>
            <a:r>
              <a:rPr lang="en-GB" sz="2400" u="sng" spc="-10" dirty="0">
                <a:solidFill>
                  <a:srgbClr val="0563C1"/>
                </a:solidFill>
                <a:uFill>
                  <a:solidFill>
                    <a:srgbClr val="0563C1"/>
                  </a:solidFill>
                </a:uFill>
                <a:latin typeface="Carlito"/>
                <a:cs typeface="Carlito"/>
                <a:hlinkClick r:id="rId6"/>
              </a:rPr>
              <a:t>www.pennyjuice.com/</a:t>
            </a:r>
            <a:r>
              <a:rPr lang="en-GB" sz="2400" u="none" spc="-10" dirty="0">
                <a:solidFill>
                  <a:srgbClr val="0563C1"/>
                </a:solidFill>
                <a:latin typeface="Carlito"/>
                <a:cs typeface="Carlito"/>
              </a:rPr>
              <a:t> </a:t>
            </a:r>
          </a:p>
          <a:p>
            <a:endParaRPr lang="en-GB" sz="2200" dirty="0"/>
          </a:p>
        </p:txBody>
      </p:sp>
      <p:sp>
        <p:nvSpPr>
          <p:cNvPr id="4" name="Content Placeholder 2">
            <a:extLst>
              <a:ext uri="{FF2B5EF4-FFF2-40B4-BE49-F238E27FC236}">
                <a16:creationId xmlns:a16="http://schemas.microsoft.com/office/drawing/2014/main" id="{418BB2B4-5C83-0796-05FE-DB95585C0F97}"/>
              </a:ext>
            </a:extLst>
          </p:cNvPr>
          <p:cNvSpPr txBox="1">
            <a:spLocks/>
          </p:cNvSpPr>
          <p:nvPr/>
        </p:nvSpPr>
        <p:spPr>
          <a:xfrm>
            <a:off x="6343079" y="2490910"/>
            <a:ext cx="5379529" cy="3443725"/>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1400175">
              <a:lnSpc>
                <a:spcPct val="136000"/>
              </a:lnSpc>
              <a:spcBef>
                <a:spcPts val="145"/>
              </a:spcBef>
            </a:pPr>
            <a:r>
              <a:rPr lang="en-GB" sz="2400" u="sng" spc="-10" dirty="0">
                <a:uFill>
                  <a:solidFill>
                    <a:srgbClr val="000000"/>
                  </a:solidFill>
                </a:uFill>
                <a:latin typeface="Carlito"/>
                <a:cs typeface="Carlito"/>
                <a:hlinkClick r:id="rId7"/>
              </a:rPr>
              <a:t>http://arngren.net</a:t>
            </a:r>
            <a:r>
              <a:rPr lang="en-GB" sz="2400" spc="-10" dirty="0">
                <a:latin typeface="Carlito"/>
                <a:cs typeface="Carlito"/>
              </a:rPr>
              <a:t> </a:t>
            </a:r>
          </a:p>
          <a:p>
            <a:pPr marL="12700" marR="1400175">
              <a:lnSpc>
                <a:spcPct val="136000"/>
              </a:lnSpc>
              <a:spcBef>
                <a:spcPts val="145"/>
              </a:spcBef>
            </a:pPr>
            <a:r>
              <a:rPr lang="en-GB" sz="2400" u="sng" spc="-10" dirty="0">
                <a:uFill>
                  <a:solidFill>
                    <a:srgbClr val="000000"/>
                  </a:solidFill>
                </a:uFill>
                <a:latin typeface="Carlito"/>
                <a:cs typeface="Carlito"/>
                <a:hlinkClick r:id="rId8"/>
              </a:rPr>
              <a:t>http://www2.pnwx.com</a:t>
            </a:r>
            <a:r>
              <a:rPr lang="en-GB" sz="2400" spc="-10" dirty="0">
                <a:latin typeface="Carlito"/>
                <a:cs typeface="Carlito"/>
              </a:rPr>
              <a:t> </a:t>
            </a:r>
          </a:p>
          <a:p>
            <a:pPr marL="12700" marR="1400175">
              <a:lnSpc>
                <a:spcPct val="136000"/>
              </a:lnSpc>
              <a:spcBef>
                <a:spcPts val="145"/>
              </a:spcBef>
            </a:pPr>
            <a:r>
              <a:rPr lang="en-GB" sz="2400" spc="-10" dirty="0">
                <a:solidFill>
                  <a:srgbClr val="0563C1"/>
                </a:solidFill>
                <a:latin typeface="Carlito"/>
                <a:cs typeface="Carlito"/>
                <a:hlinkClick r:id="rId9"/>
              </a:rPr>
              <a:t>https://www.art.yale.edu/</a:t>
            </a:r>
            <a:endParaRPr lang="en-GB" sz="2400" spc="-10" dirty="0">
              <a:solidFill>
                <a:srgbClr val="0563C1"/>
              </a:solidFill>
              <a:latin typeface="Carlito"/>
              <a:cs typeface="Carlito"/>
            </a:endParaRPr>
          </a:p>
          <a:p>
            <a:pPr marL="12700" marR="1400175">
              <a:lnSpc>
                <a:spcPct val="136000"/>
              </a:lnSpc>
              <a:spcBef>
                <a:spcPts val="145"/>
              </a:spcBef>
            </a:pPr>
            <a:r>
              <a:rPr lang="en-GB" sz="2400" spc="-10" dirty="0">
                <a:solidFill>
                  <a:srgbClr val="0563C1"/>
                </a:solidFill>
                <a:latin typeface="Carlito"/>
                <a:cs typeface="Carlito"/>
              </a:rPr>
              <a:t> </a:t>
            </a:r>
            <a:r>
              <a:rPr lang="en-GB" sz="2400" spc="-10" dirty="0">
                <a:solidFill>
                  <a:srgbClr val="0563C1"/>
                </a:solidFill>
                <a:latin typeface="Carlito"/>
                <a:cs typeface="Carlito"/>
                <a:hlinkClick r:id="rId10"/>
              </a:rPr>
              <a:t>http://www.007museum.com/</a:t>
            </a:r>
            <a:endParaRPr lang="en-GB" sz="2400" dirty="0">
              <a:latin typeface="Carlito"/>
              <a:cs typeface="Carlito"/>
            </a:endParaRPr>
          </a:p>
          <a:p>
            <a:pPr marL="12700" marR="1029969">
              <a:lnSpc>
                <a:spcPct val="133300"/>
              </a:lnSpc>
              <a:spcBef>
                <a:spcPts val="120"/>
              </a:spcBef>
            </a:pPr>
            <a:r>
              <a:rPr lang="en-GB" sz="2400" spc="-10" dirty="0">
                <a:solidFill>
                  <a:srgbClr val="0563C1"/>
                </a:solidFill>
                <a:latin typeface="Carlito"/>
                <a:cs typeface="Carlito"/>
                <a:hlinkClick r:id="rId11"/>
              </a:rPr>
              <a:t>http://superfastnorthyorkshire.com</a:t>
            </a:r>
            <a:r>
              <a:rPr lang="en-GB" sz="2400" spc="-10" dirty="0">
                <a:solidFill>
                  <a:srgbClr val="0563C1"/>
                </a:solidFill>
                <a:latin typeface="Carlito"/>
                <a:cs typeface="Carlito"/>
              </a:rPr>
              <a:t> </a:t>
            </a:r>
          </a:p>
          <a:p>
            <a:pPr marL="12700" marR="1029969">
              <a:lnSpc>
                <a:spcPct val="133300"/>
              </a:lnSpc>
              <a:spcBef>
                <a:spcPts val="120"/>
              </a:spcBef>
            </a:pPr>
            <a:r>
              <a:rPr lang="en-GB" sz="2400" spc="-10" dirty="0">
                <a:solidFill>
                  <a:srgbClr val="0563C1"/>
                </a:solidFill>
                <a:latin typeface="Carlito"/>
                <a:cs typeface="Carlito"/>
              </a:rPr>
              <a:t>https://</a:t>
            </a:r>
            <a:r>
              <a:rPr lang="en-GB" sz="2400" spc="-10" dirty="0">
                <a:solidFill>
                  <a:srgbClr val="0563C1"/>
                </a:solidFill>
                <a:latin typeface="Carlito"/>
                <a:cs typeface="Carlito"/>
                <a:hlinkClick r:id="rId12"/>
              </a:rPr>
              <a:t>www.lingscars.com/</a:t>
            </a:r>
            <a:endParaRPr lang="en-GB" sz="2400" dirty="0">
              <a:latin typeface="Carlito"/>
              <a:cs typeface="Carlito"/>
            </a:endParaRPr>
          </a:p>
          <a:p>
            <a:endParaRPr lang="en-GB" sz="2200" dirty="0"/>
          </a:p>
        </p:txBody>
      </p:sp>
      <p:sp>
        <p:nvSpPr>
          <p:cNvPr id="5" name="object 5" descr="A line">
            <a:extLst>
              <a:ext uri="{FF2B5EF4-FFF2-40B4-BE49-F238E27FC236}">
                <a16:creationId xmlns:a16="http://schemas.microsoft.com/office/drawing/2014/main" id="{97EBF6F8-99DA-4C8A-957A-F55CAEDD9201}"/>
              </a:ext>
            </a:extLst>
          </p:cNvPr>
          <p:cNvSpPr/>
          <p:nvPr/>
        </p:nvSpPr>
        <p:spPr>
          <a:xfrm>
            <a:off x="5989817" y="2542052"/>
            <a:ext cx="45719" cy="3256020"/>
          </a:xfrm>
          <a:custGeom>
            <a:avLst/>
            <a:gdLst/>
            <a:ahLst/>
            <a:cxnLst/>
            <a:rect l="l" t="t" r="r" b="b"/>
            <a:pathLst>
              <a:path h="3657600">
                <a:moveTo>
                  <a:pt x="0" y="0"/>
                </a:moveTo>
                <a:lnTo>
                  <a:pt x="1" y="3657602"/>
                </a:lnTo>
              </a:path>
            </a:pathLst>
          </a:custGeom>
          <a:ln w="12700">
            <a:solidFill>
              <a:srgbClr val="7F7F7F"/>
            </a:solidFill>
          </a:ln>
        </p:spPr>
        <p:txBody>
          <a:bodyPr wrap="square" lIns="0" tIns="0" rIns="0" bIns="0" rtlCol="0"/>
          <a:lstStyle/>
          <a:p>
            <a:pPr algn="l" rtl="0"/>
            <a:endParaRPr/>
          </a:p>
        </p:txBody>
      </p:sp>
    </p:spTree>
    <p:extLst>
      <p:ext uri="{BB962C8B-B14F-4D97-AF65-F5344CB8AC3E}">
        <p14:creationId xmlns:p14="http://schemas.microsoft.com/office/powerpoint/2010/main" val="27302420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4143</TotalTime>
  <Words>1581</Words>
  <Application>Microsoft Macintosh PowerPoint</Application>
  <PresentationFormat>Widescreen</PresentationFormat>
  <Paragraphs>172</Paragraphs>
  <Slides>31</Slides>
  <Notes>0</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31</vt:i4>
      </vt:variant>
    </vt:vector>
  </HeadingPairs>
  <TitlesOfParts>
    <vt:vector size="41" baseType="lpstr">
      <vt:lpstr>-apple-system</vt:lpstr>
      <vt:lpstr>Aptos</vt:lpstr>
      <vt:lpstr>Aptos Display</vt:lpstr>
      <vt:lpstr>Arial</vt:lpstr>
      <vt:lpstr>Calibri</vt:lpstr>
      <vt:lpstr>Carlito</vt:lpstr>
      <vt:lpstr>proxima-nova</vt:lpstr>
      <vt:lpstr>Times New Roman</vt:lpstr>
      <vt:lpstr>Office Theme</vt:lpstr>
      <vt:lpstr>Document</vt:lpstr>
      <vt:lpstr>COM4012M Programming 02 Programming for the Web</vt:lpstr>
      <vt:lpstr>Module overview</vt:lpstr>
      <vt:lpstr>Session Frequency and Schedule</vt:lpstr>
      <vt:lpstr>Module overview</vt:lpstr>
      <vt:lpstr>Module overview</vt:lpstr>
      <vt:lpstr>Module Overview: Theory</vt:lpstr>
      <vt:lpstr>Module Overview: Practical </vt:lpstr>
      <vt:lpstr>Assessment</vt:lpstr>
      <vt:lpstr>Introduction </vt:lpstr>
      <vt:lpstr>Introduction</vt:lpstr>
      <vt:lpstr>Waterfall</vt:lpstr>
      <vt:lpstr>Agile</vt:lpstr>
      <vt:lpstr>UX Design</vt:lpstr>
      <vt:lpstr>The User Experience</vt:lpstr>
      <vt:lpstr>The Elements of UX </vt:lpstr>
      <vt:lpstr>The Elements of UX </vt:lpstr>
      <vt:lpstr>Duality of Web </vt:lpstr>
      <vt:lpstr>User interface design principles</vt:lpstr>
      <vt:lpstr>Usability</vt:lpstr>
      <vt:lpstr>Key Usability Goals</vt:lpstr>
      <vt:lpstr>Key Usability Goals</vt:lpstr>
      <vt:lpstr>Usability</vt:lpstr>
      <vt:lpstr>Usability and the UX</vt:lpstr>
      <vt:lpstr>Accessibility</vt:lpstr>
      <vt:lpstr>Accessibility</vt:lpstr>
      <vt:lpstr>Accessibility</vt:lpstr>
      <vt:lpstr>Accessibility</vt:lpstr>
      <vt:lpstr>Summary</vt:lpstr>
      <vt:lpstr>References &amp; Additional Reading</vt:lpstr>
      <vt:lpstr>Exercise: Assess web site design</vt:lpstr>
      <vt:lpstr>Example Sites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Bassma Al-Jubouri</dc:creator>
  <cp:lastModifiedBy>Soumya Banerjee</cp:lastModifiedBy>
  <cp:revision>26</cp:revision>
  <dcterms:created xsi:type="dcterms:W3CDTF">2025-01-27T12:41:40Z</dcterms:created>
  <dcterms:modified xsi:type="dcterms:W3CDTF">2026-02-12T04:55:52Z</dcterms:modified>
</cp:coreProperties>
</file>