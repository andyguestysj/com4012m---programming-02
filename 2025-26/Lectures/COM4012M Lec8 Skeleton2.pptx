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1"/>
  </p:notesMasterIdLst>
  <p:sldIdLst>
    <p:sldId id="256" r:id="rId2"/>
    <p:sldId id="299" r:id="rId3"/>
    <p:sldId id="257" r:id="rId4"/>
    <p:sldId id="259" r:id="rId5"/>
    <p:sldId id="258" r:id="rId6"/>
    <p:sldId id="300" r:id="rId7"/>
    <p:sldId id="301" r:id="rId8"/>
    <p:sldId id="302" r:id="rId9"/>
    <p:sldId id="262" r:id="rId10"/>
    <p:sldId id="263" r:id="rId11"/>
    <p:sldId id="264" r:id="rId12"/>
    <p:sldId id="265" r:id="rId13"/>
    <p:sldId id="285" r:id="rId14"/>
    <p:sldId id="286" r:id="rId15"/>
    <p:sldId id="270" r:id="rId16"/>
    <p:sldId id="289" r:id="rId17"/>
    <p:sldId id="291" r:id="rId18"/>
    <p:sldId id="290" r:id="rId19"/>
    <p:sldId id="292" r:id="rId20"/>
    <p:sldId id="293" r:id="rId21"/>
    <p:sldId id="294" r:id="rId22"/>
    <p:sldId id="295" r:id="rId23"/>
    <p:sldId id="296" r:id="rId24"/>
    <p:sldId id="297" r:id="rId25"/>
    <p:sldId id="298" r:id="rId26"/>
    <p:sldId id="281" r:id="rId27"/>
    <p:sldId id="271" r:id="rId28"/>
    <p:sldId id="288" r:id="rId29"/>
    <p:sldId id="284" r:id="rId30"/>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569"/>
    <p:restoredTop sz="94684"/>
  </p:normalViewPr>
  <p:slideViewPr>
    <p:cSldViewPr>
      <p:cViewPr varScale="1">
        <p:scale>
          <a:sx n="101" d="100"/>
          <a:sy n="101" d="100"/>
        </p:scale>
        <p:origin x="480" y="200"/>
      </p:cViewPr>
      <p:guideLst>
        <p:guide orient="horz" pos="2880"/>
        <p:guide pos="2160"/>
      </p:guideLst>
    </p:cSldViewPr>
  </p:slideViewPr>
  <p:outlineViewPr>
    <p:cViewPr>
      <p:scale>
        <a:sx n="33" d="100"/>
        <a:sy n="33" d="100"/>
      </p:scale>
      <p:origin x="0" y="-9712"/>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9B9EF59F-BDDF-9D48-9198-1DB900C68ABF}" type="datetimeFigureOut">
              <a:rPr lang="en-GB" smtClean="0"/>
              <a:t>02/04/2025</a:t>
            </a:fld>
            <a:endParaRPr lang="en-GB"/>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70BA5614-C481-2446-94DF-32602CA57EC3}" type="slidenum">
              <a:rPr lang="en-GB" smtClean="0"/>
              <a:t>‹#›</a:t>
            </a:fld>
            <a:endParaRPr lang="en-GB"/>
          </a:p>
        </p:txBody>
      </p:sp>
    </p:spTree>
    <p:extLst>
      <p:ext uri="{BB962C8B-B14F-4D97-AF65-F5344CB8AC3E}">
        <p14:creationId xmlns:p14="http://schemas.microsoft.com/office/powerpoint/2010/main" val="10354064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0BA5614-C481-2446-94DF-32602CA57EC3}" type="slidenum">
              <a:rPr lang="en-GB" smtClean="0"/>
              <a:t>1</a:t>
            </a:fld>
            <a:endParaRPr lang="en-GB"/>
          </a:p>
        </p:txBody>
      </p:sp>
    </p:spTree>
    <p:extLst>
      <p:ext uri="{BB962C8B-B14F-4D97-AF65-F5344CB8AC3E}">
        <p14:creationId xmlns:p14="http://schemas.microsoft.com/office/powerpoint/2010/main" val="7545928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6858000"/>
          </a:xfrm>
          <a:custGeom>
            <a:avLst/>
            <a:gdLst/>
            <a:ahLst/>
            <a:cxnLst/>
            <a:rect l="l" t="t" r="r" b="b"/>
            <a:pathLst>
              <a:path w="9144000" h="6858000">
                <a:moveTo>
                  <a:pt x="9144000" y="0"/>
                </a:moveTo>
                <a:lnTo>
                  <a:pt x="0" y="0"/>
                </a:lnTo>
                <a:lnTo>
                  <a:pt x="0" y="6857999"/>
                </a:lnTo>
                <a:lnTo>
                  <a:pt x="9144000" y="6857999"/>
                </a:lnTo>
                <a:lnTo>
                  <a:pt x="9144000" y="0"/>
                </a:lnTo>
                <a:close/>
              </a:path>
            </a:pathLst>
          </a:custGeom>
          <a:solidFill>
            <a:srgbClr val="D9D9D9"/>
          </a:solidFill>
        </p:spPr>
        <p:txBody>
          <a:bodyPr wrap="square" lIns="0" tIns="0" rIns="0" bIns="0" rtlCol="0"/>
          <a:lstStyle/>
          <a:p>
            <a:endParaRPr/>
          </a:p>
        </p:txBody>
      </p:sp>
      <p:sp>
        <p:nvSpPr>
          <p:cNvPr id="2" name="Holder 2"/>
          <p:cNvSpPr>
            <a:spLocks noGrp="1"/>
          </p:cNvSpPr>
          <p:nvPr>
            <p:ph type="ctrTitle"/>
          </p:nvPr>
        </p:nvSpPr>
        <p:spPr>
          <a:xfrm>
            <a:off x="2080810" y="473963"/>
            <a:ext cx="4982379" cy="695960"/>
          </a:xfrm>
          <a:prstGeom prst="rect">
            <a:avLst/>
          </a:prstGeom>
        </p:spPr>
        <p:txBody>
          <a:bodyPr wrap="square" lIns="0" tIns="0" rIns="0" bIns="0">
            <a:spAutoFit/>
          </a:bodyPr>
          <a:lstStyle>
            <a:lvl1pPr>
              <a:defRPr sz="3500" b="0" i="0">
                <a:solidFill>
                  <a:schemeClr val="bg1"/>
                </a:solidFill>
                <a:latin typeface="Arial MT"/>
                <a:cs typeface="Arial MT"/>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1700" b="1"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500" b="0" i="0">
                <a:solidFill>
                  <a:schemeClr val="bg1"/>
                </a:solidFill>
                <a:latin typeface="Arial MT"/>
                <a:cs typeface="Arial MT"/>
              </a:defRPr>
            </a:lvl1pPr>
          </a:lstStyle>
          <a:p>
            <a:endParaRPr/>
          </a:p>
        </p:txBody>
      </p:sp>
      <p:sp>
        <p:nvSpPr>
          <p:cNvPr id="3" name="Holder 3"/>
          <p:cNvSpPr>
            <a:spLocks noGrp="1"/>
          </p:cNvSpPr>
          <p:nvPr>
            <p:ph type="body" idx="1"/>
          </p:nvPr>
        </p:nvSpPr>
        <p:spPr/>
        <p:txBody>
          <a:bodyPr lIns="0" tIns="0" rIns="0" bIns="0"/>
          <a:lstStyle>
            <a:lvl1pPr>
              <a:defRPr sz="1700" b="1"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500" b="0" i="0">
                <a:solidFill>
                  <a:schemeClr val="bg1"/>
                </a:solidFill>
                <a:latin typeface="Arial MT"/>
                <a:cs typeface="Arial MT"/>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6858000"/>
          </a:xfrm>
          <a:custGeom>
            <a:avLst/>
            <a:gdLst/>
            <a:ahLst/>
            <a:cxnLst/>
            <a:rect l="l" t="t" r="r" b="b"/>
            <a:pathLst>
              <a:path w="9144000" h="6858000">
                <a:moveTo>
                  <a:pt x="9144000" y="0"/>
                </a:moveTo>
                <a:lnTo>
                  <a:pt x="0" y="0"/>
                </a:lnTo>
                <a:lnTo>
                  <a:pt x="0" y="6857999"/>
                </a:lnTo>
                <a:lnTo>
                  <a:pt x="9144000" y="6857999"/>
                </a:lnTo>
                <a:lnTo>
                  <a:pt x="9144000" y="0"/>
                </a:lnTo>
                <a:close/>
              </a:path>
            </a:pathLst>
          </a:custGeom>
          <a:solidFill>
            <a:srgbClr val="D9D9D9"/>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3500" b="0" i="0">
                <a:solidFill>
                  <a:schemeClr val="bg1"/>
                </a:solidFill>
                <a:latin typeface="Arial MT"/>
                <a:cs typeface="Arial M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9144000" cy="1591055"/>
          </a:xfrm>
          <a:prstGeom prst="rect">
            <a:avLst/>
          </a:prstGeom>
        </p:spPr>
      </p:pic>
      <p:pic>
        <p:nvPicPr>
          <p:cNvPr id="17" name="bg object 17"/>
          <p:cNvPicPr/>
          <p:nvPr/>
        </p:nvPicPr>
        <p:blipFill>
          <a:blip r:embed="rId8" cstate="print"/>
          <a:stretch>
            <a:fillRect/>
          </a:stretch>
        </p:blipFill>
        <p:spPr>
          <a:xfrm>
            <a:off x="344424" y="0"/>
            <a:ext cx="8799576" cy="1600200"/>
          </a:xfrm>
          <a:prstGeom prst="rect">
            <a:avLst/>
          </a:prstGeom>
        </p:spPr>
      </p:pic>
      <p:sp>
        <p:nvSpPr>
          <p:cNvPr id="2" name="Holder 2"/>
          <p:cNvSpPr>
            <a:spLocks noGrp="1"/>
          </p:cNvSpPr>
          <p:nvPr>
            <p:ph type="title"/>
          </p:nvPr>
        </p:nvSpPr>
        <p:spPr>
          <a:xfrm>
            <a:off x="535942" y="306323"/>
            <a:ext cx="7098665" cy="1970405"/>
          </a:xfrm>
          <a:prstGeom prst="rect">
            <a:avLst/>
          </a:prstGeom>
        </p:spPr>
        <p:txBody>
          <a:bodyPr wrap="square" lIns="0" tIns="0" rIns="0" bIns="0">
            <a:spAutoFit/>
          </a:bodyPr>
          <a:lstStyle>
            <a:lvl1pPr>
              <a:defRPr sz="3500" b="0" i="0">
                <a:solidFill>
                  <a:schemeClr val="bg1"/>
                </a:solidFill>
                <a:latin typeface="Arial MT"/>
                <a:cs typeface="Arial MT"/>
              </a:defRPr>
            </a:lvl1pPr>
          </a:lstStyle>
          <a:p>
            <a:endParaRPr/>
          </a:p>
        </p:txBody>
      </p:sp>
      <p:sp>
        <p:nvSpPr>
          <p:cNvPr id="3" name="Holder 3"/>
          <p:cNvSpPr>
            <a:spLocks noGrp="1"/>
          </p:cNvSpPr>
          <p:nvPr>
            <p:ph type="body" idx="1"/>
          </p:nvPr>
        </p:nvSpPr>
        <p:spPr>
          <a:xfrm>
            <a:off x="1107442" y="2459736"/>
            <a:ext cx="7080884" cy="2671445"/>
          </a:xfrm>
          <a:prstGeom prst="rect">
            <a:avLst/>
          </a:prstGeom>
        </p:spPr>
        <p:txBody>
          <a:bodyPr wrap="square" lIns="0" tIns="0" rIns="0" bIns="0">
            <a:spAutoFit/>
          </a:bodyPr>
          <a:lstStyle>
            <a:lvl1pPr>
              <a:defRPr sz="1700" b="1" i="0">
                <a:solidFill>
                  <a:schemeClr val="tx1"/>
                </a:solidFill>
                <a:latin typeface="Arial"/>
                <a:cs typeface="Arial"/>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4/2/25</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plainenglish.co.uk/campaigning/example%20s/before-and-after.html"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hyperlink" Target="http://psd.tutsplus.com/articles/6-interface-design-principles-and-tips-every-web-" TargetMode="External"/><Relationship Id="rId7" Type="http://schemas.openxmlformats.org/officeDocument/2006/relationships/hyperlink" Target="http://mkweb.bcgsc.ca/vizbi/2012/principles.pdf" TargetMode="External"/><Relationship Id="rId2" Type="http://schemas.openxmlformats.org/officeDocument/2006/relationships/hyperlink" Target="http://www.smashingmagazine.com/2008/01/31/10-principles-of-effective-web-design/" TargetMode="External"/><Relationship Id="rId1" Type="http://schemas.openxmlformats.org/officeDocument/2006/relationships/slideLayout" Target="../slideLayouts/slideLayout2.xml"/><Relationship Id="rId6" Type="http://schemas.openxmlformats.org/officeDocument/2006/relationships/hyperlink" Target="http://www.cc.gatech.edu/projects/PageSleuth/references/p309-zimmermann.pdf" TargetMode="External"/><Relationship Id="rId5" Type="http://schemas.openxmlformats.org/officeDocument/2006/relationships/hyperlink" Target="http://www.uxmag.com/design/web-navigation-design-workshop-with-james-kalbach" TargetMode="External"/><Relationship Id="rId4" Type="http://schemas.openxmlformats.org/officeDocument/2006/relationships/hyperlink" Target="http://www.onextrapixel.com/2009/07/03/10-principles-of-navigation-design-and-why-"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p:nvPr/>
        </p:nvSpPr>
        <p:spPr>
          <a:xfrm>
            <a:off x="0" y="6"/>
            <a:ext cx="9144000" cy="4412615"/>
          </a:xfrm>
          <a:custGeom>
            <a:avLst/>
            <a:gdLst/>
            <a:ahLst/>
            <a:cxnLst/>
            <a:rect l="l" t="t" r="r" b="b"/>
            <a:pathLst>
              <a:path w="9144000" h="4412615">
                <a:moveTo>
                  <a:pt x="9144000" y="0"/>
                </a:moveTo>
                <a:lnTo>
                  <a:pt x="0" y="0"/>
                </a:lnTo>
                <a:lnTo>
                  <a:pt x="0" y="4412581"/>
                </a:lnTo>
                <a:lnTo>
                  <a:pt x="9144000" y="4412581"/>
                </a:lnTo>
                <a:lnTo>
                  <a:pt x="9144000" y="0"/>
                </a:lnTo>
                <a:close/>
              </a:path>
            </a:pathLst>
          </a:custGeom>
          <a:solidFill>
            <a:schemeClr val="accent1">
              <a:lumMod val="75000"/>
            </a:schemeClr>
          </a:solidFill>
        </p:spPr>
        <p:txBody>
          <a:bodyPr wrap="square" lIns="0" tIns="0" rIns="0" bIns="0" rtlCol="0"/>
          <a:lstStyle/>
          <a:p>
            <a:pPr algn="l" rtl="0"/>
            <a:endParaRPr/>
          </a:p>
        </p:txBody>
      </p:sp>
      <p:sp>
        <p:nvSpPr>
          <p:cNvPr id="7" name="object 7"/>
          <p:cNvSpPr txBox="1"/>
          <p:nvPr/>
        </p:nvSpPr>
        <p:spPr>
          <a:xfrm>
            <a:off x="5029200" y="5584444"/>
            <a:ext cx="2874009" cy="443711"/>
          </a:xfrm>
          <a:prstGeom prst="rect">
            <a:avLst/>
          </a:prstGeom>
        </p:spPr>
        <p:txBody>
          <a:bodyPr vert="horz" wrap="square" lIns="0" tIns="12700" rIns="0" bIns="0" rtlCol="0">
            <a:spAutoFit/>
          </a:bodyPr>
          <a:lstStyle/>
          <a:p>
            <a:pPr marL="12700">
              <a:lnSpc>
                <a:spcPct val="100000"/>
              </a:lnSpc>
              <a:spcBef>
                <a:spcPts val="100"/>
              </a:spcBef>
            </a:pPr>
            <a:r>
              <a:rPr sz="2800" b="1" spc="-10" dirty="0">
                <a:solidFill>
                  <a:srgbClr val="1F497D"/>
                </a:solidFill>
                <a:latin typeface="Arial"/>
                <a:cs typeface="Arial"/>
              </a:rPr>
              <a:t>Programming</a:t>
            </a:r>
            <a:r>
              <a:rPr lang="en-GB" sz="2800" b="1" spc="-10" dirty="0">
                <a:solidFill>
                  <a:srgbClr val="1F497D"/>
                </a:solidFill>
                <a:latin typeface="Arial"/>
                <a:cs typeface="Arial"/>
              </a:rPr>
              <a:t> </a:t>
            </a:r>
            <a:r>
              <a:rPr sz="2800" b="1" spc="-10" dirty="0">
                <a:solidFill>
                  <a:srgbClr val="1F497D"/>
                </a:solidFill>
                <a:latin typeface="Arial"/>
                <a:cs typeface="Arial"/>
              </a:rPr>
              <a:t>02</a:t>
            </a:r>
            <a:endParaRPr sz="2800" dirty="0">
              <a:latin typeface="Arial"/>
              <a:cs typeface="Arial"/>
            </a:endParaRPr>
          </a:p>
        </p:txBody>
      </p:sp>
      <p:sp>
        <p:nvSpPr>
          <p:cNvPr id="8" name="object 8">
            <a:extLst>
              <a:ext uri="{C183D7F6-B498-43B3-948B-1728B52AA6E4}">
                <adec:decorative xmlns:adec="http://schemas.microsoft.com/office/drawing/2017/decorative" val="1"/>
              </a:ext>
            </a:extLst>
          </p:cNvPr>
          <p:cNvSpPr/>
          <p:nvPr/>
        </p:nvSpPr>
        <p:spPr>
          <a:xfrm>
            <a:off x="447350" y="6354707"/>
            <a:ext cx="8250555" cy="0"/>
          </a:xfrm>
          <a:custGeom>
            <a:avLst/>
            <a:gdLst/>
            <a:ahLst/>
            <a:cxnLst/>
            <a:rect l="l" t="t" r="r" b="b"/>
            <a:pathLst>
              <a:path w="8250555">
                <a:moveTo>
                  <a:pt x="8250175" y="0"/>
                </a:moveTo>
                <a:lnTo>
                  <a:pt x="0" y="1"/>
                </a:lnTo>
              </a:path>
            </a:pathLst>
          </a:custGeom>
          <a:ln w="101600">
            <a:solidFill>
              <a:schemeClr val="accent1">
                <a:lumMod val="75000"/>
              </a:schemeClr>
            </a:solidFill>
          </a:ln>
        </p:spPr>
        <p:txBody>
          <a:bodyPr wrap="square" lIns="0" tIns="0" rIns="0" bIns="0" rtlCol="0"/>
          <a:lstStyle/>
          <a:p>
            <a:pPr algn="l" rtl="0"/>
            <a:endParaRPr/>
          </a:p>
        </p:txBody>
      </p:sp>
      <p:grpSp>
        <p:nvGrpSpPr>
          <p:cNvPr id="13" name="object 2">
            <a:extLst>
              <a:ext uri="{FF2B5EF4-FFF2-40B4-BE49-F238E27FC236}">
                <a16:creationId xmlns:a16="http://schemas.microsoft.com/office/drawing/2014/main" id="{E69F06C5-38BA-63DD-8816-33CB3E78FE26}"/>
              </a:ext>
              <a:ext uri="{C183D7F6-B498-43B3-948B-1728B52AA6E4}">
                <adec:decorative xmlns:adec="http://schemas.microsoft.com/office/drawing/2017/decorative" val="1"/>
              </a:ext>
            </a:extLst>
          </p:cNvPr>
          <p:cNvGrpSpPr/>
          <p:nvPr/>
        </p:nvGrpSpPr>
        <p:grpSpPr>
          <a:xfrm>
            <a:off x="19050" y="137291"/>
            <a:ext cx="9144000" cy="5437628"/>
            <a:chOff x="0" y="2"/>
            <a:chExt cx="9144000" cy="5437628"/>
          </a:xfrm>
        </p:grpSpPr>
        <p:sp>
          <p:nvSpPr>
            <p:cNvPr id="14" name="object 3">
              <a:extLst>
                <a:ext uri="{FF2B5EF4-FFF2-40B4-BE49-F238E27FC236}">
                  <a16:creationId xmlns:a16="http://schemas.microsoft.com/office/drawing/2014/main" id="{4A404F51-348A-095B-3483-EB9123D2C68D}"/>
                </a:ext>
              </a:extLst>
            </p:cNvPr>
            <p:cNvSpPr/>
            <p:nvPr/>
          </p:nvSpPr>
          <p:spPr>
            <a:xfrm>
              <a:off x="0" y="2"/>
              <a:ext cx="9144000" cy="4412615"/>
            </a:xfrm>
            <a:custGeom>
              <a:avLst/>
              <a:gdLst/>
              <a:ahLst/>
              <a:cxnLst/>
              <a:rect l="l" t="t" r="r" b="b"/>
              <a:pathLst>
                <a:path w="9144000" h="4412615">
                  <a:moveTo>
                    <a:pt x="9144000" y="0"/>
                  </a:moveTo>
                  <a:lnTo>
                    <a:pt x="0" y="0"/>
                  </a:lnTo>
                  <a:lnTo>
                    <a:pt x="0" y="4412581"/>
                  </a:lnTo>
                  <a:lnTo>
                    <a:pt x="9144000" y="4412581"/>
                  </a:lnTo>
                  <a:lnTo>
                    <a:pt x="9144000" y="0"/>
                  </a:lnTo>
                  <a:close/>
                </a:path>
              </a:pathLst>
            </a:custGeom>
            <a:solidFill>
              <a:schemeClr val="tx2"/>
            </a:solidFill>
          </p:spPr>
          <p:txBody>
            <a:bodyPr wrap="square" lIns="0" tIns="0" rIns="0" bIns="0" rtlCol="0"/>
            <a:lstStyle/>
            <a:p>
              <a:endParaRPr dirty="0"/>
            </a:p>
          </p:txBody>
        </p:sp>
        <p:pic>
          <p:nvPicPr>
            <p:cNvPr id="15" name="object 4">
              <a:extLst>
                <a:ext uri="{FF2B5EF4-FFF2-40B4-BE49-F238E27FC236}">
                  <a16:creationId xmlns:a16="http://schemas.microsoft.com/office/drawing/2014/main" id="{828E7885-5907-6495-D7C4-F0F3960E0A80}"/>
                </a:ext>
              </a:extLst>
            </p:cNvPr>
            <p:cNvPicPr/>
            <p:nvPr/>
          </p:nvPicPr>
          <p:blipFill>
            <a:blip r:embed="rId3" cstate="print"/>
            <a:stretch>
              <a:fillRect/>
            </a:stretch>
          </p:blipFill>
          <p:spPr>
            <a:xfrm>
              <a:off x="304800" y="536447"/>
              <a:ext cx="8534400" cy="4901183"/>
            </a:xfrm>
            <a:prstGeom prst="rect">
              <a:avLst/>
            </a:prstGeom>
          </p:spPr>
        </p:pic>
        <p:sp>
          <p:nvSpPr>
            <p:cNvPr id="16" name="object 5">
              <a:extLst>
                <a:ext uri="{FF2B5EF4-FFF2-40B4-BE49-F238E27FC236}">
                  <a16:creationId xmlns:a16="http://schemas.microsoft.com/office/drawing/2014/main" id="{0B36E4B1-0CA7-65F9-C268-0448226EF13C}"/>
                </a:ext>
              </a:extLst>
            </p:cNvPr>
            <p:cNvSpPr/>
            <p:nvPr/>
          </p:nvSpPr>
          <p:spPr>
            <a:xfrm>
              <a:off x="447347" y="551962"/>
              <a:ext cx="8249920" cy="4618990"/>
            </a:xfrm>
            <a:custGeom>
              <a:avLst/>
              <a:gdLst/>
              <a:ahLst/>
              <a:cxnLst/>
              <a:rect l="l" t="t" r="r" b="b"/>
              <a:pathLst>
                <a:path w="8249920" h="4618990">
                  <a:moveTo>
                    <a:pt x="8249303" y="0"/>
                  </a:moveTo>
                  <a:lnTo>
                    <a:pt x="0" y="0"/>
                  </a:lnTo>
                  <a:lnTo>
                    <a:pt x="0" y="4618548"/>
                  </a:lnTo>
                  <a:lnTo>
                    <a:pt x="8249303" y="4618548"/>
                  </a:lnTo>
                  <a:lnTo>
                    <a:pt x="8249303" y="0"/>
                  </a:lnTo>
                  <a:close/>
                </a:path>
              </a:pathLst>
            </a:custGeom>
            <a:solidFill>
              <a:srgbClr val="FFFFFF"/>
            </a:solidFill>
          </p:spPr>
          <p:txBody>
            <a:bodyPr wrap="square" lIns="0" tIns="0" rIns="0" bIns="0" rtlCol="0"/>
            <a:lstStyle/>
            <a:p>
              <a:endParaRPr dirty="0"/>
            </a:p>
          </p:txBody>
        </p:sp>
      </p:grpSp>
      <p:sp>
        <p:nvSpPr>
          <p:cNvPr id="17" name="object 7">
            <a:extLst>
              <a:ext uri="{FF2B5EF4-FFF2-40B4-BE49-F238E27FC236}">
                <a16:creationId xmlns:a16="http://schemas.microsoft.com/office/drawing/2014/main" id="{6FCE77DD-3B0D-AFDC-2645-B80E56BF38B2}"/>
              </a:ext>
            </a:extLst>
          </p:cNvPr>
          <p:cNvSpPr txBox="1">
            <a:spLocks noGrp="1"/>
          </p:cNvSpPr>
          <p:nvPr>
            <p:ph type="title" idx="4294967295"/>
          </p:nvPr>
        </p:nvSpPr>
        <p:spPr>
          <a:xfrm>
            <a:off x="990600" y="948870"/>
            <a:ext cx="7315200" cy="1859483"/>
          </a:xfrm>
          <a:prstGeom prst="rect">
            <a:avLst/>
          </a:prstGeom>
          <a:noFill/>
          <a:ln>
            <a:noFill/>
            <a:prstDash/>
          </a:ln>
          <a:effectLst/>
        </p:spPr>
        <p:txBody>
          <a:bodyPr rot="0" spcFirstLastPara="0" vertOverflow="overflow" horzOverflow="overflow" vert="horz" wrap="square" lIns="0" tIns="12700" rIns="0" bIns="0" numCol="1" spcCol="0" rtlCol="0" fromWordArt="0" anchor="t" anchorCtr="0" forceAA="0" compatLnSpc="1">
            <a:prstTxWarp prst="textNoShape">
              <a:avLst/>
            </a:prstTxWarp>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GB" sz="6000" b="1" i="0" u="none" strike="noStrike" kern="0" cap="none" spc="-65" normalizeH="0" baseline="0" noProof="0" dirty="0">
                <a:ln>
                  <a:noFill/>
                </a:ln>
                <a:solidFill>
                  <a:srgbClr val="1F497D"/>
                </a:solidFill>
                <a:effectLst/>
                <a:uLnTx/>
                <a:uFillTx/>
                <a:latin typeface="Arial"/>
                <a:cs typeface="Arial"/>
              </a:rPr>
              <a:t>Week 8 – Information Design</a:t>
            </a:r>
            <a:endParaRPr kumimoji="0" lang="en-GB" sz="6000" b="0" i="0" u="none" strike="noStrike" kern="0" cap="none" spc="0" normalizeH="0" baseline="0" noProof="0" dirty="0">
              <a:ln>
                <a:noFill/>
              </a:ln>
              <a:solidFill>
                <a:sysClr val="windowText" lastClr="000000"/>
              </a:solidFill>
              <a:effectLst/>
              <a:uLnTx/>
              <a:uFillTx/>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508EC-C638-59A3-B1B6-622AE8212348}"/>
              </a:ext>
            </a:extLst>
          </p:cNvPr>
          <p:cNvSpPr>
            <a:spLocks noGrp="1"/>
          </p:cNvSpPr>
          <p:nvPr>
            <p:ph type="title"/>
          </p:nvPr>
        </p:nvSpPr>
        <p:spPr>
          <a:xfrm>
            <a:off x="535942" y="306323"/>
            <a:ext cx="7098665" cy="1077218"/>
          </a:xfrm>
        </p:spPr>
        <p:txBody>
          <a:bodyPr/>
          <a:lstStyle/>
          <a:p>
            <a:r>
              <a:rPr lang="en-GB" b="1" i="0" dirty="0">
                <a:solidFill>
                  <a:srgbClr val="FFFFFF"/>
                </a:solidFill>
                <a:effectLst/>
                <a:latin typeface="Atkinson Hyperlegible"/>
              </a:rPr>
              <a:t>Change of Schedule for Lecture and Lab Sessions in May</a:t>
            </a:r>
            <a:endParaRPr lang="en-GB" dirty="0"/>
          </a:p>
        </p:txBody>
      </p:sp>
      <p:sp>
        <p:nvSpPr>
          <p:cNvPr id="3" name="Text Placeholder 2">
            <a:extLst>
              <a:ext uri="{FF2B5EF4-FFF2-40B4-BE49-F238E27FC236}">
                <a16:creationId xmlns:a16="http://schemas.microsoft.com/office/drawing/2014/main" id="{EE44B980-2AEA-EFC3-C9ED-7F63EA9EBD47}"/>
              </a:ext>
            </a:extLst>
          </p:cNvPr>
          <p:cNvSpPr>
            <a:spLocks noGrp="1"/>
          </p:cNvSpPr>
          <p:nvPr>
            <p:ph type="body" idx="1"/>
          </p:nvPr>
        </p:nvSpPr>
        <p:spPr>
          <a:xfrm>
            <a:off x="554036" y="2209800"/>
            <a:ext cx="8132763" cy="4001095"/>
          </a:xfrm>
        </p:spPr>
        <p:txBody>
          <a:bodyPr/>
          <a:lstStyle/>
          <a:p>
            <a:pPr marL="0" algn="l" rtl="0"/>
            <a:r>
              <a:rPr lang="en-GB" sz="2000" b="0" dirty="0"/>
              <a:t>The lecture and lab originally scheduled for Monday, May 5th, has been rescheduled to Wednesday, May 7th. The updated details are as follows:</a:t>
            </a:r>
          </a:p>
          <a:p>
            <a:pPr marL="0" algn="l" rtl="0"/>
            <a:endParaRPr lang="en-GB" sz="2000" b="0" dirty="0"/>
          </a:p>
          <a:p>
            <a:pPr marL="0" algn="l" rtl="0"/>
            <a:r>
              <a:rPr lang="en-GB" sz="2000" dirty="0"/>
              <a:t>Lecture:</a:t>
            </a:r>
          </a:p>
          <a:p>
            <a:pPr marL="0" algn="l" rtl="0"/>
            <a:endParaRPr lang="en-GB" sz="2000" b="0" dirty="0"/>
          </a:p>
          <a:p>
            <a:pPr marL="0" algn="l" rtl="0"/>
            <a:r>
              <a:rPr lang="en-GB" sz="2000" b="0" dirty="0"/>
              <a:t>New Time: 14:00 - 15:00</a:t>
            </a:r>
          </a:p>
          <a:p>
            <a:pPr marL="0" algn="l" rtl="0"/>
            <a:r>
              <a:rPr lang="en-GB" sz="2000" b="0" dirty="0"/>
              <a:t>Location: TW/007 - Temple Hall (Room 248)</a:t>
            </a:r>
          </a:p>
          <a:p>
            <a:pPr marL="0" algn="l" rtl="0"/>
            <a:endParaRPr lang="en-GB" sz="2000" b="0" dirty="0"/>
          </a:p>
          <a:p>
            <a:pPr marL="0" algn="l" rtl="0"/>
            <a:r>
              <a:rPr lang="en-GB" sz="2000" dirty="0"/>
              <a:t>Lab:</a:t>
            </a:r>
          </a:p>
          <a:p>
            <a:pPr marL="0" algn="l" rtl="0"/>
            <a:endParaRPr lang="en-GB" sz="2000" b="0" dirty="0"/>
          </a:p>
          <a:p>
            <a:pPr marL="0" algn="l" rtl="0"/>
            <a:r>
              <a:rPr lang="en-GB" sz="2000" b="0" dirty="0"/>
              <a:t>New Time: 15:00 - 18:00</a:t>
            </a:r>
          </a:p>
          <a:p>
            <a:pPr marL="0" algn="l" rtl="0"/>
            <a:r>
              <a:rPr lang="en-GB" sz="2000" b="0" dirty="0"/>
              <a:t>Location: C/114 and CC/115</a:t>
            </a:r>
            <a:endParaRPr lang="en-GB" sz="2000" dirty="0"/>
          </a:p>
        </p:txBody>
      </p:sp>
    </p:spTree>
    <p:extLst>
      <p:ext uri="{BB962C8B-B14F-4D97-AF65-F5344CB8AC3E}">
        <p14:creationId xmlns:p14="http://schemas.microsoft.com/office/powerpoint/2010/main" val="4152182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80340" rIns="0" bIns="0" rtlCol="0">
            <a:spAutoFit/>
          </a:bodyPr>
          <a:lstStyle/>
          <a:p>
            <a:pPr marL="1698625">
              <a:lnSpc>
                <a:spcPct val="100000"/>
              </a:lnSpc>
              <a:spcBef>
                <a:spcPts val="100"/>
              </a:spcBef>
            </a:pPr>
            <a:r>
              <a:rPr sz="4400" dirty="0">
                <a:solidFill>
                  <a:srgbClr val="000000"/>
                </a:solidFill>
                <a:latin typeface="Calibri"/>
                <a:cs typeface="Calibri"/>
              </a:rPr>
              <a:t>UX</a:t>
            </a:r>
            <a:r>
              <a:rPr sz="4400" spc="-55" dirty="0">
                <a:solidFill>
                  <a:srgbClr val="000000"/>
                </a:solidFill>
                <a:latin typeface="Calibri"/>
                <a:cs typeface="Calibri"/>
              </a:rPr>
              <a:t> </a:t>
            </a:r>
            <a:r>
              <a:rPr sz="4400" dirty="0">
                <a:solidFill>
                  <a:srgbClr val="000000"/>
                </a:solidFill>
                <a:latin typeface="Calibri"/>
                <a:cs typeface="Calibri"/>
              </a:rPr>
              <a:t>Design</a:t>
            </a:r>
            <a:r>
              <a:rPr sz="4400" spc="-50" dirty="0">
                <a:solidFill>
                  <a:srgbClr val="000000"/>
                </a:solidFill>
                <a:latin typeface="Calibri"/>
                <a:cs typeface="Calibri"/>
              </a:rPr>
              <a:t> </a:t>
            </a:r>
            <a:r>
              <a:rPr sz="4400" dirty="0">
                <a:solidFill>
                  <a:srgbClr val="000000"/>
                </a:solidFill>
                <a:latin typeface="Calibri"/>
                <a:cs typeface="Calibri"/>
              </a:rPr>
              <a:t>-</a:t>
            </a:r>
            <a:r>
              <a:rPr sz="4400" spc="-50" dirty="0">
                <a:solidFill>
                  <a:srgbClr val="000000"/>
                </a:solidFill>
                <a:latin typeface="Calibri"/>
                <a:cs typeface="Calibri"/>
              </a:rPr>
              <a:t> </a:t>
            </a:r>
            <a:r>
              <a:rPr sz="4400" spc="-10" dirty="0">
                <a:solidFill>
                  <a:srgbClr val="000000"/>
                </a:solidFill>
                <a:latin typeface="Calibri"/>
                <a:cs typeface="Calibri"/>
              </a:rPr>
              <a:t>Skeleton</a:t>
            </a:r>
            <a:endParaRPr sz="4400">
              <a:latin typeface="Calibri"/>
              <a:cs typeface="Calibri"/>
            </a:endParaRPr>
          </a:p>
        </p:txBody>
      </p:sp>
      <p:grpSp>
        <p:nvGrpSpPr>
          <p:cNvPr id="3" name="object 3">
            <a:extLst>
              <a:ext uri="{C183D7F6-B498-43B3-948B-1728B52AA6E4}">
                <adec:decorative xmlns:adec="http://schemas.microsoft.com/office/drawing/2017/decorative" val="1"/>
              </a:ext>
            </a:extLst>
          </p:cNvPr>
          <p:cNvGrpSpPr/>
          <p:nvPr/>
        </p:nvGrpSpPr>
        <p:grpSpPr>
          <a:xfrm>
            <a:off x="1102860" y="1341360"/>
            <a:ext cx="5339080" cy="5218430"/>
            <a:chOff x="1102860" y="1341360"/>
            <a:chExt cx="5339080" cy="5218430"/>
          </a:xfrm>
        </p:grpSpPr>
        <p:pic>
          <p:nvPicPr>
            <p:cNvPr id="4" name="object 4" descr="UXD design paradigm "/>
            <p:cNvPicPr/>
            <p:nvPr/>
          </p:nvPicPr>
          <p:blipFill>
            <a:blip r:embed="rId2" cstate="print"/>
            <a:stretch>
              <a:fillRect/>
            </a:stretch>
          </p:blipFill>
          <p:spPr>
            <a:xfrm>
              <a:off x="2522035" y="1341360"/>
              <a:ext cx="3919824" cy="5217839"/>
            </a:xfrm>
            <a:prstGeom prst="rect">
              <a:avLst/>
            </a:prstGeom>
          </p:spPr>
        </p:pic>
        <p:sp>
          <p:nvSpPr>
            <p:cNvPr id="5" name="object 5"/>
            <p:cNvSpPr/>
            <p:nvPr/>
          </p:nvSpPr>
          <p:spPr>
            <a:xfrm>
              <a:off x="1115640" y="3068999"/>
              <a:ext cx="1431925" cy="542290"/>
            </a:xfrm>
            <a:custGeom>
              <a:avLst/>
              <a:gdLst/>
              <a:ahLst/>
              <a:cxnLst/>
              <a:rect l="l" t="t" r="r" b="b"/>
              <a:pathLst>
                <a:path w="1431925" h="542289">
                  <a:moveTo>
                    <a:pt x="1160461" y="0"/>
                  </a:moveTo>
                  <a:lnTo>
                    <a:pt x="1160461" y="135450"/>
                  </a:lnTo>
                  <a:lnTo>
                    <a:pt x="0" y="135450"/>
                  </a:lnTo>
                  <a:lnTo>
                    <a:pt x="0" y="406350"/>
                  </a:lnTo>
                  <a:lnTo>
                    <a:pt x="1160461" y="406350"/>
                  </a:lnTo>
                  <a:lnTo>
                    <a:pt x="1160461" y="541801"/>
                  </a:lnTo>
                  <a:lnTo>
                    <a:pt x="1431360" y="270901"/>
                  </a:lnTo>
                  <a:lnTo>
                    <a:pt x="1160461" y="0"/>
                  </a:lnTo>
                  <a:close/>
                </a:path>
              </a:pathLst>
            </a:custGeom>
            <a:solidFill>
              <a:srgbClr val="4F81BD"/>
            </a:solidFill>
          </p:spPr>
          <p:txBody>
            <a:bodyPr wrap="square" lIns="0" tIns="0" rIns="0" bIns="0" rtlCol="0"/>
            <a:lstStyle/>
            <a:p>
              <a:endParaRPr/>
            </a:p>
          </p:txBody>
        </p:sp>
        <p:sp>
          <p:nvSpPr>
            <p:cNvPr id="6" name="object 6"/>
            <p:cNvSpPr/>
            <p:nvPr/>
          </p:nvSpPr>
          <p:spPr>
            <a:xfrm>
              <a:off x="1115640" y="3068999"/>
              <a:ext cx="1431925" cy="542290"/>
            </a:xfrm>
            <a:custGeom>
              <a:avLst/>
              <a:gdLst/>
              <a:ahLst/>
              <a:cxnLst/>
              <a:rect l="l" t="t" r="r" b="b"/>
              <a:pathLst>
                <a:path w="1431925" h="542289">
                  <a:moveTo>
                    <a:pt x="0" y="135450"/>
                  </a:moveTo>
                  <a:lnTo>
                    <a:pt x="1160461" y="135450"/>
                  </a:lnTo>
                  <a:lnTo>
                    <a:pt x="1160461" y="0"/>
                  </a:lnTo>
                  <a:lnTo>
                    <a:pt x="1431360" y="270900"/>
                  </a:lnTo>
                  <a:lnTo>
                    <a:pt x="1160461" y="541800"/>
                  </a:lnTo>
                  <a:lnTo>
                    <a:pt x="1160461" y="406349"/>
                  </a:lnTo>
                  <a:lnTo>
                    <a:pt x="0" y="406349"/>
                  </a:lnTo>
                  <a:lnTo>
                    <a:pt x="0" y="135450"/>
                  </a:lnTo>
                  <a:close/>
                </a:path>
              </a:pathLst>
            </a:custGeom>
            <a:ln w="25560">
              <a:solidFill>
                <a:srgbClr val="3A5F8B"/>
              </a:solidFill>
            </a:ln>
          </p:spPr>
          <p:txBody>
            <a:bodyPr wrap="square" lIns="0" tIns="0" rIns="0" bIns="0" rtlCol="0"/>
            <a:lstStyle/>
            <a:p>
              <a:endParaRPr/>
            </a:p>
          </p:txBody>
        </p:sp>
      </p:grpSp>
      <p:sp>
        <p:nvSpPr>
          <p:cNvPr id="7" name="object 7"/>
          <p:cNvSpPr txBox="1"/>
          <p:nvPr/>
        </p:nvSpPr>
        <p:spPr>
          <a:xfrm>
            <a:off x="117915" y="6510019"/>
            <a:ext cx="201803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Source:</a:t>
            </a:r>
            <a:r>
              <a:rPr sz="1800" spc="-50" dirty="0">
                <a:latin typeface="Calibri"/>
                <a:cs typeface="Calibri"/>
              </a:rPr>
              <a:t> </a:t>
            </a:r>
            <a:r>
              <a:rPr sz="1800" spc="-10" dirty="0">
                <a:latin typeface="Calibri"/>
                <a:cs typeface="Calibri"/>
              </a:rPr>
              <a:t>Garrett,</a:t>
            </a:r>
            <a:r>
              <a:rPr sz="1800" spc="-50" dirty="0">
                <a:latin typeface="Calibri"/>
                <a:cs typeface="Calibri"/>
              </a:rPr>
              <a:t> </a:t>
            </a:r>
            <a:r>
              <a:rPr sz="1800" spc="-20" dirty="0">
                <a:latin typeface="Calibri"/>
                <a:cs typeface="Calibri"/>
              </a:rPr>
              <a:t>2002</a:t>
            </a:r>
            <a:endParaRPr sz="180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 y="315595"/>
            <a:ext cx="7098665" cy="1970405"/>
          </a:xfrm>
          <a:prstGeom prst="rect">
            <a:avLst/>
          </a:prstGeom>
        </p:spPr>
        <p:txBody>
          <a:bodyPr vert="horz" wrap="square" lIns="0" tIns="200152" rIns="0" bIns="0" rtlCol="0">
            <a:spAutoFit/>
          </a:bodyPr>
          <a:lstStyle/>
          <a:p>
            <a:pPr marL="583565">
              <a:lnSpc>
                <a:spcPct val="100000"/>
              </a:lnSpc>
              <a:spcBef>
                <a:spcPts val="100"/>
              </a:spcBef>
            </a:pPr>
            <a:r>
              <a:rPr dirty="0"/>
              <a:t>Information</a:t>
            </a:r>
            <a:r>
              <a:rPr spc="-140" dirty="0"/>
              <a:t> </a:t>
            </a:r>
            <a:r>
              <a:rPr spc="-10" dirty="0"/>
              <a:t>Design</a:t>
            </a:r>
          </a:p>
        </p:txBody>
      </p:sp>
      <p:sp>
        <p:nvSpPr>
          <p:cNvPr id="3" name="object 3"/>
          <p:cNvSpPr txBox="1"/>
          <p:nvPr/>
        </p:nvSpPr>
        <p:spPr>
          <a:xfrm>
            <a:off x="535942" y="1905000"/>
            <a:ext cx="7639050" cy="3628557"/>
          </a:xfrm>
          <a:prstGeom prst="rect">
            <a:avLst/>
          </a:prstGeom>
        </p:spPr>
        <p:txBody>
          <a:bodyPr vert="horz" wrap="square" lIns="0" tIns="47625" rIns="0" bIns="0" rtlCol="0">
            <a:spAutoFit/>
          </a:bodyPr>
          <a:lstStyle/>
          <a:p>
            <a:pPr marL="12700" marR="5080" indent="227329">
              <a:spcBef>
                <a:spcPts val="375"/>
              </a:spcBef>
              <a:buChar char="•"/>
              <a:tabLst>
                <a:tab pos="240029" algn="l"/>
              </a:tabLst>
            </a:pPr>
            <a:r>
              <a:rPr sz="2400" dirty="0">
                <a:latin typeface="Arial MT"/>
                <a:cs typeface="Arial MT"/>
              </a:rPr>
              <a:t>Information</a:t>
            </a:r>
            <a:r>
              <a:rPr sz="2400" spc="-55" dirty="0">
                <a:latin typeface="Arial MT"/>
                <a:cs typeface="Arial MT"/>
              </a:rPr>
              <a:t> </a:t>
            </a:r>
            <a:r>
              <a:rPr sz="2400" dirty="0">
                <a:latin typeface="Arial MT"/>
                <a:cs typeface="Arial MT"/>
              </a:rPr>
              <a:t>design</a:t>
            </a:r>
            <a:r>
              <a:rPr sz="2400" spc="-55" dirty="0">
                <a:latin typeface="Arial MT"/>
                <a:cs typeface="Arial MT"/>
              </a:rPr>
              <a:t> </a:t>
            </a:r>
            <a:r>
              <a:rPr sz="2400" dirty="0">
                <a:latin typeface="Arial MT"/>
                <a:cs typeface="Arial MT"/>
              </a:rPr>
              <a:t>is</a:t>
            </a:r>
            <a:r>
              <a:rPr sz="2400" spc="-55" dirty="0">
                <a:latin typeface="Arial MT"/>
                <a:cs typeface="Arial MT"/>
              </a:rPr>
              <a:t> </a:t>
            </a:r>
            <a:r>
              <a:rPr sz="2400" dirty="0">
                <a:latin typeface="Arial MT"/>
                <a:cs typeface="Arial MT"/>
              </a:rPr>
              <a:t>the</a:t>
            </a:r>
            <a:r>
              <a:rPr sz="2400" spc="-55" dirty="0">
                <a:latin typeface="Arial MT"/>
                <a:cs typeface="Arial MT"/>
              </a:rPr>
              <a:t> </a:t>
            </a:r>
            <a:r>
              <a:rPr sz="2400" dirty="0">
                <a:latin typeface="Arial MT"/>
                <a:cs typeface="Arial MT"/>
              </a:rPr>
              <a:t>practice</a:t>
            </a:r>
            <a:r>
              <a:rPr sz="2400" spc="-55" dirty="0">
                <a:latin typeface="Arial MT"/>
                <a:cs typeface="Arial MT"/>
              </a:rPr>
              <a:t> </a:t>
            </a:r>
            <a:r>
              <a:rPr sz="2400" dirty="0">
                <a:latin typeface="Arial MT"/>
                <a:cs typeface="Arial MT"/>
              </a:rPr>
              <a:t>of</a:t>
            </a:r>
            <a:r>
              <a:rPr sz="2400" spc="-60" dirty="0">
                <a:latin typeface="Arial MT"/>
                <a:cs typeface="Arial MT"/>
              </a:rPr>
              <a:t> </a:t>
            </a:r>
            <a:r>
              <a:rPr sz="2400" b="1" i="1" dirty="0">
                <a:latin typeface="Arial"/>
                <a:cs typeface="Arial"/>
              </a:rPr>
              <a:t>combining</a:t>
            </a:r>
            <a:r>
              <a:rPr sz="2400" b="1" i="1" spc="-60" dirty="0">
                <a:latin typeface="Arial"/>
                <a:cs typeface="Arial"/>
              </a:rPr>
              <a:t> </a:t>
            </a:r>
            <a:r>
              <a:rPr sz="2400" b="1" i="1" spc="-10" dirty="0">
                <a:latin typeface="Arial"/>
                <a:cs typeface="Arial"/>
              </a:rPr>
              <a:t>visual </a:t>
            </a:r>
            <a:r>
              <a:rPr sz="2400" b="1" i="1" dirty="0">
                <a:latin typeface="Arial"/>
                <a:cs typeface="Arial"/>
              </a:rPr>
              <a:t>elements,</a:t>
            </a:r>
            <a:r>
              <a:rPr sz="2400" b="1" i="1" spc="-45" dirty="0">
                <a:latin typeface="Arial"/>
                <a:cs typeface="Arial"/>
              </a:rPr>
              <a:t> </a:t>
            </a:r>
            <a:r>
              <a:rPr sz="2400" b="1" i="1" dirty="0">
                <a:latin typeface="Arial"/>
                <a:cs typeface="Arial"/>
              </a:rPr>
              <a:t>content</a:t>
            </a:r>
            <a:r>
              <a:rPr sz="2400" b="1" i="1" spc="-40" dirty="0">
                <a:latin typeface="Arial"/>
                <a:cs typeface="Arial"/>
              </a:rPr>
              <a:t> </a:t>
            </a:r>
            <a:r>
              <a:rPr sz="2400" b="1" i="1" dirty="0">
                <a:latin typeface="Arial"/>
                <a:cs typeface="Arial"/>
              </a:rPr>
              <a:t>and</a:t>
            </a:r>
            <a:r>
              <a:rPr sz="2400" b="1" i="1" spc="-45" dirty="0">
                <a:latin typeface="Arial"/>
                <a:cs typeface="Arial"/>
              </a:rPr>
              <a:t> </a:t>
            </a:r>
            <a:r>
              <a:rPr sz="2400" b="1" i="1" dirty="0">
                <a:latin typeface="Arial"/>
                <a:cs typeface="Arial"/>
              </a:rPr>
              <a:t>form</a:t>
            </a:r>
            <a:r>
              <a:rPr sz="2400" b="1" i="1" spc="-35" dirty="0">
                <a:latin typeface="Arial"/>
                <a:cs typeface="Arial"/>
              </a:rPr>
              <a:t> </a:t>
            </a:r>
            <a:r>
              <a:rPr sz="2400" b="1" i="1" dirty="0">
                <a:latin typeface="Arial"/>
                <a:cs typeface="Arial"/>
              </a:rPr>
              <a:t>to</a:t>
            </a:r>
            <a:r>
              <a:rPr sz="2400" b="1" i="1" spc="-45" dirty="0">
                <a:latin typeface="Arial"/>
                <a:cs typeface="Arial"/>
              </a:rPr>
              <a:t> </a:t>
            </a:r>
            <a:r>
              <a:rPr sz="2400" b="1" i="1" spc="-10" dirty="0">
                <a:latin typeface="Arial"/>
                <a:cs typeface="Arial"/>
              </a:rPr>
              <a:t>communicate effectively</a:t>
            </a:r>
            <a:r>
              <a:rPr sz="2400" spc="-10" dirty="0">
                <a:latin typeface="Arial MT"/>
                <a:cs typeface="Arial MT"/>
              </a:rPr>
              <a:t>.</a:t>
            </a:r>
            <a:endParaRPr sz="2400" dirty="0">
              <a:latin typeface="Arial MT"/>
              <a:cs typeface="Arial MT"/>
            </a:endParaRPr>
          </a:p>
          <a:p>
            <a:pPr>
              <a:spcBef>
                <a:spcPts val="1045"/>
              </a:spcBef>
              <a:buFont typeface="Arial MT"/>
              <a:buChar char="•"/>
            </a:pPr>
            <a:endParaRPr sz="2400" dirty="0">
              <a:latin typeface="Arial MT"/>
              <a:cs typeface="Arial MT"/>
            </a:endParaRPr>
          </a:p>
          <a:p>
            <a:pPr marL="12700" marR="158115" indent="227329">
              <a:spcBef>
                <a:spcPts val="5"/>
              </a:spcBef>
              <a:buChar char="•"/>
              <a:tabLst>
                <a:tab pos="240029" algn="l"/>
                <a:tab pos="6288405" algn="l"/>
              </a:tabLst>
            </a:pPr>
            <a:r>
              <a:rPr sz="2400" spc="-10" dirty="0">
                <a:latin typeface="Arial MT"/>
                <a:cs typeface="Arial MT"/>
              </a:rPr>
              <a:t>Communicating</a:t>
            </a:r>
            <a:r>
              <a:rPr sz="2400" spc="-85" dirty="0">
                <a:latin typeface="Arial MT"/>
                <a:cs typeface="Arial MT"/>
              </a:rPr>
              <a:t> </a:t>
            </a:r>
            <a:r>
              <a:rPr sz="2400" dirty="0">
                <a:latin typeface="Arial MT"/>
                <a:cs typeface="Arial MT"/>
              </a:rPr>
              <a:t>effectively</a:t>
            </a:r>
            <a:r>
              <a:rPr sz="2400" spc="-80" dirty="0">
                <a:latin typeface="Arial MT"/>
                <a:cs typeface="Arial MT"/>
              </a:rPr>
              <a:t> </a:t>
            </a:r>
            <a:r>
              <a:rPr sz="2400" dirty="0">
                <a:latin typeface="Arial MT"/>
                <a:cs typeface="Arial MT"/>
              </a:rPr>
              <a:t>means</a:t>
            </a:r>
            <a:r>
              <a:rPr sz="2400" spc="-80" dirty="0">
                <a:latin typeface="Arial MT"/>
                <a:cs typeface="Arial MT"/>
              </a:rPr>
              <a:t> </a:t>
            </a:r>
            <a:r>
              <a:rPr sz="2400" spc="-10" dirty="0">
                <a:latin typeface="Arial MT"/>
                <a:cs typeface="Arial MT"/>
              </a:rPr>
              <a:t>providing</a:t>
            </a:r>
            <a:r>
              <a:rPr lang="en-GB" sz="2400" spc="-10" dirty="0">
                <a:latin typeface="Arial MT"/>
                <a:cs typeface="Arial MT"/>
              </a:rPr>
              <a:t> </a:t>
            </a:r>
            <a:r>
              <a:rPr sz="2400" dirty="0">
                <a:latin typeface="Arial MT"/>
                <a:cs typeface="Arial MT"/>
              </a:rPr>
              <a:t>the</a:t>
            </a:r>
            <a:r>
              <a:rPr sz="2400" spc="-40" dirty="0">
                <a:latin typeface="Arial MT"/>
                <a:cs typeface="Arial MT"/>
              </a:rPr>
              <a:t> </a:t>
            </a:r>
            <a:r>
              <a:rPr sz="2400" b="1" i="1" spc="-10" dirty="0">
                <a:latin typeface="Arial"/>
                <a:cs typeface="Arial"/>
              </a:rPr>
              <a:t>right </a:t>
            </a:r>
            <a:r>
              <a:rPr sz="2400" b="1" i="1" dirty="0">
                <a:latin typeface="Arial"/>
                <a:cs typeface="Arial"/>
              </a:rPr>
              <a:t>information</a:t>
            </a:r>
            <a:r>
              <a:rPr sz="2400" b="1" i="1" spc="-40" dirty="0">
                <a:latin typeface="Arial"/>
                <a:cs typeface="Arial"/>
              </a:rPr>
              <a:t> </a:t>
            </a:r>
            <a:r>
              <a:rPr sz="2400" b="1" i="1" dirty="0">
                <a:latin typeface="Arial"/>
                <a:cs typeface="Arial"/>
              </a:rPr>
              <a:t>to</a:t>
            </a:r>
            <a:r>
              <a:rPr sz="2400" b="1" i="1" spc="-40" dirty="0">
                <a:latin typeface="Arial"/>
                <a:cs typeface="Arial"/>
              </a:rPr>
              <a:t> </a:t>
            </a:r>
            <a:r>
              <a:rPr sz="2400" b="1" i="1" dirty="0">
                <a:latin typeface="Arial"/>
                <a:cs typeface="Arial"/>
              </a:rPr>
              <a:t>the</a:t>
            </a:r>
            <a:r>
              <a:rPr sz="2400" b="1" i="1" spc="-30" dirty="0">
                <a:latin typeface="Arial"/>
                <a:cs typeface="Arial"/>
              </a:rPr>
              <a:t> </a:t>
            </a:r>
            <a:r>
              <a:rPr sz="2400" b="1" i="1" dirty="0">
                <a:latin typeface="Arial"/>
                <a:cs typeface="Arial"/>
              </a:rPr>
              <a:t>right</a:t>
            </a:r>
            <a:r>
              <a:rPr sz="2400" b="1" i="1" spc="-35" dirty="0">
                <a:latin typeface="Arial"/>
                <a:cs typeface="Arial"/>
              </a:rPr>
              <a:t> </a:t>
            </a:r>
            <a:r>
              <a:rPr sz="2400" b="1" i="1" dirty="0">
                <a:latin typeface="Arial"/>
                <a:cs typeface="Arial"/>
              </a:rPr>
              <a:t>person</a:t>
            </a:r>
            <a:r>
              <a:rPr sz="2400" b="1" i="1" spc="-40" dirty="0">
                <a:latin typeface="Arial"/>
                <a:cs typeface="Arial"/>
              </a:rPr>
              <a:t> </a:t>
            </a:r>
            <a:r>
              <a:rPr sz="2400" b="1" i="1" dirty="0">
                <a:latin typeface="Arial"/>
                <a:cs typeface="Arial"/>
              </a:rPr>
              <a:t>at</a:t>
            </a:r>
            <a:r>
              <a:rPr sz="2400" b="1" i="1" spc="-30" dirty="0">
                <a:latin typeface="Arial"/>
                <a:cs typeface="Arial"/>
              </a:rPr>
              <a:t> </a:t>
            </a:r>
            <a:r>
              <a:rPr sz="2400" b="1" i="1" dirty="0">
                <a:latin typeface="Arial"/>
                <a:cs typeface="Arial"/>
              </a:rPr>
              <a:t>the</a:t>
            </a:r>
            <a:r>
              <a:rPr sz="2400" b="1" i="1" spc="-35" dirty="0">
                <a:latin typeface="Arial"/>
                <a:cs typeface="Arial"/>
              </a:rPr>
              <a:t> </a:t>
            </a:r>
            <a:r>
              <a:rPr sz="2400" b="1" i="1" dirty="0">
                <a:latin typeface="Arial"/>
                <a:cs typeface="Arial"/>
              </a:rPr>
              <a:t>right</a:t>
            </a:r>
            <a:r>
              <a:rPr sz="2400" b="1" i="1" spc="-30" dirty="0">
                <a:latin typeface="Arial"/>
                <a:cs typeface="Arial"/>
              </a:rPr>
              <a:t> </a:t>
            </a:r>
            <a:r>
              <a:rPr sz="2400" b="1" i="1" spc="-10" dirty="0">
                <a:latin typeface="Arial"/>
                <a:cs typeface="Arial"/>
              </a:rPr>
              <a:t>time</a:t>
            </a:r>
            <a:r>
              <a:rPr sz="2400" spc="-10" dirty="0">
                <a:latin typeface="Arial MT"/>
                <a:cs typeface="Arial MT"/>
              </a:rPr>
              <a:t>.</a:t>
            </a:r>
            <a:endParaRPr sz="2400" dirty="0">
              <a:latin typeface="Arial MT"/>
              <a:cs typeface="Arial MT"/>
            </a:endParaRPr>
          </a:p>
          <a:p>
            <a:pPr>
              <a:spcBef>
                <a:spcPts val="994"/>
              </a:spcBef>
              <a:buFont typeface="Arial MT"/>
              <a:buChar char="•"/>
            </a:pPr>
            <a:endParaRPr sz="2400" dirty="0">
              <a:latin typeface="Arial MT"/>
              <a:cs typeface="Arial MT"/>
            </a:endParaRPr>
          </a:p>
          <a:p>
            <a:pPr marL="12700" marR="799465" indent="227329">
              <a:spcBef>
                <a:spcPts val="5"/>
              </a:spcBef>
              <a:buChar char="•"/>
              <a:tabLst>
                <a:tab pos="240029" algn="l"/>
              </a:tabLst>
            </a:pPr>
            <a:r>
              <a:rPr sz="2400" dirty="0">
                <a:latin typeface="Arial MT"/>
                <a:cs typeface="Arial MT"/>
              </a:rPr>
              <a:t>The</a:t>
            </a:r>
            <a:r>
              <a:rPr sz="2400" spc="-50" dirty="0">
                <a:latin typeface="Arial MT"/>
                <a:cs typeface="Arial MT"/>
              </a:rPr>
              <a:t> </a:t>
            </a:r>
            <a:r>
              <a:rPr sz="2400" b="1" i="1" dirty="0">
                <a:latin typeface="Arial"/>
                <a:cs typeface="Arial"/>
              </a:rPr>
              <a:t>main</a:t>
            </a:r>
            <a:r>
              <a:rPr sz="2400" b="1" i="1" spc="-55" dirty="0">
                <a:latin typeface="Arial"/>
                <a:cs typeface="Arial"/>
              </a:rPr>
              <a:t> </a:t>
            </a:r>
            <a:r>
              <a:rPr sz="2400" b="1" i="1" dirty="0">
                <a:latin typeface="Arial"/>
                <a:cs typeface="Arial"/>
              </a:rPr>
              <a:t>goal</a:t>
            </a:r>
            <a:r>
              <a:rPr sz="2400" b="1" i="1" spc="-60" dirty="0">
                <a:latin typeface="Arial"/>
                <a:cs typeface="Arial"/>
              </a:rPr>
              <a:t> </a:t>
            </a:r>
            <a:r>
              <a:rPr sz="2400" dirty="0">
                <a:latin typeface="Arial MT"/>
                <a:cs typeface="Arial MT"/>
              </a:rPr>
              <a:t>in</a:t>
            </a:r>
            <a:r>
              <a:rPr sz="2400" spc="-50" dirty="0">
                <a:latin typeface="Arial MT"/>
                <a:cs typeface="Arial MT"/>
              </a:rPr>
              <a:t> </a:t>
            </a:r>
            <a:r>
              <a:rPr sz="2400" dirty="0">
                <a:latin typeface="Arial MT"/>
                <a:cs typeface="Arial MT"/>
              </a:rPr>
              <a:t>information</a:t>
            </a:r>
            <a:r>
              <a:rPr sz="2400" spc="-50" dirty="0">
                <a:latin typeface="Arial MT"/>
                <a:cs typeface="Arial MT"/>
              </a:rPr>
              <a:t> </a:t>
            </a:r>
            <a:r>
              <a:rPr sz="2400" dirty="0">
                <a:latin typeface="Arial MT"/>
                <a:cs typeface="Arial MT"/>
              </a:rPr>
              <a:t>design</a:t>
            </a:r>
            <a:r>
              <a:rPr sz="2400" spc="-50" dirty="0">
                <a:latin typeface="Arial MT"/>
                <a:cs typeface="Arial MT"/>
              </a:rPr>
              <a:t> </a:t>
            </a:r>
            <a:r>
              <a:rPr sz="2400" dirty="0">
                <a:latin typeface="Arial MT"/>
                <a:cs typeface="Arial MT"/>
              </a:rPr>
              <a:t>is</a:t>
            </a:r>
            <a:r>
              <a:rPr sz="2400" spc="-50" dirty="0">
                <a:latin typeface="Arial MT"/>
                <a:cs typeface="Arial MT"/>
              </a:rPr>
              <a:t> </a:t>
            </a:r>
            <a:r>
              <a:rPr sz="2400" b="1" i="1" dirty="0">
                <a:latin typeface="Arial"/>
                <a:cs typeface="Arial"/>
              </a:rPr>
              <a:t>clarity</a:t>
            </a:r>
            <a:r>
              <a:rPr sz="2400" b="1" i="1" spc="-50" dirty="0">
                <a:latin typeface="Arial"/>
                <a:cs typeface="Arial"/>
              </a:rPr>
              <a:t> </a:t>
            </a:r>
            <a:r>
              <a:rPr sz="2400" b="1" i="1" spc="-25" dirty="0">
                <a:latin typeface="Arial"/>
                <a:cs typeface="Arial"/>
              </a:rPr>
              <a:t>of </a:t>
            </a:r>
            <a:r>
              <a:rPr sz="2400" b="1" i="1" spc="-10" dirty="0">
                <a:latin typeface="Arial"/>
                <a:cs typeface="Arial"/>
              </a:rPr>
              <a:t>communication</a:t>
            </a:r>
            <a:r>
              <a:rPr sz="2400" spc="-10" dirty="0">
                <a:latin typeface="Arial MT"/>
                <a:cs typeface="Arial MT"/>
              </a:rPr>
              <a:t>.</a:t>
            </a:r>
            <a:endParaRPr sz="2400" dirty="0">
              <a:latin typeface="Arial MT"/>
              <a:cs typeface="Arial M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35942" y="1875472"/>
            <a:ext cx="8072116" cy="3105978"/>
          </a:xfrm>
          <a:prstGeom prst="rect">
            <a:avLst/>
          </a:prstGeom>
        </p:spPr>
        <p:txBody>
          <a:bodyPr vert="horz" wrap="square" lIns="0" tIns="48260" rIns="0" bIns="0" rtlCol="0">
            <a:spAutoFit/>
          </a:bodyPr>
          <a:lstStyle/>
          <a:p>
            <a:pPr marL="355600" marR="5080" indent="-342900">
              <a:spcBef>
                <a:spcPts val="380"/>
              </a:spcBef>
              <a:buFont typeface="Arial" panose="020B0604020202020204" pitchFamily="34" charset="0"/>
              <a:buChar char="•"/>
              <a:tabLst>
                <a:tab pos="240029" algn="l"/>
              </a:tabLst>
            </a:pPr>
            <a:r>
              <a:rPr lang="en-GB" sz="2400" i="0" dirty="0">
                <a:solidFill>
                  <a:schemeClr val="tx1"/>
                </a:solidFill>
                <a:effectLst/>
                <a:latin typeface="Arial" panose="020B0604020202020204" pitchFamily="34" charset="0"/>
                <a:cs typeface="Arial" panose="020B0604020202020204" pitchFamily="34" charset="0"/>
              </a:rPr>
              <a:t>Information Design </a:t>
            </a:r>
            <a:r>
              <a:rPr lang="en-GB" sz="2400" dirty="0">
                <a:solidFill>
                  <a:schemeClr val="tx1"/>
                </a:solidFill>
                <a:latin typeface="Arial" panose="020B0604020202020204" pitchFamily="34" charset="0"/>
                <a:cs typeface="Arial" panose="020B0604020202020204" pitchFamily="34" charset="0"/>
              </a:rPr>
              <a:t>refer to </a:t>
            </a:r>
            <a:r>
              <a:rPr lang="en-GB" sz="2400" b="0" i="0" dirty="0">
                <a:solidFill>
                  <a:schemeClr val="tx1"/>
                </a:solidFill>
                <a:effectLst/>
                <a:latin typeface="Arial" panose="020B0604020202020204" pitchFamily="34" charset="0"/>
                <a:cs typeface="Arial" panose="020B0604020202020204" pitchFamily="34" charset="0"/>
              </a:rPr>
              <a:t>the process of organizing, structuring, and presenting information in a way that enhances understanding and usability for users. </a:t>
            </a:r>
          </a:p>
          <a:p>
            <a:pPr marL="12700" marR="5080">
              <a:spcBef>
                <a:spcPts val="380"/>
              </a:spcBef>
              <a:tabLst>
                <a:tab pos="240029" algn="l"/>
              </a:tabLst>
            </a:pPr>
            <a:endParaRPr lang="en-GB" sz="2400" dirty="0">
              <a:solidFill>
                <a:schemeClr val="tx1"/>
              </a:solidFill>
              <a:latin typeface="Arial" panose="020B0604020202020204" pitchFamily="34" charset="0"/>
              <a:cs typeface="Arial" panose="020B0604020202020204" pitchFamily="34" charset="0"/>
            </a:endParaRPr>
          </a:p>
          <a:p>
            <a:pPr marL="355600" marR="5080" indent="-342900">
              <a:spcBef>
                <a:spcPts val="380"/>
              </a:spcBef>
              <a:buFont typeface="Arial" panose="020B0604020202020204" pitchFamily="34" charset="0"/>
              <a:buChar char="•"/>
              <a:tabLst>
                <a:tab pos="240029" algn="l"/>
              </a:tabLst>
            </a:pPr>
            <a:r>
              <a:rPr lang="en-GB" sz="2400" b="0" i="0" dirty="0">
                <a:solidFill>
                  <a:schemeClr val="tx1"/>
                </a:solidFill>
                <a:effectLst/>
                <a:latin typeface="Arial" panose="020B0604020202020204" pitchFamily="34" charset="0"/>
                <a:cs typeface="Arial" panose="020B0604020202020204" pitchFamily="34" charset="0"/>
              </a:rPr>
              <a:t>It combines principles from graphic design, information theory, and cognitive psychology to ensure that content is not only visually appealing but also easy to interpret and navigate.</a:t>
            </a:r>
            <a:endParaRPr sz="2400" dirty="0">
              <a:solidFill>
                <a:schemeClr val="tx1"/>
              </a:solidFill>
              <a:latin typeface="Arial" panose="020B0604020202020204" pitchFamily="34" charset="0"/>
              <a:cs typeface="Arial" panose="020B0604020202020204" pitchFamily="34" charset="0"/>
            </a:endParaRPr>
          </a:p>
        </p:txBody>
      </p:sp>
      <p:sp>
        <p:nvSpPr>
          <p:cNvPr id="7" name="object 2">
            <a:extLst>
              <a:ext uri="{FF2B5EF4-FFF2-40B4-BE49-F238E27FC236}">
                <a16:creationId xmlns:a16="http://schemas.microsoft.com/office/drawing/2014/main" id="{D38C7028-D8EB-5F8D-62D3-B30AF1249800}"/>
              </a:ext>
            </a:extLst>
          </p:cNvPr>
          <p:cNvSpPr txBox="1">
            <a:spLocks noGrp="1"/>
          </p:cNvSpPr>
          <p:nvPr>
            <p:ph type="title"/>
          </p:nvPr>
        </p:nvSpPr>
        <p:spPr>
          <a:xfrm>
            <a:off x="-76200" y="315595"/>
            <a:ext cx="9220200" cy="740716"/>
          </a:xfrm>
          <a:prstGeom prst="rect">
            <a:avLst/>
          </a:prstGeom>
        </p:spPr>
        <p:txBody>
          <a:bodyPr vert="horz" wrap="square" lIns="0" tIns="200152" rIns="0" bIns="0" rtlCol="0">
            <a:spAutoFit/>
          </a:bodyPr>
          <a:lstStyle/>
          <a:p>
            <a:pPr marL="583565">
              <a:lnSpc>
                <a:spcPct val="100000"/>
              </a:lnSpc>
              <a:spcBef>
                <a:spcPts val="100"/>
              </a:spcBef>
            </a:pPr>
            <a:r>
              <a:rPr dirty="0"/>
              <a:t>Information</a:t>
            </a:r>
            <a:r>
              <a:rPr spc="-140" dirty="0"/>
              <a:t> </a:t>
            </a:r>
            <a:r>
              <a:rPr spc="-10" dirty="0"/>
              <a:t>Design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AF9CB-291E-2C79-C1B4-56FA15F8B4AD}"/>
              </a:ext>
            </a:extLst>
          </p:cNvPr>
          <p:cNvSpPr>
            <a:spLocks noGrp="1"/>
          </p:cNvSpPr>
          <p:nvPr>
            <p:ph type="title"/>
          </p:nvPr>
        </p:nvSpPr>
        <p:spPr>
          <a:xfrm>
            <a:off x="535942" y="306323"/>
            <a:ext cx="7098665" cy="1615827"/>
          </a:xfrm>
        </p:spPr>
        <p:txBody>
          <a:bodyPr/>
          <a:lstStyle/>
          <a:p>
            <a:pPr rtl="0"/>
            <a:r>
              <a:rPr lang="en-GB" dirty="0"/>
              <a:t> Information Design vs. Interaction Design</a:t>
            </a:r>
            <a:br>
              <a:rPr lang="en-GB" dirty="0"/>
            </a:br>
            <a:endParaRPr lang="en-GB" dirty="0"/>
          </a:p>
        </p:txBody>
      </p:sp>
      <p:sp>
        <p:nvSpPr>
          <p:cNvPr id="3" name="Text Placeholder 2">
            <a:extLst>
              <a:ext uri="{FF2B5EF4-FFF2-40B4-BE49-F238E27FC236}">
                <a16:creationId xmlns:a16="http://schemas.microsoft.com/office/drawing/2014/main" id="{96869721-F023-F4AF-FD63-23CB8BF145B7}"/>
              </a:ext>
            </a:extLst>
          </p:cNvPr>
          <p:cNvSpPr>
            <a:spLocks noGrp="1"/>
          </p:cNvSpPr>
          <p:nvPr>
            <p:ph type="body" idx="1"/>
          </p:nvPr>
        </p:nvSpPr>
        <p:spPr>
          <a:xfrm>
            <a:off x="535942" y="1886912"/>
            <a:ext cx="8227058" cy="4308872"/>
          </a:xfrm>
        </p:spPr>
        <p:txBody>
          <a:bodyPr/>
          <a:lstStyle/>
          <a:p>
            <a:pPr marL="0" algn="just" rtl="0"/>
            <a:r>
              <a:rPr lang="en-GB" sz="2000" dirty="0"/>
              <a:t>Focus: </a:t>
            </a:r>
          </a:p>
          <a:p>
            <a:pPr marL="0" algn="just" rtl="0"/>
            <a:endParaRPr lang="en-GB" sz="2000" b="0" dirty="0"/>
          </a:p>
          <a:p>
            <a:pPr marL="0" algn="just" rtl="0"/>
            <a:r>
              <a:rPr lang="en-GB" sz="2000" b="0" dirty="0"/>
              <a:t>Information design concentrates on the organization and presentation of information (how it is displayed, structured, and categorized), while interaction design focuses on how users interact with that information (the interactions, feedback, and behaviours).</a:t>
            </a:r>
          </a:p>
          <a:p>
            <a:pPr marL="0" algn="just" rtl="0"/>
            <a:endParaRPr lang="en-GB" sz="2000" dirty="0"/>
          </a:p>
          <a:p>
            <a:pPr marL="0" algn="just" rtl="0"/>
            <a:r>
              <a:rPr lang="en-GB" sz="2000" dirty="0"/>
              <a:t>Activities: </a:t>
            </a:r>
          </a:p>
          <a:p>
            <a:pPr marL="0" algn="just" rtl="0"/>
            <a:endParaRPr lang="en-GB" sz="2000" b="0" dirty="0"/>
          </a:p>
          <a:p>
            <a:pPr marL="0" algn="just" rtl="0"/>
            <a:r>
              <a:rPr lang="en-GB" sz="2000" b="0" dirty="0"/>
              <a:t>Information design may involve creating sitemaps, wireframes, and information hierarchies. In contrast, interaction design involves designing user flows, defining how users will navigate the interface, and specifying interactive elements like buttons and sliders.</a:t>
            </a:r>
          </a:p>
          <a:p>
            <a:pPr marL="0" algn="l" rtl="0"/>
            <a:endParaRPr lang="en-GB" sz="2000" b="0" dirty="0"/>
          </a:p>
        </p:txBody>
      </p:sp>
    </p:spTree>
    <p:extLst>
      <p:ext uri="{BB962C8B-B14F-4D97-AF65-F5344CB8AC3E}">
        <p14:creationId xmlns:p14="http://schemas.microsoft.com/office/powerpoint/2010/main" val="12880621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CB161-009C-C9E6-E9A3-4BB17C15FD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B93CE2-7225-4335-CEF6-B0DAC3DAFB84}"/>
              </a:ext>
            </a:extLst>
          </p:cNvPr>
          <p:cNvSpPr>
            <a:spLocks noGrp="1"/>
          </p:cNvSpPr>
          <p:nvPr>
            <p:ph type="title"/>
          </p:nvPr>
        </p:nvSpPr>
        <p:spPr>
          <a:xfrm>
            <a:off x="535942" y="306323"/>
            <a:ext cx="7098665" cy="2185214"/>
          </a:xfrm>
        </p:spPr>
        <p:txBody>
          <a:bodyPr/>
          <a:lstStyle/>
          <a:p>
            <a:pPr algn="just" rtl="0"/>
            <a:r>
              <a:rPr lang="en-GB" dirty="0"/>
              <a:t> </a:t>
            </a:r>
            <a:r>
              <a:rPr lang="en-GB" sz="3600" dirty="0"/>
              <a:t>Information Design vs. Visual Design</a:t>
            </a:r>
            <a:br>
              <a:rPr lang="en-GB" sz="3600" dirty="0"/>
            </a:br>
            <a:br>
              <a:rPr lang="en-GB" dirty="0"/>
            </a:br>
            <a:endParaRPr lang="en-GB" dirty="0"/>
          </a:p>
        </p:txBody>
      </p:sp>
      <p:sp>
        <p:nvSpPr>
          <p:cNvPr id="3" name="Text Placeholder 2">
            <a:extLst>
              <a:ext uri="{FF2B5EF4-FFF2-40B4-BE49-F238E27FC236}">
                <a16:creationId xmlns:a16="http://schemas.microsoft.com/office/drawing/2014/main" id="{0DB3A3E3-B8AB-AFB0-6DBA-77503554ED10}"/>
              </a:ext>
            </a:extLst>
          </p:cNvPr>
          <p:cNvSpPr>
            <a:spLocks noGrp="1"/>
          </p:cNvSpPr>
          <p:nvPr>
            <p:ph type="body" idx="1"/>
          </p:nvPr>
        </p:nvSpPr>
        <p:spPr>
          <a:xfrm>
            <a:off x="535942" y="1886912"/>
            <a:ext cx="8303258" cy="4616648"/>
          </a:xfrm>
        </p:spPr>
        <p:txBody>
          <a:bodyPr/>
          <a:lstStyle/>
          <a:p>
            <a:pPr marL="0" algn="just" rtl="0"/>
            <a:r>
              <a:rPr lang="en-GB" sz="2000" dirty="0"/>
              <a:t>Focus: </a:t>
            </a:r>
          </a:p>
          <a:p>
            <a:pPr marL="0" algn="just" rtl="0"/>
            <a:endParaRPr lang="en-GB" sz="2000" dirty="0"/>
          </a:p>
          <a:p>
            <a:pPr marL="0" algn="just" rtl="0"/>
            <a:r>
              <a:rPr lang="en-GB" sz="2000" b="0" dirty="0"/>
              <a:t>Information design is concerned with the clarity and accessibility of information, ensuring that users can easily understand and find what they need. Visual design emphasizes the aesthetics and visual appeal of the interface, including colour schemes, typography, imagery, and overall style.</a:t>
            </a:r>
          </a:p>
          <a:p>
            <a:pPr marL="0" algn="just" rtl="0"/>
            <a:endParaRPr lang="en-GB" sz="2000" b="0" dirty="0"/>
          </a:p>
          <a:p>
            <a:pPr marL="0" algn="just" rtl="0"/>
            <a:r>
              <a:rPr lang="en-GB" sz="2000" dirty="0"/>
              <a:t>Activities: </a:t>
            </a:r>
          </a:p>
          <a:p>
            <a:pPr marL="0" algn="just" rtl="0"/>
            <a:endParaRPr lang="en-GB" sz="2000" dirty="0"/>
          </a:p>
          <a:p>
            <a:pPr marL="0" algn="just" rtl="0"/>
            <a:r>
              <a:rPr lang="en-GB" sz="2000" b="0" dirty="0"/>
              <a:t>While information design prioritizes structuring information for comprehension, visual design focuses on how that information is visually represented and styled. For example, visual designers decide the colour palette and layout, while information designers ensure that these choices enhance understanding and usability.</a:t>
            </a:r>
          </a:p>
        </p:txBody>
      </p:sp>
    </p:spTree>
    <p:extLst>
      <p:ext uri="{BB962C8B-B14F-4D97-AF65-F5344CB8AC3E}">
        <p14:creationId xmlns:p14="http://schemas.microsoft.com/office/powerpoint/2010/main" val="22469687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00B85-8BE1-B4F5-EB55-BF59268F92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327789-109C-19D4-6E95-CA418B725D2F}"/>
              </a:ext>
            </a:extLst>
          </p:cNvPr>
          <p:cNvSpPr>
            <a:spLocks noGrp="1"/>
          </p:cNvSpPr>
          <p:nvPr>
            <p:ph type="title"/>
          </p:nvPr>
        </p:nvSpPr>
        <p:spPr>
          <a:xfrm>
            <a:off x="535942" y="306323"/>
            <a:ext cx="7098665" cy="1107996"/>
          </a:xfrm>
        </p:spPr>
        <p:txBody>
          <a:bodyPr/>
          <a:lstStyle/>
          <a:p>
            <a:pPr algn="l"/>
            <a:r>
              <a:rPr lang="en-GB" sz="3600" b="1" i="0" dirty="0">
                <a:effectLst/>
                <a:latin typeface="Arial" panose="020B0604020202020204" pitchFamily="34" charset="0"/>
                <a:cs typeface="Arial" panose="020B0604020202020204" pitchFamily="34" charset="0"/>
              </a:rPr>
              <a:t>Information Design vs. Content Strategy</a:t>
            </a:r>
            <a:endParaRPr lang="en-GB" sz="3600" b="0" i="0" dirty="0">
              <a:effectLst/>
              <a:latin typeface="Arial" panose="020B0604020202020204" pitchFamily="34" charset="0"/>
              <a:cs typeface="Arial" panose="020B0604020202020204" pitchFamily="34" charset="0"/>
            </a:endParaRPr>
          </a:p>
        </p:txBody>
      </p:sp>
      <p:sp>
        <p:nvSpPr>
          <p:cNvPr id="3" name="Text Placeholder 2">
            <a:extLst>
              <a:ext uri="{FF2B5EF4-FFF2-40B4-BE49-F238E27FC236}">
                <a16:creationId xmlns:a16="http://schemas.microsoft.com/office/drawing/2014/main" id="{AEA608AB-F492-F8A6-3E51-EF4197599D18}"/>
              </a:ext>
            </a:extLst>
          </p:cNvPr>
          <p:cNvSpPr>
            <a:spLocks noGrp="1"/>
          </p:cNvSpPr>
          <p:nvPr>
            <p:ph type="body" idx="1"/>
          </p:nvPr>
        </p:nvSpPr>
        <p:spPr>
          <a:xfrm>
            <a:off x="535942" y="1886912"/>
            <a:ext cx="8303258" cy="3693319"/>
          </a:xfrm>
        </p:spPr>
        <p:txBody>
          <a:bodyPr/>
          <a:lstStyle/>
          <a:p>
            <a:pPr algn="l"/>
            <a:r>
              <a:rPr lang="en-GB" sz="2000" b="1" i="0" dirty="0">
                <a:effectLst/>
                <a:latin typeface="Arial" panose="020B0604020202020204" pitchFamily="34" charset="0"/>
                <a:cs typeface="Arial" panose="020B0604020202020204" pitchFamily="34" charset="0"/>
              </a:rPr>
              <a:t>Focus</a:t>
            </a:r>
            <a:r>
              <a:rPr lang="en-GB" sz="2000" b="0" i="0" dirty="0">
                <a:effectLst/>
                <a:latin typeface="Arial" panose="020B0604020202020204" pitchFamily="34" charset="0"/>
                <a:cs typeface="Arial" panose="020B0604020202020204" pitchFamily="34" charset="0"/>
              </a:rPr>
              <a:t>: </a:t>
            </a:r>
          </a:p>
          <a:p>
            <a:pPr algn="l"/>
            <a:endParaRPr lang="en-GB" sz="2000" b="0" dirty="0">
              <a:solidFill>
                <a:schemeClr val="tx1"/>
              </a:solidFill>
              <a:latin typeface="Arial" panose="020B0604020202020204" pitchFamily="34" charset="0"/>
              <a:cs typeface="Arial" panose="020B0604020202020204" pitchFamily="34" charset="0"/>
            </a:endParaRPr>
          </a:p>
          <a:p>
            <a:pPr algn="l"/>
            <a:r>
              <a:rPr lang="en-GB" sz="2000" b="0" i="0" dirty="0">
                <a:solidFill>
                  <a:schemeClr val="tx1"/>
                </a:solidFill>
                <a:effectLst/>
                <a:latin typeface="Arial" panose="020B0604020202020204" pitchFamily="34" charset="0"/>
                <a:cs typeface="Arial" panose="020B0604020202020204" pitchFamily="34" charset="0"/>
              </a:rPr>
              <a:t>Content strategy is concerned with the planning, creation, and management of content throughout the user journey. Information design focuses specifically on how that content is organized and presented to facilitate understanding.</a:t>
            </a:r>
          </a:p>
          <a:p>
            <a:pPr algn="l"/>
            <a:endParaRPr lang="en-GB" sz="2000" b="1" i="0" dirty="0">
              <a:effectLst/>
              <a:latin typeface="Arial" panose="020B0604020202020204" pitchFamily="34" charset="0"/>
              <a:cs typeface="Arial" panose="020B0604020202020204" pitchFamily="34" charset="0"/>
            </a:endParaRPr>
          </a:p>
          <a:p>
            <a:pPr algn="l"/>
            <a:r>
              <a:rPr lang="en-GB" sz="2000" b="1" i="0" dirty="0">
                <a:effectLst/>
                <a:latin typeface="Arial" panose="020B0604020202020204" pitchFamily="34" charset="0"/>
                <a:cs typeface="Arial" panose="020B0604020202020204" pitchFamily="34" charset="0"/>
              </a:rPr>
              <a:t>Activities</a:t>
            </a:r>
            <a:r>
              <a:rPr lang="en-GB" sz="2000" b="0" i="0" dirty="0">
                <a:effectLst/>
                <a:latin typeface="Arial" panose="020B0604020202020204" pitchFamily="34" charset="0"/>
                <a:cs typeface="Arial" panose="020B0604020202020204" pitchFamily="34" charset="0"/>
              </a:rPr>
              <a:t>: </a:t>
            </a:r>
          </a:p>
          <a:p>
            <a:pPr algn="l"/>
            <a:endParaRPr lang="en-GB" sz="2000" b="0" dirty="0">
              <a:solidFill>
                <a:schemeClr val="tx1"/>
              </a:solidFill>
              <a:latin typeface="Arial" panose="020B0604020202020204" pitchFamily="34" charset="0"/>
              <a:cs typeface="Arial" panose="020B0604020202020204" pitchFamily="34" charset="0"/>
            </a:endParaRPr>
          </a:p>
          <a:p>
            <a:pPr algn="l"/>
            <a:r>
              <a:rPr lang="en-GB" sz="2000" b="0" i="0" dirty="0">
                <a:solidFill>
                  <a:schemeClr val="tx1"/>
                </a:solidFill>
                <a:effectLst/>
                <a:latin typeface="Arial" panose="020B0604020202020204" pitchFamily="34" charset="0"/>
                <a:cs typeface="Arial" panose="020B0604020202020204" pitchFamily="34" charset="0"/>
              </a:rPr>
              <a:t>Content strategy involves defining the types of content needed, voice and tone, and managing content updates, while information design addresses how to structure and visually present that content effectively to users.</a:t>
            </a:r>
          </a:p>
        </p:txBody>
      </p:sp>
    </p:spTree>
    <p:extLst>
      <p:ext uri="{BB962C8B-B14F-4D97-AF65-F5344CB8AC3E}">
        <p14:creationId xmlns:p14="http://schemas.microsoft.com/office/powerpoint/2010/main" val="37298348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35942" y="1905000"/>
            <a:ext cx="8379458" cy="4751942"/>
          </a:xfrm>
          <a:prstGeom prst="rect">
            <a:avLst/>
          </a:prstGeom>
        </p:spPr>
        <p:txBody>
          <a:bodyPr vert="horz" wrap="square" lIns="0" tIns="70485" rIns="0" bIns="0" rtlCol="0">
            <a:spAutoFit/>
          </a:bodyPr>
          <a:lstStyle/>
          <a:p>
            <a:pPr marL="240665" indent="-227965">
              <a:spcBef>
                <a:spcPts val="555"/>
              </a:spcBef>
              <a:buFont typeface="Arial MT"/>
              <a:buChar char="•"/>
              <a:tabLst>
                <a:tab pos="240665" algn="l"/>
              </a:tabLst>
            </a:pPr>
            <a:r>
              <a:rPr sz="2000" b="1" i="1" dirty="0">
                <a:latin typeface="Arial"/>
                <a:cs typeface="Arial"/>
              </a:rPr>
              <a:t>Grouping</a:t>
            </a:r>
            <a:r>
              <a:rPr sz="2000" b="1" i="1" spc="-40" dirty="0">
                <a:latin typeface="Arial"/>
                <a:cs typeface="Arial"/>
              </a:rPr>
              <a:t> </a:t>
            </a:r>
            <a:r>
              <a:rPr sz="2000" dirty="0">
                <a:latin typeface="Arial MT"/>
                <a:cs typeface="Arial MT"/>
              </a:rPr>
              <a:t>of</a:t>
            </a:r>
            <a:r>
              <a:rPr sz="2000" spc="-35" dirty="0">
                <a:latin typeface="Arial MT"/>
                <a:cs typeface="Arial MT"/>
              </a:rPr>
              <a:t> </a:t>
            </a:r>
            <a:r>
              <a:rPr sz="2000" dirty="0">
                <a:latin typeface="Arial MT"/>
                <a:cs typeface="Arial MT"/>
              </a:rPr>
              <a:t>related</a:t>
            </a:r>
            <a:r>
              <a:rPr sz="2000" spc="-35" dirty="0">
                <a:latin typeface="Arial MT"/>
                <a:cs typeface="Arial MT"/>
              </a:rPr>
              <a:t> </a:t>
            </a:r>
            <a:r>
              <a:rPr sz="2000" spc="-10" dirty="0">
                <a:latin typeface="Arial MT"/>
                <a:cs typeface="Arial MT"/>
              </a:rPr>
              <a:t>information</a:t>
            </a:r>
            <a:r>
              <a:rPr lang="en-GB" sz="2000" spc="-10" dirty="0">
                <a:latin typeface="Arial MT"/>
                <a:cs typeface="Arial MT"/>
              </a:rPr>
              <a:t>.</a:t>
            </a:r>
          </a:p>
          <a:p>
            <a:pPr marL="240665" indent="-227965">
              <a:spcBef>
                <a:spcPts val="555"/>
              </a:spcBef>
              <a:buFont typeface="Arial MT"/>
              <a:buChar char="•"/>
              <a:tabLst>
                <a:tab pos="240665" algn="l"/>
              </a:tabLst>
            </a:pPr>
            <a:endParaRPr sz="2000" dirty="0">
              <a:latin typeface="Arial MT"/>
              <a:cs typeface="Arial MT"/>
            </a:endParaRPr>
          </a:p>
          <a:p>
            <a:pPr marL="241300" marR="247650" indent="-228600">
              <a:spcBef>
                <a:spcPts val="715"/>
              </a:spcBef>
              <a:buFont typeface="Arial MT"/>
              <a:buChar char="•"/>
              <a:tabLst>
                <a:tab pos="241300" algn="l"/>
              </a:tabLst>
            </a:pPr>
            <a:r>
              <a:rPr sz="2000" b="1" i="1" dirty="0">
                <a:latin typeface="Arial"/>
                <a:cs typeface="Arial"/>
              </a:rPr>
              <a:t>Organising</a:t>
            </a:r>
            <a:r>
              <a:rPr sz="2000" b="1" i="1" spc="-50" dirty="0">
                <a:latin typeface="Arial"/>
                <a:cs typeface="Arial"/>
              </a:rPr>
              <a:t> </a:t>
            </a:r>
            <a:r>
              <a:rPr sz="2000" b="1" i="1" dirty="0">
                <a:latin typeface="Arial"/>
                <a:cs typeface="Arial"/>
              </a:rPr>
              <a:t>and</a:t>
            </a:r>
            <a:r>
              <a:rPr sz="2000" b="1" i="1" spc="-50" dirty="0">
                <a:latin typeface="Arial"/>
                <a:cs typeface="Arial"/>
              </a:rPr>
              <a:t> </a:t>
            </a:r>
            <a:r>
              <a:rPr sz="2000" b="1" i="1" dirty="0">
                <a:latin typeface="Arial"/>
                <a:cs typeface="Arial"/>
              </a:rPr>
              <a:t>labelling</a:t>
            </a:r>
            <a:r>
              <a:rPr sz="2000" b="1" i="1" spc="-50" dirty="0">
                <a:latin typeface="Arial"/>
                <a:cs typeface="Arial"/>
              </a:rPr>
              <a:t> </a:t>
            </a:r>
            <a:r>
              <a:rPr sz="2000" b="1" i="1" dirty="0">
                <a:latin typeface="Arial"/>
                <a:cs typeface="Arial"/>
              </a:rPr>
              <a:t>information</a:t>
            </a:r>
            <a:r>
              <a:rPr sz="2000" b="1" i="1" spc="-45" dirty="0">
                <a:latin typeface="Arial"/>
                <a:cs typeface="Arial"/>
              </a:rPr>
              <a:t> </a:t>
            </a:r>
            <a:r>
              <a:rPr sz="2000" dirty="0">
                <a:latin typeface="Arial MT"/>
                <a:cs typeface="Arial MT"/>
              </a:rPr>
              <a:t>for</a:t>
            </a:r>
            <a:r>
              <a:rPr sz="2000" spc="-55" dirty="0">
                <a:latin typeface="Arial MT"/>
                <a:cs typeface="Arial MT"/>
              </a:rPr>
              <a:t> </a:t>
            </a:r>
            <a:r>
              <a:rPr sz="2000" dirty="0">
                <a:latin typeface="Arial MT"/>
                <a:cs typeface="Arial MT"/>
              </a:rPr>
              <a:t>coherent,</a:t>
            </a:r>
            <a:r>
              <a:rPr sz="2000" spc="-45" dirty="0">
                <a:latin typeface="Arial MT"/>
                <a:cs typeface="Arial MT"/>
              </a:rPr>
              <a:t> </a:t>
            </a:r>
            <a:r>
              <a:rPr sz="2000" spc="-10" dirty="0">
                <a:latin typeface="Arial MT"/>
                <a:cs typeface="Arial MT"/>
              </a:rPr>
              <a:t>non-linear access</a:t>
            </a:r>
            <a:r>
              <a:rPr lang="en-GB" sz="2000" spc="-10" dirty="0">
                <a:latin typeface="Arial MT"/>
                <a:cs typeface="Arial MT"/>
              </a:rPr>
              <a:t>.</a:t>
            </a:r>
          </a:p>
          <a:p>
            <a:pPr marL="241300" marR="247650" indent="-228600">
              <a:spcBef>
                <a:spcPts val="715"/>
              </a:spcBef>
              <a:buFont typeface="Arial MT"/>
              <a:buChar char="•"/>
              <a:tabLst>
                <a:tab pos="241300" algn="l"/>
              </a:tabLst>
            </a:pPr>
            <a:endParaRPr sz="2000" dirty="0">
              <a:latin typeface="Arial MT"/>
              <a:cs typeface="Arial MT"/>
            </a:endParaRPr>
          </a:p>
          <a:p>
            <a:pPr marL="240665" indent="-227965">
              <a:spcBef>
                <a:spcPts val="459"/>
              </a:spcBef>
              <a:buFont typeface="Arial MT"/>
              <a:buChar char="•"/>
              <a:tabLst>
                <a:tab pos="240665" algn="l"/>
              </a:tabLst>
            </a:pPr>
            <a:r>
              <a:rPr sz="2000" b="1" i="1" spc="-10" dirty="0">
                <a:latin typeface="Arial"/>
                <a:cs typeface="Arial"/>
              </a:rPr>
              <a:t>Cross-</a:t>
            </a:r>
            <a:r>
              <a:rPr sz="2000" b="1" i="1" dirty="0">
                <a:latin typeface="Arial"/>
                <a:cs typeface="Arial"/>
              </a:rPr>
              <a:t>linking</a:t>
            </a:r>
            <a:r>
              <a:rPr sz="2000" b="1" i="1" spc="-40" dirty="0">
                <a:latin typeface="Arial"/>
                <a:cs typeface="Arial"/>
              </a:rPr>
              <a:t> </a:t>
            </a:r>
            <a:r>
              <a:rPr sz="2000" dirty="0">
                <a:latin typeface="Arial MT"/>
                <a:cs typeface="Arial MT"/>
              </a:rPr>
              <a:t>to</a:t>
            </a:r>
            <a:r>
              <a:rPr sz="2000" spc="-35" dirty="0">
                <a:latin typeface="Arial MT"/>
                <a:cs typeface="Arial MT"/>
              </a:rPr>
              <a:t> </a:t>
            </a:r>
            <a:r>
              <a:rPr sz="2000" dirty="0">
                <a:latin typeface="Arial MT"/>
                <a:cs typeface="Arial MT"/>
              </a:rPr>
              <a:t>provide</a:t>
            </a:r>
            <a:r>
              <a:rPr sz="2000" spc="-35" dirty="0">
                <a:latin typeface="Arial MT"/>
                <a:cs typeface="Arial MT"/>
              </a:rPr>
              <a:t> </a:t>
            </a:r>
            <a:r>
              <a:rPr sz="2000" dirty="0">
                <a:latin typeface="Arial MT"/>
                <a:cs typeface="Arial MT"/>
              </a:rPr>
              <a:t>redundant</a:t>
            </a:r>
            <a:r>
              <a:rPr sz="2000" spc="-30" dirty="0">
                <a:latin typeface="Arial MT"/>
                <a:cs typeface="Arial MT"/>
              </a:rPr>
              <a:t> </a:t>
            </a:r>
            <a:r>
              <a:rPr sz="2000" dirty="0">
                <a:latin typeface="Arial MT"/>
                <a:cs typeface="Arial MT"/>
              </a:rPr>
              <a:t>access</a:t>
            </a:r>
            <a:r>
              <a:rPr sz="2000" spc="-40" dirty="0">
                <a:latin typeface="Arial MT"/>
                <a:cs typeface="Arial MT"/>
              </a:rPr>
              <a:t> </a:t>
            </a:r>
            <a:r>
              <a:rPr sz="2000" dirty="0">
                <a:latin typeface="Arial MT"/>
                <a:cs typeface="Arial MT"/>
              </a:rPr>
              <a:t>to</a:t>
            </a:r>
            <a:r>
              <a:rPr sz="2000" spc="-35" dirty="0">
                <a:latin typeface="Arial MT"/>
                <a:cs typeface="Arial MT"/>
              </a:rPr>
              <a:t> </a:t>
            </a:r>
            <a:r>
              <a:rPr sz="2000" spc="-10" dirty="0">
                <a:latin typeface="Arial MT"/>
                <a:cs typeface="Arial MT"/>
              </a:rPr>
              <a:t>topics</a:t>
            </a:r>
            <a:r>
              <a:rPr lang="en-GB" sz="2000" spc="-10" dirty="0">
                <a:latin typeface="Arial MT"/>
                <a:cs typeface="Arial MT"/>
              </a:rPr>
              <a:t>.</a:t>
            </a:r>
          </a:p>
          <a:p>
            <a:pPr marL="240665" indent="-227965">
              <a:spcBef>
                <a:spcPts val="459"/>
              </a:spcBef>
              <a:buFont typeface="Arial MT"/>
              <a:buChar char="•"/>
              <a:tabLst>
                <a:tab pos="240665" algn="l"/>
              </a:tabLst>
            </a:pPr>
            <a:endParaRPr sz="2000" dirty="0">
              <a:latin typeface="Arial MT"/>
              <a:cs typeface="Arial MT"/>
            </a:endParaRPr>
          </a:p>
          <a:p>
            <a:pPr marL="240665" indent="-227965">
              <a:spcBef>
                <a:spcPts val="360"/>
              </a:spcBef>
              <a:buFont typeface="Arial MT"/>
              <a:buChar char="•"/>
              <a:tabLst>
                <a:tab pos="240665" algn="l"/>
              </a:tabLst>
            </a:pPr>
            <a:r>
              <a:rPr sz="2000" b="1" i="1" dirty="0">
                <a:latin typeface="Arial"/>
                <a:cs typeface="Arial"/>
              </a:rPr>
              <a:t>Matching</a:t>
            </a:r>
            <a:r>
              <a:rPr sz="2000" b="1" i="1" spc="-35" dirty="0">
                <a:latin typeface="Arial"/>
                <a:cs typeface="Arial"/>
              </a:rPr>
              <a:t> </a:t>
            </a:r>
            <a:r>
              <a:rPr sz="2000" b="1" i="1" dirty="0">
                <a:latin typeface="Arial"/>
                <a:cs typeface="Arial"/>
              </a:rPr>
              <a:t>order</a:t>
            </a:r>
            <a:r>
              <a:rPr sz="2000" b="1" i="1" spc="-25" dirty="0">
                <a:latin typeface="Arial"/>
                <a:cs typeface="Arial"/>
              </a:rPr>
              <a:t> </a:t>
            </a:r>
            <a:r>
              <a:rPr sz="2000" dirty="0">
                <a:latin typeface="Arial MT"/>
                <a:cs typeface="Arial MT"/>
              </a:rPr>
              <a:t>or</a:t>
            </a:r>
            <a:r>
              <a:rPr sz="2000" spc="-35" dirty="0">
                <a:latin typeface="Arial MT"/>
                <a:cs typeface="Arial MT"/>
              </a:rPr>
              <a:t> </a:t>
            </a:r>
            <a:r>
              <a:rPr sz="2000" dirty="0">
                <a:latin typeface="Arial MT"/>
                <a:cs typeface="Arial MT"/>
              </a:rPr>
              <a:t>flow</a:t>
            </a:r>
            <a:r>
              <a:rPr sz="2000" spc="-30" dirty="0">
                <a:latin typeface="Arial MT"/>
                <a:cs typeface="Arial MT"/>
              </a:rPr>
              <a:t> </a:t>
            </a:r>
            <a:r>
              <a:rPr sz="2000" dirty="0">
                <a:latin typeface="Arial MT"/>
                <a:cs typeface="Arial MT"/>
              </a:rPr>
              <a:t>of</a:t>
            </a:r>
            <a:r>
              <a:rPr sz="2000" spc="-25" dirty="0">
                <a:latin typeface="Arial MT"/>
                <a:cs typeface="Arial MT"/>
              </a:rPr>
              <a:t> </a:t>
            </a:r>
            <a:r>
              <a:rPr sz="2000" dirty="0">
                <a:latin typeface="Arial MT"/>
                <a:cs typeface="Arial MT"/>
              </a:rPr>
              <a:t>information</a:t>
            </a:r>
            <a:r>
              <a:rPr sz="2000" spc="-25" dirty="0">
                <a:latin typeface="Arial MT"/>
                <a:cs typeface="Arial MT"/>
              </a:rPr>
              <a:t> </a:t>
            </a:r>
            <a:r>
              <a:rPr sz="2000" dirty="0">
                <a:latin typeface="Arial MT"/>
                <a:cs typeface="Arial MT"/>
              </a:rPr>
              <a:t>to</a:t>
            </a:r>
            <a:r>
              <a:rPr sz="2000" spc="-30" dirty="0">
                <a:latin typeface="Arial MT"/>
                <a:cs typeface="Arial MT"/>
              </a:rPr>
              <a:t> </a:t>
            </a:r>
            <a:r>
              <a:rPr sz="2000" dirty="0">
                <a:latin typeface="Arial MT"/>
                <a:cs typeface="Arial MT"/>
              </a:rPr>
              <a:t>user</a:t>
            </a:r>
            <a:r>
              <a:rPr sz="2000" spc="-35" dirty="0">
                <a:latin typeface="Arial MT"/>
                <a:cs typeface="Arial MT"/>
              </a:rPr>
              <a:t> </a:t>
            </a:r>
            <a:r>
              <a:rPr sz="2000" dirty="0">
                <a:latin typeface="Arial MT"/>
                <a:cs typeface="Arial MT"/>
              </a:rPr>
              <a:t>task</a:t>
            </a:r>
            <a:r>
              <a:rPr sz="2000" spc="-30" dirty="0">
                <a:latin typeface="Arial MT"/>
                <a:cs typeface="Arial MT"/>
              </a:rPr>
              <a:t> </a:t>
            </a:r>
            <a:r>
              <a:rPr sz="2000" spc="-20" dirty="0">
                <a:latin typeface="Arial MT"/>
                <a:cs typeface="Arial MT"/>
              </a:rPr>
              <a:t>flow</a:t>
            </a:r>
            <a:r>
              <a:rPr lang="en-GB" sz="2000" spc="-20" dirty="0">
                <a:latin typeface="Arial MT"/>
                <a:cs typeface="Arial MT"/>
              </a:rPr>
              <a:t>.</a:t>
            </a:r>
          </a:p>
          <a:p>
            <a:pPr marL="240665" indent="-227965">
              <a:spcBef>
                <a:spcPts val="360"/>
              </a:spcBef>
              <a:buFont typeface="Arial MT"/>
              <a:buChar char="•"/>
              <a:tabLst>
                <a:tab pos="240665" algn="l"/>
              </a:tabLst>
            </a:pPr>
            <a:endParaRPr sz="2000" dirty="0">
              <a:latin typeface="Arial MT"/>
              <a:cs typeface="Arial MT"/>
            </a:endParaRPr>
          </a:p>
          <a:p>
            <a:pPr marL="240665" indent="-227965">
              <a:spcBef>
                <a:spcPts val="360"/>
              </a:spcBef>
              <a:buChar char="•"/>
              <a:tabLst>
                <a:tab pos="240665" algn="l"/>
              </a:tabLst>
            </a:pPr>
            <a:r>
              <a:rPr sz="2000" dirty="0">
                <a:latin typeface="Arial MT"/>
                <a:cs typeface="Arial MT"/>
              </a:rPr>
              <a:t>Using</a:t>
            </a:r>
            <a:r>
              <a:rPr sz="2000" spc="-50" dirty="0">
                <a:latin typeface="Arial MT"/>
                <a:cs typeface="Arial MT"/>
              </a:rPr>
              <a:t> </a:t>
            </a:r>
            <a:r>
              <a:rPr sz="2000" b="1" i="1" dirty="0">
                <a:latin typeface="Arial"/>
                <a:cs typeface="Arial"/>
              </a:rPr>
              <a:t>familiar</a:t>
            </a:r>
            <a:r>
              <a:rPr sz="2000" b="1" i="1" spc="-45" dirty="0">
                <a:latin typeface="Arial"/>
                <a:cs typeface="Arial"/>
              </a:rPr>
              <a:t> </a:t>
            </a:r>
            <a:r>
              <a:rPr sz="2000" b="1" i="1" spc="-10" dirty="0">
                <a:latin typeface="Arial"/>
                <a:cs typeface="Arial"/>
              </a:rPr>
              <a:t>terminology</a:t>
            </a:r>
            <a:r>
              <a:rPr lang="en-GB" sz="2000" b="1" i="1" spc="-10" dirty="0">
                <a:latin typeface="Arial"/>
                <a:cs typeface="Arial"/>
              </a:rPr>
              <a:t>.</a:t>
            </a:r>
          </a:p>
          <a:p>
            <a:pPr marL="240665" indent="-227965">
              <a:spcBef>
                <a:spcPts val="360"/>
              </a:spcBef>
              <a:buChar char="•"/>
              <a:tabLst>
                <a:tab pos="240665" algn="l"/>
              </a:tabLst>
            </a:pPr>
            <a:endParaRPr sz="2000" dirty="0">
              <a:latin typeface="Arial"/>
              <a:cs typeface="Arial"/>
            </a:endParaRPr>
          </a:p>
          <a:p>
            <a:pPr marL="241300" marR="5080" indent="-228600">
              <a:spcBef>
                <a:spcPts val="715"/>
              </a:spcBef>
              <a:buChar char="•"/>
              <a:tabLst>
                <a:tab pos="241300" algn="l"/>
              </a:tabLst>
            </a:pPr>
            <a:r>
              <a:rPr lang="en-GB" sz="2000" dirty="0">
                <a:latin typeface="Arial MT"/>
                <a:cs typeface="Arial MT"/>
              </a:rPr>
              <a:t>Ensuring that essential information is readily available and easy to find, typically through clear labelling, prominent placement, or shortcuts</a:t>
            </a:r>
            <a:endParaRPr sz="2000" dirty="0">
              <a:latin typeface="Arial"/>
              <a:cs typeface="Arial"/>
            </a:endParaRPr>
          </a:p>
        </p:txBody>
      </p:sp>
      <p:sp>
        <p:nvSpPr>
          <p:cNvPr id="6" name="object 2">
            <a:extLst>
              <a:ext uri="{FF2B5EF4-FFF2-40B4-BE49-F238E27FC236}">
                <a16:creationId xmlns:a16="http://schemas.microsoft.com/office/drawing/2014/main" id="{EC264C2A-5B5F-B684-28FE-981DDAEE062C}"/>
              </a:ext>
            </a:extLst>
          </p:cNvPr>
          <p:cNvSpPr txBox="1">
            <a:spLocks noGrp="1"/>
          </p:cNvSpPr>
          <p:nvPr>
            <p:ph type="title"/>
          </p:nvPr>
        </p:nvSpPr>
        <p:spPr>
          <a:xfrm>
            <a:off x="-76200" y="315595"/>
            <a:ext cx="7098665" cy="740716"/>
          </a:xfrm>
          <a:prstGeom prst="rect">
            <a:avLst/>
          </a:prstGeom>
        </p:spPr>
        <p:txBody>
          <a:bodyPr vert="horz" wrap="square" lIns="0" tIns="200152" rIns="0" bIns="0" rtlCol="0">
            <a:spAutoFit/>
          </a:bodyPr>
          <a:lstStyle/>
          <a:p>
            <a:pPr marL="583565">
              <a:lnSpc>
                <a:spcPct val="100000"/>
              </a:lnSpc>
              <a:spcBef>
                <a:spcPts val="100"/>
              </a:spcBef>
            </a:pPr>
            <a:r>
              <a:rPr dirty="0"/>
              <a:t>Information</a:t>
            </a:r>
            <a:r>
              <a:rPr spc="-140" dirty="0"/>
              <a:t> </a:t>
            </a:r>
            <a:r>
              <a:rPr spc="-10" dirty="0"/>
              <a:t>Design</a:t>
            </a:r>
            <a:r>
              <a:rPr lang="en-GB" spc="-10" dirty="0"/>
              <a:t> Techniques</a:t>
            </a:r>
            <a:endParaRPr spc="-1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 y="304800"/>
            <a:ext cx="7098665" cy="1970405"/>
          </a:xfrm>
          <a:prstGeom prst="rect">
            <a:avLst/>
          </a:prstGeom>
        </p:spPr>
        <p:txBody>
          <a:bodyPr vert="horz" wrap="square" lIns="0" tIns="200152" rIns="0" bIns="0" rtlCol="0">
            <a:spAutoFit/>
          </a:bodyPr>
          <a:lstStyle/>
          <a:p>
            <a:pPr marL="583565">
              <a:lnSpc>
                <a:spcPct val="100000"/>
              </a:lnSpc>
              <a:spcBef>
                <a:spcPts val="100"/>
              </a:spcBef>
            </a:pPr>
            <a:r>
              <a:rPr dirty="0"/>
              <a:t>Information</a:t>
            </a:r>
            <a:r>
              <a:rPr spc="-140" dirty="0"/>
              <a:t> </a:t>
            </a:r>
            <a:r>
              <a:rPr spc="-10" dirty="0"/>
              <a:t>Design</a:t>
            </a:r>
          </a:p>
        </p:txBody>
      </p:sp>
      <p:sp>
        <p:nvSpPr>
          <p:cNvPr id="3" name="object 3"/>
          <p:cNvSpPr txBox="1"/>
          <p:nvPr/>
        </p:nvSpPr>
        <p:spPr>
          <a:xfrm>
            <a:off x="457200" y="1905000"/>
            <a:ext cx="8229600" cy="3808735"/>
          </a:xfrm>
          <a:prstGeom prst="rect">
            <a:avLst/>
          </a:prstGeom>
        </p:spPr>
        <p:txBody>
          <a:bodyPr vert="horz" wrap="square" lIns="0" tIns="12700" rIns="0" bIns="0" rtlCol="0">
            <a:spAutoFit/>
          </a:bodyPr>
          <a:lstStyle/>
          <a:p>
            <a:pPr marL="240665" indent="-227965">
              <a:spcBef>
                <a:spcPts val="100"/>
              </a:spcBef>
              <a:buChar char="•"/>
              <a:tabLst>
                <a:tab pos="240665" algn="l"/>
              </a:tabLst>
            </a:pPr>
            <a:r>
              <a:rPr sz="2400" dirty="0">
                <a:latin typeface="Arial MT"/>
                <a:cs typeface="Arial MT"/>
              </a:rPr>
              <a:t>It</a:t>
            </a:r>
            <a:r>
              <a:rPr sz="2400" spc="-15" dirty="0">
                <a:latin typeface="Arial MT"/>
                <a:cs typeface="Arial MT"/>
              </a:rPr>
              <a:t> </a:t>
            </a:r>
            <a:r>
              <a:rPr sz="2400" dirty="0">
                <a:latin typeface="Arial MT"/>
                <a:cs typeface="Arial MT"/>
              </a:rPr>
              <a:t>is</a:t>
            </a:r>
            <a:r>
              <a:rPr sz="2400" spc="-20" dirty="0">
                <a:latin typeface="Arial MT"/>
                <a:cs typeface="Arial MT"/>
              </a:rPr>
              <a:t> </a:t>
            </a:r>
            <a:r>
              <a:rPr sz="2400" dirty="0">
                <a:latin typeface="Arial MT"/>
                <a:cs typeface="Arial MT"/>
              </a:rPr>
              <a:t>the</a:t>
            </a:r>
            <a:r>
              <a:rPr sz="2400" spc="-10" dirty="0">
                <a:latin typeface="Arial MT"/>
                <a:cs typeface="Arial MT"/>
              </a:rPr>
              <a:t> </a:t>
            </a:r>
            <a:r>
              <a:rPr sz="2400" dirty="0">
                <a:latin typeface="Arial MT"/>
                <a:cs typeface="Arial MT"/>
              </a:rPr>
              <a:t>use</a:t>
            </a:r>
            <a:r>
              <a:rPr sz="2400" spc="-15" dirty="0">
                <a:latin typeface="Arial MT"/>
                <a:cs typeface="Arial MT"/>
              </a:rPr>
              <a:t> </a:t>
            </a:r>
            <a:r>
              <a:rPr sz="2400" spc="-25" dirty="0">
                <a:latin typeface="Arial MT"/>
                <a:cs typeface="Arial MT"/>
              </a:rPr>
              <a:t>of:</a:t>
            </a:r>
            <a:endParaRPr lang="en-GB" sz="2400" spc="-25" dirty="0">
              <a:latin typeface="Arial MT"/>
              <a:cs typeface="Arial MT"/>
            </a:endParaRPr>
          </a:p>
          <a:p>
            <a:pPr marL="240665" lvl="2" indent="-227965">
              <a:spcBef>
                <a:spcPts val="100"/>
              </a:spcBef>
              <a:buChar char="•"/>
              <a:tabLst>
                <a:tab pos="240665" algn="l"/>
              </a:tabLst>
            </a:pPr>
            <a:endParaRPr lang="en-GB" sz="2400" b="1" i="1" spc="-25" dirty="0">
              <a:latin typeface="Arial MT"/>
              <a:cs typeface="Arial"/>
            </a:endParaRPr>
          </a:p>
          <a:p>
            <a:pPr marL="240665" lvl="2" indent="-227965">
              <a:spcBef>
                <a:spcPts val="100"/>
              </a:spcBef>
              <a:buChar char="•"/>
              <a:tabLst>
                <a:tab pos="240665" algn="l"/>
              </a:tabLst>
            </a:pPr>
            <a:r>
              <a:rPr sz="2400" b="1" i="1" dirty="0">
                <a:latin typeface="Arial"/>
                <a:cs typeface="Arial"/>
              </a:rPr>
              <a:t>Plain</a:t>
            </a:r>
            <a:r>
              <a:rPr sz="2400" b="1" i="1" spc="-30" dirty="0">
                <a:latin typeface="Arial"/>
                <a:cs typeface="Arial"/>
              </a:rPr>
              <a:t> </a:t>
            </a:r>
            <a:r>
              <a:rPr lang="en-GB" sz="2400" b="1" i="1" spc="-30" dirty="0">
                <a:latin typeface="Arial"/>
                <a:cs typeface="Arial"/>
              </a:rPr>
              <a:t>writing/</a:t>
            </a:r>
            <a:r>
              <a:rPr sz="2400" b="1" i="1" spc="-10" dirty="0">
                <a:latin typeface="Arial"/>
                <a:cs typeface="Arial"/>
              </a:rPr>
              <a:t>language</a:t>
            </a:r>
            <a:r>
              <a:rPr lang="en-GB" sz="2400" b="1" i="1" spc="-10" dirty="0">
                <a:latin typeface="Arial"/>
                <a:cs typeface="Arial"/>
              </a:rPr>
              <a:t>.</a:t>
            </a:r>
          </a:p>
          <a:p>
            <a:pPr marL="240665" lvl="2" indent="-227965">
              <a:spcBef>
                <a:spcPts val="100"/>
              </a:spcBef>
              <a:buChar char="•"/>
              <a:tabLst>
                <a:tab pos="240665" algn="l"/>
              </a:tabLst>
            </a:pPr>
            <a:endParaRPr lang="en-GB" sz="2400" b="1" i="1" spc="-10" dirty="0">
              <a:latin typeface="Arial"/>
              <a:cs typeface="Arial"/>
            </a:endParaRPr>
          </a:p>
          <a:p>
            <a:pPr marL="240665" lvl="2" indent="-227965">
              <a:spcBef>
                <a:spcPts val="100"/>
              </a:spcBef>
              <a:buChar char="•"/>
              <a:tabLst>
                <a:tab pos="240665" algn="l"/>
              </a:tabLst>
            </a:pPr>
            <a:r>
              <a:rPr sz="2400" dirty="0">
                <a:latin typeface="Arial MT"/>
                <a:cs typeface="Arial MT"/>
              </a:rPr>
              <a:t>The</a:t>
            </a:r>
            <a:r>
              <a:rPr sz="2400" spc="-35" dirty="0">
                <a:latin typeface="Arial MT"/>
                <a:cs typeface="Arial MT"/>
              </a:rPr>
              <a:t> </a:t>
            </a:r>
            <a:r>
              <a:rPr lang="en-GB" sz="2400" b="1" spc="-35" dirty="0">
                <a:latin typeface="Arial MT"/>
                <a:cs typeface="Arial MT"/>
              </a:rPr>
              <a:t>layout/</a:t>
            </a:r>
            <a:r>
              <a:rPr sz="2400" b="1" i="1" dirty="0" err="1">
                <a:latin typeface="Arial"/>
                <a:cs typeface="Arial"/>
              </a:rPr>
              <a:t>organisation</a:t>
            </a:r>
            <a:r>
              <a:rPr sz="2400" b="1" i="1" spc="-40" dirty="0">
                <a:latin typeface="Arial"/>
                <a:cs typeface="Arial"/>
              </a:rPr>
              <a:t> </a:t>
            </a:r>
            <a:r>
              <a:rPr sz="2400" dirty="0">
                <a:latin typeface="Arial"/>
                <a:cs typeface="Arial"/>
              </a:rPr>
              <a:t>and</a:t>
            </a:r>
            <a:r>
              <a:rPr sz="2400" spc="-35" dirty="0">
                <a:latin typeface="Arial"/>
                <a:cs typeface="Arial"/>
              </a:rPr>
              <a:t> </a:t>
            </a:r>
            <a:r>
              <a:rPr sz="2400" dirty="0">
                <a:latin typeface="Arial"/>
                <a:cs typeface="Arial"/>
              </a:rPr>
              <a:t>logical</a:t>
            </a:r>
            <a:r>
              <a:rPr sz="2400" spc="-35" dirty="0">
                <a:latin typeface="Arial"/>
                <a:cs typeface="Arial"/>
              </a:rPr>
              <a:t> </a:t>
            </a:r>
            <a:r>
              <a:rPr sz="2400" dirty="0">
                <a:latin typeface="Arial"/>
                <a:cs typeface="Arial"/>
              </a:rPr>
              <a:t>grouping</a:t>
            </a:r>
            <a:r>
              <a:rPr sz="2400" spc="-35" dirty="0">
                <a:latin typeface="Arial"/>
                <a:cs typeface="Arial"/>
              </a:rPr>
              <a:t> </a:t>
            </a:r>
            <a:r>
              <a:rPr sz="2400" dirty="0">
                <a:latin typeface="Arial MT"/>
                <a:cs typeface="Arial MT"/>
              </a:rPr>
              <a:t>of</a:t>
            </a:r>
            <a:r>
              <a:rPr sz="2400" spc="-35" dirty="0">
                <a:latin typeface="Arial MT"/>
                <a:cs typeface="Arial MT"/>
              </a:rPr>
              <a:t> </a:t>
            </a:r>
            <a:r>
              <a:rPr sz="2400" dirty="0">
                <a:latin typeface="Arial MT"/>
                <a:cs typeface="Arial MT"/>
              </a:rPr>
              <a:t>related</a:t>
            </a:r>
            <a:r>
              <a:rPr sz="2400" spc="-30" dirty="0">
                <a:latin typeface="Arial MT"/>
                <a:cs typeface="Arial MT"/>
              </a:rPr>
              <a:t> </a:t>
            </a:r>
            <a:r>
              <a:rPr sz="2400" dirty="0">
                <a:latin typeface="Arial MT"/>
                <a:cs typeface="Arial MT"/>
              </a:rPr>
              <a:t>pieces</a:t>
            </a:r>
            <a:r>
              <a:rPr sz="2400" spc="-40" dirty="0">
                <a:latin typeface="Arial MT"/>
                <a:cs typeface="Arial MT"/>
              </a:rPr>
              <a:t> </a:t>
            </a:r>
            <a:r>
              <a:rPr sz="2400" spc="-25" dirty="0">
                <a:latin typeface="Arial MT"/>
                <a:cs typeface="Arial MT"/>
              </a:rPr>
              <a:t>of </a:t>
            </a:r>
            <a:r>
              <a:rPr sz="2400" spc="-10" dirty="0">
                <a:latin typeface="Arial MT"/>
                <a:cs typeface="Arial MT"/>
              </a:rPr>
              <a:t>information</a:t>
            </a:r>
            <a:r>
              <a:rPr lang="en-GB" sz="2400" spc="-10" dirty="0">
                <a:latin typeface="Arial MT"/>
                <a:cs typeface="Arial MT"/>
              </a:rPr>
              <a:t>.</a:t>
            </a:r>
          </a:p>
          <a:p>
            <a:pPr marL="240665" lvl="2" indent="-227965">
              <a:spcBef>
                <a:spcPts val="100"/>
              </a:spcBef>
              <a:buChar char="•"/>
              <a:tabLst>
                <a:tab pos="240665" algn="l"/>
              </a:tabLst>
            </a:pPr>
            <a:endParaRPr lang="en-GB" sz="2400" spc="-10" dirty="0">
              <a:latin typeface="Arial MT"/>
              <a:cs typeface="Arial MT"/>
            </a:endParaRPr>
          </a:p>
          <a:p>
            <a:pPr marL="240665" lvl="2" indent="-227965">
              <a:spcBef>
                <a:spcPts val="100"/>
              </a:spcBef>
              <a:buChar char="•"/>
              <a:tabLst>
                <a:tab pos="240665" algn="l"/>
              </a:tabLst>
            </a:pPr>
            <a:r>
              <a:rPr sz="2400" dirty="0">
                <a:latin typeface="Arial MT"/>
                <a:cs typeface="Arial MT"/>
              </a:rPr>
              <a:t>The</a:t>
            </a:r>
            <a:r>
              <a:rPr sz="2400" spc="-35" dirty="0">
                <a:latin typeface="Arial MT"/>
                <a:cs typeface="Arial MT"/>
              </a:rPr>
              <a:t> </a:t>
            </a:r>
            <a:r>
              <a:rPr sz="2400" b="1" i="1" dirty="0">
                <a:latin typeface="Arial"/>
                <a:cs typeface="Arial"/>
              </a:rPr>
              <a:t>appropriate</a:t>
            </a:r>
            <a:r>
              <a:rPr sz="2400" b="1" i="1" spc="-35" dirty="0">
                <a:latin typeface="Arial"/>
                <a:cs typeface="Arial"/>
              </a:rPr>
              <a:t> </a:t>
            </a:r>
            <a:r>
              <a:rPr sz="2400" dirty="0">
                <a:latin typeface="Arial MT"/>
                <a:cs typeface="Arial MT"/>
              </a:rPr>
              <a:t>use</a:t>
            </a:r>
            <a:r>
              <a:rPr sz="2400" spc="-35" dirty="0">
                <a:latin typeface="Arial MT"/>
                <a:cs typeface="Arial MT"/>
              </a:rPr>
              <a:t> </a:t>
            </a:r>
            <a:r>
              <a:rPr sz="2400" dirty="0">
                <a:latin typeface="Arial MT"/>
                <a:cs typeface="Arial MT"/>
              </a:rPr>
              <a:t>of</a:t>
            </a:r>
            <a:r>
              <a:rPr sz="2400" spc="-35" dirty="0">
                <a:latin typeface="Arial MT"/>
                <a:cs typeface="Arial MT"/>
              </a:rPr>
              <a:t> </a:t>
            </a:r>
            <a:r>
              <a:rPr sz="2400" dirty="0">
                <a:latin typeface="Arial MT"/>
                <a:cs typeface="Arial MT"/>
              </a:rPr>
              <a:t>colour</a:t>
            </a:r>
            <a:r>
              <a:rPr sz="2400" spc="-40" dirty="0">
                <a:latin typeface="Arial MT"/>
                <a:cs typeface="Arial MT"/>
              </a:rPr>
              <a:t> </a:t>
            </a:r>
            <a:r>
              <a:rPr sz="2400" dirty="0">
                <a:latin typeface="Arial MT"/>
                <a:cs typeface="Arial MT"/>
              </a:rPr>
              <a:t>and</a:t>
            </a:r>
            <a:r>
              <a:rPr sz="2400" spc="-35" dirty="0">
                <a:latin typeface="Arial MT"/>
                <a:cs typeface="Arial MT"/>
              </a:rPr>
              <a:t> </a:t>
            </a:r>
            <a:r>
              <a:rPr sz="2400" spc="-10" dirty="0">
                <a:latin typeface="Arial MT"/>
                <a:cs typeface="Arial MT"/>
              </a:rPr>
              <a:t>typograph</a:t>
            </a:r>
            <a:r>
              <a:rPr lang="en-GB" sz="2400" spc="-10" dirty="0">
                <a:latin typeface="Arial MT"/>
                <a:cs typeface="Arial MT"/>
              </a:rPr>
              <a:t>y.</a:t>
            </a:r>
          </a:p>
          <a:p>
            <a:pPr marL="240665" lvl="2" indent="-227965">
              <a:spcBef>
                <a:spcPts val="100"/>
              </a:spcBef>
              <a:buChar char="•"/>
              <a:tabLst>
                <a:tab pos="240665" algn="l"/>
              </a:tabLst>
            </a:pPr>
            <a:endParaRPr lang="en-GB" sz="2400" spc="-10" dirty="0">
              <a:latin typeface="Arial MT"/>
              <a:cs typeface="Arial MT"/>
            </a:endParaRPr>
          </a:p>
          <a:p>
            <a:pPr marL="240665" lvl="2" indent="-227965">
              <a:spcBef>
                <a:spcPts val="100"/>
              </a:spcBef>
              <a:buChar char="•"/>
              <a:tabLst>
                <a:tab pos="240665" algn="l"/>
              </a:tabLst>
            </a:pPr>
            <a:r>
              <a:rPr lang="en-GB" sz="2400" dirty="0">
                <a:latin typeface="Arial MT"/>
                <a:cs typeface="Arial MT"/>
              </a:rPr>
              <a:t>The</a:t>
            </a:r>
            <a:r>
              <a:rPr lang="en-GB" sz="2400" spc="-50" dirty="0">
                <a:latin typeface="Arial MT"/>
                <a:cs typeface="Arial MT"/>
              </a:rPr>
              <a:t> </a:t>
            </a:r>
            <a:r>
              <a:rPr lang="en-GB" sz="2400" dirty="0">
                <a:latin typeface="Arial MT"/>
                <a:cs typeface="Arial MT"/>
              </a:rPr>
              <a:t>effective</a:t>
            </a:r>
            <a:r>
              <a:rPr lang="en-GB" sz="2400" spc="-45" dirty="0">
                <a:latin typeface="Arial MT"/>
                <a:cs typeface="Arial MT"/>
              </a:rPr>
              <a:t> </a:t>
            </a:r>
            <a:r>
              <a:rPr lang="en-GB" sz="2400" dirty="0">
                <a:latin typeface="Arial MT"/>
                <a:cs typeface="Arial MT"/>
              </a:rPr>
              <a:t>management</a:t>
            </a:r>
            <a:r>
              <a:rPr lang="en-GB" sz="2400" spc="-50" dirty="0">
                <a:latin typeface="Arial MT"/>
                <a:cs typeface="Arial MT"/>
              </a:rPr>
              <a:t> </a:t>
            </a:r>
            <a:r>
              <a:rPr lang="en-GB" sz="2400" dirty="0">
                <a:latin typeface="Arial MT"/>
                <a:cs typeface="Arial MT"/>
              </a:rPr>
              <a:t>of</a:t>
            </a:r>
            <a:r>
              <a:rPr lang="en-GB" sz="2400" spc="-45" dirty="0">
                <a:latin typeface="Arial MT"/>
                <a:cs typeface="Arial MT"/>
              </a:rPr>
              <a:t> </a:t>
            </a:r>
            <a:r>
              <a:rPr lang="en-GB" sz="2400" b="1" i="1" dirty="0">
                <a:latin typeface="Arial"/>
                <a:cs typeface="Arial"/>
              </a:rPr>
              <a:t>white</a:t>
            </a:r>
            <a:r>
              <a:rPr lang="en-GB" sz="2400" b="1" i="1" spc="-50" dirty="0">
                <a:latin typeface="Arial"/>
                <a:cs typeface="Arial"/>
              </a:rPr>
              <a:t> </a:t>
            </a:r>
            <a:r>
              <a:rPr lang="en-GB" sz="2400" b="1" i="1" spc="-10" dirty="0">
                <a:latin typeface="Arial"/>
                <a:cs typeface="Arial"/>
              </a:rPr>
              <a:t>space.</a:t>
            </a:r>
            <a:endParaRPr lang="en-GB" sz="2400" dirty="0">
              <a:latin typeface="Arial"/>
              <a:cs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304800"/>
            <a:ext cx="7098665" cy="1970405"/>
          </a:xfrm>
          <a:prstGeom prst="rect">
            <a:avLst/>
          </a:prstGeom>
        </p:spPr>
        <p:txBody>
          <a:bodyPr vert="horz" wrap="square" lIns="0" tIns="200152" rIns="0" bIns="0" rtlCol="0">
            <a:spAutoFit/>
          </a:bodyPr>
          <a:lstStyle/>
          <a:p>
            <a:pPr marL="583565">
              <a:lnSpc>
                <a:spcPct val="100000"/>
              </a:lnSpc>
              <a:spcBef>
                <a:spcPts val="100"/>
              </a:spcBef>
            </a:pPr>
            <a:r>
              <a:rPr dirty="0"/>
              <a:t>Plain</a:t>
            </a:r>
            <a:r>
              <a:rPr spc="-85" dirty="0"/>
              <a:t> </a:t>
            </a:r>
            <a:r>
              <a:rPr spc="-10" dirty="0"/>
              <a:t>Writing</a:t>
            </a:r>
          </a:p>
        </p:txBody>
      </p:sp>
      <p:sp>
        <p:nvSpPr>
          <p:cNvPr id="3" name="object 3"/>
          <p:cNvSpPr txBox="1"/>
          <p:nvPr/>
        </p:nvSpPr>
        <p:spPr>
          <a:xfrm>
            <a:off x="533400" y="1905000"/>
            <a:ext cx="8334693" cy="4652556"/>
          </a:xfrm>
          <a:prstGeom prst="rect">
            <a:avLst/>
          </a:prstGeom>
        </p:spPr>
        <p:txBody>
          <a:bodyPr vert="horz" wrap="square" lIns="0" tIns="35560" rIns="0" bIns="0" rtlCol="0">
            <a:spAutoFit/>
          </a:bodyPr>
          <a:lstStyle/>
          <a:p>
            <a:pPr marL="12700" marR="217804" indent="227965">
              <a:spcBef>
                <a:spcPts val="280"/>
              </a:spcBef>
              <a:buChar char="•"/>
              <a:tabLst>
                <a:tab pos="240665" algn="l"/>
              </a:tabLst>
            </a:pPr>
            <a:r>
              <a:rPr lang="en-GB" sz="2000" dirty="0">
                <a:latin typeface="Arial MT"/>
                <a:cs typeface="Arial MT"/>
              </a:rPr>
              <a:t>Plain writing (also known as plain English or language) is a way of writing or presenting information so that readers can understand it quickly and easily. Plain language should be easy to read, understand, and use. Plain language avoids verbose or convoluted language, jargon, euphemism, and ambiguous language. </a:t>
            </a:r>
          </a:p>
          <a:p>
            <a:pPr marL="12700" marR="217804" indent="227965">
              <a:spcBef>
                <a:spcPts val="280"/>
              </a:spcBef>
              <a:buChar char="•"/>
              <a:tabLst>
                <a:tab pos="240665" algn="l"/>
              </a:tabLst>
            </a:pPr>
            <a:endParaRPr lang="en-GB" sz="2000" dirty="0">
              <a:latin typeface="Arial MT"/>
              <a:cs typeface="Arial MT"/>
            </a:endParaRPr>
          </a:p>
          <a:p>
            <a:pPr marL="12700" marR="217804" indent="227965">
              <a:spcBef>
                <a:spcPts val="280"/>
              </a:spcBef>
              <a:buChar char="•"/>
              <a:tabLst>
                <a:tab pos="240665" algn="l"/>
              </a:tabLst>
            </a:pPr>
            <a:r>
              <a:rPr sz="2000" dirty="0">
                <a:latin typeface="Arial MT"/>
                <a:cs typeface="Arial MT"/>
              </a:rPr>
              <a:t>“</a:t>
            </a:r>
            <a:r>
              <a:rPr sz="2000" i="1" dirty="0">
                <a:latin typeface="Arial MT"/>
                <a:cs typeface="Arial MT"/>
              </a:rPr>
              <a:t>Broadly</a:t>
            </a:r>
            <a:r>
              <a:rPr sz="2000" i="1" spc="-35" dirty="0">
                <a:latin typeface="Arial MT"/>
                <a:cs typeface="Arial MT"/>
              </a:rPr>
              <a:t> </a:t>
            </a:r>
            <a:r>
              <a:rPr sz="2000" i="1" dirty="0">
                <a:latin typeface="Arial MT"/>
                <a:cs typeface="Arial MT"/>
              </a:rPr>
              <a:t>speaking,</a:t>
            </a:r>
            <a:r>
              <a:rPr sz="2000" i="1" spc="-35" dirty="0">
                <a:latin typeface="Arial MT"/>
                <a:cs typeface="Arial MT"/>
              </a:rPr>
              <a:t> </a:t>
            </a:r>
            <a:r>
              <a:rPr sz="2000" i="1" dirty="0">
                <a:latin typeface="Arial MT"/>
                <a:cs typeface="Arial MT"/>
              </a:rPr>
              <a:t>the</a:t>
            </a:r>
            <a:r>
              <a:rPr sz="2000" i="1" spc="-30" dirty="0">
                <a:latin typeface="Arial MT"/>
                <a:cs typeface="Arial MT"/>
              </a:rPr>
              <a:t> </a:t>
            </a:r>
            <a:r>
              <a:rPr sz="2000" i="1" dirty="0">
                <a:latin typeface="Arial MT"/>
                <a:cs typeface="Arial MT"/>
              </a:rPr>
              <a:t>short</a:t>
            </a:r>
            <a:r>
              <a:rPr sz="2000" i="1" spc="-30" dirty="0">
                <a:latin typeface="Arial MT"/>
                <a:cs typeface="Arial MT"/>
              </a:rPr>
              <a:t> </a:t>
            </a:r>
            <a:r>
              <a:rPr sz="2000" i="1" dirty="0">
                <a:latin typeface="Arial MT"/>
                <a:cs typeface="Arial MT"/>
              </a:rPr>
              <a:t>words</a:t>
            </a:r>
            <a:r>
              <a:rPr sz="2000" i="1" spc="-35" dirty="0">
                <a:latin typeface="Arial MT"/>
                <a:cs typeface="Arial MT"/>
              </a:rPr>
              <a:t> </a:t>
            </a:r>
            <a:r>
              <a:rPr sz="2000" i="1" dirty="0">
                <a:latin typeface="Arial MT"/>
                <a:cs typeface="Arial MT"/>
              </a:rPr>
              <a:t>are</a:t>
            </a:r>
            <a:r>
              <a:rPr sz="2000" i="1" spc="-30" dirty="0">
                <a:latin typeface="Arial MT"/>
                <a:cs typeface="Arial MT"/>
              </a:rPr>
              <a:t> </a:t>
            </a:r>
            <a:r>
              <a:rPr sz="2000" i="1" dirty="0">
                <a:latin typeface="Arial MT"/>
                <a:cs typeface="Arial MT"/>
              </a:rPr>
              <a:t>the</a:t>
            </a:r>
            <a:r>
              <a:rPr sz="2000" i="1" spc="-30" dirty="0">
                <a:latin typeface="Arial MT"/>
                <a:cs typeface="Arial MT"/>
              </a:rPr>
              <a:t> </a:t>
            </a:r>
            <a:r>
              <a:rPr sz="2000" i="1" dirty="0">
                <a:latin typeface="Arial MT"/>
                <a:cs typeface="Arial MT"/>
              </a:rPr>
              <a:t>best,</a:t>
            </a:r>
            <a:r>
              <a:rPr sz="2000" i="1" spc="-30" dirty="0">
                <a:latin typeface="Arial MT"/>
                <a:cs typeface="Arial MT"/>
              </a:rPr>
              <a:t> </a:t>
            </a:r>
            <a:r>
              <a:rPr sz="2000" i="1" dirty="0">
                <a:latin typeface="Arial MT"/>
                <a:cs typeface="Arial MT"/>
              </a:rPr>
              <a:t>and</a:t>
            </a:r>
            <a:r>
              <a:rPr sz="2000" i="1" spc="-30" dirty="0">
                <a:latin typeface="Arial MT"/>
                <a:cs typeface="Arial MT"/>
              </a:rPr>
              <a:t> </a:t>
            </a:r>
            <a:r>
              <a:rPr sz="2000" i="1" dirty="0">
                <a:latin typeface="Arial MT"/>
                <a:cs typeface="Arial MT"/>
              </a:rPr>
              <a:t>the</a:t>
            </a:r>
            <a:r>
              <a:rPr sz="2000" i="1" spc="-30" dirty="0">
                <a:latin typeface="Arial MT"/>
                <a:cs typeface="Arial MT"/>
              </a:rPr>
              <a:t> </a:t>
            </a:r>
            <a:r>
              <a:rPr sz="2000" i="1" dirty="0">
                <a:latin typeface="Arial MT"/>
                <a:cs typeface="Arial MT"/>
              </a:rPr>
              <a:t>old</a:t>
            </a:r>
            <a:r>
              <a:rPr sz="2000" i="1" spc="-30" dirty="0">
                <a:latin typeface="Arial MT"/>
                <a:cs typeface="Arial MT"/>
              </a:rPr>
              <a:t> </a:t>
            </a:r>
            <a:r>
              <a:rPr sz="2000" i="1" spc="-10" dirty="0">
                <a:latin typeface="Arial MT"/>
                <a:cs typeface="Arial MT"/>
              </a:rPr>
              <a:t>words</a:t>
            </a:r>
            <a:r>
              <a:rPr lang="en-GB" sz="2000" i="1" spc="-10" dirty="0">
                <a:latin typeface="Arial MT"/>
                <a:cs typeface="Arial MT"/>
              </a:rPr>
              <a:t>, </a:t>
            </a:r>
            <a:r>
              <a:rPr sz="2000" i="1" spc="-10" dirty="0">
                <a:latin typeface="Arial MT"/>
                <a:cs typeface="Arial MT"/>
              </a:rPr>
              <a:t> </a:t>
            </a:r>
            <a:r>
              <a:rPr sz="2000" i="1" dirty="0">
                <a:latin typeface="Arial MT"/>
                <a:cs typeface="Arial MT"/>
              </a:rPr>
              <a:t>when</a:t>
            </a:r>
            <a:r>
              <a:rPr sz="2000" i="1" spc="-25" dirty="0">
                <a:latin typeface="Arial MT"/>
                <a:cs typeface="Arial MT"/>
              </a:rPr>
              <a:t> </a:t>
            </a:r>
            <a:r>
              <a:rPr sz="2000" i="1" dirty="0">
                <a:latin typeface="Arial MT"/>
                <a:cs typeface="Arial MT"/>
              </a:rPr>
              <a:t>short</a:t>
            </a:r>
            <a:r>
              <a:rPr lang="en-GB" sz="2000" i="1" dirty="0">
                <a:latin typeface="Arial MT"/>
                <a:cs typeface="Arial MT"/>
              </a:rPr>
              <a:t>,</a:t>
            </a:r>
            <a:r>
              <a:rPr sz="2000" i="1" spc="-25" dirty="0">
                <a:latin typeface="Arial MT"/>
                <a:cs typeface="Arial MT"/>
              </a:rPr>
              <a:t> </a:t>
            </a:r>
            <a:r>
              <a:rPr sz="2000" i="1" dirty="0">
                <a:latin typeface="Arial MT"/>
                <a:cs typeface="Arial MT"/>
              </a:rPr>
              <a:t>are</a:t>
            </a:r>
            <a:r>
              <a:rPr sz="2000" i="1" spc="-25" dirty="0">
                <a:latin typeface="Arial MT"/>
                <a:cs typeface="Arial MT"/>
              </a:rPr>
              <a:t> </a:t>
            </a:r>
            <a:r>
              <a:rPr sz="2000" i="1" dirty="0">
                <a:latin typeface="Arial MT"/>
                <a:cs typeface="Arial MT"/>
              </a:rPr>
              <a:t>best</a:t>
            </a:r>
            <a:r>
              <a:rPr sz="2000" i="1" spc="-25" dirty="0">
                <a:latin typeface="Arial MT"/>
                <a:cs typeface="Arial MT"/>
              </a:rPr>
              <a:t> </a:t>
            </a:r>
            <a:r>
              <a:rPr sz="2000" i="1" dirty="0">
                <a:latin typeface="Arial MT"/>
                <a:cs typeface="Arial MT"/>
              </a:rPr>
              <a:t>of</a:t>
            </a:r>
            <a:r>
              <a:rPr sz="2000" i="1" spc="-25" dirty="0">
                <a:latin typeface="Arial MT"/>
                <a:cs typeface="Arial MT"/>
              </a:rPr>
              <a:t> </a:t>
            </a:r>
            <a:r>
              <a:rPr sz="2000" i="1" spc="-20" dirty="0">
                <a:latin typeface="Arial MT"/>
                <a:cs typeface="Arial MT"/>
              </a:rPr>
              <a:t>all</a:t>
            </a:r>
            <a:r>
              <a:rPr sz="2000" spc="-20" dirty="0">
                <a:latin typeface="Arial MT"/>
                <a:cs typeface="Arial MT"/>
              </a:rPr>
              <a:t>”.</a:t>
            </a:r>
            <a:endParaRPr sz="2000" dirty="0">
              <a:latin typeface="Arial MT"/>
              <a:cs typeface="Arial MT"/>
            </a:endParaRPr>
          </a:p>
          <a:p>
            <a:pPr marL="12700">
              <a:spcBef>
                <a:spcPts val="315"/>
              </a:spcBef>
              <a:tabLst>
                <a:tab pos="240665" algn="l"/>
              </a:tabLst>
            </a:pPr>
            <a:r>
              <a:rPr lang="en-GB" sz="2000" b="1" dirty="0">
                <a:latin typeface="Arial"/>
                <a:cs typeface="Arial"/>
              </a:rPr>
              <a:t>- </a:t>
            </a:r>
            <a:r>
              <a:rPr sz="2000" b="1" dirty="0">
                <a:latin typeface="Arial"/>
                <a:cs typeface="Arial"/>
              </a:rPr>
              <a:t>Winston</a:t>
            </a:r>
            <a:r>
              <a:rPr sz="2000" b="1" spc="-65" dirty="0">
                <a:latin typeface="Arial"/>
                <a:cs typeface="Arial"/>
              </a:rPr>
              <a:t> </a:t>
            </a:r>
            <a:r>
              <a:rPr sz="2000" b="1" spc="-10" dirty="0">
                <a:latin typeface="Arial"/>
                <a:cs typeface="Arial"/>
              </a:rPr>
              <a:t>Churchill</a:t>
            </a:r>
            <a:endParaRPr sz="2000" b="1" dirty="0">
              <a:latin typeface="Arial"/>
              <a:cs typeface="Arial"/>
            </a:endParaRPr>
          </a:p>
          <a:p>
            <a:pPr>
              <a:spcBef>
                <a:spcPts val="1080"/>
              </a:spcBef>
              <a:buFont typeface="Arial MT"/>
              <a:buChar char="•"/>
            </a:pPr>
            <a:endParaRPr sz="2000" dirty="0">
              <a:latin typeface="Arial"/>
              <a:cs typeface="Arial"/>
            </a:endParaRPr>
          </a:p>
          <a:p>
            <a:pPr marL="12700" marR="5080" indent="227965">
              <a:buChar char="•"/>
              <a:tabLst>
                <a:tab pos="240665" algn="l"/>
              </a:tabLst>
            </a:pPr>
            <a:r>
              <a:rPr sz="2000" dirty="0">
                <a:latin typeface="Arial MT"/>
                <a:cs typeface="Arial MT"/>
              </a:rPr>
              <a:t>“</a:t>
            </a:r>
            <a:r>
              <a:rPr sz="2000" i="1" dirty="0">
                <a:latin typeface="Arial MT"/>
                <a:cs typeface="Arial MT"/>
              </a:rPr>
              <a:t>Any</a:t>
            </a:r>
            <a:r>
              <a:rPr sz="2000" i="1" spc="-40" dirty="0">
                <a:latin typeface="Arial MT"/>
                <a:cs typeface="Arial MT"/>
              </a:rPr>
              <a:t> </a:t>
            </a:r>
            <a:r>
              <a:rPr sz="2000" i="1" dirty="0">
                <a:latin typeface="Arial MT"/>
                <a:cs typeface="Arial MT"/>
              </a:rPr>
              <a:t>fool</a:t>
            </a:r>
            <a:r>
              <a:rPr sz="2000" i="1" spc="-40" dirty="0">
                <a:latin typeface="Arial MT"/>
                <a:cs typeface="Arial MT"/>
              </a:rPr>
              <a:t> </a:t>
            </a:r>
            <a:r>
              <a:rPr sz="2000" i="1" dirty="0">
                <a:latin typeface="Arial MT"/>
                <a:cs typeface="Arial MT"/>
              </a:rPr>
              <a:t>can</a:t>
            </a:r>
            <a:r>
              <a:rPr sz="2000" i="1" spc="-35" dirty="0">
                <a:latin typeface="Arial MT"/>
                <a:cs typeface="Arial MT"/>
              </a:rPr>
              <a:t> </a:t>
            </a:r>
            <a:r>
              <a:rPr sz="2000" i="1" dirty="0">
                <a:latin typeface="Arial MT"/>
                <a:cs typeface="Arial MT"/>
              </a:rPr>
              <a:t>make</a:t>
            </a:r>
            <a:r>
              <a:rPr sz="2000" i="1" spc="-35" dirty="0">
                <a:latin typeface="Arial MT"/>
                <a:cs typeface="Arial MT"/>
              </a:rPr>
              <a:t> </a:t>
            </a:r>
            <a:r>
              <a:rPr sz="2000" i="1" dirty="0">
                <a:latin typeface="Arial MT"/>
                <a:cs typeface="Arial MT"/>
              </a:rPr>
              <a:t>things</a:t>
            </a:r>
            <a:r>
              <a:rPr sz="2000" i="1" spc="-40" dirty="0">
                <a:latin typeface="Arial MT"/>
                <a:cs typeface="Arial MT"/>
              </a:rPr>
              <a:t> </a:t>
            </a:r>
            <a:r>
              <a:rPr sz="2000" i="1" spc="-10" dirty="0">
                <a:latin typeface="Arial MT"/>
                <a:cs typeface="Arial MT"/>
              </a:rPr>
              <a:t>bigger,</a:t>
            </a:r>
            <a:r>
              <a:rPr sz="2000" i="1" spc="-35" dirty="0">
                <a:latin typeface="Arial MT"/>
                <a:cs typeface="Arial MT"/>
              </a:rPr>
              <a:t> </a:t>
            </a:r>
            <a:r>
              <a:rPr sz="2000" i="1" dirty="0">
                <a:latin typeface="Arial MT"/>
                <a:cs typeface="Arial MT"/>
              </a:rPr>
              <a:t>more</a:t>
            </a:r>
            <a:r>
              <a:rPr sz="2000" i="1" spc="-35" dirty="0">
                <a:latin typeface="Arial MT"/>
                <a:cs typeface="Arial MT"/>
              </a:rPr>
              <a:t> </a:t>
            </a:r>
            <a:r>
              <a:rPr sz="2000" i="1" dirty="0">
                <a:latin typeface="Arial MT"/>
                <a:cs typeface="Arial MT"/>
              </a:rPr>
              <a:t>complex,</a:t>
            </a:r>
            <a:r>
              <a:rPr sz="2000" i="1" spc="-35" dirty="0">
                <a:latin typeface="Arial MT"/>
                <a:cs typeface="Arial MT"/>
              </a:rPr>
              <a:t> </a:t>
            </a:r>
            <a:r>
              <a:rPr sz="2000" i="1" dirty="0">
                <a:latin typeface="Arial MT"/>
                <a:cs typeface="Arial MT"/>
              </a:rPr>
              <a:t>and</a:t>
            </a:r>
            <a:r>
              <a:rPr sz="2000" i="1" spc="-40" dirty="0">
                <a:latin typeface="Arial MT"/>
                <a:cs typeface="Arial MT"/>
              </a:rPr>
              <a:t> </a:t>
            </a:r>
            <a:r>
              <a:rPr sz="2000" i="1" dirty="0">
                <a:latin typeface="Arial MT"/>
                <a:cs typeface="Arial MT"/>
              </a:rPr>
              <a:t>more</a:t>
            </a:r>
            <a:r>
              <a:rPr sz="2000" i="1" spc="-35" dirty="0">
                <a:latin typeface="Arial MT"/>
                <a:cs typeface="Arial MT"/>
              </a:rPr>
              <a:t> </a:t>
            </a:r>
            <a:r>
              <a:rPr sz="2000" i="1" dirty="0">
                <a:latin typeface="Arial MT"/>
                <a:cs typeface="Arial MT"/>
              </a:rPr>
              <a:t>violent.</a:t>
            </a:r>
            <a:r>
              <a:rPr sz="2000" i="1" spc="-35" dirty="0">
                <a:latin typeface="Arial MT"/>
                <a:cs typeface="Arial MT"/>
              </a:rPr>
              <a:t> </a:t>
            </a:r>
            <a:r>
              <a:rPr sz="2000" i="1" spc="-25" dirty="0">
                <a:latin typeface="Arial MT"/>
                <a:cs typeface="Arial MT"/>
              </a:rPr>
              <a:t>It </a:t>
            </a:r>
            <a:r>
              <a:rPr sz="2000" i="1" dirty="0">
                <a:latin typeface="Arial MT"/>
                <a:cs typeface="Arial MT"/>
              </a:rPr>
              <a:t>takes</a:t>
            </a:r>
            <a:r>
              <a:rPr sz="2000" i="1" spc="-20" dirty="0">
                <a:latin typeface="Arial MT"/>
                <a:cs typeface="Arial MT"/>
              </a:rPr>
              <a:t> </a:t>
            </a:r>
            <a:r>
              <a:rPr sz="2000" i="1" dirty="0">
                <a:latin typeface="Arial MT"/>
                <a:cs typeface="Arial MT"/>
              </a:rPr>
              <a:t>a</a:t>
            </a:r>
            <a:r>
              <a:rPr sz="2000" i="1" spc="-15" dirty="0">
                <a:latin typeface="Arial MT"/>
                <a:cs typeface="Arial MT"/>
              </a:rPr>
              <a:t> </a:t>
            </a:r>
            <a:r>
              <a:rPr sz="2000" i="1" dirty="0">
                <a:latin typeface="Arial MT"/>
                <a:cs typeface="Arial MT"/>
              </a:rPr>
              <a:t>touch</a:t>
            </a:r>
            <a:r>
              <a:rPr sz="2000" i="1" spc="-15" dirty="0">
                <a:latin typeface="Arial MT"/>
                <a:cs typeface="Arial MT"/>
              </a:rPr>
              <a:t> </a:t>
            </a:r>
            <a:r>
              <a:rPr sz="2000" i="1" dirty="0">
                <a:latin typeface="Arial MT"/>
                <a:cs typeface="Arial MT"/>
              </a:rPr>
              <a:t>of</a:t>
            </a:r>
            <a:r>
              <a:rPr sz="2000" i="1" spc="-15" dirty="0">
                <a:latin typeface="Arial MT"/>
                <a:cs typeface="Arial MT"/>
              </a:rPr>
              <a:t> </a:t>
            </a:r>
            <a:r>
              <a:rPr sz="2000" i="1" spc="-10" dirty="0">
                <a:latin typeface="Arial MT"/>
                <a:cs typeface="Arial MT"/>
              </a:rPr>
              <a:t>genius-</a:t>
            </a:r>
            <a:r>
              <a:rPr sz="2000" i="1" dirty="0">
                <a:latin typeface="Arial MT"/>
                <a:cs typeface="Arial MT"/>
              </a:rPr>
              <a:t>and</a:t>
            </a:r>
            <a:r>
              <a:rPr sz="2000" i="1" spc="-15" dirty="0">
                <a:latin typeface="Arial MT"/>
                <a:cs typeface="Arial MT"/>
              </a:rPr>
              <a:t> </a:t>
            </a:r>
            <a:r>
              <a:rPr sz="2000" i="1" dirty="0">
                <a:latin typeface="Arial MT"/>
                <a:cs typeface="Arial MT"/>
              </a:rPr>
              <a:t>a</a:t>
            </a:r>
            <a:r>
              <a:rPr sz="2000" i="1" spc="-15" dirty="0">
                <a:latin typeface="Arial MT"/>
                <a:cs typeface="Arial MT"/>
              </a:rPr>
              <a:t> </a:t>
            </a:r>
            <a:r>
              <a:rPr sz="2000" i="1" dirty="0">
                <a:latin typeface="Arial MT"/>
                <a:cs typeface="Arial MT"/>
              </a:rPr>
              <a:t>lot</a:t>
            </a:r>
            <a:r>
              <a:rPr sz="2000" i="1" spc="-15" dirty="0">
                <a:latin typeface="Arial MT"/>
                <a:cs typeface="Arial MT"/>
              </a:rPr>
              <a:t> </a:t>
            </a:r>
            <a:r>
              <a:rPr sz="2000" i="1" dirty="0">
                <a:latin typeface="Arial MT"/>
                <a:cs typeface="Arial MT"/>
              </a:rPr>
              <a:t>of</a:t>
            </a:r>
            <a:r>
              <a:rPr sz="2000" i="1" spc="-15" dirty="0">
                <a:latin typeface="Arial MT"/>
                <a:cs typeface="Arial MT"/>
              </a:rPr>
              <a:t> </a:t>
            </a:r>
            <a:r>
              <a:rPr sz="2000" i="1" spc="-10" dirty="0">
                <a:latin typeface="Arial MT"/>
                <a:cs typeface="Arial MT"/>
              </a:rPr>
              <a:t>courage-</a:t>
            </a:r>
            <a:r>
              <a:rPr sz="2000" i="1" dirty="0">
                <a:latin typeface="Arial MT"/>
                <a:cs typeface="Arial MT"/>
              </a:rPr>
              <a:t>to</a:t>
            </a:r>
            <a:r>
              <a:rPr sz="2000" i="1" spc="-10" dirty="0">
                <a:latin typeface="Arial MT"/>
                <a:cs typeface="Arial MT"/>
              </a:rPr>
              <a:t> </a:t>
            </a:r>
            <a:r>
              <a:rPr sz="2000" i="1" dirty="0">
                <a:latin typeface="Arial MT"/>
                <a:cs typeface="Arial MT"/>
              </a:rPr>
              <a:t>move</a:t>
            </a:r>
            <a:r>
              <a:rPr sz="2000" i="1" spc="-15" dirty="0">
                <a:latin typeface="Arial MT"/>
                <a:cs typeface="Arial MT"/>
              </a:rPr>
              <a:t> </a:t>
            </a:r>
            <a:r>
              <a:rPr sz="2000" i="1" dirty="0">
                <a:latin typeface="Arial MT"/>
                <a:cs typeface="Arial MT"/>
              </a:rPr>
              <a:t>in</a:t>
            </a:r>
            <a:r>
              <a:rPr sz="2000" i="1" spc="-15" dirty="0">
                <a:latin typeface="Arial MT"/>
                <a:cs typeface="Arial MT"/>
              </a:rPr>
              <a:t> </a:t>
            </a:r>
            <a:r>
              <a:rPr sz="2000" i="1" dirty="0">
                <a:latin typeface="Arial MT"/>
                <a:cs typeface="Arial MT"/>
              </a:rPr>
              <a:t>the</a:t>
            </a:r>
            <a:r>
              <a:rPr sz="2000" i="1" spc="-15" dirty="0">
                <a:latin typeface="Arial MT"/>
                <a:cs typeface="Arial MT"/>
              </a:rPr>
              <a:t> </a:t>
            </a:r>
            <a:r>
              <a:rPr sz="2000" i="1" spc="-10" dirty="0">
                <a:latin typeface="Arial MT"/>
                <a:cs typeface="Arial MT"/>
              </a:rPr>
              <a:t>opposite direction</a:t>
            </a:r>
            <a:r>
              <a:rPr sz="2000" spc="-10" dirty="0">
                <a:latin typeface="Arial MT"/>
                <a:cs typeface="Arial MT"/>
              </a:rPr>
              <a:t>”.</a:t>
            </a:r>
            <a:endParaRPr sz="2000" dirty="0">
              <a:latin typeface="Arial MT"/>
              <a:cs typeface="Arial MT"/>
            </a:endParaRPr>
          </a:p>
          <a:p>
            <a:pPr marL="12700">
              <a:spcBef>
                <a:spcPts val="360"/>
              </a:spcBef>
              <a:tabLst>
                <a:tab pos="240665" algn="l"/>
              </a:tabLst>
            </a:pPr>
            <a:r>
              <a:rPr lang="en-GB" sz="2000" b="1" dirty="0">
                <a:latin typeface="Arial"/>
                <a:cs typeface="Arial"/>
              </a:rPr>
              <a:t>- </a:t>
            </a:r>
            <a:r>
              <a:rPr sz="2000" b="1" dirty="0">
                <a:latin typeface="Arial"/>
                <a:cs typeface="Arial"/>
              </a:rPr>
              <a:t>Albert</a:t>
            </a:r>
            <a:r>
              <a:rPr sz="2000" b="1" spc="-45" dirty="0">
                <a:latin typeface="Arial"/>
                <a:cs typeface="Arial"/>
              </a:rPr>
              <a:t> </a:t>
            </a:r>
            <a:r>
              <a:rPr sz="2000" b="1" spc="-10" dirty="0">
                <a:latin typeface="Arial"/>
                <a:cs typeface="Arial"/>
              </a:rPr>
              <a:t>Einstein</a:t>
            </a:r>
            <a:endParaRPr sz="2000" b="1" dirty="0">
              <a:latin typeface="Arial"/>
              <a:cs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99" y="304800"/>
            <a:ext cx="7098665" cy="740716"/>
          </a:xfrm>
          <a:prstGeom prst="rect">
            <a:avLst/>
          </a:prstGeom>
        </p:spPr>
        <p:txBody>
          <a:bodyPr vert="horz" wrap="square" lIns="0" tIns="200152" rIns="0" bIns="0" rtlCol="0">
            <a:spAutoFit/>
          </a:bodyPr>
          <a:lstStyle/>
          <a:p>
            <a:pPr marL="583565">
              <a:lnSpc>
                <a:spcPct val="100000"/>
              </a:lnSpc>
              <a:spcBef>
                <a:spcPts val="100"/>
              </a:spcBef>
            </a:pPr>
            <a:r>
              <a:rPr dirty="0"/>
              <a:t>Plain</a:t>
            </a:r>
            <a:r>
              <a:rPr spc="-85" dirty="0"/>
              <a:t> </a:t>
            </a:r>
            <a:r>
              <a:rPr spc="-10" dirty="0"/>
              <a:t>Writing</a:t>
            </a:r>
            <a:r>
              <a:rPr lang="en-GB" spc="-10" dirty="0"/>
              <a:t> Examples</a:t>
            </a:r>
            <a:endParaRPr spc="-10" dirty="0"/>
          </a:p>
        </p:txBody>
      </p:sp>
      <p:sp>
        <p:nvSpPr>
          <p:cNvPr id="3" name="object 3"/>
          <p:cNvSpPr txBox="1"/>
          <p:nvPr/>
        </p:nvSpPr>
        <p:spPr>
          <a:xfrm>
            <a:off x="555177" y="1828800"/>
            <a:ext cx="7826824" cy="4744247"/>
          </a:xfrm>
          <a:prstGeom prst="rect">
            <a:avLst/>
          </a:prstGeom>
        </p:spPr>
        <p:txBody>
          <a:bodyPr vert="horz" wrap="square" lIns="0" tIns="70485" rIns="0" bIns="0" rtlCol="0">
            <a:spAutoFit/>
          </a:bodyPr>
          <a:lstStyle/>
          <a:p>
            <a:pPr marL="240665" indent="-227965">
              <a:lnSpc>
                <a:spcPct val="100000"/>
              </a:lnSpc>
              <a:spcBef>
                <a:spcPts val="555"/>
              </a:spcBef>
              <a:buFont typeface="Arial MT"/>
              <a:buChar char="•"/>
              <a:tabLst>
                <a:tab pos="240665" algn="l"/>
              </a:tabLst>
            </a:pPr>
            <a:r>
              <a:rPr lang="en-GB" sz="1700" b="1" spc="-10" dirty="0">
                <a:latin typeface="Arial"/>
                <a:cs typeface="Arial"/>
              </a:rPr>
              <a:t>Example 1:</a:t>
            </a:r>
          </a:p>
          <a:p>
            <a:pPr marL="12700" lvl="3">
              <a:spcBef>
                <a:spcPts val="555"/>
              </a:spcBef>
              <a:tabLst>
                <a:tab pos="240665" algn="l"/>
              </a:tabLst>
            </a:pPr>
            <a:r>
              <a:rPr sz="1700" b="1" spc="-10" dirty="0">
                <a:latin typeface="Arial"/>
                <a:cs typeface="Arial"/>
              </a:rPr>
              <a:t>Before</a:t>
            </a:r>
            <a:r>
              <a:rPr lang="en-GB" sz="1700" b="1" spc="-10" dirty="0">
                <a:latin typeface="Arial"/>
                <a:cs typeface="Arial"/>
              </a:rPr>
              <a:t> – “</a:t>
            </a:r>
            <a:r>
              <a:rPr sz="1700" i="1" dirty="0">
                <a:latin typeface="Arial MT"/>
                <a:cs typeface="Arial MT"/>
              </a:rPr>
              <a:t>The</a:t>
            </a:r>
            <a:r>
              <a:rPr sz="1700" i="1" spc="-45" dirty="0">
                <a:latin typeface="Arial MT"/>
                <a:cs typeface="Arial MT"/>
              </a:rPr>
              <a:t> </a:t>
            </a:r>
            <a:r>
              <a:rPr sz="1700" i="1" dirty="0">
                <a:latin typeface="Arial MT"/>
                <a:cs typeface="Arial MT"/>
              </a:rPr>
              <a:t>Dietary</a:t>
            </a:r>
            <a:r>
              <a:rPr sz="1700" i="1" spc="-35" dirty="0">
                <a:latin typeface="Arial MT"/>
                <a:cs typeface="Arial MT"/>
              </a:rPr>
              <a:t> </a:t>
            </a:r>
            <a:r>
              <a:rPr sz="1700" i="1" dirty="0">
                <a:latin typeface="Arial MT"/>
                <a:cs typeface="Arial MT"/>
              </a:rPr>
              <a:t>Guidelines</a:t>
            </a:r>
            <a:r>
              <a:rPr sz="1700" i="1" spc="-40" dirty="0">
                <a:latin typeface="Arial MT"/>
                <a:cs typeface="Arial MT"/>
              </a:rPr>
              <a:t> </a:t>
            </a:r>
            <a:r>
              <a:rPr sz="1700" i="1" dirty="0">
                <a:latin typeface="Arial MT"/>
                <a:cs typeface="Arial MT"/>
              </a:rPr>
              <a:t>for</a:t>
            </a:r>
            <a:r>
              <a:rPr sz="1700" i="1" spc="-114" dirty="0">
                <a:latin typeface="Arial MT"/>
                <a:cs typeface="Arial MT"/>
              </a:rPr>
              <a:t> </a:t>
            </a:r>
            <a:r>
              <a:rPr sz="1700" i="1" dirty="0">
                <a:latin typeface="Arial MT"/>
                <a:cs typeface="Arial MT"/>
              </a:rPr>
              <a:t>Americans</a:t>
            </a:r>
            <a:r>
              <a:rPr sz="1700" i="1" spc="-40" dirty="0">
                <a:latin typeface="Arial MT"/>
                <a:cs typeface="Arial MT"/>
              </a:rPr>
              <a:t> </a:t>
            </a:r>
            <a:r>
              <a:rPr sz="1700" i="1" dirty="0">
                <a:latin typeface="Arial MT"/>
                <a:cs typeface="Arial MT"/>
              </a:rPr>
              <a:t>recommends</a:t>
            </a:r>
            <a:r>
              <a:rPr sz="1700" i="1" spc="-40" dirty="0">
                <a:latin typeface="Arial MT"/>
                <a:cs typeface="Arial MT"/>
              </a:rPr>
              <a:t> </a:t>
            </a:r>
            <a:r>
              <a:rPr sz="1700" i="1" dirty="0">
                <a:latin typeface="Arial MT"/>
                <a:cs typeface="Arial MT"/>
              </a:rPr>
              <a:t>a</a:t>
            </a:r>
            <a:r>
              <a:rPr sz="1700" i="1" spc="-30" dirty="0">
                <a:latin typeface="Arial MT"/>
                <a:cs typeface="Arial MT"/>
              </a:rPr>
              <a:t> </a:t>
            </a:r>
            <a:r>
              <a:rPr sz="1700" i="1" dirty="0">
                <a:latin typeface="Arial MT"/>
                <a:cs typeface="Arial MT"/>
              </a:rPr>
              <a:t>half</a:t>
            </a:r>
            <a:r>
              <a:rPr sz="1700" i="1" spc="-35" dirty="0">
                <a:latin typeface="Arial MT"/>
                <a:cs typeface="Arial MT"/>
              </a:rPr>
              <a:t> </a:t>
            </a:r>
            <a:r>
              <a:rPr sz="1700" i="1" dirty="0">
                <a:latin typeface="Arial MT"/>
                <a:cs typeface="Arial MT"/>
              </a:rPr>
              <a:t>hour</a:t>
            </a:r>
            <a:r>
              <a:rPr sz="1700" i="1" spc="-45" dirty="0">
                <a:latin typeface="Arial MT"/>
                <a:cs typeface="Arial MT"/>
              </a:rPr>
              <a:t> </a:t>
            </a:r>
            <a:r>
              <a:rPr sz="1700" i="1" dirty="0">
                <a:latin typeface="Arial MT"/>
                <a:cs typeface="Arial MT"/>
              </a:rPr>
              <a:t>or</a:t>
            </a:r>
            <a:r>
              <a:rPr sz="1700" i="1" spc="-40" dirty="0">
                <a:latin typeface="Arial MT"/>
                <a:cs typeface="Arial MT"/>
              </a:rPr>
              <a:t> </a:t>
            </a:r>
            <a:r>
              <a:rPr sz="1700" i="1" spc="-20" dirty="0">
                <a:latin typeface="Arial MT"/>
                <a:cs typeface="Arial MT"/>
              </a:rPr>
              <a:t>more </a:t>
            </a:r>
            <a:r>
              <a:rPr sz="1700" i="1" dirty="0">
                <a:latin typeface="Arial MT"/>
                <a:cs typeface="Arial MT"/>
              </a:rPr>
              <a:t>of</a:t>
            </a:r>
            <a:r>
              <a:rPr sz="1700" i="1" spc="-40" dirty="0">
                <a:latin typeface="Arial MT"/>
                <a:cs typeface="Arial MT"/>
              </a:rPr>
              <a:t> </a:t>
            </a:r>
            <a:r>
              <a:rPr sz="1700" i="1" dirty="0">
                <a:latin typeface="Arial MT"/>
                <a:cs typeface="Arial MT"/>
              </a:rPr>
              <a:t>moderate</a:t>
            </a:r>
            <a:r>
              <a:rPr sz="1700" i="1" spc="-40" dirty="0">
                <a:latin typeface="Arial MT"/>
                <a:cs typeface="Arial MT"/>
              </a:rPr>
              <a:t> </a:t>
            </a:r>
            <a:r>
              <a:rPr sz="1700" i="1" dirty="0">
                <a:latin typeface="Arial MT"/>
                <a:cs typeface="Arial MT"/>
              </a:rPr>
              <a:t>physical</a:t>
            </a:r>
            <a:r>
              <a:rPr sz="1700" i="1" spc="-40" dirty="0">
                <a:latin typeface="Arial MT"/>
                <a:cs typeface="Arial MT"/>
              </a:rPr>
              <a:t> </a:t>
            </a:r>
            <a:r>
              <a:rPr sz="1700" i="1" dirty="0">
                <a:latin typeface="Arial MT"/>
                <a:cs typeface="Arial MT"/>
              </a:rPr>
              <a:t>activity</a:t>
            </a:r>
            <a:r>
              <a:rPr sz="1700" i="1" spc="-40" dirty="0">
                <a:latin typeface="Arial MT"/>
                <a:cs typeface="Arial MT"/>
              </a:rPr>
              <a:t> </a:t>
            </a:r>
            <a:r>
              <a:rPr sz="1700" i="1" dirty="0">
                <a:latin typeface="Arial MT"/>
                <a:cs typeface="Arial MT"/>
              </a:rPr>
              <a:t>on</a:t>
            </a:r>
            <a:r>
              <a:rPr sz="1700" i="1" spc="-40" dirty="0">
                <a:latin typeface="Arial MT"/>
                <a:cs typeface="Arial MT"/>
              </a:rPr>
              <a:t> </a:t>
            </a:r>
            <a:r>
              <a:rPr sz="1700" i="1" dirty="0">
                <a:latin typeface="Arial MT"/>
                <a:cs typeface="Arial MT"/>
              </a:rPr>
              <a:t>most</a:t>
            </a:r>
            <a:r>
              <a:rPr sz="1700" i="1" spc="-40" dirty="0">
                <a:latin typeface="Arial MT"/>
                <a:cs typeface="Arial MT"/>
              </a:rPr>
              <a:t> </a:t>
            </a:r>
            <a:r>
              <a:rPr sz="1700" i="1" dirty="0">
                <a:latin typeface="Arial MT"/>
                <a:cs typeface="Arial MT"/>
              </a:rPr>
              <a:t>days,</a:t>
            </a:r>
            <a:r>
              <a:rPr sz="1700" i="1" spc="-35" dirty="0">
                <a:latin typeface="Arial MT"/>
                <a:cs typeface="Arial MT"/>
              </a:rPr>
              <a:t> </a:t>
            </a:r>
            <a:r>
              <a:rPr sz="1700" i="1" dirty="0">
                <a:latin typeface="Arial MT"/>
                <a:cs typeface="Arial MT"/>
              </a:rPr>
              <a:t>preferably</a:t>
            </a:r>
            <a:r>
              <a:rPr sz="1700" i="1" spc="-45" dirty="0">
                <a:latin typeface="Arial MT"/>
                <a:cs typeface="Arial MT"/>
              </a:rPr>
              <a:t> </a:t>
            </a:r>
            <a:r>
              <a:rPr sz="1700" i="1" dirty="0">
                <a:latin typeface="Arial MT"/>
                <a:cs typeface="Arial MT"/>
              </a:rPr>
              <a:t>every</a:t>
            </a:r>
            <a:r>
              <a:rPr sz="1700" i="1" spc="-40" dirty="0">
                <a:latin typeface="Arial MT"/>
                <a:cs typeface="Arial MT"/>
              </a:rPr>
              <a:t> </a:t>
            </a:r>
            <a:r>
              <a:rPr sz="1700" i="1" spc="-25" dirty="0">
                <a:latin typeface="Arial MT"/>
                <a:cs typeface="Arial MT"/>
              </a:rPr>
              <a:t>day.</a:t>
            </a:r>
            <a:r>
              <a:rPr sz="1700" i="1" spc="-70" dirty="0">
                <a:latin typeface="Arial MT"/>
                <a:cs typeface="Arial MT"/>
              </a:rPr>
              <a:t> </a:t>
            </a:r>
            <a:r>
              <a:rPr sz="1700" i="1" spc="-25" dirty="0">
                <a:latin typeface="Arial MT"/>
                <a:cs typeface="Arial MT"/>
              </a:rPr>
              <a:t>The </a:t>
            </a:r>
            <a:r>
              <a:rPr sz="1700" i="1" dirty="0">
                <a:latin typeface="Arial MT"/>
                <a:cs typeface="Arial MT"/>
              </a:rPr>
              <a:t>activity</a:t>
            </a:r>
            <a:r>
              <a:rPr sz="1700" i="1" spc="-50" dirty="0">
                <a:latin typeface="Arial MT"/>
                <a:cs typeface="Arial MT"/>
              </a:rPr>
              <a:t> </a:t>
            </a:r>
            <a:r>
              <a:rPr sz="1700" i="1" dirty="0">
                <a:latin typeface="Arial MT"/>
                <a:cs typeface="Arial MT"/>
              </a:rPr>
              <a:t>can</a:t>
            </a:r>
            <a:r>
              <a:rPr sz="1700" i="1" spc="-40" dirty="0">
                <a:latin typeface="Arial MT"/>
                <a:cs typeface="Arial MT"/>
              </a:rPr>
              <a:t> </a:t>
            </a:r>
            <a:r>
              <a:rPr sz="1700" i="1" dirty="0">
                <a:latin typeface="Arial MT"/>
                <a:cs typeface="Arial MT"/>
              </a:rPr>
              <a:t>include</a:t>
            </a:r>
            <a:r>
              <a:rPr sz="1700" i="1" spc="-45" dirty="0">
                <a:latin typeface="Arial MT"/>
                <a:cs typeface="Arial MT"/>
              </a:rPr>
              <a:t> </a:t>
            </a:r>
            <a:r>
              <a:rPr sz="1700" i="1" dirty="0">
                <a:latin typeface="Arial MT"/>
                <a:cs typeface="Arial MT"/>
              </a:rPr>
              <a:t>brisk</a:t>
            </a:r>
            <a:r>
              <a:rPr sz="1700" i="1" spc="-45" dirty="0">
                <a:latin typeface="Arial MT"/>
                <a:cs typeface="Arial MT"/>
              </a:rPr>
              <a:t> </a:t>
            </a:r>
            <a:r>
              <a:rPr sz="1700" i="1" dirty="0">
                <a:latin typeface="Arial MT"/>
                <a:cs typeface="Arial MT"/>
              </a:rPr>
              <a:t>walking,</a:t>
            </a:r>
            <a:r>
              <a:rPr sz="1700" i="1" spc="-40" dirty="0">
                <a:latin typeface="Arial MT"/>
                <a:cs typeface="Arial MT"/>
              </a:rPr>
              <a:t> </a:t>
            </a:r>
            <a:r>
              <a:rPr sz="1700" i="1" dirty="0">
                <a:latin typeface="Arial MT"/>
                <a:cs typeface="Arial MT"/>
              </a:rPr>
              <a:t>home</a:t>
            </a:r>
            <a:r>
              <a:rPr sz="1700" i="1" spc="-45" dirty="0">
                <a:latin typeface="Arial MT"/>
                <a:cs typeface="Arial MT"/>
              </a:rPr>
              <a:t> </a:t>
            </a:r>
            <a:r>
              <a:rPr sz="1700" i="1" dirty="0">
                <a:latin typeface="Arial MT"/>
                <a:cs typeface="Arial MT"/>
              </a:rPr>
              <a:t>care,</a:t>
            </a:r>
            <a:r>
              <a:rPr sz="1700" i="1" spc="-40" dirty="0">
                <a:latin typeface="Arial MT"/>
                <a:cs typeface="Arial MT"/>
              </a:rPr>
              <a:t> </a:t>
            </a:r>
            <a:r>
              <a:rPr sz="1700" i="1" spc="-10" dirty="0">
                <a:latin typeface="Arial MT"/>
                <a:cs typeface="Arial MT"/>
              </a:rPr>
              <a:t>gardening, </a:t>
            </a:r>
            <a:r>
              <a:rPr sz="1700" i="1" dirty="0">
                <a:latin typeface="Arial MT"/>
                <a:cs typeface="Arial MT"/>
              </a:rPr>
              <a:t>moderate</a:t>
            </a:r>
            <a:r>
              <a:rPr sz="1700" i="1" spc="-50" dirty="0">
                <a:latin typeface="Arial MT"/>
                <a:cs typeface="Arial MT"/>
              </a:rPr>
              <a:t> </a:t>
            </a:r>
            <a:r>
              <a:rPr sz="1700" i="1" dirty="0">
                <a:latin typeface="Arial MT"/>
                <a:cs typeface="Arial MT"/>
              </a:rPr>
              <a:t>sports</a:t>
            </a:r>
            <a:r>
              <a:rPr sz="1700" i="1" spc="-50" dirty="0">
                <a:latin typeface="Arial MT"/>
                <a:cs typeface="Arial MT"/>
              </a:rPr>
              <a:t> </a:t>
            </a:r>
            <a:r>
              <a:rPr sz="1700" i="1" dirty="0">
                <a:latin typeface="Arial MT"/>
                <a:cs typeface="Arial MT"/>
              </a:rPr>
              <a:t>exercise,</a:t>
            </a:r>
            <a:r>
              <a:rPr sz="1700" i="1" spc="-50" dirty="0">
                <a:latin typeface="Arial MT"/>
                <a:cs typeface="Arial MT"/>
              </a:rPr>
              <a:t> </a:t>
            </a:r>
            <a:r>
              <a:rPr sz="1700" i="1" dirty="0">
                <a:latin typeface="Arial MT"/>
                <a:cs typeface="Arial MT"/>
              </a:rPr>
              <a:t>and</a:t>
            </a:r>
            <a:r>
              <a:rPr sz="1700" i="1" spc="-45" dirty="0">
                <a:latin typeface="Arial MT"/>
                <a:cs typeface="Arial MT"/>
              </a:rPr>
              <a:t> </a:t>
            </a:r>
            <a:r>
              <a:rPr sz="1700" i="1" spc="-10" dirty="0">
                <a:latin typeface="Arial MT"/>
                <a:cs typeface="Arial MT"/>
              </a:rPr>
              <a:t>dancing.</a:t>
            </a:r>
            <a:r>
              <a:rPr lang="en-GB" sz="1700" spc="-10" dirty="0">
                <a:latin typeface="Arial MT"/>
                <a:cs typeface="Arial MT"/>
              </a:rPr>
              <a:t>"</a:t>
            </a:r>
            <a:endParaRPr sz="1700" dirty="0">
              <a:latin typeface="Arial MT"/>
              <a:cs typeface="Arial MT"/>
            </a:endParaRPr>
          </a:p>
          <a:p>
            <a:pPr marL="12700">
              <a:lnSpc>
                <a:spcPct val="100000"/>
              </a:lnSpc>
              <a:spcBef>
                <a:spcPts val="360"/>
              </a:spcBef>
              <a:tabLst>
                <a:tab pos="240665" algn="l"/>
              </a:tabLst>
            </a:pPr>
            <a:r>
              <a:rPr sz="1700" b="1" spc="-10" dirty="0">
                <a:latin typeface="Arial"/>
                <a:cs typeface="Arial"/>
              </a:rPr>
              <a:t>After</a:t>
            </a:r>
            <a:r>
              <a:rPr lang="en-GB" sz="1700" b="1" spc="-10" dirty="0">
                <a:latin typeface="Arial"/>
                <a:cs typeface="Arial"/>
              </a:rPr>
              <a:t> – “</a:t>
            </a:r>
            <a:r>
              <a:rPr sz="1700" i="1" dirty="0">
                <a:latin typeface="Arial MT"/>
                <a:cs typeface="Arial MT"/>
              </a:rPr>
              <a:t>Do</a:t>
            </a:r>
            <a:r>
              <a:rPr sz="1700" i="1" spc="-25" dirty="0">
                <a:latin typeface="Arial MT"/>
                <a:cs typeface="Arial MT"/>
              </a:rPr>
              <a:t> </a:t>
            </a:r>
            <a:r>
              <a:rPr sz="1700" i="1" dirty="0">
                <a:latin typeface="Arial MT"/>
                <a:cs typeface="Arial MT"/>
              </a:rPr>
              <a:t>at</a:t>
            </a:r>
            <a:r>
              <a:rPr sz="1700" i="1" spc="-25" dirty="0">
                <a:latin typeface="Arial MT"/>
                <a:cs typeface="Arial MT"/>
              </a:rPr>
              <a:t> </a:t>
            </a:r>
            <a:r>
              <a:rPr sz="1700" i="1" dirty="0">
                <a:latin typeface="Arial MT"/>
                <a:cs typeface="Arial MT"/>
              </a:rPr>
              <a:t>least</a:t>
            </a:r>
            <a:r>
              <a:rPr sz="1700" i="1" spc="-25" dirty="0">
                <a:latin typeface="Arial MT"/>
                <a:cs typeface="Arial MT"/>
              </a:rPr>
              <a:t> </a:t>
            </a:r>
            <a:r>
              <a:rPr sz="1700" i="1" dirty="0">
                <a:latin typeface="Arial MT"/>
                <a:cs typeface="Arial MT"/>
              </a:rPr>
              <a:t>30</a:t>
            </a:r>
            <a:r>
              <a:rPr sz="1700" i="1" spc="-25" dirty="0">
                <a:latin typeface="Arial MT"/>
                <a:cs typeface="Arial MT"/>
              </a:rPr>
              <a:t> </a:t>
            </a:r>
            <a:r>
              <a:rPr sz="1700" i="1" dirty="0">
                <a:latin typeface="Arial MT"/>
                <a:cs typeface="Arial MT"/>
              </a:rPr>
              <a:t>minutes</a:t>
            </a:r>
            <a:r>
              <a:rPr sz="1700" i="1" spc="-30" dirty="0">
                <a:latin typeface="Arial MT"/>
                <a:cs typeface="Arial MT"/>
              </a:rPr>
              <a:t> </a:t>
            </a:r>
            <a:r>
              <a:rPr sz="1700" i="1" dirty="0">
                <a:latin typeface="Arial MT"/>
                <a:cs typeface="Arial MT"/>
              </a:rPr>
              <a:t>of</a:t>
            </a:r>
            <a:r>
              <a:rPr sz="1700" i="1" spc="-25" dirty="0">
                <a:latin typeface="Arial MT"/>
                <a:cs typeface="Arial MT"/>
              </a:rPr>
              <a:t> </a:t>
            </a:r>
            <a:r>
              <a:rPr sz="1700" i="1" dirty="0">
                <a:latin typeface="Arial MT"/>
                <a:cs typeface="Arial MT"/>
              </a:rPr>
              <a:t>exercise,</a:t>
            </a:r>
            <a:r>
              <a:rPr sz="1700" i="1" spc="-25" dirty="0">
                <a:latin typeface="Arial MT"/>
                <a:cs typeface="Arial MT"/>
              </a:rPr>
              <a:t> </a:t>
            </a:r>
            <a:r>
              <a:rPr sz="1700" i="1" dirty="0">
                <a:latin typeface="Arial MT"/>
                <a:cs typeface="Arial MT"/>
              </a:rPr>
              <a:t>like</a:t>
            </a:r>
            <a:r>
              <a:rPr sz="1700" i="1" spc="-25" dirty="0">
                <a:latin typeface="Arial MT"/>
                <a:cs typeface="Arial MT"/>
              </a:rPr>
              <a:t> </a:t>
            </a:r>
            <a:r>
              <a:rPr sz="1700" i="1" dirty="0">
                <a:latin typeface="Arial MT"/>
                <a:cs typeface="Arial MT"/>
              </a:rPr>
              <a:t>brisk</a:t>
            </a:r>
            <a:r>
              <a:rPr sz="1700" i="1" spc="-30" dirty="0">
                <a:latin typeface="Arial MT"/>
                <a:cs typeface="Arial MT"/>
              </a:rPr>
              <a:t> </a:t>
            </a:r>
            <a:r>
              <a:rPr sz="1700" i="1" dirty="0">
                <a:latin typeface="Arial MT"/>
                <a:cs typeface="Arial MT"/>
              </a:rPr>
              <a:t>walking,</a:t>
            </a:r>
            <a:r>
              <a:rPr sz="1700" i="1" spc="-25" dirty="0">
                <a:latin typeface="Arial MT"/>
                <a:cs typeface="Arial MT"/>
              </a:rPr>
              <a:t> </a:t>
            </a:r>
            <a:r>
              <a:rPr sz="1700" i="1" dirty="0">
                <a:latin typeface="Arial MT"/>
                <a:cs typeface="Arial MT"/>
              </a:rPr>
              <a:t>most</a:t>
            </a:r>
            <a:r>
              <a:rPr sz="1700" i="1" spc="-25" dirty="0">
                <a:latin typeface="Arial MT"/>
                <a:cs typeface="Arial MT"/>
              </a:rPr>
              <a:t> </a:t>
            </a:r>
            <a:r>
              <a:rPr sz="1700" i="1" dirty="0">
                <a:latin typeface="Arial MT"/>
                <a:cs typeface="Arial MT"/>
              </a:rPr>
              <a:t>days</a:t>
            </a:r>
            <a:r>
              <a:rPr sz="1700" i="1" spc="-25" dirty="0">
                <a:latin typeface="Arial MT"/>
                <a:cs typeface="Arial MT"/>
              </a:rPr>
              <a:t> </a:t>
            </a:r>
            <a:r>
              <a:rPr sz="1700" i="1" dirty="0">
                <a:latin typeface="Arial MT"/>
                <a:cs typeface="Arial MT"/>
              </a:rPr>
              <a:t>of</a:t>
            </a:r>
            <a:r>
              <a:rPr sz="1700" i="1" spc="-25" dirty="0">
                <a:latin typeface="Arial MT"/>
                <a:cs typeface="Arial MT"/>
              </a:rPr>
              <a:t> the </a:t>
            </a:r>
            <a:r>
              <a:rPr sz="1700" i="1" spc="-10" dirty="0">
                <a:latin typeface="Arial MT"/>
                <a:cs typeface="Arial MT"/>
              </a:rPr>
              <a:t>week</a:t>
            </a:r>
            <a:r>
              <a:rPr sz="1700" spc="-10" dirty="0">
                <a:latin typeface="Arial MT"/>
                <a:cs typeface="Arial MT"/>
              </a:rPr>
              <a:t>.</a:t>
            </a:r>
            <a:r>
              <a:rPr lang="en-GB" sz="1700" spc="-10" dirty="0">
                <a:latin typeface="Arial MT"/>
                <a:cs typeface="Arial MT"/>
              </a:rPr>
              <a:t>“</a:t>
            </a:r>
          </a:p>
          <a:p>
            <a:pPr marL="12700">
              <a:lnSpc>
                <a:spcPct val="100000"/>
              </a:lnSpc>
              <a:spcBef>
                <a:spcPts val="360"/>
              </a:spcBef>
              <a:tabLst>
                <a:tab pos="240665" algn="l"/>
              </a:tabLst>
            </a:pPr>
            <a:endParaRPr lang="en-GB" sz="1700" spc="-10" dirty="0">
              <a:latin typeface="Arial MT"/>
              <a:cs typeface="Arial MT"/>
            </a:endParaRPr>
          </a:p>
          <a:p>
            <a:pPr marL="298450" indent="-285750">
              <a:lnSpc>
                <a:spcPct val="100000"/>
              </a:lnSpc>
              <a:spcBef>
                <a:spcPts val="360"/>
              </a:spcBef>
              <a:buFont typeface="Arial" panose="020B0604020202020204" pitchFamily="34" charset="0"/>
              <a:buChar char="•"/>
              <a:tabLst>
                <a:tab pos="240665" algn="l"/>
              </a:tabLst>
            </a:pPr>
            <a:r>
              <a:rPr lang="en-GB" sz="1700" b="1" spc="-10" dirty="0">
                <a:latin typeface="Arial MT"/>
                <a:cs typeface="Arial MT"/>
              </a:rPr>
              <a:t>Example 2:</a:t>
            </a:r>
          </a:p>
          <a:p>
            <a:pPr marL="12700">
              <a:lnSpc>
                <a:spcPct val="100000"/>
              </a:lnSpc>
              <a:spcBef>
                <a:spcPts val="360"/>
              </a:spcBef>
              <a:tabLst>
                <a:tab pos="240665" algn="l"/>
              </a:tabLst>
            </a:pPr>
            <a:r>
              <a:rPr lang="en-GB" sz="1700" b="1" spc="-10" dirty="0">
                <a:latin typeface="Arial MT"/>
                <a:cs typeface="Arial MT"/>
              </a:rPr>
              <a:t>Before</a:t>
            </a:r>
            <a:r>
              <a:rPr lang="en-GB" sz="1700" spc="-10" dirty="0">
                <a:latin typeface="Arial MT"/>
                <a:cs typeface="Arial MT"/>
              </a:rPr>
              <a:t> – “</a:t>
            </a:r>
            <a:r>
              <a:rPr lang="en-GB" sz="1700" i="1" spc="-10" dirty="0">
                <a:latin typeface="Arial MT"/>
                <a:cs typeface="Arial MT"/>
              </a:rPr>
              <a:t>High-quality learning environments are a necessary precondition for facilitation and enhancement of the ongoing learning process</a:t>
            </a:r>
            <a:r>
              <a:rPr lang="en-GB" sz="1700" spc="-10" dirty="0">
                <a:latin typeface="Arial MT"/>
                <a:cs typeface="Arial MT"/>
              </a:rPr>
              <a:t>.”</a:t>
            </a:r>
          </a:p>
          <a:p>
            <a:pPr marL="12700">
              <a:lnSpc>
                <a:spcPct val="100000"/>
              </a:lnSpc>
              <a:spcBef>
                <a:spcPts val="360"/>
              </a:spcBef>
              <a:tabLst>
                <a:tab pos="240665" algn="l"/>
              </a:tabLst>
            </a:pPr>
            <a:r>
              <a:rPr lang="en-GB" sz="1700" b="1" spc="-10" dirty="0">
                <a:latin typeface="Arial MT"/>
                <a:cs typeface="Arial MT"/>
              </a:rPr>
              <a:t>After</a:t>
            </a:r>
            <a:r>
              <a:rPr lang="en-GB" sz="1700" spc="-10" dirty="0">
                <a:latin typeface="Arial MT"/>
                <a:cs typeface="Arial MT"/>
              </a:rPr>
              <a:t> – “</a:t>
            </a:r>
            <a:r>
              <a:rPr lang="en-GB" sz="1700" i="1" spc="-10" dirty="0">
                <a:latin typeface="Arial MT"/>
                <a:cs typeface="Arial MT"/>
              </a:rPr>
              <a:t>Children need good schools if they are to learn properly.</a:t>
            </a:r>
            <a:r>
              <a:rPr lang="en-GB" sz="1700" spc="-10" dirty="0">
                <a:latin typeface="Arial MT"/>
                <a:cs typeface="Arial MT"/>
              </a:rPr>
              <a:t>”</a:t>
            </a:r>
          </a:p>
          <a:p>
            <a:pPr marL="12700">
              <a:lnSpc>
                <a:spcPct val="100000"/>
              </a:lnSpc>
              <a:spcBef>
                <a:spcPts val="360"/>
              </a:spcBef>
              <a:tabLst>
                <a:tab pos="240665" algn="l"/>
              </a:tabLst>
            </a:pPr>
            <a:endParaRPr lang="en-GB" sz="1700" spc="-10" dirty="0">
              <a:latin typeface="Arial MT"/>
              <a:cs typeface="Arial MT"/>
            </a:endParaRPr>
          </a:p>
          <a:p>
            <a:pPr marL="12700">
              <a:lnSpc>
                <a:spcPct val="100000"/>
              </a:lnSpc>
              <a:spcBef>
                <a:spcPts val="360"/>
              </a:spcBef>
              <a:tabLst>
                <a:tab pos="240665" algn="l"/>
              </a:tabLst>
            </a:pPr>
            <a:r>
              <a:rPr lang="en-GB" sz="1700" dirty="0">
                <a:latin typeface="Arial MT"/>
                <a:cs typeface="Arial MT"/>
              </a:rPr>
              <a:t>Plain English Campaign: </a:t>
            </a:r>
            <a:r>
              <a:rPr lang="en-GB" sz="1700" dirty="0">
                <a:latin typeface="Arial MT"/>
                <a:cs typeface="Arial MT"/>
                <a:hlinkClick r:id="rId2"/>
              </a:rPr>
              <a:t>https://www.plainenglish.co.uk/campaigning/example s/before-and-after.html</a:t>
            </a:r>
            <a:r>
              <a:rPr lang="en-GB" sz="1700" dirty="0">
                <a:latin typeface="Arial MT"/>
                <a:cs typeface="Arial MT"/>
              </a:rPr>
              <a:t> </a:t>
            </a:r>
          </a:p>
          <a:p>
            <a:pPr marL="12700">
              <a:lnSpc>
                <a:spcPct val="100000"/>
              </a:lnSpc>
              <a:spcBef>
                <a:spcPts val="360"/>
              </a:spcBef>
              <a:tabLst>
                <a:tab pos="240665" algn="l"/>
              </a:tabLst>
            </a:pPr>
            <a:endParaRPr sz="1700" dirty="0">
              <a:latin typeface="Arial MT"/>
              <a:cs typeface="Arial M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99" y="304800"/>
            <a:ext cx="7098665" cy="740716"/>
          </a:xfrm>
          <a:prstGeom prst="rect">
            <a:avLst/>
          </a:prstGeom>
        </p:spPr>
        <p:txBody>
          <a:bodyPr vert="horz" wrap="square" lIns="0" tIns="200152" rIns="0" bIns="0" rtlCol="0">
            <a:spAutoFit/>
          </a:bodyPr>
          <a:lstStyle/>
          <a:p>
            <a:pPr marL="583565">
              <a:lnSpc>
                <a:spcPct val="100000"/>
              </a:lnSpc>
              <a:spcBef>
                <a:spcPts val="100"/>
              </a:spcBef>
            </a:pPr>
            <a:r>
              <a:rPr dirty="0"/>
              <a:t>Plain</a:t>
            </a:r>
            <a:r>
              <a:rPr spc="-85" dirty="0"/>
              <a:t> </a:t>
            </a:r>
            <a:r>
              <a:rPr spc="-10" dirty="0"/>
              <a:t>Writing</a:t>
            </a:r>
            <a:r>
              <a:rPr lang="en-GB" spc="-10" dirty="0"/>
              <a:t> Examples</a:t>
            </a:r>
            <a:endParaRPr spc="-10" dirty="0"/>
          </a:p>
        </p:txBody>
      </p:sp>
      <p:sp>
        <p:nvSpPr>
          <p:cNvPr id="3" name="object 3"/>
          <p:cNvSpPr txBox="1"/>
          <p:nvPr/>
        </p:nvSpPr>
        <p:spPr>
          <a:xfrm>
            <a:off x="555177" y="1828800"/>
            <a:ext cx="7826824" cy="5262338"/>
          </a:xfrm>
          <a:prstGeom prst="rect">
            <a:avLst/>
          </a:prstGeom>
        </p:spPr>
        <p:txBody>
          <a:bodyPr vert="horz" wrap="square" lIns="0" tIns="70485" rIns="0" bIns="0" rtlCol="0">
            <a:spAutoFit/>
          </a:bodyPr>
          <a:lstStyle/>
          <a:p>
            <a:pPr marL="240665" indent="-227965">
              <a:lnSpc>
                <a:spcPct val="100000"/>
              </a:lnSpc>
              <a:spcBef>
                <a:spcPts val="555"/>
              </a:spcBef>
              <a:buFont typeface="Arial MT"/>
              <a:buChar char="•"/>
              <a:tabLst>
                <a:tab pos="240665" algn="l"/>
              </a:tabLst>
            </a:pPr>
            <a:r>
              <a:rPr lang="en-GB" sz="1700" spc="-10" dirty="0">
                <a:latin typeface="Arial"/>
                <a:cs typeface="Arial"/>
              </a:rPr>
              <a:t>Examples from the Golden Bull Awards.</a:t>
            </a:r>
          </a:p>
          <a:p>
            <a:pPr marL="240665" indent="-227965">
              <a:lnSpc>
                <a:spcPct val="100000"/>
              </a:lnSpc>
              <a:spcBef>
                <a:spcPts val="555"/>
              </a:spcBef>
              <a:buFont typeface="Arial MT"/>
              <a:buChar char="•"/>
              <a:tabLst>
                <a:tab pos="240665" algn="l"/>
              </a:tabLst>
            </a:pPr>
            <a:endParaRPr lang="en-GB" sz="1700" b="1" spc="-10" dirty="0">
              <a:latin typeface="Arial"/>
              <a:cs typeface="Arial"/>
            </a:endParaRPr>
          </a:p>
          <a:p>
            <a:pPr marL="240665" indent="-227965">
              <a:lnSpc>
                <a:spcPct val="100000"/>
              </a:lnSpc>
              <a:spcBef>
                <a:spcPts val="555"/>
              </a:spcBef>
              <a:buFont typeface="Arial MT"/>
              <a:buChar char="•"/>
              <a:tabLst>
                <a:tab pos="240665" algn="l"/>
              </a:tabLst>
            </a:pPr>
            <a:r>
              <a:rPr lang="en-GB" sz="1700" b="1" spc="-10" dirty="0">
                <a:latin typeface="Arial"/>
                <a:cs typeface="Arial"/>
              </a:rPr>
              <a:t>Example 3:</a:t>
            </a:r>
          </a:p>
          <a:p>
            <a:pPr marL="12700">
              <a:lnSpc>
                <a:spcPct val="100000"/>
              </a:lnSpc>
              <a:spcBef>
                <a:spcPts val="555"/>
              </a:spcBef>
              <a:tabLst>
                <a:tab pos="240665" algn="l"/>
              </a:tabLst>
            </a:pPr>
            <a:r>
              <a:rPr lang="en-GB" sz="1700" i="1" spc="-10" dirty="0">
                <a:latin typeface="Arial"/>
                <a:cs typeface="Arial"/>
              </a:rPr>
              <a:t>Department of Health Website</a:t>
            </a:r>
          </a:p>
          <a:p>
            <a:pPr marL="12700" lvl="3">
              <a:spcBef>
                <a:spcPts val="555"/>
              </a:spcBef>
              <a:tabLst>
                <a:tab pos="240665" algn="l"/>
              </a:tabLst>
            </a:pPr>
            <a:r>
              <a:rPr lang="en-GB" sz="1700" b="1" spc="-10" dirty="0">
                <a:latin typeface="Arial"/>
                <a:cs typeface="Arial"/>
              </a:rPr>
              <a:t>Before </a:t>
            </a:r>
            <a:r>
              <a:rPr lang="en-GB" sz="1700" spc="-10" dirty="0">
                <a:latin typeface="Arial"/>
                <a:cs typeface="Arial"/>
              </a:rPr>
              <a:t>– “Primary prevention includes health, promotion and requires action on the determinants of health to prevent disease occurring. It has been described as refocusing upstream to stop people falling in the waters of disease.”</a:t>
            </a:r>
          </a:p>
          <a:p>
            <a:pPr marL="12700" lvl="3">
              <a:spcBef>
                <a:spcPts val="555"/>
              </a:spcBef>
              <a:tabLst>
                <a:tab pos="240665" algn="l"/>
              </a:tabLst>
            </a:pPr>
            <a:r>
              <a:rPr lang="en-GB" sz="1700" b="1" spc="-10" dirty="0">
                <a:latin typeface="Arial"/>
                <a:cs typeface="Arial"/>
              </a:rPr>
              <a:t>After </a:t>
            </a:r>
            <a:r>
              <a:rPr lang="en-GB" sz="1700" spc="-10" dirty="0">
                <a:latin typeface="Arial"/>
                <a:cs typeface="Arial"/>
              </a:rPr>
              <a:t>– “Doctors can prevent disease before it occurs.”</a:t>
            </a:r>
          </a:p>
          <a:p>
            <a:pPr marL="12700">
              <a:lnSpc>
                <a:spcPct val="100000"/>
              </a:lnSpc>
              <a:spcBef>
                <a:spcPts val="360"/>
              </a:spcBef>
              <a:tabLst>
                <a:tab pos="240665" algn="l"/>
              </a:tabLst>
            </a:pPr>
            <a:endParaRPr lang="en-GB" sz="1700" spc="-10" dirty="0">
              <a:latin typeface="Arial MT"/>
              <a:cs typeface="Arial MT"/>
            </a:endParaRPr>
          </a:p>
          <a:p>
            <a:pPr marL="298450" indent="-285750">
              <a:lnSpc>
                <a:spcPct val="100000"/>
              </a:lnSpc>
              <a:spcBef>
                <a:spcPts val="360"/>
              </a:spcBef>
              <a:buFont typeface="Arial" panose="020B0604020202020204" pitchFamily="34" charset="0"/>
              <a:buChar char="•"/>
              <a:tabLst>
                <a:tab pos="240665" algn="l"/>
              </a:tabLst>
            </a:pPr>
            <a:r>
              <a:rPr lang="en-GB" sz="1700" b="1" spc="-10" dirty="0">
                <a:latin typeface="Arial MT"/>
                <a:cs typeface="Arial MT"/>
              </a:rPr>
              <a:t>Example 4:</a:t>
            </a:r>
          </a:p>
          <a:p>
            <a:pPr marL="12700">
              <a:lnSpc>
                <a:spcPct val="100000"/>
              </a:lnSpc>
              <a:spcBef>
                <a:spcPts val="360"/>
              </a:spcBef>
              <a:tabLst>
                <a:tab pos="240665" algn="l"/>
              </a:tabLst>
            </a:pPr>
            <a:r>
              <a:rPr lang="en-GB" sz="1700" i="1" spc="-10" dirty="0">
                <a:latin typeface="Arial MT"/>
                <a:cs typeface="Arial MT"/>
              </a:rPr>
              <a:t>Lord Mandelson on MPs' expenses (Foot in Mouth award winner)</a:t>
            </a:r>
            <a:endParaRPr lang="en-GB" sz="1700" b="1" i="1" spc="-10" dirty="0">
              <a:latin typeface="Arial MT"/>
              <a:cs typeface="Arial MT"/>
            </a:endParaRPr>
          </a:p>
          <a:p>
            <a:pPr marL="12700">
              <a:lnSpc>
                <a:spcPct val="100000"/>
              </a:lnSpc>
              <a:spcBef>
                <a:spcPts val="360"/>
              </a:spcBef>
              <a:tabLst>
                <a:tab pos="240665" algn="l"/>
              </a:tabLst>
            </a:pPr>
            <a:r>
              <a:rPr lang="en-GB" sz="1700" b="1" spc="-10" dirty="0">
                <a:latin typeface="Arial MT"/>
                <a:cs typeface="Arial MT"/>
              </a:rPr>
              <a:t>Before </a:t>
            </a:r>
            <a:r>
              <a:rPr lang="en-GB" sz="1700" spc="-10" dirty="0">
                <a:latin typeface="Arial MT"/>
                <a:cs typeface="Arial MT"/>
              </a:rPr>
              <a:t>– “Perhaps we need not more people looking round more corners but the same people looking round more corners more thoroughly to avoid the small things detracting from the big things the Prime Minister is getting right.”</a:t>
            </a:r>
          </a:p>
          <a:p>
            <a:pPr marL="12700">
              <a:lnSpc>
                <a:spcPct val="100000"/>
              </a:lnSpc>
              <a:spcBef>
                <a:spcPts val="360"/>
              </a:spcBef>
              <a:tabLst>
                <a:tab pos="240665" algn="l"/>
              </a:tabLst>
            </a:pPr>
            <a:r>
              <a:rPr lang="en-GB" sz="1700" b="1" spc="-10" dirty="0">
                <a:latin typeface="Arial MT"/>
                <a:cs typeface="Arial MT"/>
              </a:rPr>
              <a:t>After </a:t>
            </a:r>
            <a:r>
              <a:rPr lang="en-GB" sz="1700" spc="-10" dirty="0">
                <a:latin typeface="Arial MT"/>
                <a:cs typeface="Arial MT"/>
              </a:rPr>
              <a:t>– “MPs don't need more scrutiny, just better scrutiny.”</a:t>
            </a:r>
          </a:p>
          <a:p>
            <a:pPr marL="12700">
              <a:lnSpc>
                <a:spcPct val="100000"/>
              </a:lnSpc>
              <a:spcBef>
                <a:spcPts val="360"/>
              </a:spcBef>
              <a:tabLst>
                <a:tab pos="240665" algn="l"/>
              </a:tabLst>
            </a:pPr>
            <a:endParaRPr lang="en-GB" sz="1700" spc="-10" dirty="0">
              <a:latin typeface="Arial MT"/>
              <a:cs typeface="Arial MT"/>
            </a:endParaRPr>
          </a:p>
          <a:p>
            <a:pPr marL="12700">
              <a:lnSpc>
                <a:spcPct val="100000"/>
              </a:lnSpc>
              <a:spcBef>
                <a:spcPts val="360"/>
              </a:spcBef>
              <a:tabLst>
                <a:tab pos="240665" algn="l"/>
              </a:tabLst>
            </a:pPr>
            <a:endParaRPr sz="1700" dirty="0">
              <a:latin typeface="Arial MT"/>
              <a:cs typeface="Arial MT"/>
            </a:endParaRPr>
          </a:p>
        </p:txBody>
      </p:sp>
      <p:pic>
        <p:nvPicPr>
          <p:cNvPr id="5" name="Picture 4" descr="A blue rectangle with white text&#10;&#10;Description automatically generated">
            <a:extLst>
              <a:ext uri="{FF2B5EF4-FFF2-40B4-BE49-F238E27FC236}">
                <a16:creationId xmlns:a16="http://schemas.microsoft.com/office/drawing/2014/main" id="{EFBECF7F-588C-46C8-E379-274582DEB3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73206" y="1752600"/>
            <a:ext cx="3979147" cy="629355"/>
          </a:xfrm>
          <a:prstGeom prst="rect">
            <a:avLst/>
          </a:prstGeom>
        </p:spPr>
      </p:pic>
    </p:spTree>
    <p:extLst>
      <p:ext uri="{BB962C8B-B14F-4D97-AF65-F5344CB8AC3E}">
        <p14:creationId xmlns:p14="http://schemas.microsoft.com/office/powerpoint/2010/main" val="14724618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99" y="304800"/>
            <a:ext cx="7098665" cy="740716"/>
          </a:xfrm>
          <a:prstGeom prst="rect">
            <a:avLst/>
          </a:prstGeom>
        </p:spPr>
        <p:txBody>
          <a:bodyPr vert="horz" wrap="square" lIns="0" tIns="200152" rIns="0" bIns="0" rtlCol="0">
            <a:spAutoFit/>
          </a:bodyPr>
          <a:lstStyle/>
          <a:p>
            <a:pPr marL="583565">
              <a:lnSpc>
                <a:spcPct val="100000"/>
              </a:lnSpc>
              <a:spcBef>
                <a:spcPts val="100"/>
              </a:spcBef>
            </a:pPr>
            <a:r>
              <a:rPr dirty="0"/>
              <a:t>Plain</a:t>
            </a:r>
            <a:r>
              <a:rPr spc="-85" dirty="0"/>
              <a:t> </a:t>
            </a:r>
            <a:r>
              <a:rPr spc="-10" dirty="0"/>
              <a:t>Writing</a:t>
            </a:r>
            <a:r>
              <a:rPr lang="en-GB" spc="-10" dirty="0"/>
              <a:t> Examples</a:t>
            </a:r>
            <a:endParaRPr spc="-10" dirty="0"/>
          </a:p>
        </p:txBody>
      </p:sp>
      <p:sp>
        <p:nvSpPr>
          <p:cNvPr id="3" name="object 3"/>
          <p:cNvSpPr txBox="1"/>
          <p:nvPr/>
        </p:nvSpPr>
        <p:spPr>
          <a:xfrm>
            <a:off x="555177" y="1828800"/>
            <a:ext cx="7826824" cy="4821192"/>
          </a:xfrm>
          <a:prstGeom prst="rect">
            <a:avLst/>
          </a:prstGeom>
        </p:spPr>
        <p:txBody>
          <a:bodyPr vert="horz" wrap="square" lIns="0" tIns="70485" rIns="0" bIns="0" rtlCol="0">
            <a:spAutoFit/>
          </a:bodyPr>
          <a:lstStyle/>
          <a:p>
            <a:pPr marL="298450" indent="-285750">
              <a:lnSpc>
                <a:spcPct val="100000"/>
              </a:lnSpc>
              <a:spcBef>
                <a:spcPts val="555"/>
              </a:spcBef>
              <a:buFont typeface="Arial" panose="020B0604020202020204" pitchFamily="34" charset="0"/>
              <a:buChar char="•"/>
              <a:tabLst>
                <a:tab pos="240665" algn="l"/>
              </a:tabLst>
            </a:pPr>
            <a:r>
              <a:rPr lang="en-GB" sz="1700" b="1" spc="-10" dirty="0">
                <a:latin typeface="Arial"/>
                <a:cs typeface="Arial"/>
              </a:rPr>
              <a:t>Example 5:</a:t>
            </a:r>
          </a:p>
          <a:p>
            <a:pPr marL="12700">
              <a:lnSpc>
                <a:spcPct val="100000"/>
              </a:lnSpc>
              <a:spcBef>
                <a:spcPts val="555"/>
              </a:spcBef>
              <a:tabLst>
                <a:tab pos="240665" algn="l"/>
              </a:tabLst>
            </a:pPr>
            <a:r>
              <a:rPr lang="en-GB" sz="1700" i="1" spc="-10" dirty="0">
                <a:latin typeface="Arial"/>
                <a:cs typeface="Arial"/>
              </a:rPr>
              <a:t>Coca Cola letter to distributors</a:t>
            </a:r>
          </a:p>
          <a:p>
            <a:pPr marL="12700">
              <a:lnSpc>
                <a:spcPct val="100000"/>
              </a:lnSpc>
              <a:spcBef>
                <a:spcPts val="555"/>
              </a:spcBef>
              <a:tabLst>
                <a:tab pos="240665" algn="l"/>
              </a:tabLst>
            </a:pPr>
            <a:r>
              <a:rPr lang="en-GB" sz="1700" b="1" i="1" spc="-10" dirty="0">
                <a:latin typeface="Arial"/>
                <a:cs typeface="Arial"/>
              </a:rPr>
              <a:t>Before</a:t>
            </a:r>
            <a:r>
              <a:rPr lang="en-GB" sz="1700" i="1" spc="-10" dirty="0">
                <a:latin typeface="Arial"/>
                <a:cs typeface="Arial"/>
              </a:rPr>
              <a:t> – “To outsource some aspects of our finance transactional processing activities... we will be transitioning certain transactional activities... there will be two primary impacts to your organisation... does not impact your current terms... aiming to minimise any disruption to our business, and we expect our performance levels to stabilise soon after the transition period.”</a:t>
            </a:r>
          </a:p>
          <a:p>
            <a:pPr marL="12700">
              <a:lnSpc>
                <a:spcPct val="100000"/>
              </a:lnSpc>
              <a:spcBef>
                <a:spcPts val="555"/>
              </a:spcBef>
              <a:tabLst>
                <a:tab pos="240665" algn="l"/>
              </a:tabLst>
            </a:pPr>
            <a:r>
              <a:rPr lang="en-GB" sz="1700" b="1" i="1" spc="-10" dirty="0">
                <a:latin typeface="Arial"/>
                <a:cs typeface="Arial"/>
              </a:rPr>
              <a:t>After</a:t>
            </a:r>
            <a:r>
              <a:rPr lang="en-GB" sz="1700" i="1" spc="-10" dirty="0">
                <a:latin typeface="Arial"/>
                <a:cs typeface="Arial"/>
              </a:rPr>
              <a:t> – “We’re changing our payment arrangements. Here’s how it affects you.”</a:t>
            </a:r>
          </a:p>
          <a:p>
            <a:pPr marL="12700">
              <a:lnSpc>
                <a:spcPct val="100000"/>
              </a:lnSpc>
              <a:spcBef>
                <a:spcPts val="555"/>
              </a:spcBef>
              <a:tabLst>
                <a:tab pos="240665" algn="l"/>
              </a:tabLst>
            </a:pPr>
            <a:endParaRPr lang="en-GB" sz="1700" i="1" spc="-10" dirty="0">
              <a:latin typeface="Arial"/>
              <a:cs typeface="Arial"/>
            </a:endParaRPr>
          </a:p>
          <a:p>
            <a:pPr marL="298450" indent="-285750">
              <a:lnSpc>
                <a:spcPct val="100000"/>
              </a:lnSpc>
              <a:spcBef>
                <a:spcPts val="555"/>
              </a:spcBef>
              <a:buFont typeface="Arial" panose="020B0604020202020204" pitchFamily="34" charset="0"/>
              <a:buChar char="•"/>
              <a:tabLst>
                <a:tab pos="240665" algn="l"/>
              </a:tabLst>
            </a:pPr>
            <a:r>
              <a:rPr lang="en-GB" sz="1700" spc="-10" dirty="0">
                <a:latin typeface="Arial"/>
                <a:cs typeface="Arial"/>
              </a:rPr>
              <a:t>Each of these examples are quicker to read and easier for users to read, which helps increase audience satisfaction.</a:t>
            </a:r>
          </a:p>
          <a:p>
            <a:pPr marL="298450" indent="-285750">
              <a:lnSpc>
                <a:spcPct val="100000"/>
              </a:lnSpc>
              <a:spcBef>
                <a:spcPts val="555"/>
              </a:spcBef>
              <a:buFont typeface="Arial" panose="020B0604020202020204" pitchFamily="34" charset="0"/>
              <a:buChar char="•"/>
              <a:tabLst>
                <a:tab pos="240665" algn="l"/>
              </a:tabLst>
            </a:pPr>
            <a:r>
              <a:rPr lang="en-GB" sz="1700" spc="-10" dirty="0">
                <a:latin typeface="Arial"/>
                <a:cs typeface="Arial"/>
              </a:rPr>
              <a:t>While it is okay to have more in-depth information for specific pages, landing pages like the home page should contain plainer language to grab the user's attention and avoid confusing readers.</a:t>
            </a:r>
            <a:endParaRPr lang="en-GB" sz="1700" spc="-10" dirty="0">
              <a:latin typeface="Arial MT"/>
              <a:cs typeface="Arial MT"/>
            </a:endParaRPr>
          </a:p>
          <a:p>
            <a:pPr marL="12700">
              <a:lnSpc>
                <a:spcPct val="100000"/>
              </a:lnSpc>
              <a:spcBef>
                <a:spcPts val="360"/>
              </a:spcBef>
              <a:tabLst>
                <a:tab pos="240665" algn="l"/>
              </a:tabLst>
            </a:pPr>
            <a:endParaRPr lang="en-GB" sz="1700" spc="-10" dirty="0">
              <a:latin typeface="Arial MT"/>
              <a:cs typeface="Arial MT"/>
            </a:endParaRPr>
          </a:p>
          <a:p>
            <a:pPr marL="12700">
              <a:lnSpc>
                <a:spcPct val="100000"/>
              </a:lnSpc>
              <a:spcBef>
                <a:spcPts val="360"/>
              </a:spcBef>
              <a:tabLst>
                <a:tab pos="240665" algn="l"/>
              </a:tabLst>
            </a:pPr>
            <a:endParaRPr sz="1700" dirty="0">
              <a:latin typeface="Arial MT"/>
              <a:cs typeface="Arial MT"/>
            </a:endParaRPr>
          </a:p>
        </p:txBody>
      </p:sp>
    </p:spTree>
    <p:extLst>
      <p:ext uri="{BB962C8B-B14F-4D97-AF65-F5344CB8AC3E}">
        <p14:creationId xmlns:p14="http://schemas.microsoft.com/office/powerpoint/2010/main" val="33318608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2" y="306323"/>
            <a:ext cx="7098665" cy="1970405"/>
          </a:xfrm>
        </p:spPr>
        <p:txBody>
          <a:bodyPr vert="horz" wrap="square" lIns="0" tIns="0" rIns="0" bIns="0" rtlCol="0">
            <a:normAutofit/>
          </a:bodyPr>
          <a:lstStyle/>
          <a:p>
            <a:pPr marL="12700">
              <a:spcBef>
                <a:spcPts val="100"/>
              </a:spcBef>
            </a:pPr>
            <a:r>
              <a:rPr lang="en-GB" b="0" i="0" spc="-10">
                <a:latin typeface="Arial MT"/>
                <a:ea typeface="+mj-ea"/>
                <a:cs typeface="Arial MT"/>
              </a:rPr>
              <a:t>Exercise</a:t>
            </a:r>
          </a:p>
        </p:txBody>
      </p:sp>
      <p:sp>
        <p:nvSpPr>
          <p:cNvPr id="3" name="object 3"/>
          <p:cNvSpPr txBox="1"/>
          <p:nvPr/>
        </p:nvSpPr>
        <p:spPr>
          <a:xfrm>
            <a:off x="457200" y="2971800"/>
            <a:ext cx="3810000" cy="3131820"/>
          </a:xfrm>
          <a:prstGeom prst="rect">
            <a:avLst/>
          </a:prstGeom>
        </p:spPr>
        <p:txBody>
          <a:bodyPr vert="horz" wrap="square" lIns="0" tIns="0" rIns="0" bIns="0" rtlCol="0">
            <a:normAutofit/>
          </a:bodyPr>
          <a:lstStyle/>
          <a:p>
            <a:pPr>
              <a:spcBef>
                <a:spcPts val="100"/>
              </a:spcBef>
              <a:tabLst>
                <a:tab pos="238760" algn="l"/>
              </a:tabLst>
            </a:pPr>
            <a:r>
              <a:rPr lang="en-US" sz="1700" b="1" i="0" dirty="0">
                <a:solidFill>
                  <a:schemeClr val="tx1"/>
                </a:solidFill>
                <a:latin typeface="Arial"/>
                <a:ea typeface="+mn-ea"/>
                <a:cs typeface="Arial"/>
              </a:rPr>
              <a:t>Rewrite</a:t>
            </a:r>
            <a:r>
              <a:rPr lang="en-US" sz="1700" b="1" i="0" spc="-40" dirty="0">
                <a:solidFill>
                  <a:schemeClr val="tx1"/>
                </a:solidFill>
                <a:latin typeface="Arial"/>
                <a:ea typeface="+mn-ea"/>
                <a:cs typeface="Arial"/>
              </a:rPr>
              <a:t> </a:t>
            </a:r>
            <a:r>
              <a:rPr lang="en-US" sz="1700" b="1" i="0" dirty="0">
                <a:solidFill>
                  <a:schemeClr val="tx1"/>
                </a:solidFill>
                <a:latin typeface="Arial"/>
                <a:ea typeface="+mn-ea"/>
                <a:cs typeface="Arial"/>
              </a:rPr>
              <a:t>the</a:t>
            </a:r>
            <a:r>
              <a:rPr lang="en-US" sz="1700" b="1" i="0" spc="-40" dirty="0">
                <a:solidFill>
                  <a:schemeClr val="tx1"/>
                </a:solidFill>
                <a:latin typeface="Arial"/>
                <a:ea typeface="+mn-ea"/>
                <a:cs typeface="Arial"/>
              </a:rPr>
              <a:t> </a:t>
            </a:r>
            <a:r>
              <a:rPr lang="en-US" sz="1700" b="1" i="0" dirty="0">
                <a:solidFill>
                  <a:schemeClr val="tx1"/>
                </a:solidFill>
                <a:latin typeface="Arial"/>
                <a:ea typeface="+mn-ea"/>
                <a:cs typeface="Arial"/>
              </a:rPr>
              <a:t>passages</a:t>
            </a:r>
            <a:r>
              <a:rPr lang="en-US" sz="1700" b="1" i="0" spc="-40" dirty="0">
                <a:solidFill>
                  <a:schemeClr val="tx1"/>
                </a:solidFill>
                <a:latin typeface="Arial"/>
                <a:ea typeface="+mn-ea"/>
                <a:cs typeface="Arial"/>
              </a:rPr>
              <a:t> in this </a:t>
            </a:r>
            <a:r>
              <a:rPr lang="en-US" sz="1700" b="1" spc="-40" dirty="0" err="1">
                <a:solidFill>
                  <a:schemeClr val="tx1"/>
                </a:solidFill>
                <a:latin typeface="Arial"/>
                <a:ea typeface="+mn-ea"/>
                <a:cs typeface="Arial"/>
              </a:rPr>
              <a:t>M</a:t>
            </a:r>
            <a:r>
              <a:rPr lang="en-US" sz="1700" b="1" i="0" spc="-40" dirty="0" err="1">
                <a:solidFill>
                  <a:schemeClr val="tx1"/>
                </a:solidFill>
                <a:latin typeface="Arial"/>
                <a:ea typeface="+mn-ea"/>
                <a:cs typeface="Arial"/>
              </a:rPr>
              <a:t>entimeter</a:t>
            </a:r>
            <a:r>
              <a:rPr lang="en-US" sz="1700" b="1" i="0" spc="-40" dirty="0">
                <a:solidFill>
                  <a:schemeClr val="tx1"/>
                </a:solidFill>
                <a:latin typeface="Arial"/>
                <a:ea typeface="+mn-ea"/>
                <a:cs typeface="Arial"/>
              </a:rPr>
              <a:t> </a:t>
            </a:r>
            <a:r>
              <a:rPr lang="en-US" sz="1700" b="1" i="0" dirty="0">
                <a:solidFill>
                  <a:schemeClr val="tx1"/>
                </a:solidFill>
                <a:latin typeface="Arial"/>
                <a:ea typeface="+mn-ea"/>
                <a:cs typeface="Arial"/>
              </a:rPr>
              <a:t>to</a:t>
            </a:r>
            <a:r>
              <a:rPr lang="en-US" sz="1700" b="1" i="0" spc="-40" dirty="0">
                <a:solidFill>
                  <a:schemeClr val="tx1"/>
                </a:solidFill>
                <a:latin typeface="Arial"/>
                <a:ea typeface="+mn-ea"/>
                <a:cs typeface="Arial"/>
              </a:rPr>
              <a:t> </a:t>
            </a:r>
            <a:r>
              <a:rPr lang="en-US" sz="1700" b="1" i="0" dirty="0">
                <a:solidFill>
                  <a:schemeClr val="tx1"/>
                </a:solidFill>
                <a:latin typeface="Arial"/>
                <a:ea typeface="+mn-ea"/>
                <a:cs typeface="Arial"/>
              </a:rPr>
              <a:t>speak</a:t>
            </a:r>
            <a:r>
              <a:rPr lang="en-US" sz="1700" b="1" i="0" spc="-40" dirty="0">
                <a:solidFill>
                  <a:schemeClr val="tx1"/>
                </a:solidFill>
                <a:latin typeface="Arial"/>
                <a:ea typeface="+mn-ea"/>
                <a:cs typeface="Arial"/>
              </a:rPr>
              <a:t> </a:t>
            </a:r>
            <a:r>
              <a:rPr lang="en-US" sz="1700" b="1" i="0" dirty="0">
                <a:solidFill>
                  <a:schemeClr val="tx1"/>
                </a:solidFill>
                <a:latin typeface="Arial"/>
                <a:ea typeface="+mn-ea"/>
                <a:cs typeface="Arial"/>
              </a:rPr>
              <a:t>more</a:t>
            </a:r>
            <a:r>
              <a:rPr lang="en-US" sz="1700" b="1" i="0" spc="-40" dirty="0">
                <a:solidFill>
                  <a:schemeClr val="tx1"/>
                </a:solidFill>
                <a:latin typeface="Arial"/>
                <a:ea typeface="+mn-ea"/>
                <a:cs typeface="Arial"/>
              </a:rPr>
              <a:t> </a:t>
            </a:r>
            <a:r>
              <a:rPr lang="en-US" sz="1700" b="1" i="0" dirty="0">
                <a:solidFill>
                  <a:schemeClr val="tx1"/>
                </a:solidFill>
                <a:latin typeface="Arial"/>
                <a:ea typeface="+mn-ea"/>
                <a:cs typeface="Arial"/>
              </a:rPr>
              <a:t>directly</a:t>
            </a:r>
            <a:r>
              <a:rPr lang="en-US" sz="1700" b="1" i="0" spc="-40" dirty="0">
                <a:solidFill>
                  <a:schemeClr val="tx1"/>
                </a:solidFill>
                <a:latin typeface="Arial"/>
                <a:ea typeface="+mn-ea"/>
                <a:cs typeface="Arial"/>
              </a:rPr>
              <a:t> </a:t>
            </a:r>
            <a:r>
              <a:rPr lang="en-US" sz="1700" b="1" i="0" dirty="0">
                <a:solidFill>
                  <a:schemeClr val="tx1"/>
                </a:solidFill>
                <a:latin typeface="Arial"/>
                <a:ea typeface="+mn-ea"/>
                <a:cs typeface="Arial"/>
              </a:rPr>
              <a:t>to</a:t>
            </a:r>
            <a:r>
              <a:rPr lang="en-US" sz="1700" b="1" i="0" spc="-40" dirty="0">
                <a:solidFill>
                  <a:schemeClr val="tx1"/>
                </a:solidFill>
                <a:latin typeface="Arial"/>
                <a:ea typeface="+mn-ea"/>
                <a:cs typeface="Arial"/>
              </a:rPr>
              <a:t> </a:t>
            </a:r>
            <a:r>
              <a:rPr lang="en-US" sz="1700" b="1" i="0" dirty="0">
                <a:solidFill>
                  <a:schemeClr val="tx1"/>
                </a:solidFill>
                <a:latin typeface="Arial"/>
                <a:ea typeface="+mn-ea"/>
                <a:cs typeface="Arial"/>
              </a:rPr>
              <a:t>the</a:t>
            </a:r>
            <a:r>
              <a:rPr lang="en-US" sz="1700" b="1" i="0" spc="-40" dirty="0">
                <a:solidFill>
                  <a:schemeClr val="tx1"/>
                </a:solidFill>
                <a:latin typeface="Arial"/>
                <a:ea typeface="+mn-ea"/>
                <a:cs typeface="Arial"/>
              </a:rPr>
              <a:t> </a:t>
            </a:r>
            <a:r>
              <a:rPr lang="en-US" sz="1700" b="1" i="0" spc="-10" dirty="0">
                <a:solidFill>
                  <a:schemeClr val="tx1"/>
                </a:solidFill>
                <a:latin typeface="Arial"/>
                <a:ea typeface="+mn-ea"/>
                <a:cs typeface="Arial"/>
              </a:rPr>
              <a:t>reader.</a:t>
            </a:r>
            <a:endParaRPr lang="en-US" sz="1700" b="1" i="0" dirty="0">
              <a:solidFill>
                <a:schemeClr val="tx1"/>
              </a:solidFill>
              <a:latin typeface="Arial"/>
              <a:ea typeface="+mn-ea"/>
              <a:cs typeface="Arial"/>
            </a:endParaRPr>
          </a:p>
          <a:p>
            <a:pPr>
              <a:spcBef>
                <a:spcPts val="575"/>
              </a:spcBef>
            </a:pPr>
            <a:endParaRPr lang="en-US" sz="1700" b="1" i="0" dirty="0">
              <a:solidFill>
                <a:schemeClr val="tx1"/>
              </a:solidFill>
              <a:latin typeface="Arial"/>
              <a:ea typeface="+mn-ea"/>
              <a:cs typeface="Arial"/>
            </a:endParaRPr>
          </a:p>
        </p:txBody>
      </p:sp>
      <p:pic>
        <p:nvPicPr>
          <p:cNvPr id="5" name="Picture 4" descr="A qr code on a white background&#10;&#10;Description automatically generated">
            <a:extLst>
              <a:ext uri="{FF2B5EF4-FFF2-40B4-BE49-F238E27FC236}">
                <a16:creationId xmlns:a16="http://schemas.microsoft.com/office/drawing/2014/main" id="{E17ECB3B-D2FE-5631-9329-1BA7A42AEC9A}"/>
              </a:ext>
            </a:extLst>
          </p:cNvPr>
          <p:cNvPicPr>
            <a:picLocks noChangeAspect="1"/>
          </p:cNvPicPr>
          <p:nvPr/>
        </p:nvPicPr>
        <p:blipFill>
          <a:blip r:embed="rId2">
            <a:extLst>
              <a:ext uri="{28A0092B-C50C-407E-A947-70E740481C1C}">
                <a14:useLocalDpi xmlns:a14="http://schemas.microsoft.com/office/drawing/2010/main" val="0"/>
              </a:ext>
            </a:extLst>
          </a:blip>
          <a:srcRect l="3200" r="8924" b="3"/>
          <a:stretch/>
        </p:blipFill>
        <p:spPr>
          <a:xfrm>
            <a:off x="4709160" y="1577340"/>
            <a:ext cx="3977640" cy="4526280"/>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514732"/>
            <a:ext cx="5257800" cy="551433"/>
          </a:xfrm>
          <a:prstGeom prst="rect">
            <a:avLst/>
          </a:prstGeom>
        </p:spPr>
        <p:txBody>
          <a:bodyPr vert="horz" wrap="square" lIns="0" tIns="12700" rIns="0" bIns="0" rtlCol="0">
            <a:spAutoFit/>
          </a:bodyPr>
          <a:lstStyle/>
          <a:p>
            <a:pPr marL="12700">
              <a:lnSpc>
                <a:spcPct val="100000"/>
              </a:lnSpc>
              <a:spcBef>
                <a:spcPts val="100"/>
              </a:spcBef>
            </a:pPr>
            <a:r>
              <a:rPr lang="en-GB" spc="-10" dirty="0"/>
              <a:t>Organisation with Patterns</a:t>
            </a:r>
            <a:endParaRPr spc="-10" dirty="0"/>
          </a:p>
        </p:txBody>
      </p:sp>
      <p:sp>
        <p:nvSpPr>
          <p:cNvPr id="3" name="object 3"/>
          <p:cNvSpPr txBox="1"/>
          <p:nvPr/>
        </p:nvSpPr>
        <p:spPr>
          <a:xfrm>
            <a:off x="533400" y="1905000"/>
            <a:ext cx="8077200" cy="4424288"/>
          </a:xfrm>
          <a:prstGeom prst="rect">
            <a:avLst/>
          </a:prstGeom>
        </p:spPr>
        <p:txBody>
          <a:bodyPr vert="horz" wrap="square" lIns="0" tIns="12700" rIns="0" bIns="0" rtlCol="0">
            <a:spAutoFit/>
          </a:bodyPr>
          <a:lstStyle/>
          <a:p>
            <a:pPr marL="238760" indent="-226060" algn="just">
              <a:spcBef>
                <a:spcPts val="100"/>
              </a:spcBef>
              <a:buFont typeface="Arial MT"/>
              <a:buChar char="•"/>
              <a:tabLst>
                <a:tab pos="238760" algn="l"/>
              </a:tabLst>
            </a:pPr>
            <a:r>
              <a:rPr lang="en-GB" sz="2000" dirty="0">
                <a:latin typeface="Arial MT"/>
                <a:cs typeface="Arial MT"/>
              </a:rPr>
              <a:t>One of the key aspects with how we design our information is controlling the flow of information.</a:t>
            </a:r>
          </a:p>
          <a:p>
            <a:pPr marL="238760" indent="-226060" algn="just">
              <a:spcBef>
                <a:spcPts val="100"/>
              </a:spcBef>
              <a:buFont typeface="Arial MT"/>
              <a:buChar char="•"/>
              <a:tabLst>
                <a:tab pos="238760" algn="l"/>
              </a:tabLst>
            </a:pPr>
            <a:endParaRPr lang="en-GB" sz="2000" dirty="0">
              <a:latin typeface="Arial MT"/>
              <a:cs typeface="Arial MT"/>
            </a:endParaRPr>
          </a:p>
          <a:p>
            <a:pPr marL="238760" indent="-226060" algn="just">
              <a:spcBef>
                <a:spcPts val="100"/>
              </a:spcBef>
              <a:buFont typeface="Arial MT"/>
              <a:buChar char="•"/>
              <a:tabLst>
                <a:tab pos="238760" algn="l"/>
              </a:tabLst>
            </a:pPr>
            <a:r>
              <a:rPr lang="en-GB" sz="2000" dirty="0">
                <a:latin typeface="Arial MT"/>
                <a:cs typeface="Arial MT"/>
              </a:rPr>
              <a:t>We often do this with principles like the inverse pyramid principle to introduce the most important information first and then follow with subsequently less and less important information.</a:t>
            </a:r>
          </a:p>
          <a:p>
            <a:pPr marL="238760" indent="-226060" algn="just">
              <a:spcBef>
                <a:spcPts val="100"/>
              </a:spcBef>
              <a:buFont typeface="Arial MT"/>
              <a:buChar char="•"/>
              <a:tabLst>
                <a:tab pos="238760" algn="l"/>
              </a:tabLst>
            </a:pPr>
            <a:endParaRPr lang="en-GB" sz="2000" dirty="0">
              <a:latin typeface="Arial MT"/>
              <a:cs typeface="Arial MT"/>
            </a:endParaRPr>
          </a:p>
          <a:p>
            <a:pPr marL="238760" indent="-226060" algn="just">
              <a:spcBef>
                <a:spcPts val="100"/>
              </a:spcBef>
              <a:buFont typeface="Arial MT"/>
              <a:buChar char="•"/>
              <a:tabLst>
                <a:tab pos="238760" algn="l"/>
              </a:tabLst>
            </a:pPr>
            <a:r>
              <a:rPr lang="en-GB" sz="2000" dirty="0">
                <a:latin typeface="Arial MT"/>
                <a:cs typeface="Arial MT"/>
              </a:rPr>
              <a:t>Though to effectively do this we need to consider where our viewers eyes will initially focus and where they will then go. </a:t>
            </a:r>
          </a:p>
          <a:p>
            <a:pPr marL="238760" indent="-226060" algn="just">
              <a:spcBef>
                <a:spcPts val="100"/>
              </a:spcBef>
              <a:buFont typeface="Arial MT"/>
              <a:buChar char="•"/>
              <a:tabLst>
                <a:tab pos="238760" algn="l"/>
              </a:tabLst>
            </a:pPr>
            <a:endParaRPr lang="en-GB" sz="2000" dirty="0">
              <a:latin typeface="Arial MT"/>
              <a:cs typeface="Arial MT"/>
            </a:endParaRPr>
          </a:p>
          <a:p>
            <a:pPr marL="238760" indent="-226060" algn="just">
              <a:spcBef>
                <a:spcPts val="100"/>
              </a:spcBef>
              <a:buFont typeface="Arial MT"/>
              <a:buChar char="•"/>
              <a:tabLst>
                <a:tab pos="238760" algn="l"/>
              </a:tabLst>
            </a:pPr>
            <a:r>
              <a:rPr lang="en-GB" sz="2000" dirty="0">
                <a:latin typeface="Arial MT"/>
                <a:cs typeface="Arial MT"/>
              </a:rPr>
              <a:t>As such we need to design our pages to control the users focus to guide them towards the goal.</a:t>
            </a:r>
          </a:p>
          <a:p>
            <a:pPr marL="238760" indent="-226060" algn="just">
              <a:spcBef>
                <a:spcPts val="100"/>
              </a:spcBef>
              <a:buFont typeface="Arial MT"/>
              <a:buChar char="•"/>
              <a:tabLst>
                <a:tab pos="238760" algn="l"/>
              </a:tabLst>
            </a:pPr>
            <a:endParaRPr lang="en-GB" sz="2000" dirty="0">
              <a:latin typeface="Arial MT"/>
              <a:cs typeface="Arial MT"/>
            </a:endParaRPr>
          </a:p>
          <a:p>
            <a:pPr marL="238760" indent="-226060" algn="just">
              <a:spcBef>
                <a:spcPts val="100"/>
              </a:spcBef>
              <a:buFont typeface="Arial MT"/>
              <a:buChar char="•"/>
              <a:tabLst>
                <a:tab pos="238760" algn="l"/>
              </a:tabLst>
            </a:pPr>
            <a:r>
              <a:rPr lang="en-GB" sz="2000" dirty="0">
                <a:latin typeface="Arial MT"/>
                <a:cs typeface="Arial MT"/>
              </a:rPr>
              <a:t>The main two patterns of landing page designs are F and Z patterns.</a:t>
            </a:r>
            <a:endParaRPr sz="2000" dirty="0">
              <a:latin typeface="Arial MT"/>
              <a:cs typeface="Arial MT"/>
            </a:endParaRPr>
          </a:p>
        </p:txBody>
      </p:sp>
    </p:spTree>
    <p:extLst>
      <p:ext uri="{BB962C8B-B14F-4D97-AF65-F5344CB8AC3E}">
        <p14:creationId xmlns:p14="http://schemas.microsoft.com/office/powerpoint/2010/main" val="4502942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514732"/>
            <a:ext cx="5257800" cy="551433"/>
          </a:xfrm>
          <a:prstGeom prst="rect">
            <a:avLst/>
          </a:prstGeom>
        </p:spPr>
        <p:txBody>
          <a:bodyPr vert="horz" wrap="square" lIns="0" tIns="12700" rIns="0" bIns="0" rtlCol="0">
            <a:spAutoFit/>
          </a:bodyPr>
          <a:lstStyle/>
          <a:p>
            <a:pPr marL="12700">
              <a:lnSpc>
                <a:spcPct val="100000"/>
              </a:lnSpc>
              <a:spcBef>
                <a:spcPts val="100"/>
              </a:spcBef>
            </a:pPr>
            <a:r>
              <a:rPr lang="en-GB" spc="-10" dirty="0"/>
              <a:t>Behaviour Pattern</a:t>
            </a:r>
            <a:endParaRPr spc="-10" dirty="0"/>
          </a:p>
        </p:txBody>
      </p:sp>
      <p:sp>
        <p:nvSpPr>
          <p:cNvPr id="3" name="object 3"/>
          <p:cNvSpPr txBox="1"/>
          <p:nvPr/>
        </p:nvSpPr>
        <p:spPr>
          <a:xfrm>
            <a:off x="515645" y="1905000"/>
            <a:ext cx="4495800" cy="4655121"/>
          </a:xfrm>
          <a:prstGeom prst="rect">
            <a:avLst/>
          </a:prstGeom>
        </p:spPr>
        <p:txBody>
          <a:bodyPr vert="horz" wrap="square" lIns="0" tIns="12700" rIns="0" bIns="0" rtlCol="0">
            <a:spAutoFit/>
          </a:bodyPr>
          <a:lstStyle/>
          <a:p>
            <a:pPr marL="240665" indent="-227965">
              <a:spcBef>
                <a:spcPts val="530"/>
              </a:spcBef>
              <a:buChar char="•"/>
              <a:tabLst>
                <a:tab pos="240665" algn="l"/>
              </a:tabLst>
            </a:pPr>
            <a:r>
              <a:rPr lang="en-GB" sz="2000" b="1" dirty="0">
                <a:latin typeface="Arial MT"/>
                <a:cs typeface="Arial MT"/>
              </a:rPr>
              <a:t>The general behaviour pattern:</a:t>
            </a:r>
          </a:p>
          <a:p>
            <a:pPr marL="240665" indent="-227965">
              <a:spcBef>
                <a:spcPts val="530"/>
              </a:spcBef>
              <a:buChar char="•"/>
              <a:tabLst>
                <a:tab pos="240665" algn="l"/>
              </a:tabLst>
            </a:pPr>
            <a:endParaRPr lang="en-GB" sz="2000" b="1" dirty="0">
              <a:latin typeface="Arial MT"/>
              <a:cs typeface="Arial MT"/>
            </a:endParaRPr>
          </a:p>
          <a:p>
            <a:pPr marL="469900" indent="-457200">
              <a:spcBef>
                <a:spcPts val="530"/>
              </a:spcBef>
              <a:buFont typeface="+mj-lt"/>
              <a:buAutoNum type="arabicPeriod"/>
              <a:tabLst>
                <a:tab pos="240665" algn="l"/>
              </a:tabLst>
            </a:pPr>
            <a:r>
              <a:rPr lang="en-GB" sz="2000" dirty="0">
                <a:latin typeface="Arial MT"/>
                <a:cs typeface="Arial MT"/>
              </a:rPr>
              <a:t>Visitors start at the top left of the page.</a:t>
            </a:r>
          </a:p>
          <a:p>
            <a:pPr marL="469900" indent="-457200">
              <a:spcBef>
                <a:spcPts val="530"/>
              </a:spcBef>
              <a:buFont typeface="+mj-lt"/>
              <a:buAutoNum type="arabicPeriod"/>
              <a:tabLst>
                <a:tab pos="240665" algn="l"/>
              </a:tabLst>
            </a:pPr>
            <a:r>
              <a:rPr lang="en-GB" sz="2000" dirty="0">
                <a:latin typeface="Arial MT"/>
                <a:cs typeface="Arial MT"/>
              </a:rPr>
              <a:t>Then they scan the top of the site (navigation, subscription, search, etc.)</a:t>
            </a:r>
          </a:p>
          <a:p>
            <a:pPr marL="469900" indent="-457200">
              <a:spcBef>
                <a:spcPts val="530"/>
              </a:spcBef>
              <a:buFont typeface="+mj-lt"/>
              <a:buAutoNum type="arabicPeriod"/>
              <a:tabLst>
                <a:tab pos="240665" algn="l"/>
              </a:tabLst>
            </a:pPr>
            <a:r>
              <a:rPr lang="en-GB" sz="2000" dirty="0">
                <a:latin typeface="Arial MT"/>
                <a:cs typeface="Arial MT"/>
              </a:rPr>
              <a:t>Next, they move down, reading the next full row of content… all the way to the sidebar.</a:t>
            </a:r>
          </a:p>
          <a:p>
            <a:pPr marL="469900" indent="-457200">
              <a:spcBef>
                <a:spcPts val="530"/>
              </a:spcBef>
              <a:buFont typeface="+mj-lt"/>
              <a:buAutoNum type="arabicPeriod"/>
              <a:tabLst>
                <a:tab pos="240665" algn="l"/>
              </a:tabLst>
            </a:pPr>
            <a:r>
              <a:rPr lang="en-GB" sz="2000" dirty="0">
                <a:latin typeface="Arial MT"/>
                <a:cs typeface="Arial MT"/>
              </a:rPr>
              <a:t>Last, surfers enter a “scanning pattern” once they hit the bulk of the site content.</a:t>
            </a:r>
          </a:p>
          <a:p>
            <a:pPr marL="12700" algn="just">
              <a:spcBef>
                <a:spcPts val="100"/>
              </a:spcBef>
              <a:tabLst>
                <a:tab pos="238760" algn="l"/>
              </a:tabLst>
            </a:pPr>
            <a:endParaRPr sz="2000" dirty="0">
              <a:latin typeface="Arial MT"/>
              <a:cs typeface="Arial MT"/>
            </a:endParaRPr>
          </a:p>
        </p:txBody>
      </p:sp>
      <p:pic>
        <p:nvPicPr>
          <p:cNvPr id="6" name="object 8" descr="Example of F pattern ">
            <a:extLst>
              <a:ext uri="{FF2B5EF4-FFF2-40B4-BE49-F238E27FC236}">
                <a16:creationId xmlns:a16="http://schemas.microsoft.com/office/drawing/2014/main" id="{3E71C9B2-13E1-DE64-BFC9-1C11EA922215}"/>
              </a:ext>
            </a:extLst>
          </p:cNvPr>
          <p:cNvPicPr/>
          <p:nvPr/>
        </p:nvPicPr>
        <p:blipFill>
          <a:blip r:embed="rId2" cstate="print"/>
          <a:stretch>
            <a:fillRect/>
          </a:stretch>
        </p:blipFill>
        <p:spPr>
          <a:xfrm>
            <a:off x="5087769" y="2667000"/>
            <a:ext cx="3862874" cy="2551842"/>
          </a:xfrm>
          <a:prstGeom prst="rect">
            <a:avLst/>
          </a:prstGeom>
        </p:spPr>
      </p:pic>
    </p:spTree>
    <p:extLst>
      <p:ext uri="{BB962C8B-B14F-4D97-AF65-F5344CB8AC3E}">
        <p14:creationId xmlns:p14="http://schemas.microsoft.com/office/powerpoint/2010/main" val="22621466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514732"/>
            <a:ext cx="5257800" cy="551433"/>
          </a:xfrm>
          <a:prstGeom prst="rect">
            <a:avLst/>
          </a:prstGeom>
        </p:spPr>
        <p:txBody>
          <a:bodyPr vert="horz" wrap="square" lIns="0" tIns="12700" rIns="0" bIns="0" rtlCol="0">
            <a:spAutoFit/>
          </a:bodyPr>
          <a:lstStyle/>
          <a:p>
            <a:pPr marL="12700">
              <a:lnSpc>
                <a:spcPct val="100000"/>
              </a:lnSpc>
              <a:spcBef>
                <a:spcPts val="100"/>
              </a:spcBef>
            </a:pPr>
            <a:r>
              <a:rPr lang="en-GB" spc="-10" dirty="0"/>
              <a:t>Organisation F Pattern</a:t>
            </a:r>
            <a:endParaRPr spc="-10" dirty="0"/>
          </a:p>
        </p:txBody>
      </p:sp>
      <p:sp>
        <p:nvSpPr>
          <p:cNvPr id="3" name="object 3"/>
          <p:cNvSpPr txBox="1"/>
          <p:nvPr/>
        </p:nvSpPr>
        <p:spPr>
          <a:xfrm>
            <a:off x="533400" y="1905000"/>
            <a:ext cx="3810000" cy="4026743"/>
          </a:xfrm>
          <a:prstGeom prst="rect">
            <a:avLst/>
          </a:prstGeom>
        </p:spPr>
        <p:txBody>
          <a:bodyPr vert="horz" wrap="square" lIns="0" tIns="12700" rIns="0" bIns="0" rtlCol="0">
            <a:spAutoFit/>
          </a:bodyPr>
          <a:lstStyle/>
          <a:p>
            <a:pPr marL="12700" marR="5080" indent="227965">
              <a:spcBef>
                <a:spcPts val="665"/>
              </a:spcBef>
              <a:buChar char="•"/>
              <a:tabLst>
                <a:tab pos="240665" algn="l"/>
              </a:tabLst>
            </a:pPr>
            <a:r>
              <a:rPr lang="en-GB" sz="2000" dirty="0">
                <a:latin typeface="Arial MT"/>
                <a:cs typeface="Arial MT"/>
              </a:rPr>
              <a:t>This</a:t>
            </a:r>
            <a:r>
              <a:rPr lang="en-GB" sz="2000" spc="-45" dirty="0">
                <a:latin typeface="Arial MT"/>
                <a:cs typeface="Arial MT"/>
              </a:rPr>
              <a:t> </a:t>
            </a:r>
            <a:r>
              <a:rPr lang="en-GB" sz="2000" dirty="0">
                <a:latin typeface="Arial MT"/>
                <a:cs typeface="Arial MT"/>
              </a:rPr>
              <a:t>heatmap</a:t>
            </a:r>
            <a:r>
              <a:rPr lang="en-GB" sz="2000" spc="-40" dirty="0">
                <a:latin typeface="Arial MT"/>
                <a:cs typeface="Arial MT"/>
              </a:rPr>
              <a:t> </a:t>
            </a:r>
            <a:r>
              <a:rPr lang="en-GB" sz="2000" dirty="0">
                <a:latin typeface="Arial MT"/>
                <a:cs typeface="Arial MT"/>
              </a:rPr>
              <a:t>shows</a:t>
            </a:r>
            <a:r>
              <a:rPr lang="en-GB" sz="2000" spc="-40" dirty="0">
                <a:latin typeface="Arial MT"/>
                <a:cs typeface="Arial MT"/>
              </a:rPr>
              <a:t> </a:t>
            </a:r>
            <a:r>
              <a:rPr lang="en-GB" sz="2000" spc="-25" dirty="0">
                <a:latin typeface="Arial MT"/>
                <a:cs typeface="Arial MT"/>
              </a:rPr>
              <a:t>the </a:t>
            </a:r>
            <a:r>
              <a:rPr lang="en-GB" sz="2000" dirty="0">
                <a:latin typeface="Arial MT"/>
                <a:cs typeface="Arial MT"/>
              </a:rPr>
              <a:t>abstract</a:t>
            </a:r>
            <a:r>
              <a:rPr lang="en-GB" sz="2000" spc="-35" dirty="0">
                <a:latin typeface="Arial MT"/>
                <a:cs typeface="Arial MT"/>
              </a:rPr>
              <a:t> </a:t>
            </a:r>
            <a:r>
              <a:rPr lang="en-GB" sz="2000" dirty="0">
                <a:latin typeface="Arial MT"/>
                <a:cs typeface="Arial MT"/>
              </a:rPr>
              <a:t>F</a:t>
            </a:r>
            <a:r>
              <a:rPr lang="en-GB" sz="2000" spc="-30" dirty="0">
                <a:latin typeface="Arial MT"/>
                <a:cs typeface="Arial MT"/>
              </a:rPr>
              <a:t> </a:t>
            </a:r>
            <a:r>
              <a:rPr lang="en-GB" sz="2000" dirty="0">
                <a:latin typeface="Arial MT"/>
                <a:cs typeface="Arial MT"/>
              </a:rPr>
              <a:t>shape</a:t>
            </a:r>
            <a:r>
              <a:rPr lang="en-GB" sz="2000" spc="-25" dirty="0">
                <a:latin typeface="Arial MT"/>
                <a:cs typeface="Arial MT"/>
              </a:rPr>
              <a:t> </a:t>
            </a:r>
            <a:r>
              <a:rPr lang="en-GB" sz="2000" dirty="0">
                <a:latin typeface="Arial MT"/>
                <a:cs typeface="Arial MT"/>
              </a:rPr>
              <a:t>that</a:t>
            </a:r>
            <a:r>
              <a:rPr lang="en-GB" sz="2000" spc="-35" dirty="0">
                <a:latin typeface="Arial MT"/>
                <a:cs typeface="Arial MT"/>
              </a:rPr>
              <a:t> </a:t>
            </a:r>
            <a:r>
              <a:rPr lang="en-GB" sz="2000" spc="-10" dirty="0">
                <a:latin typeface="Arial MT"/>
                <a:cs typeface="Arial MT"/>
              </a:rPr>
              <a:t>users </a:t>
            </a:r>
            <a:r>
              <a:rPr lang="en-GB" sz="2000" dirty="0">
                <a:latin typeface="Arial MT"/>
                <a:cs typeface="Arial MT"/>
              </a:rPr>
              <a:t>generally</a:t>
            </a:r>
            <a:r>
              <a:rPr lang="en-GB" sz="2000" spc="-55" dirty="0">
                <a:latin typeface="Arial MT"/>
                <a:cs typeface="Arial MT"/>
              </a:rPr>
              <a:t> </a:t>
            </a:r>
            <a:r>
              <a:rPr lang="en-GB" sz="2000" dirty="0">
                <a:latin typeface="Arial MT"/>
                <a:cs typeface="Arial MT"/>
              </a:rPr>
              <a:t>gravitate</a:t>
            </a:r>
            <a:r>
              <a:rPr lang="en-GB" sz="2000" spc="-50" dirty="0">
                <a:latin typeface="Arial MT"/>
                <a:cs typeface="Arial MT"/>
              </a:rPr>
              <a:t> </a:t>
            </a:r>
            <a:r>
              <a:rPr lang="en-GB" sz="2000" dirty="0">
                <a:latin typeface="Arial MT"/>
                <a:cs typeface="Arial MT"/>
              </a:rPr>
              <a:t>towards.</a:t>
            </a:r>
            <a:r>
              <a:rPr lang="en-GB" sz="2000" spc="-60" dirty="0">
                <a:latin typeface="Arial MT"/>
                <a:cs typeface="Arial MT"/>
              </a:rPr>
              <a:t> </a:t>
            </a:r>
            <a:r>
              <a:rPr lang="en-GB" sz="2000" spc="-25" dirty="0">
                <a:latin typeface="Arial MT"/>
                <a:cs typeface="Arial MT"/>
              </a:rPr>
              <a:t>Hot </a:t>
            </a:r>
            <a:r>
              <a:rPr lang="en-GB" sz="2000" dirty="0">
                <a:latin typeface="Arial MT"/>
                <a:cs typeface="Arial MT"/>
              </a:rPr>
              <a:t>spots</a:t>
            </a:r>
            <a:r>
              <a:rPr lang="en-GB" sz="2000" spc="-40" dirty="0">
                <a:latin typeface="Arial MT"/>
                <a:cs typeface="Arial MT"/>
              </a:rPr>
              <a:t> </a:t>
            </a:r>
            <a:r>
              <a:rPr lang="en-GB" sz="2000" spc="-10" dirty="0">
                <a:latin typeface="Arial MT"/>
                <a:cs typeface="Arial MT"/>
              </a:rPr>
              <a:t>(red/orange/yellow) </a:t>
            </a:r>
            <a:r>
              <a:rPr lang="en-GB" sz="2000" dirty="0">
                <a:latin typeface="Arial MT"/>
                <a:cs typeface="Arial MT"/>
              </a:rPr>
              <a:t>represent</a:t>
            </a:r>
            <a:r>
              <a:rPr lang="en-GB" sz="2000" spc="-60" dirty="0">
                <a:latin typeface="Arial MT"/>
                <a:cs typeface="Arial MT"/>
              </a:rPr>
              <a:t> </a:t>
            </a:r>
            <a:r>
              <a:rPr lang="en-GB" sz="2000" dirty="0">
                <a:latin typeface="Arial MT"/>
                <a:cs typeface="Arial MT"/>
              </a:rPr>
              <a:t>where</a:t>
            </a:r>
            <a:r>
              <a:rPr lang="en-GB" sz="2000" spc="-50" dirty="0">
                <a:latin typeface="Arial MT"/>
                <a:cs typeface="Arial MT"/>
              </a:rPr>
              <a:t> </a:t>
            </a:r>
            <a:r>
              <a:rPr lang="en-GB" sz="2000" b="1" i="1" spc="-10" dirty="0">
                <a:latin typeface="Arial"/>
                <a:cs typeface="Arial"/>
              </a:rPr>
              <a:t>user’s </a:t>
            </a:r>
            <a:r>
              <a:rPr lang="en-GB" sz="2000" b="1" i="1" dirty="0">
                <a:latin typeface="Arial"/>
                <a:cs typeface="Arial"/>
              </a:rPr>
              <a:t>attention</a:t>
            </a:r>
            <a:r>
              <a:rPr lang="en-GB" sz="2000" b="1" i="1" spc="-50" dirty="0">
                <a:latin typeface="Arial"/>
                <a:cs typeface="Arial"/>
              </a:rPr>
              <a:t> </a:t>
            </a:r>
            <a:r>
              <a:rPr lang="en-GB" sz="2000" dirty="0">
                <a:latin typeface="Arial MT"/>
                <a:cs typeface="Arial MT"/>
              </a:rPr>
              <a:t>lingers</a:t>
            </a:r>
            <a:r>
              <a:rPr lang="en-GB" sz="2000" spc="-45" dirty="0">
                <a:latin typeface="Arial MT"/>
                <a:cs typeface="Arial MT"/>
              </a:rPr>
              <a:t> </a:t>
            </a:r>
            <a:r>
              <a:rPr lang="en-GB" sz="2000" dirty="0">
                <a:latin typeface="Arial MT"/>
                <a:cs typeface="Arial MT"/>
              </a:rPr>
              <a:t>the</a:t>
            </a:r>
            <a:r>
              <a:rPr lang="en-GB" sz="2000" spc="-40" dirty="0">
                <a:latin typeface="Arial MT"/>
                <a:cs typeface="Arial MT"/>
              </a:rPr>
              <a:t> </a:t>
            </a:r>
            <a:r>
              <a:rPr lang="en-GB" sz="2000" spc="-10" dirty="0">
                <a:latin typeface="Arial MT"/>
                <a:cs typeface="Arial MT"/>
              </a:rPr>
              <a:t>longest. </a:t>
            </a:r>
            <a:r>
              <a:rPr lang="en-GB" sz="2000" dirty="0">
                <a:latin typeface="Arial MT"/>
                <a:cs typeface="Arial MT"/>
              </a:rPr>
              <a:t>(Eye</a:t>
            </a:r>
            <a:r>
              <a:rPr lang="en-GB" sz="2000" spc="-45" dirty="0">
                <a:latin typeface="Arial MT"/>
                <a:cs typeface="Arial MT"/>
              </a:rPr>
              <a:t> </a:t>
            </a:r>
            <a:r>
              <a:rPr lang="en-GB" sz="2000" dirty="0">
                <a:latin typeface="Arial MT"/>
                <a:cs typeface="Arial MT"/>
              </a:rPr>
              <a:t>tracking</a:t>
            </a:r>
            <a:r>
              <a:rPr lang="en-GB" sz="2000" spc="-45" dirty="0">
                <a:latin typeface="Arial MT"/>
                <a:cs typeface="Arial MT"/>
              </a:rPr>
              <a:t> </a:t>
            </a:r>
            <a:r>
              <a:rPr lang="en-GB" sz="2000" dirty="0">
                <a:latin typeface="Arial MT"/>
                <a:cs typeface="Arial MT"/>
              </a:rPr>
              <a:t>studies</a:t>
            </a:r>
            <a:r>
              <a:rPr lang="en-GB" sz="2000" spc="-45" dirty="0">
                <a:latin typeface="Arial MT"/>
                <a:cs typeface="Arial MT"/>
              </a:rPr>
              <a:t> </a:t>
            </a:r>
            <a:r>
              <a:rPr lang="en-GB" sz="2000" spc="-20" dirty="0">
                <a:latin typeface="Arial MT"/>
                <a:cs typeface="Arial MT"/>
              </a:rPr>
              <a:t>eye-</a:t>
            </a:r>
            <a:r>
              <a:rPr lang="en-GB" sz="2000" dirty="0">
                <a:latin typeface="Arial MT"/>
                <a:cs typeface="Arial MT"/>
              </a:rPr>
              <a:t>tracking</a:t>
            </a:r>
            <a:r>
              <a:rPr lang="en-GB" sz="2000" spc="-40" dirty="0">
                <a:latin typeface="Arial MT"/>
                <a:cs typeface="Arial MT"/>
              </a:rPr>
              <a:t> </a:t>
            </a:r>
            <a:r>
              <a:rPr lang="en-GB" sz="2000" dirty="0">
                <a:latin typeface="Arial MT"/>
                <a:cs typeface="Arial MT"/>
              </a:rPr>
              <a:t>studies</a:t>
            </a:r>
            <a:r>
              <a:rPr lang="en-GB" sz="2000" spc="-40" dirty="0">
                <a:latin typeface="Arial MT"/>
                <a:cs typeface="Arial MT"/>
              </a:rPr>
              <a:t> </a:t>
            </a:r>
            <a:r>
              <a:rPr lang="en-GB" sz="2000" dirty="0">
                <a:latin typeface="Arial MT"/>
                <a:cs typeface="Arial MT"/>
              </a:rPr>
              <a:t>argue</a:t>
            </a:r>
            <a:r>
              <a:rPr lang="en-GB" sz="2000" spc="-35" dirty="0">
                <a:latin typeface="Arial MT"/>
                <a:cs typeface="Arial MT"/>
              </a:rPr>
              <a:t> </a:t>
            </a:r>
            <a:r>
              <a:rPr lang="en-GB" sz="2000" dirty="0">
                <a:latin typeface="Arial MT"/>
                <a:cs typeface="Arial MT"/>
              </a:rPr>
              <a:t>in</a:t>
            </a:r>
            <a:r>
              <a:rPr lang="en-GB" sz="2000" spc="-35" dirty="0">
                <a:latin typeface="Arial MT"/>
                <a:cs typeface="Arial MT"/>
              </a:rPr>
              <a:t> </a:t>
            </a:r>
            <a:r>
              <a:rPr lang="en-GB" sz="2000" dirty="0">
                <a:latin typeface="Arial MT"/>
                <a:cs typeface="Arial MT"/>
              </a:rPr>
              <a:t>favour</a:t>
            </a:r>
            <a:r>
              <a:rPr lang="en-GB" sz="2000" spc="-35" dirty="0">
                <a:latin typeface="Arial MT"/>
                <a:cs typeface="Arial MT"/>
              </a:rPr>
              <a:t> </a:t>
            </a:r>
            <a:r>
              <a:rPr lang="en-GB" sz="2000" spc="-25" dirty="0">
                <a:latin typeface="Arial MT"/>
                <a:cs typeface="Arial MT"/>
              </a:rPr>
              <a:t>of </a:t>
            </a:r>
            <a:r>
              <a:rPr lang="en-GB" sz="2000" dirty="0">
                <a:latin typeface="Arial MT"/>
                <a:cs typeface="Arial MT"/>
              </a:rPr>
              <a:t>placing</a:t>
            </a:r>
            <a:r>
              <a:rPr lang="en-GB" sz="2000" spc="-35" dirty="0">
                <a:latin typeface="Arial MT"/>
                <a:cs typeface="Arial MT"/>
              </a:rPr>
              <a:t> </a:t>
            </a:r>
            <a:r>
              <a:rPr lang="en-GB" sz="2000" dirty="0">
                <a:latin typeface="Arial MT"/>
                <a:cs typeface="Arial MT"/>
              </a:rPr>
              <a:t>the</a:t>
            </a:r>
            <a:r>
              <a:rPr lang="en-GB" sz="2000" spc="-30" dirty="0">
                <a:latin typeface="Arial MT"/>
                <a:cs typeface="Arial MT"/>
              </a:rPr>
              <a:t> </a:t>
            </a:r>
            <a:r>
              <a:rPr lang="en-GB" sz="2000" dirty="0">
                <a:latin typeface="Arial MT"/>
                <a:cs typeface="Arial MT"/>
              </a:rPr>
              <a:t>most</a:t>
            </a:r>
            <a:r>
              <a:rPr lang="en-GB" sz="2000" spc="-40" dirty="0">
                <a:latin typeface="Arial MT"/>
                <a:cs typeface="Arial MT"/>
              </a:rPr>
              <a:t> </a:t>
            </a:r>
            <a:r>
              <a:rPr lang="en-GB" sz="2000" spc="-10" dirty="0">
                <a:latin typeface="Arial MT"/>
                <a:cs typeface="Arial MT"/>
              </a:rPr>
              <a:t>important </a:t>
            </a:r>
            <a:r>
              <a:rPr lang="en-GB" sz="2000" dirty="0">
                <a:latin typeface="Arial MT"/>
                <a:cs typeface="Arial MT"/>
              </a:rPr>
              <a:t>elements</a:t>
            </a:r>
            <a:r>
              <a:rPr lang="en-GB" sz="2000" spc="-35" dirty="0">
                <a:latin typeface="Arial MT"/>
                <a:cs typeface="Arial MT"/>
              </a:rPr>
              <a:t> </a:t>
            </a:r>
            <a:r>
              <a:rPr lang="en-GB" sz="2000" dirty="0">
                <a:latin typeface="Arial MT"/>
                <a:cs typeface="Arial MT"/>
              </a:rPr>
              <a:t>of</a:t>
            </a:r>
            <a:r>
              <a:rPr lang="en-GB" sz="2000" spc="-40" dirty="0">
                <a:latin typeface="Arial MT"/>
                <a:cs typeface="Arial MT"/>
              </a:rPr>
              <a:t> </a:t>
            </a:r>
            <a:r>
              <a:rPr lang="en-GB" sz="2000" dirty="0">
                <a:latin typeface="Arial MT"/>
                <a:cs typeface="Arial MT"/>
              </a:rPr>
              <a:t>your</a:t>
            </a:r>
            <a:r>
              <a:rPr lang="en-GB" sz="2000" spc="-30" dirty="0">
                <a:latin typeface="Arial MT"/>
                <a:cs typeface="Arial MT"/>
              </a:rPr>
              <a:t> </a:t>
            </a:r>
            <a:r>
              <a:rPr lang="en-GB" sz="2000" dirty="0">
                <a:latin typeface="Arial MT"/>
                <a:cs typeface="Arial MT"/>
              </a:rPr>
              <a:t>site</a:t>
            </a:r>
            <a:r>
              <a:rPr lang="en-GB" sz="2000" spc="-30" dirty="0">
                <a:latin typeface="Arial MT"/>
                <a:cs typeface="Arial MT"/>
              </a:rPr>
              <a:t> </a:t>
            </a:r>
            <a:r>
              <a:rPr lang="en-GB" sz="2000" spc="-10" dirty="0">
                <a:latin typeface="Arial MT"/>
                <a:cs typeface="Arial MT"/>
              </a:rPr>
              <a:t>(branding, </a:t>
            </a:r>
            <a:r>
              <a:rPr lang="en-GB" sz="2000" dirty="0">
                <a:latin typeface="Arial MT"/>
                <a:cs typeface="Arial MT"/>
              </a:rPr>
              <a:t>navigation,</a:t>
            </a:r>
            <a:r>
              <a:rPr lang="en-GB" sz="2000" spc="-45" dirty="0">
                <a:latin typeface="Arial MT"/>
                <a:cs typeface="Arial MT"/>
              </a:rPr>
              <a:t> </a:t>
            </a:r>
            <a:r>
              <a:rPr lang="en-GB" sz="2000" dirty="0">
                <a:latin typeface="Arial MT"/>
                <a:cs typeface="Arial MT"/>
              </a:rPr>
              <a:t>call</a:t>
            </a:r>
            <a:r>
              <a:rPr lang="en-GB" sz="2000" spc="-30" dirty="0">
                <a:latin typeface="Arial MT"/>
                <a:cs typeface="Arial MT"/>
              </a:rPr>
              <a:t> </a:t>
            </a:r>
            <a:r>
              <a:rPr lang="en-GB" sz="2000" dirty="0">
                <a:latin typeface="Arial MT"/>
                <a:cs typeface="Arial MT"/>
              </a:rPr>
              <a:t>to</a:t>
            </a:r>
            <a:r>
              <a:rPr lang="en-GB" sz="2000" spc="-30" dirty="0">
                <a:latin typeface="Arial MT"/>
                <a:cs typeface="Arial MT"/>
              </a:rPr>
              <a:t> </a:t>
            </a:r>
            <a:r>
              <a:rPr lang="en-GB" sz="2000" dirty="0">
                <a:latin typeface="Arial MT"/>
                <a:cs typeface="Arial MT"/>
              </a:rPr>
              <a:t>action)</a:t>
            </a:r>
            <a:r>
              <a:rPr lang="en-GB" sz="2000" spc="-30" dirty="0">
                <a:latin typeface="Arial MT"/>
                <a:cs typeface="Arial MT"/>
              </a:rPr>
              <a:t> </a:t>
            </a:r>
            <a:r>
              <a:rPr lang="en-GB" sz="2000" dirty="0">
                <a:latin typeface="Arial MT"/>
                <a:cs typeface="Arial MT"/>
              </a:rPr>
              <a:t>on</a:t>
            </a:r>
            <a:r>
              <a:rPr lang="en-GB" sz="2000" spc="-30" dirty="0">
                <a:latin typeface="Arial MT"/>
                <a:cs typeface="Arial MT"/>
              </a:rPr>
              <a:t> </a:t>
            </a:r>
            <a:r>
              <a:rPr lang="en-GB" sz="2000" spc="-25" dirty="0">
                <a:latin typeface="Arial MT"/>
                <a:cs typeface="Arial MT"/>
              </a:rPr>
              <a:t>the </a:t>
            </a:r>
            <a:r>
              <a:rPr lang="en-GB" sz="2000" dirty="0">
                <a:latin typeface="Arial MT"/>
                <a:cs typeface="Arial MT"/>
              </a:rPr>
              <a:t>left</a:t>
            </a:r>
            <a:r>
              <a:rPr lang="en-GB" sz="2000" spc="-30" dirty="0">
                <a:latin typeface="Arial MT"/>
                <a:cs typeface="Arial MT"/>
              </a:rPr>
              <a:t> </a:t>
            </a:r>
            <a:r>
              <a:rPr lang="en-GB" sz="2000" dirty="0">
                <a:latin typeface="Arial MT"/>
                <a:cs typeface="Arial MT"/>
              </a:rPr>
              <a:t>side</a:t>
            </a:r>
            <a:r>
              <a:rPr lang="en-GB" sz="2000" spc="-20" dirty="0">
                <a:latin typeface="Arial MT"/>
                <a:cs typeface="Arial MT"/>
              </a:rPr>
              <a:t> </a:t>
            </a:r>
            <a:r>
              <a:rPr lang="en-GB" sz="2000" dirty="0">
                <a:latin typeface="Arial MT"/>
                <a:cs typeface="Arial MT"/>
              </a:rPr>
              <a:t>of</a:t>
            </a:r>
            <a:r>
              <a:rPr lang="en-GB" sz="2000" spc="-30" dirty="0">
                <a:latin typeface="Arial MT"/>
                <a:cs typeface="Arial MT"/>
              </a:rPr>
              <a:t> </a:t>
            </a:r>
            <a:r>
              <a:rPr lang="en-GB" sz="2000" dirty="0">
                <a:latin typeface="Arial MT"/>
                <a:cs typeface="Arial MT"/>
              </a:rPr>
              <a:t>the</a:t>
            </a:r>
            <a:r>
              <a:rPr lang="en-GB" sz="2000" spc="-20" dirty="0">
                <a:latin typeface="Arial MT"/>
                <a:cs typeface="Arial MT"/>
              </a:rPr>
              <a:t> </a:t>
            </a:r>
            <a:r>
              <a:rPr lang="en-GB" sz="2000" spc="-10" dirty="0">
                <a:latin typeface="Arial MT"/>
                <a:cs typeface="Arial MT"/>
              </a:rPr>
              <a:t>design.</a:t>
            </a:r>
            <a:endParaRPr lang="en-GB" sz="2000" dirty="0">
              <a:latin typeface="Arial MT"/>
              <a:cs typeface="Arial MT"/>
            </a:endParaRPr>
          </a:p>
          <a:p>
            <a:pPr marL="12700" algn="just">
              <a:spcBef>
                <a:spcPts val="100"/>
              </a:spcBef>
              <a:tabLst>
                <a:tab pos="238760" algn="l"/>
              </a:tabLst>
            </a:pPr>
            <a:endParaRPr sz="2000" dirty="0">
              <a:latin typeface="Arial MT"/>
              <a:cs typeface="Arial MT"/>
            </a:endParaRPr>
          </a:p>
        </p:txBody>
      </p:sp>
      <p:pic>
        <p:nvPicPr>
          <p:cNvPr id="5" name="Picture 4" descr="Example of F pattern">
            <a:extLst>
              <a:ext uri="{FF2B5EF4-FFF2-40B4-BE49-F238E27FC236}">
                <a16:creationId xmlns:a16="http://schemas.microsoft.com/office/drawing/2014/main" id="{83B99716-CE79-F595-92CD-6472A945F0ED}"/>
              </a:ext>
            </a:extLst>
          </p:cNvPr>
          <p:cNvPicPr>
            <a:picLocks noChangeAspect="1"/>
          </p:cNvPicPr>
          <p:nvPr/>
        </p:nvPicPr>
        <p:blipFill>
          <a:blip r:embed="rId2"/>
          <a:stretch>
            <a:fillRect/>
          </a:stretch>
        </p:blipFill>
        <p:spPr>
          <a:xfrm>
            <a:off x="4788025" y="1905000"/>
            <a:ext cx="3767655" cy="4114800"/>
          </a:xfrm>
          <a:prstGeom prst="rect">
            <a:avLst/>
          </a:prstGeom>
        </p:spPr>
      </p:pic>
    </p:spTree>
    <p:extLst>
      <p:ext uri="{BB962C8B-B14F-4D97-AF65-F5344CB8AC3E}">
        <p14:creationId xmlns:p14="http://schemas.microsoft.com/office/powerpoint/2010/main" val="30667967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Example of F Pattern"/>
          <p:cNvSpPr txBox="1">
            <a:spLocks noGrp="1"/>
          </p:cNvSpPr>
          <p:nvPr>
            <p:ph type="title"/>
          </p:nvPr>
        </p:nvSpPr>
        <p:spPr>
          <a:xfrm>
            <a:off x="533400" y="514732"/>
            <a:ext cx="5257800" cy="551433"/>
          </a:xfrm>
          <a:prstGeom prst="rect">
            <a:avLst/>
          </a:prstGeom>
        </p:spPr>
        <p:txBody>
          <a:bodyPr vert="horz" wrap="square" lIns="0" tIns="12700" rIns="0" bIns="0" rtlCol="0">
            <a:spAutoFit/>
          </a:bodyPr>
          <a:lstStyle/>
          <a:p>
            <a:pPr marL="12700">
              <a:lnSpc>
                <a:spcPct val="100000"/>
              </a:lnSpc>
              <a:spcBef>
                <a:spcPts val="100"/>
              </a:spcBef>
            </a:pPr>
            <a:r>
              <a:rPr lang="en-GB" spc="-10" dirty="0"/>
              <a:t>Organisation F Pattern</a:t>
            </a:r>
            <a:endParaRPr spc="-10" dirty="0"/>
          </a:p>
        </p:txBody>
      </p:sp>
      <p:sp>
        <p:nvSpPr>
          <p:cNvPr id="3" name="object 3"/>
          <p:cNvSpPr txBox="1"/>
          <p:nvPr/>
        </p:nvSpPr>
        <p:spPr>
          <a:xfrm>
            <a:off x="477187" y="2667000"/>
            <a:ext cx="3479295" cy="3549690"/>
          </a:xfrm>
          <a:prstGeom prst="rect">
            <a:avLst/>
          </a:prstGeom>
        </p:spPr>
        <p:txBody>
          <a:bodyPr vert="horz" wrap="square" lIns="0" tIns="12700" rIns="0" bIns="0" rtlCol="0">
            <a:spAutoFit/>
          </a:bodyPr>
          <a:lstStyle/>
          <a:p>
            <a:pPr marL="12700" marR="5080" indent="227965">
              <a:spcBef>
                <a:spcPts val="665"/>
              </a:spcBef>
              <a:buChar char="•"/>
              <a:tabLst>
                <a:tab pos="240665" algn="l"/>
              </a:tabLst>
            </a:pPr>
            <a:r>
              <a:rPr lang="en-GB" sz="1600" dirty="0">
                <a:latin typeface="Arial MT"/>
                <a:cs typeface="Arial MT"/>
              </a:rPr>
              <a:t>The top row of content is now fulfilling its duty to “orient” the visitor; If your navigation is here, they also know where they can go. Below the top row, we’re using images and “catchy” headlines to grab a surfer’s attention… even if they are only interested in scanning the content, there’s a good chance they’ll be able to find something of interest.</a:t>
            </a:r>
          </a:p>
          <a:p>
            <a:pPr marL="12700" marR="5080" indent="227965">
              <a:spcBef>
                <a:spcPts val="665"/>
              </a:spcBef>
              <a:buChar char="•"/>
              <a:tabLst>
                <a:tab pos="240665" algn="l"/>
              </a:tabLst>
            </a:pPr>
            <a:r>
              <a:rPr lang="en-GB" sz="1600" dirty="0">
                <a:latin typeface="Arial MT"/>
                <a:cs typeface="Arial MT"/>
              </a:rPr>
              <a:t>We’re also trying to capitalise on the second-row of the “F” by placing an advertisement or “call to action” here.</a:t>
            </a:r>
          </a:p>
        </p:txBody>
      </p:sp>
      <p:pic>
        <p:nvPicPr>
          <p:cNvPr id="4" name="object 4" descr="Example of F Pattern">
            <a:extLst>
              <a:ext uri="{FF2B5EF4-FFF2-40B4-BE49-F238E27FC236}">
                <a16:creationId xmlns:a16="http://schemas.microsoft.com/office/drawing/2014/main" id="{A4A913E9-8055-BEEA-4C11-694418DDDAE5}"/>
              </a:ext>
            </a:extLst>
          </p:cNvPr>
          <p:cNvPicPr/>
          <p:nvPr/>
        </p:nvPicPr>
        <p:blipFill>
          <a:blip r:embed="rId2" cstate="print"/>
          <a:stretch>
            <a:fillRect/>
          </a:stretch>
        </p:blipFill>
        <p:spPr>
          <a:xfrm>
            <a:off x="3951303" y="2684755"/>
            <a:ext cx="5004775" cy="3429000"/>
          </a:xfrm>
          <a:prstGeom prst="rect">
            <a:avLst/>
          </a:prstGeom>
        </p:spPr>
      </p:pic>
      <p:sp>
        <p:nvSpPr>
          <p:cNvPr id="7" name="object 3">
            <a:extLst>
              <a:ext uri="{FF2B5EF4-FFF2-40B4-BE49-F238E27FC236}">
                <a16:creationId xmlns:a16="http://schemas.microsoft.com/office/drawing/2014/main" id="{0F1FF128-8E88-58D3-5541-2A80F9DFA5C1}"/>
              </a:ext>
            </a:extLst>
          </p:cNvPr>
          <p:cNvSpPr txBox="1"/>
          <p:nvPr/>
        </p:nvSpPr>
        <p:spPr>
          <a:xfrm>
            <a:off x="469049" y="1981200"/>
            <a:ext cx="7912951" cy="259045"/>
          </a:xfrm>
          <a:prstGeom prst="rect">
            <a:avLst/>
          </a:prstGeom>
        </p:spPr>
        <p:txBody>
          <a:bodyPr vert="horz" wrap="square" lIns="0" tIns="12700" rIns="0" bIns="0" rtlCol="0">
            <a:spAutoFit/>
          </a:bodyPr>
          <a:lstStyle/>
          <a:p>
            <a:pPr marL="12700" marR="5080">
              <a:spcBef>
                <a:spcPts val="665"/>
              </a:spcBef>
              <a:tabLst>
                <a:tab pos="240665" algn="l"/>
              </a:tabLst>
            </a:pPr>
            <a:r>
              <a:rPr lang="en-GB" sz="1600" dirty="0">
                <a:latin typeface="Arial MT"/>
                <a:cs typeface="Arial MT"/>
              </a:rPr>
              <a:t>You’ll notice that the main intent of the site is now communicated within a few seconds.</a:t>
            </a:r>
          </a:p>
        </p:txBody>
      </p:sp>
    </p:spTree>
    <p:extLst>
      <p:ext uri="{BB962C8B-B14F-4D97-AF65-F5344CB8AC3E}">
        <p14:creationId xmlns:p14="http://schemas.microsoft.com/office/powerpoint/2010/main" val="29242949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514732"/>
            <a:ext cx="5257800" cy="551433"/>
          </a:xfrm>
          <a:prstGeom prst="rect">
            <a:avLst/>
          </a:prstGeom>
        </p:spPr>
        <p:txBody>
          <a:bodyPr vert="horz" wrap="square" lIns="0" tIns="12700" rIns="0" bIns="0" rtlCol="0">
            <a:spAutoFit/>
          </a:bodyPr>
          <a:lstStyle/>
          <a:p>
            <a:pPr marL="12700">
              <a:lnSpc>
                <a:spcPct val="100000"/>
              </a:lnSpc>
              <a:spcBef>
                <a:spcPts val="100"/>
              </a:spcBef>
            </a:pPr>
            <a:r>
              <a:rPr lang="en-GB" spc="-10" dirty="0"/>
              <a:t>Organisation F Pattern</a:t>
            </a:r>
            <a:endParaRPr spc="-10" dirty="0"/>
          </a:p>
        </p:txBody>
      </p:sp>
      <p:sp>
        <p:nvSpPr>
          <p:cNvPr id="3" name="object 3"/>
          <p:cNvSpPr txBox="1"/>
          <p:nvPr/>
        </p:nvSpPr>
        <p:spPr>
          <a:xfrm>
            <a:off x="533400" y="1905000"/>
            <a:ext cx="8077200" cy="4724370"/>
          </a:xfrm>
          <a:prstGeom prst="rect">
            <a:avLst/>
          </a:prstGeom>
        </p:spPr>
        <p:txBody>
          <a:bodyPr vert="horz" wrap="square" lIns="0" tIns="12700" rIns="0" bIns="0" rtlCol="0">
            <a:spAutoFit/>
          </a:bodyPr>
          <a:lstStyle/>
          <a:p>
            <a:pPr marL="240665" indent="-227965">
              <a:spcBef>
                <a:spcPts val="555"/>
              </a:spcBef>
              <a:buFont typeface="Arial MT"/>
              <a:buChar char="•"/>
              <a:tabLst>
                <a:tab pos="240665" algn="l"/>
              </a:tabLst>
            </a:pPr>
            <a:r>
              <a:rPr lang="en-GB" b="1" dirty="0">
                <a:latin typeface="Arial"/>
                <a:cs typeface="Arial"/>
              </a:rPr>
              <a:t>Why</a:t>
            </a:r>
            <a:r>
              <a:rPr lang="en-GB" b="1" spc="-10" dirty="0">
                <a:latin typeface="Arial"/>
                <a:cs typeface="Arial"/>
              </a:rPr>
              <a:t> </a:t>
            </a:r>
            <a:r>
              <a:rPr lang="en-GB" b="1" dirty="0">
                <a:latin typeface="Arial"/>
                <a:cs typeface="Arial"/>
              </a:rPr>
              <a:t>it</a:t>
            </a:r>
            <a:r>
              <a:rPr lang="en-GB" b="1" spc="-15" dirty="0">
                <a:latin typeface="Arial"/>
                <a:cs typeface="Arial"/>
              </a:rPr>
              <a:t> </a:t>
            </a:r>
            <a:r>
              <a:rPr lang="en-GB" b="1" spc="-20" dirty="0">
                <a:latin typeface="Arial"/>
                <a:cs typeface="Arial"/>
              </a:rPr>
              <a:t>Works</a:t>
            </a:r>
          </a:p>
          <a:p>
            <a:pPr marL="240665" indent="-227965">
              <a:spcBef>
                <a:spcPts val="555"/>
              </a:spcBef>
              <a:buFont typeface="Arial MT"/>
              <a:buChar char="•"/>
              <a:tabLst>
                <a:tab pos="240665" algn="l"/>
              </a:tabLst>
            </a:pPr>
            <a:endParaRPr lang="en-GB" b="1" spc="-20" dirty="0">
              <a:latin typeface="Arial"/>
              <a:cs typeface="Arial"/>
            </a:endParaRPr>
          </a:p>
          <a:p>
            <a:pPr marL="240665" indent="-227965">
              <a:spcBef>
                <a:spcPts val="555"/>
              </a:spcBef>
              <a:buFont typeface="Arial MT"/>
              <a:buChar char="•"/>
              <a:tabLst>
                <a:tab pos="240665" algn="l"/>
              </a:tabLst>
            </a:pPr>
            <a:r>
              <a:rPr lang="en-GB" dirty="0">
                <a:latin typeface="Arial MT"/>
                <a:cs typeface="Arial MT"/>
              </a:rPr>
              <a:t>The</a:t>
            </a:r>
            <a:r>
              <a:rPr lang="en-GB" spc="-30" dirty="0">
                <a:latin typeface="Arial MT"/>
                <a:cs typeface="Arial MT"/>
              </a:rPr>
              <a:t> </a:t>
            </a:r>
            <a:r>
              <a:rPr lang="en-GB" spc="-10" dirty="0">
                <a:latin typeface="Arial MT"/>
                <a:cs typeface="Arial MT"/>
              </a:rPr>
              <a:t>F-</a:t>
            </a:r>
            <a:r>
              <a:rPr lang="en-GB" dirty="0">
                <a:latin typeface="Arial MT"/>
                <a:cs typeface="Arial MT"/>
              </a:rPr>
              <a:t>Layout</a:t>
            </a:r>
            <a:r>
              <a:rPr lang="en-GB" spc="-25" dirty="0">
                <a:latin typeface="Arial MT"/>
                <a:cs typeface="Arial MT"/>
              </a:rPr>
              <a:t> </a:t>
            </a:r>
            <a:r>
              <a:rPr lang="en-GB" dirty="0">
                <a:latin typeface="Arial MT"/>
                <a:cs typeface="Arial MT"/>
              </a:rPr>
              <a:t>works</a:t>
            </a:r>
            <a:r>
              <a:rPr lang="en-GB" spc="-30" dirty="0">
                <a:latin typeface="Arial MT"/>
                <a:cs typeface="Arial MT"/>
              </a:rPr>
              <a:t> </a:t>
            </a:r>
            <a:r>
              <a:rPr lang="en-GB" dirty="0">
                <a:latin typeface="Arial MT"/>
                <a:cs typeface="Arial MT"/>
              </a:rPr>
              <a:t>because</a:t>
            </a:r>
            <a:r>
              <a:rPr lang="en-GB" spc="-30" dirty="0">
                <a:latin typeface="Arial MT"/>
                <a:cs typeface="Arial MT"/>
              </a:rPr>
              <a:t> </a:t>
            </a:r>
            <a:r>
              <a:rPr lang="en-GB" dirty="0">
                <a:latin typeface="Arial MT"/>
                <a:cs typeface="Arial MT"/>
              </a:rPr>
              <a:t>it</a:t>
            </a:r>
            <a:r>
              <a:rPr lang="en-GB" spc="-25" dirty="0">
                <a:latin typeface="Arial MT"/>
                <a:cs typeface="Arial MT"/>
              </a:rPr>
              <a:t> </a:t>
            </a:r>
            <a:r>
              <a:rPr lang="en-GB" dirty="0">
                <a:latin typeface="Arial MT"/>
                <a:cs typeface="Arial MT"/>
              </a:rPr>
              <a:t>allows</a:t>
            </a:r>
            <a:r>
              <a:rPr lang="en-GB" spc="-30" dirty="0">
                <a:latin typeface="Arial MT"/>
                <a:cs typeface="Arial MT"/>
              </a:rPr>
              <a:t> </a:t>
            </a:r>
            <a:r>
              <a:rPr lang="en-GB" spc="-10" dirty="0">
                <a:latin typeface="Arial MT"/>
                <a:cs typeface="Arial MT"/>
              </a:rPr>
              <a:t>web-</a:t>
            </a:r>
            <a:r>
              <a:rPr lang="en-GB" dirty="0">
                <a:latin typeface="Arial MT"/>
                <a:cs typeface="Arial MT"/>
              </a:rPr>
              <a:t>surfers</a:t>
            </a:r>
            <a:r>
              <a:rPr lang="en-GB" spc="-30" dirty="0">
                <a:latin typeface="Arial MT"/>
                <a:cs typeface="Arial MT"/>
              </a:rPr>
              <a:t> </a:t>
            </a:r>
            <a:r>
              <a:rPr lang="en-GB" dirty="0">
                <a:latin typeface="Arial MT"/>
                <a:cs typeface="Arial MT"/>
              </a:rPr>
              <a:t>to</a:t>
            </a:r>
            <a:r>
              <a:rPr lang="en-GB" spc="-30" dirty="0">
                <a:latin typeface="Arial MT"/>
                <a:cs typeface="Arial MT"/>
              </a:rPr>
              <a:t> </a:t>
            </a:r>
            <a:r>
              <a:rPr lang="en-GB" b="1" i="1" dirty="0">
                <a:latin typeface="Arial"/>
                <a:cs typeface="Arial"/>
              </a:rPr>
              <a:t>scan</a:t>
            </a:r>
            <a:r>
              <a:rPr lang="en-GB" b="1" i="1" spc="-30" dirty="0">
                <a:latin typeface="Arial"/>
                <a:cs typeface="Arial"/>
              </a:rPr>
              <a:t> </a:t>
            </a:r>
            <a:r>
              <a:rPr lang="en-GB" b="1" i="1" spc="-10" dirty="0">
                <a:latin typeface="Arial"/>
                <a:cs typeface="Arial"/>
              </a:rPr>
              <a:t>content </a:t>
            </a:r>
            <a:r>
              <a:rPr lang="en-GB" b="1" i="1" dirty="0">
                <a:latin typeface="Arial"/>
                <a:cs typeface="Arial"/>
              </a:rPr>
              <a:t>naturally</a:t>
            </a:r>
            <a:r>
              <a:rPr lang="en-GB" dirty="0">
                <a:latin typeface="Arial MT"/>
                <a:cs typeface="Arial MT"/>
              </a:rPr>
              <a:t>.</a:t>
            </a:r>
            <a:r>
              <a:rPr lang="en-GB" spc="-80" dirty="0">
                <a:latin typeface="Arial MT"/>
                <a:cs typeface="Arial MT"/>
              </a:rPr>
              <a:t> </a:t>
            </a:r>
            <a:r>
              <a:rPr lang="en-GB" dirty="0">
                <a:latin typeface="Arial MT"/>
                <a:cs typeface="Arial MT"/>
              </a:rPr>
              <a:t>The</a:t>
            </a:r>
            <a:r>
              <a:rPr lang="en-GB" spc="-50" dirty="0">
                <a:latin typeface="Arial MT"/>
                <a:cs typeface="Arial MT"/>
              </a:rPr>
              <a:t> </a:t>
            </a:r>
            <a:r>
              <a:rPr lang="en-GB" dirty="0">
                <a:latin typeface="Arial MT"/>
                <a:cs typeface="Arial MT"/>
              </a:rPr>
              <a:t>layout</a:t>
            </a:r>
            <a:r>
              <a:rPr lang="en-GB" spc="-45" dirty="0">
                <a:latin typeface="Arial MT"/>
                <a:cs typeface="Arial MT"/>
              </a:rPr>
              <a:t> </a:t>
            </a:r>
            <a:r>
              <a:rPr lang="en-GB" dirty="0">
                <a:latin typeface="Arial MT"/>
                <a:cs typeface="Arial MT"/>
              </a:rPr>
              <a:t>feels</a:t>
            </a:r>
            <a:r>
              <a:rPr lang="en-GB" spc="-55" dirty="0">
                <a:latin typeface="Arial MT"/>
                <a:cs typeface="Arial MT"/>
              </a:rPr>
              <a:t> </a:t>
            </a:r>
            <a:r>
              <a:rPr lang="en-GB" dirty="0">
                <a:latin typeface="Arial MT"/>
                <a:cs typeface="Arial MT"/>
              </a:rPr>
              <a:t>comfortable</a:t>
            </a:r>
            <a:r>
              <a:rPr lang="en-GB" spc="-45" dirty="0">
                <a:latin typeface="Arial MT"/>
                <a:cs typeface="Arial MT"/>
              </a:rPr>
              <a:t> </a:t>
            </a:r>
            <a:r>
              <a:rPr lang="en-GB" dirty="0">
                <a:latin typeface="Arial MT"/>
                <a:cs typeface="Arial MT"/>
              </a:rPr>
              <a:t>because</a:t>
            </a:r>
            <a:r>
              <a:rPr lang="en-GB" spc="-50" dirty="0">
                <a:latin typeface="Arial MT"/>
                <a:cs typeface="Arial MT"/>
              </a:rPr>
              <a:t> </a:t>
            </a:r>
            <a:r>
              <a:rPr lang="en-GB" dirty="0">
                <a:latin typeface="Arial MT"/>
                <a:cs typeface="Arial MT"/>
              </a:rPr>
              <a:t>people</a:t>
            </a:r>
            <a:r>
              <a:rPr lang="en-GB" spc="-45" dirty="0">
                <a:latin typeface="Arial MT"/>
                <a:cs typeface="Arial MT"/>
              </a:rPr>
              <a:t> </a:t>
            </a:r>
            <a:r>
              <a:rPr lang="en-GB" dirty="0">
                <a:latin typeface="Arial MT"/>
                <a:cs typeface="Arial MT"/>
              </a:rPr>
              <a:t>have</a:t>
            </a:r>
            <a:r>
              <a:rPr lang="en-GB" spc="-50" dirty="0">
                <a:latin typeface="Arial MT"/>
                <a:cs typeface="Arial MT"/>
              </a:rPr>
              <a:t> </a:t>
            </a:r>
            <a:r>
              <a:rPr lang="en-GB" spc="-20" dirty="0">
                <a:latin typeface="Arial MT"/>
                <a:cs typeface="Arial MT"/>
              </a:rPr>
              <a:t>been </a:t>
            </a:r>
            <a:r>
              <a:rPr lang="en-GB" dirty="0">
                <a:latin typeface="Arial MT"/>
                <a:cs typeface="Arial MT"/>
              </a:rPr>
              <a:t>reading</a:t>
            </a:r>
            <a:r>
              <a:rPr lang="en-GB" spc="-30" dirty="0">
                <a:latin typeface="Arial MT"/>
                <a:cs typeface="Arial MT"/>
              </a:rPr>
              <a:t> </a:t>
            </a:r>
            <a:r>
              <a:rPr lang="en-GB" dirty="0">
                <a:latin typeface="Arial MT"/>
                <a:cs typeface="Arial MT"/>
              </a:rPr>
              <a:t>top</a:t>
            </a:r>
            <a:r>
              <a:rPr lang="en-GB" spc="-25" dirty="0">
                <a:latin typeface="Arial MT"/>
                <a:cs typeface="Arial MT"/>
              </a:rPr>
              <a:t> </a:t>
            </a:r>
            <a:r>
              <a:rPr lang="en-GB" dirty="0">
                <a:latin typeface="Arial MT"/>
                <a:cs typeface="Arial MT"/>
              </a:rPr>
              <a:t>to</a:t>
            </a:r>
            <a:r>
              <a:rPr lang="en-GB" spc="-25" dirty="0">
                <a:latin typeface="Arial MT"/>
                <a:cs typeface="Arial MT"/>
              </a:rPr>
              <a:t> </a:t>
            </a:r>
            <a:r>
              <a:rPr lang="en-GB" dirty="0">
                <a:latin typeface="Arial MT"/>
                <a:cs typeface="Arial MT"/>
              </a:rPr>
              <a:t>bottom,</a:t>
            </a:r>
            <a:r>
              <a:rPr lang="en-GB" spc="-25" dirty="0">
                <a:latin typeface="Arial MT"/>
                <a:cs typeface="Arial MT"/>
              </a:rPr>
              <a:t> </a:t>
            </a:r>
            <a:r>
              <a:rPr lang="en-GB" dirty="0">
                <a:latin typeface="Arial MT"/>
                <a:cs typeface="Arial MT"/>
              </a:rPr>
              <a:t>left</a:t>
            </a:r>
            <a:r>
              <a:rPr lang="en-GB" spc="-25" dirty="0">
                <a:latin typeface="Arial MT"/>
                <a:cs typeface="Arial MT"/>
              </a:rPr>
              <a:t> </a:t>
            </a:r>
            <a:r>
              <a:rPr lang="en-GB" dirty="0">
                <a:latin typeface="Arial MT"/>
                <a:cs typeface="Arial MT"/>
              </a:rPr>
              <a:t>to</a:t>
            </a:r>
            <a:r>
              <a:rPr lang="en-GB" spc="-25" dirty="0">
                <a:latin typeface="Arial MT"/>
                <a:cs typeface="Arial MT"/>
              </a:rPr>
              <a:t> </a:t>
            </a:r>
            <a:r>
              <a:rPr lang="en-GB" dirty="0">
                <a:latin typeface="Arial MT"/>
                <a:cs typeface="Arial MT"/>
              </a:rPr>
              <a:t>right</a:t>
            </a:r>
            <a:r>
              <a:rPr lang="en-GB" spc="-25" dirty="0">
                <a:latin typeface="Arial MT"/>
                <a:cs typeface="Arial MT"/>
              </a:rPr>
              <a:t> </a:t>
            </a:r>
            <a:r>
              <a:rPr lang="en-GB" dirty="0">
                <a:latin typeface="Arial MT"/>
                <a:cs typeface="Arial MT"/>
              </a:rPr>
              <a:t>for</a:t>
            </a:r>
            <a:r>
              <a:rPr lang="en-GB" spc="-35" dirty="0">
                <a:latin typeface="Arial MT"/>
                <a:cs typeface="Arial MT"/>
              </a:rPr>
              <a:t> </a:t>
            </a:r>
            <a:r>
              <a:rPr lang="en-GB" dirty="0">
                <a:latin typeface="Arial MT"/>
                <a:cs typeface="Arial MT"/>
              </a:rPr>
              <a:t>their</a:t>
            </a:r>
            <a:r>
              <a:rPr lang="en-GB" spc="-35" dirty="0">
                <a:latin typeface="Arial MT"/>
                <a:cs typeface="Arial MT"/>
              </a:rPr>
              <a:t> </a:t>
            </a:r>
            <a:r>
              <a:rPr lang="en-GB" dirty="0">
                <a:latin typeface="Arial MT"/>
                <a:cs typeface="Arial MT"/>
              </a:rPr>
              <a:t>entire</a:t>
            </a:r>
            <a:r>
              <a:rPr lang="en-GB" spc="-25" dirty="0">
                <a:latin typeface="Arial MT"/>
                <a:cs typeface="Arial MT"/>
              </a:rPr>
              <a:t> </a:t>
            </a:r>
            <a:r>
              <a:rPr lang="en-GB" spc="-10" dirty="0">
                <a:latin typeface="Arial MT"/>
                <a:cs typeface="Arial MT"/>
              </a:rPr>
              <a:t>lives.</a:t>
            </a:r>
          </a:p>
          <a:p>
            <a:pPr marL="240665" indent="-227965">
              <a:spcBef>
                <a:spcPts val="555"/>
              </a:spcBef>
              <a:buFont typeface="Arial MT"/>
              <a:buChar char="•"/>
              <a:tabLst>
                <a:tab pos="240665" algn="l"/>
              </a:tabLst>
            </a:pPr>
            <a:endParaRPr lang="en-GB" dirty="0">
              <a:latin typeface="Arial MT"/>
              <a:cs typeface="Arial MT"/>
            </a:endParaRPr>
          </a:p>
          <a:p>
            <a:pPr marL="869315" lvl="2" indent="-285750">
              <a:spcBef>
                <a:spcPts val="365"/>
              </a:spcBef>
              <a:buFont typeface="Arial" panose="020B0604020202020204" pitchFamily="34" charset="0"/>
              <a:buChar char="•"/>
              <a:tabLst>
                <a:tab pos="868680" algn="l"/>
              </a:tabLst>
            </a:pPr>
            <a:r>
              <a:rPr lang="en-GB" dirty="0">
                <a:latin typeface="Arial MT"/>
                <a:cs typeface="Arial MT"/>
              </a:rPr>
              <a:t>If</a:t>
            </a:r>
            <a:r>
              <a:rPr lang="en-GB" spc="-10" dirty="0">
                <a:latin typeface="Arial MT"/>
                <a:cs typeface="Arial MT"/>
              </a:rPr>
              <a:t> </a:t>
            </a:r>
            <a:r>
              <a:rPr lang="en-GB" dirty="0">
                <a:latin typeface="Arial MT"/>
                <a:cs typeface="Arial MT"/>
              </a:rPr>
              <a:t>you</a:t>
            </a:r>
            <a:r>
              <a:rPr lang="en-GB" spc="-15" dirty="0">
                <a:latin typeface="Arial MT"/>
                <a:cs typeface="Arial MT"/>
              </a:rPr>
              <a:t> </a:t>
            </a:r>
            <a:r>
              <a:rPr lang="en-GB" b="1" i="1" dirty="0">
                <a:latin typeface="Arial"/>
                <a:cs typeface="Arial"/>
              </a:rPr>
              <a:t>need</a:t>
            </a:r>
            <a:r>
              <a:rPr lang="en-GB" b="1" i="1" spc="-20" dirty="0">
                <a:latin typeface="Arial"/>
                <a:cs typeface="Arial"/>
              </a:rPr>
              <a:t> </a:t>
            </a:r>
            <a:r>
              <a:rPr lang="en-GB" b="1" i="1" dirty="0">
                <a:latin typeface="Arial"/>
                <a:cs typeface="Arial"/>
              </a:rPr>
              <a:t>to</a:t>
            </a:r>
            <a:r>
              <a:rPr lang="en-GB" b="1" i="1" spc="-15" dirty="0">
                <a:latin typeface="Arial"/>
                <a:cs typeface="Arial"/>
              </a:rPr>
              <a:t> </a:t>
            </a:r>
            <a:r>
              <a:rPr lang="en-GB" b="1" i="1" dirty="0">
                <a:latin typeface="Arial"/>
                <a:cs typeface="Arial"/>
              </a:rPr>
              <a:t>say</a:t>
            </a:r>
            <a:r>
              <a:rPr lang="en-GB" b="1" i="1" spc="-15" dirty="0">
                <a:latin typeface="Arial"/>
                <a:cs typeface="Arial"/>
              </a:rPr>
              <a:t> </a:t>
            </a:r>
            <a:r>
              <a:rPr lang="en-GB" b="1" i="1" dirty="0">
                <a:latin typeface="Arial"/>
                <a:cs typeface="Arial"/>
              </a:rPr>
              <a:t>something</a:t>
            </a:r>
            <a:r>
              <a:rPr lang="en-GB" dirty="0">
                <a:latin typeface="Arial MT"/>
                <a:cs typeface="Arial MT"/>
              </a:rPr>
              <a:t>,</a:t>
            </a:r>
            <a:r>
              <a:rPr lang="en-GB" spc="-10" dirty="0">
                <a:latin typeface="Arial MT"/>
                <a:cs typeface="Arial MT"/>
              </a:rPr>
              <a:t> </a:t>
            </a:r>
            <a:r>
              <a:rPr lang="en-GB" dirty="0">
                <a:latin typeface="Arial MT"/>
                <a:cs typeface="Arial MT"/>
              </a:rPr>
              <a:t>you</a:t>
            </a:r>
            <a:r>
              <a:rPr lang="en-GB" spc="-15" dirty="0">
                <a:latin typeface="Arial MT"/>
                <a:cs typeface="Arial MT"/>
              </a:rPr>
              <a:t> </a:t>
            </a:r>
            <a:r>
              <a:rPr lang="en-GB" dirty="0">
                <a:latin typeface="Arial MT"/>
                <a:cs typeface="Arial MT"/>
              </a:rPr>
              <a:t>absolutely</a:t>
            </a:r>
            <a:r>
              <a:rPr lang="en-GB" spc="-10" dirty="0">
                <a:latin typeface="Arial MT"/>
                <a:cs typeface="Arial MT"/>
              </a:rPr>
              <a:t> </a:t>
            </a:r>
            <a:r>
              <a:rPr lang="en-GB" b="1" i="1" dirty="0">
                <a:latin typeface="Arial"/>
                <a:cs typeface="Arial"/>
              </a:rPr>
              <a:t>must</a:t>
            </a:r>
            <a:r>
              <a:rPr lang="en-GB" b="1" i="1" spc="-10" dirty="0">
                <a:latin typeface="Arial"/>
                <a:cs typeface="Arial"/>
              </a:rPr>
              <a:t> </a:t>
            </a:r>
            <a:r>
              <a:rPr lang="en-GB" b="1" i="1" dirty="0">
                <a:latin typeface="Arial"/>
                <a:cs typeface="Arial"/>
              </a:rPr>
              <a:t>say</a:t>
            </a:r>
            <a:r>
              <a:rPr lang="en-GB" b="1" i="1" spc="-15" dirty="0">
                <a:latin typeface="Arial"/>
                <a:cs typeface="Arial"/>
              </a:rPr>
              <a:t> </a:t>
            </a:r>
            <a:r>
              <a:rPr lang="en-GB" b="1" i="1" dirty="0">
                <a:latin typeface="Arial"/>
                <a:cs typeface="Arial"/>
              </a:rPr>
              <a:t>it</a:t>
            </a:r>
            <a:r>
              <a:rPr lang="en-GB" b="1" i="1" spc="-5" dirty="0">
                <a:latin typeface="Arial"/>
                <a:cs typeface="Arial"/>
              </a:rPr>
              <a:t> </a:t>
            </a:r>
            <a:r>
              <a:rPr lang="en-GB" b="1" i="1" dirty="0">
                <a:latin typeface="Arial"/>
                <a:cs typeface="Arial"/>
              </a:rPr>
              <a:t>at</a:t>
            </a:r>
            <a:r>
              <a:rPr lang="en-GB" b="1" i="1" spc="-10" dirty="0">
                <a:latin typeface="Arial"/>
                <a:cs typeface="Arial"/>
              </a:rPr>
              <a:t> </a:t>
            </a:r>
            <a:r>
              <a:rPr lang="en-GB" b="1" i="1" dirty="0">
                <a:latin typeface="Arial"/>
                <a:cs typeface="Arial"/>
              </a:rPr>
              <a:t>the</a:t>
            </a:r>
            <a:r>
              <a:rPr lang="en-GB" b="1" i="1" spc="-15" dirty="0">
                <a:latin typeface="Arial"/>
                <a:cs typeface="Arial"/>
              </a:rPr>
              <a:t> </a:t>
            </a:r>
            <a:r>
              <a:rPr lang="en-GB" b="1" i="1" spc="-20" dirty="0">
                <a:latin typeface="Arial"/>
                <a:cs typeface="Arial"/>
              </a:rPr>
              <a:t>top.</a:t>
            </a:r>
          </a:p>
          <a:p>
            <a:pPr marL="869315" lvl="2" indent="-285750">
              <a:spcBef>
                <a:spcPts val="365"/>
              </a:spcBef>
              <a:buFont typeface="Arial" panose="020B0604020202020204" pitchFamily="34" charset="0"/>
              <a:buChar char="•"/>
              <a:tabLst>
                <a:tab pos="868680" algn="l"/>
              </a:tabLst>
            </a:pPr>
            <a:endParaRPr lang="en-GB" dirty="0">
              <a:latin typeface="Arial"/>
              <a:cs typeface="Arial"/>
            </a:endParaRPr>
          </a:p>
          <a:p>
            <a:pPr marL="869315" marR="5080" lvl="2" indent="-285750">
              <a:spcBef>
                <a:spcPts val="545"/>
              </a:spcBef>
              <a:buFont typeface="Arial" panose="020B0604020202020204" pitchFamily="34" charset="0"/>
              <a:buChar char="•"/>
              <a:tabLst>
                <a:tab pos="869315" algn="l"/>
              </a:tabLst>
            </a:pPr>
            <a:r>
              <a:rPr lang="en-GB" b="1" i="1" dirty="0">
                <a:latin typeface="Arial"/>
                <a:cs typeface="Arial"/>
              </a:rPr>
              <a:t>Users</a:t>
            </a:r>
            <a:r>
              <a:rPr lang="en-GB" b="1" i="1" spc="-15" dirty="0">
                <a:latin typeface="Arial"/>
                <a:cs typeface="Arial"/>
              </a:rPr>
              <a:t> </a:t>
            </a:r>
            <a:r>
              <a:rPr lang="en-GB" b="1" i="1" dirty="0">
                <a:latin typeface="Arial"/>
                <a:cs typeface="Arial"/>
              </a:rPr>
              <a:t>aren’t</a:t>
            </a:r>
            <a:r>
              <a:rPr lang="en-GB" b="1" i="1" spc="-5" dirty="0">
                <a:latin typeface="Arial"/>
                <a:cs typeface="Arial"/>
              </a:rPr>
              <a:t> </a:t>
            </a:r>
            <a:r>
              <a:rPr lang="en-GB" b="1" i="1" dirty="0">
                <a:latin typeface="Arial"/>
                <a:cs typeface="Arial"/>
              </a:rPr>
              <a:t>going</a:t>
            </a:r>
            <a:r>
              <a:rPr lang="en-GB" b="1" i="1" spc="-15" dirty="0">
                <a:latin typeface="Arial"/>
                <a:cs typeface="Arial"/>
              </a:rPr>
              <a:t> </a:t>
            </a:r>
            <a:r>
              <a:rPr lang="en-GB" b="1" i="1" dirty="0">
                <a:latin typeface="Arial"/>
                <a:cs typeface="Arial"/>
              </a:rPr>
              <a:t>to</a:t>
            </a:r>
            <a:r>
              <a:rPr lang="en-GB" b="1" i="1" spc="-15" dirty="0">
                <a:latin typeface="Arial"/>
                <a:cs typeface="Arial"/>
              </a:rPr>
              <a:t> </a:t>
            </a:r>
            <a:r>
              <a:rPr lang="en-GB" b="1" i="1" dirty="0">
                <a:latin typeface="Arial"/>
                <a:cs typeface="Arial"/>
              </a:rPr>
              <a:t>read</a:t>
            </a:r>
            <a:r>
              <a:rPr lang="en-GB" b="1" i="1" spc="-10" dirty="0">
                <a:latin typeface="Arial"/>
                <a:cs typeface="Arial"/>
              </a:rPr>
              <a:t> </a:t>
            </a:r>
            <a:r>
              <a:rPr lang="en-GB" b="1" i="1" dirty="0">
                <a:latin typeface="Arial"/>
                <a:cs typeface="Arial"/>
              </a:rPr>
              <a:t>each</a:t>
            </a:r>
            <a:r>
              <a:rPr lang="en-GB" b="1" i="1" spc="-15" dirty="0">
                <a:latin typeface="Arial"/>
                <a:cs typeface="Arial"/>
              </a:rPr>
              <a:t> </a:t>
            </a:r>
            <a:r>
              <a:rPr lang="en-GB" b="1" i="1" dirty="0">
                <a:latin typeface="Arial"/>
                <a:cs typeface="Arial"/>
              </a:rPr>
              <a:t>and</a:t>
            </a:r>
            <a:r>
              <a:rPr lang="en-GB" b="1" i="1" spc="-15" dirty="0">
                <a:latin typeface="Arial"/>
                <a:cs typeface="Arial"/>
              </a:rPr>
              <a:t> </a:t>
            </a:r>
            <a:r>
              <a:rPr lang="en-GB" b="1" i="1" dirty="0">
                <a:latin typeface="Arial"/>
                <a:cs typeface="Arial"/>
              </a:rPr>
              <a:t>every</a:t>
            </a:r>
            <a:r>
              <a:rPr lang="en-GB" b="1" i="1" spc="-15" dirty="0">
                <a:latin typeface="Arial"/>
                <a:cs typeface="Arial"/>
              </a:rPr>
              <a:t> </a:t>
            </a:r>
            <a:r>
              <a:rPr lang="en-GB" b="1" i="1" dirty="0">
                <a:latin typeface="Arial"/>
                <a:cs typeface="Arial"/>
              </a:rPr>
              <a:t>word</a:t>
            </a:r>
            <a:r>
              <a:rPr lang="en-GB" b="1" i="1" spc="-25" dirty="0">
                <a:latin typeface="Arial"/>
                <a:cs typeface="Arial"/>
              </a:rPr>
              <a:t> </a:t>
            </a:r>
            <a:r>
              <a:rPr lang="en-GB" dirty="0">
                <a:latin typeface="Arial MT"/>
                <a:cs typeface="Arial MT"/>
              </a:rPr>
              <a:t>on</a:t>
            </a:r>
            <a:r>
              <a:rPr lang="en-GB" spc="-15" dirty="0">
                <a:latin typeface="Arial MT"/>
                <a:cs typeface="Arial MT"/>
              </a:rPr>
              <a:t> </a:t>
            </a:r>
            <a:r>
              <a:rPr lang="en-GB" dirty="0">
                <a:latin typeface="Arial MT"/>
                <a:cs typeface="Arial MT"/>
              </a:rPr>
              <a:t>the</a:t>
            </a:r>
            <a:r>
              <a:rPr lang="en-GB" spc="-15" dirty="0">
                <a:latin typeface="Arial MT"/>
                <a:cs typeface="Arial MT"/>
              </a:rPr>
              <a:t> </a:t>
            </a:r>
            <a:r>
              <a:rPr lang="en-GB" dirty="0">
                <a:latin typeface="Arial MT"/>
                <a:cs typeface="Arial MT"/>
              </a:rPr>
              <a:t>page.</a:t>
            </a:r>
            <a:r>
              <a:rPr lang="en-GB" spc="-5" dirty="0">
                <a:latin typeface="Arial MT"/>
                <a:cs typeface="Arial MT"/>
              </a:rPr>
              <a:t> </a:t>
            </a:r>
            <a:r>
              <a:rPr lang="en-GB" dirty="0">
                <a:latin typeface="Arial MT"/>
                <a:cs typeface="Arial MT"/>
              </a:rPr>
              <a:t>In</a:t>
            </a:r>
            <a:r>
              <a:rPr lang="en-GB" spc="-10" dirty="0">
                <a:latin typeface="Arial MT"/>
                <a:cs typeface="Arial MT"/>
              </a:rPr>
              <a:t> fact, </a:t>
            </a:r>
            <a:r>
              <a:rPr lang="en-GB" dirty="0">
                <a:latin typeface="Arial MT"/>
                <a:cs typeface="Arial MT"/>
              </a:rPr>
              <a:t>most</a:t>
            </a:r>
            <a:r>
              <a:rPr lang="en-GB" spc="-15" dirty="0">
                <a:latin typeface="Arial MT"/>
                <a:cs typeface="Arial MT"/>
              </a:rPr>
              <a:t> </a:t>
            </a:r>
            <a:r>
              <a:rPr lang="en-GB" dirty="0">
                <a:latin typeface="Arial MT"/>
                <a:cs typeface="Arial MT"/>
              </a:rPr>
              <a:t>readers</a:t>
            </a:r>
            <a:r>
              <a:rPr lang="en-GB" spc="-20" dirty="0">
                <a:latin typeface="Arial MT"/>
                <a:cs typeface="Arial MT"/>
              </a:rPr>
              <a:t> </a:t>
            </a:r>
            <a:r>
              <a:rPr lang="en-GB" dirty="0">
                <a:latin typeface="Arial MT"/>
                <a:cs typeface="Arial MT"/>
              </a:rPr>
              <a:t>won’t</a:t>
            </a:r>
            <a:r>
              <a:rPr lang="en-GB" spc="-15" dirty="0">
                <a:latin typeface="Arial MT"/>
                <a:cs typeface="Arial MT"/>
              </a:rPr>
              <a:t> </a:t>
            </a:r>
            <a:r>
              <a:rPr lang="en-GB" dirty="0">
                <a:latin typeface="Arial MT"/>
                <a:cs typeface="Arial MT"/>
              </a:rPr>
              <a:t>really</a:t>
            </a:r>
            <a:r>
              <a:rPr lang="en-GB" spc="-20" dirty="0">
                <a:latin typeface="Arial MT"/>
                <a:cs typeface="Arial MT"/>
              </a:rPr>
              <a:t> </a:t>
            </a:r>
            <a:r>
              <a:rPr lang="en-GB" dirty="0">
                <a:latin typeface="Arial MT"/>
                <a:cs typeface="Arial MT"/>
              </a:rPr>
              <a:t>even</a:t>
            </a:r>
            <a:r>
              <a:rPr lang="en-GB" spc="-25" dirty="0">
                <a:latin typeface="Arial MT"/>
                <a:cs typeface="Arial MT"/>
              </a:rPr>
              <a:t> </a:t>
            </a:r>
            <a:r>
              <a:rPr lang="en-GB" dirty="0">
                <a:latin typeface="Arial MT"/>
                <a:cs typeface="Arial MT"/>
              </a:rPr>
              <a:t>bother</a:t>
            </a:r>
            <a:r>
              <a:rPr lang="en-GB" spc="-15" dirty="0">
                <a:latin typeface="Arial MT"/>
                <a:cs typeface="Arial MT"/>
              </a:rPr>
              <a:t> </a:t>
            </a:r>
            <a:r>
              <a:rPr lang="en-GB" dirty="0">
                <a:latin typeface="Arial MT"/>
                <a:cs typeface="Arial MT"/>
              </a:rPr>
              <a:t>reading</a:t>
            </a:r>
            <a:r>
              <a:rPr lang="en-GB" spc="-25" dirty="0">
                <a:latin typeface="Arial MT"/>
                <a:cs typeface="Arial MT"/>
              </a:rPr>
              <a:t> </a:t>
            </a:r>
            <a:r>
              <a:rPr lang="en-GB" dirty="0">
                <a:latin typeface="Arial MT"/>
                <a:cs typeface="Arial MT"/>
              </a:rPr>
              <a:t>the</a:t>
            </a:r>
            <a:r>
              <a:rPr lang="en-GB" spc="-25" dirty="0">
                <a:latin typeface="Arial MT"/>
                <a:cs typeface="Arial MT"/>
              </a:rPr>
              <a:t> </a:t>
            </a:r>
            <a:r>
              <a:rPr lang="en-GB" dirty="0">
                <a:latin typeface="Arial MT"/>
                <a:cs typeface="Arial MT"/>
              </a:rPr>
              <a:t>excerpt</a:t>
            </a:r>
            <a:r>
              <a:rPr lang="en-GB" spc="-15" dirty="0">
                <a:latin typeface="Arial MT"/>
                <a:cs typeface="Arial MT"/>
              </a:rPr>
              <a:t> </a:t>
            </a:r>
            <a:r>
              <a:rPr lang="en-GB" dirty="0">
                <a:latin typeface="Arial MT"/>
                <a:cs typeface="Arial MT"/>
              </a:rPr>
              <a:t>of</a:t>
            </a:r>
            <a:r>
              <a:rPr lang="en-GB" spc="-10" dirty="0">
                <a:latin typeface="Arial MT"/>
                <a:cs typeface="Arial MT"/>
              </a:rPr>
              <a:t> </a:t>
            </a:r>
            <a:r>
              <a:rPr lang="en-GB" dirty="0">
                <a:latin typeface="Arial MT"/>
                <a:cs typeface="Arial MT"/>
              </a:rPr>
              <a:t>an</a:t>
            </a:r>
            <a:r>
              <a:rPr lang="en-GB" spc="-25" dirty="0">
                <a:latin typeface="Arial MT"/>
                <a:cs typeface="Arial MT"/>
              </a:rPr>
              <a:t> </a:t>
            </a:r>
            <a:r>
              <a:rPr lang="en-GB" spc="-10" dirty="0">
                <a:latin typeface="Arial MT"/>
                <a:cs typeface="Arial MT"/>
              </a:rPr>
              <a:t>article.</a:t>
            </a:r>
          </a:p>
          <a:p>
            <a:pPr marL="869315" marR="5080" lvl="2" indent="-285750">
              <a:spcBef>
                <a:spcPts val="545"/>
              </a:spcBef>
              <a:buFont typeface="Arial" panose="020B0604020202020204" pitchFamily="34" charset="0"/>
              <a:buChar char="•"/>
              <a:tabLst>
                <a:tab pos="869315" algn="l"/>
              </a:tabLst>
            </a:pPr>
            <a:endParaRPr lang="en-GB" dirty="0">
              <a:latin typeface="Arial MT"/>
              <a:cs typeface="Arial MT"/>
            </a:endParaRPr>
          </a:p>
          <a:p>
            <a:pPr marL="869315" marR="363220" lvl="2" indent="-285750">
              <a:spcBef>
                <a:spcPts val="560"/>
              </a:spcBef>
              <a:buFont typeface="Arial" panose="020B0604020202020204" pitchFamily="34" charset="0"/>
              <a:buChar char="•"/>
              <a:tabLst>
                <a:tab pos="869315" algn="l"/>
              </a:tabLst>
            </a:pPr>
            <a:r>
              <a:rPr lang="en-GB" b="1" i="1" dirty="0">
                <a:latin typeface="Arial"/>
                <a:cs typeface="Arial"/>
              </a:rPr>
              <a:t>Images</a:t>
            </a:r>
            <a:r>
              <a:rPr lang="en-GB" b="1" i="1" spc="-25" dirty="0">
                <a:latin typeface="Arial"/>
                <a:cs typeface="Arial"/>
              </a:rPr>
              <a:t> </a:t>
            </a:r>
            <a:r>
              <a:rPr lang="en-GB" b="1" i="1" dirty="0">
                <a:latin typeface="Arial"/>
                <a:cs typeface="Arial"/>
              </a:rPr>
              <a:t>and</a:t>
            </a:r>
            <a:r>
              <a:rPr lang="en-GB" b="1" i="1" spc="-25" dirty="0">
                <a:latin typeface="Arial"/>
                <a:cs typeface="Arial"/>
              </a:rPr>
              <a:t> </a:t>
            </a:r>
            <a:r>
              <a:rPr lang="en-GB" b="1" i="1" dirty="0">
                <a:latin typeface="Arial"/>
                <a:cs typeface="Arial"/>
              </a:rPr>
              <a:t>Headlines</a:t>
            </a:r>
            <a:r>
              <a:rPr lang="en-GB" b="1" i="1" spc="-20" dirty="0">
                <a:latin typeface="Arial"/>
                <a:cs typeface="Arial"/>
              </a:rPr>
              <a:t> </a:t>
            </a:r>
            <a:r>
              <a:rPr lang="en-GB" dirty="0">
                <a:latin typeface="Arial MT"/>
                <a:cs typeface="Arial MT"/>
              </a:rPr>
              <a:t>are</a:t>
            </a:r>
            <a:r>
              <a:rPr lang="en-GB" spc="-25" dirty="0">
                <a:latin typeface="Arial MT"/>
                <a:cs typeface="Arial MT"/>
              </a:rPr>
              <a:t> </a:t>
            </a:r>
            <a:r>
              <a:rPr lang="en-GB" dirty="0">
                <a:latin typeface="Arial MT"/>
                <a:cs typeface="Arial MT"/>
              </a:rPr>
              <a:t>only</a:t>
            </a:r>
            <a:r>
              <a:rPr lang="en-GB" spc="-20" dirty="0">
                <a:latin typeface="Arial MT"/>
                <a:cs typeface="Arial MT"/>
              </a:rPr>
              <a:t> </a:t>
            </a:r>
            <a:r>
              <a:rPr lang="en-GB" dirty="0">
                <a:latin typeface="Arial MT"/>
                <a:cs typeface="Arial MT"/>
              </a:rPr>
              <a:t>reliable</a:t>
            </a:r>
            <a:r>
              <a:rPr lang="en-GB" spc="-25" dirty="0">
                <a:latin typeface="Arial MT"/>
                <a:cs typeface="Arial MT"/>
              </a:rPr>
              <a:t> </a:t>
            </a:r>
            <a:r>
              <a:rPr lang="en-GB" dirty="0">
                <a:latin typeface="Arial MT"/>
                <a:cs typeface="Arial MT"/>
              </a:rPr>
              <a:t>if</a:t>
            </a:r>
            <a:r>
              <a:rPr lang="en-GB" spc="-15" dirty="0">
                <a:latin typeface="Arial MT"/>
                <a:cs typeface="Arial MT"/>
              </a:rPr>
              <a:t> </a:t>
            </a:r>
            <a:r>
              <a:rPr lang="en-GB" dirty="0">
                <a:latin typeface="Arial MT"/>
                <a:cs typeface="Arial MT"/>
              </a:rPr>
              <a:t>they</a:t>
            </a:r>
            <a:r>
              <a:rPr lang="en-GB" spc="-20" dirty="0">
                <a:latin typeface="Arial MT"/>
                <a:cs typeface="Arial MT"/>
              </a:rPr>
              <a:t> </a:t>
            </a:r>
            <a:r>
              <a:rPr lang="en-GB" dirty="0">
                <a:latin typeface="Arial MT"/>
                <a:cs typeface="Arial MT"/>
              </a:rPr>
              <a:t>are</a:t>
            </a:r>
            <a:r>
              <a:rPr lang="en-GB" spc="-25" dirty="0">
                <a:latin typeface="Arial MT"/>
                <a:cs typeface="Arial MT"/>
              </a:rPr>
              <a:t> </a:t>
            </a:r>
            <a:r>
              <a:rPr lang="en-GB" b="1" i="1" dirty="0">
                <a:latin typeface="Arial"/>
                <a:cs typeface="Arial"/>
              </a:rPr>
              <a:t>interesting</a:t>
            </a:r>
            <a:r>
              <a:rPr lang="en-GB" b="1" i="1" spc="-25" dirty="0">
                <a:latin typeface="Arial"/>
                <a:cs typeface="Arial"/>
              </a:rPr>
              <a:t> and </a:t>
            </a:r>
            <a:r>
              <a:rPr lang="en-GB" b="1" i="1" spc="-10" dirty="0">
                <a:latin typeface="Arial"/>
                <a:cs typeface="Arial"/>
              </a:rPr>
              <a:t>engaging.</a:t>
            </a:r>
          </a:p>
          <a:p>
            <a:pPr marL="583565" marR="363220" lvl="2">
              <a:lnSpc>
                <a:spcPts val="1700"/>
              </a:lnSpc>
              <a:spcBef>
                <a:spcPts val="560"/>
              </a:spcBef>
              <a:tabLst>
                <a:tab pos="869315" algn="l"/>
              </a:tabLst>
            </a:pPr>
            <a:endParaRPr lang="en-GB" sz="1600" b="1" i="1" spc="-10" dirty="0">
              <a:latin typeface="Arial"/>
              <a:cs typeface="Arial"/>
            </a:endParaRPr>
          </a:p>
        </p:txBody>
      </p:sp>
    </p:spTree>
    <p:extLst>
      <p:ext uri="{BB962C8B-B14F-4D97-AF65-F5344CB8AC3E}">
        <p14:creationId xmlns:p14="http://schemas.microsoft.com/office/powerpoint/2010/main" val="40749423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514732"/>
            <a:ext cx="5257800" cy="551433"/>
          </a:xfrm>
          <a:prstGeom prst="rect">
            <a:avLst/>
          </a:prstGeom>
        </p:spPr>
        <p:txBody>
          <a:bodyPr vert="horz" wrap="square" lIns="0" tIns="12700" rIns="0" bIns="0" rtlCol="0">
            <a:spAutoFit/>
          </a:bodyPr>
          <a:lstStyle/>
          <a:p>
            <a:pPr marL="12700">
              <a:lnSpc>
                <a:spcPct val="100000"/>
              </a:lnSpc>
              <a:spcBef>
                <a:spcPts val="100"/>
              </a:spcBef>
            </a:pPr>
            <a:r>
              <a:rPr lang="en-GB" spc="-10" dirty="0"/>
              <a:t>Organisation Z Pattern</a:t>
            </a:r>
            <a:endParaRPr spc="-10" dirty="0"/>
          </a:p>
        </p:txBody>
      </p:sp>
      <p:sp>
        <p:nvSpPr>
          <p:cNvPr id="3" name="object 3"/>
          <p:cNvSpPr txBox="1"/>
          <p:nvPr/>
        </p:nvSpPr>
        <p:spPr>
          <a:xfrm>
            <a:off x="533400" y="1905000"/>
            <a:ext cx="8077200" cy="382156"/>
          </a:xfrm>
          <a:prstGeom prst="rect">
            <a:avLst/>
          </a:prstGeom>
        </p:spPr>
        <p:txBody>
          <a:bodyPr vert="horz" wrap="square" lIns="0" tIns="12700" rIns="0" bIns="0" rtlCol="0">
            <a:spAutoFit/>
          </a:bodyPr>
          <a:lstStyle/>
          <a:p>
            <a:pPr marL="12700" algn="ctr">
              <a:spcBef>
                <a:spcPts val="555"/>
              </a:spcBef>
              <a:tabLst>
                <a:tab pos="240665" algn="l"/>
              </a:tabLst>
            </a:pPr>
            <a:r>
              <a:rPr lang="en-GB" sz="2400" b="1" dirty="0">
                <a:latin typeface="Calibri"/>
                <a:cs typeface="Calibri"/>
              </a:rPr>
              <a:t>An</a:t>
            </a:r>
            <a:r>
              <a:rPr lang="en-GB" sz="2400" b="1" spc="-45" dirty="0">
                <a:latin typeface="Calibri"/>
                <a:cs typeface="Calibri"/>
              </a:rPr>
              <a:t> </a:t>
            </a:r>
            <a:r>
              <a:rPr lang="en-GB" sz="2400" b="1" spc="-10" dirty="0">
                <a:latin typeface="Calibri"/>
                <a:cs typeface="Calibri"/>
              </a:rPr>
              <a:t>alternative</a:t>
            </a:r>
            <a:r>
              <a:rPr lang="en-GB" sz="2400" b="1" spc="-50" dirty="0">
                <a:latin typeface="Calibri"/>
                <a:cs typeface="Calibri"/>
              </a:rPr>
              <a:t> </a:t>
            </a:r>
            <a:r>
              <a:rPr lang="en-GB" sz="2400" b="1" dirty="0">
                <a:latin typeface="Calibri"/>
                <a:cs typeface="Calibri"/>
              </a:rPr>
              <a:t>to</a:t>
            </a:r>
            <a:r>
              <a:rPr lang="en-GB" sz="2400" b="1" spc="-50" dirty="0">
                <a:latin typeface="Calibri"/>
                <a:cs typeface="Calibri"/>
              </a:rPr>
              <a:t> </a:t>
            </a:r>
            <a:r>
              <a:rPr lang="en-GB" sz="2400" b="1" dirty="0">
                <a:latin typeface="Calibri"/>
                <a:cs typeface="Calibri"/>
              </a:rPr>
              <a:t>the</a:t>
            </a:r>
            <a:r>
              <a:rPr lang="en-GB" sz="2400" b="1" spc="-50" dirty="0">
                <a:latin typeface="Calibri"/>
                <a:cs typeface="Calibri"/>
              </a:rPr>
              <a:t> </a:t>
            </a:r>
            <a:r>
              <a:rPr lang="en-GB" sz="2400" b="1" dirty="0">
                <a:latin typeface="Calibri"/>
                <a:cs typeface="Calibri"/>
              </a:rPr>
              <a:t>F</a:t>
            </a:r>
            <a:r>
              <a:rPr lang="en-GB" sz="2400" b="1" spc="-40" dirty="0">
                <a:latin typeface="Calibri"/>
                <a:cs typeface="Calibri"/>
              </a:rPr>
              <a:t> </a:t>
            </a:r>
            <a:r>
              <a:rPr lang="en-GB" sz="2400" b="1" dirty="0">
                <a:latin typeface="Calibri"/>
                <a:cs typeface="Calibri"/>
              </a:rPr>
              <a:t>layout</a:t>
            </a:r>
            <a:r>
              <a:rPr lang="en-GB" sz="2400" b="1" spc="-45" dirty="0">
                <a:latin typeface="Calibri"/>
                <a:cs typeface="Calibri"/>
              </a:rPr>
              <a:t> </a:t>
            </a:r>
            <a:r>
              <a:rPr lang="en-GB" sz="2400" b="1" dirty="0">
                <a:latin typeface="Calibri"/>
                <a:cs typeface="Calibri"/>
              </a:rPr>
              <a:t>is</a:t>
            </a:r>
            <a:r>
              <a:rPr lang="en-GB" sz="2400" b="1" spc="-45" dirty="0">
                <a:latin typeface="Calibri"/>
                <a:cs typeface="Calibri"/>
              </a:rPr>
              <a:t> </a:t>
            </a:r>
            <a:r>
              <a:rPr lang="en-GB" sz="2400" b="1" dirty="0">
                <a:latin typeface="Calibri"/>
                <a:cs typeface="Calibri"/>
              </a:rPr>
              <a:t>the</a:t>
            </a:r>
            <a:r>
              <a:rPr lang="en-GB" sz="2400" b="1" spc="-55" dirty="0">
                <a:latin typeface="Calibri"/>
                <a:cs typeface="Calibri"/>
              </a:rPr>
              <a:t> </a:t>
            </a:r>
            <a:r>
              <a:rPr lang="en-GB" sz="2400" b="1" dirty="0">
                <a:latin typeface="Calibri"/>
                <a:cs typeface="Calibri"/>
              </a:rPr>
              <a:t>Z</a:t>
            </a:r>
            <a:r>
              <a:rPr lang="en-GB" sz="2400" b="1" spc="-40" dirty="0">
                <a:latin typeface="Calibri"/>
                <a:cs typeface="Calibri"/>
              </a:rPr>
              <a:t> </a:t>
            </a:r>
            <a:r>
              <a:rPr lang="en-GB" sz="2400" b="1" spc="-10" dirty="0">
                <a:latin typeface="Calibri"/>
                <a:cs typeface="Calibri"/>
              </a:rPr>
              <a:t>layout.</a:t>
            </a:r>
            <a:endParaRPr lang="en-GB" sz="2000" b="1" i="1" spc="-10" dirty="0">
              <a:latin typeface="Arial"/>
              <a:cs typeface="Arial"/>
            </a:endParaRPr>
          </a:p>
        </p:txBody>
      </p:sp>
      <p:pic>
        <p:nvPicPr>
          <p:cNvPr id="4" name="Picture 3" descr="Example of Z Pattern">
            <a:extLst>
              <a:ext uri="{FF2B5EF4-FFF2-40B4-BE49-F238E27FC236}">
                <a16:creationId xmlns:a16="http://schemas.microsoft.com/office/drawing/2014/main" id="{2E7C2398-C0DE-5FDC-5D06-58D88D127DFD}"/>
              </a:ext>
            </a:extLst>
          </p:cNvPr>
          <p:cNvPicPr>
            <a:picLocks noChangeAspect="1"/>
          </p:cNvPicPr>
          <p:nvPr/>
        </p:nvPicPr>
        <p:blipFill>
          <a:blip r:embed="rId2"/>
          <a:stretch>
            <a:fillRect/>
          </a:stretch>
        </p:blipFill>
        <p:spPr>
          <a:xfrm>
            <a:off x="1478012" y="2443156"/>
            <a:ext cx="6187976" cy="4255377"/>
          </a:xfrm>
          <a:prstGeom prst="rect">
            <a:avLst/>
          </a:prstGeom>
        </p:spPr>
      </p:pic>
    </p:spTree>
    <p:extLst>
      <p:ext uri="{BB962C8B-B14F-4D97-AF65-F5344CB8AC3E}">
        <p14:creationId xmlns:p14="http://schemas.microsoft.com/office/powerpoint/2010/main" val="14175927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514732"/>
            <a:ext cx="5257800" cy="551433"/>
          </a:xfrm>
          <a:prstGeom prst="rect">
            <a:avLst/>
          </a:prstGeom>
        </p:spPr>
        <p:txBody>
          <a:bodyPr vert="horz" wrap="square" lIns="0" tIns="12700" rIns="0" bIns="0" rtlCol="0">
            <a:spAutoFit/>
          </a:bodyPr>
          <a:lstStyle/>
          <a:p>
            <a:pPr marL="12700">
              <a:lnSpc>
                <a:spcPct val="100000"/>
              </a:lnSpc>
              <a:spcBef>
                <a:spcPts val="100"/>
              </a:spcBef>
            </a:pPr>
            <a:r>
              <a:rPr lang="en-GB" spc="-10" dirty="0"/>
              <a:t>Organisation Z Pattern</a:t>
            </a:r>
            <a:endParaRPr spc="-10" dirty="0"/>
          </a:p>
        </p:txBody>
      </p:sp>
      <p:sp>
        <p:nvSpPr>
          <p:cNvPr id="3" name="object 3"/>
          <p:cNvSpPr txBox="1"/>
          <p:nvPr/>
        </p:nvSpPr>
        <p:spPr>
          <a:xfrm>
            <a:off x="533400" y="1905000"/>
            <a:ext cx="8077200" cy="4855175"/>
          </a:xfrm>
          <a:prstGeom prst="rect">
            <a:avLst/>
          </a:prstGeom>
        </p:spPr>
        <p:txBody>
          <a:bodyPr vert="horz" wrap="square" lIns="0" tIns="12700" rIns="0" bIns="0" rtlCol="0">
            <a:spAutoFit/>
          </a:bodyPr>
          <a:lstStyle/>
          <a:p>
            <a:pPr marL="12700" marR="5080" lvl="0" indent="227965" defTabSz="914400" eaLnBrk="1" fontAlgn="auto" latinLnBrk="0" hangingPunct="1">
              <a:spcBef>
                <a:spcPts val="340"/>
              </a:spcBef>
              <a:spcAft>
                <a:spcPts val="0"/>
              </a:spcAft>
              <a:buClrTx/>
              <a:buSzTx/>
              <a:buFontTx/>
              <a:buChar char="•"/>
              <a:tabLst>
                <a:tab pos="240665" algn="l"/>
              </a:tabLst>
              <a:defRPr/>
            </a:pPr>
            <a:r>
              <a:rPr kumimoji="0" lang="en-GB" b="0" i="0" u="none" strike="noStrike" kern="0" cap="none" spc="0" normalizeH="0" baseline="0" noProof="0" dirty="0">
                <a:ln>
                  <a:noFill/>
                </a:ln>
                <a:solidFill>
                  <a:sysClr val="windowText" lastClr="000000"/>
                </a:solidFill>
                <a:effectLst/>
                <a:uLnTx/>
                <a:uFillTx/>
                <a:latin typeface="Arial MT"/>
                <a:cs typeface="Arial MT"/>
              </a:rPr>
              <a:t>This</a:t>
            </a:r>
            <a:r>
              <a:rPr kumimoji="0" lang="en-GB" b="0" i="0" u="none" strike="noStrike" kern="0" cap="none" spc="-20"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layout</a:t>
            </a:r>
            <a:r>
              <a:rPr kumimoji="0" lang="en-GB" b="0" i="0" u="none" strike="noStrike" kern="0" cap="none" spc="-10"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quickly</a:t>
            </a:r>
            <a:r>
              <a:rPr kumimoji="0" lang="en-GB" b="0" i="0" u="none" strike="noStrike" kern="0" cap="none" spc="-20"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and</a:t>
            </a:r>
            <a:r>
              <a:rPr kumimoji="0" lang="en-GB" b="0" i="0" u="none" strike="noStrike" kern="0" cap="none" spc="-20"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effectively</a:t>
            </a:r>
            <a:r>
              <a:rPr kumimoji="0" lang="en-GB" b="0" i="0" u="none" strike="noStrike" kern="0" cap="none" spc="-15"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moves</a:t>
            </a:r>
            <a:r>
              <a:rPr kumimoji="0" lang="en-GB" b="0" i="0" u="none" strike="noStrike" kern="0" cap="none" spc="-15"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the</a:t>
            </a:r>
            <a:r>
              <a:rPr kumimoji="0" lang="en-GB" b="0" i="0" u="none" strike="noStrike" kern="0" cap="none" spc="-25"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eye</a:t>
            </a:r>
            <a:r>
              <a:rPr kumimoji="0" lang="en-GB" b="0" i="0" u="none" strike="noStrike" kern="0" cap="none" spc="-20"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from</a:t>
            </a:r>
            <a:r>
              <a:rPr kumimoji="0" lang="en-GB" b="0" i="0" u="none" strike="noStrike" kern="0" cap="none" spc="-10"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Point</a:t>
            </a:r>
            <a:r>
              <a:rPr kumimoji="0" lang="en-GB" b="0" i="0" u="none" strike="noStrike" kern="0" cap="none" spc="-15"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1</a:t>
            </a:r>
            <a:r>
              <a:rPr kumimoji="0" lang="en-GB" b="0" i="0" u="none" strike="noStrike" kern="0" cap="none" spc="-20"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to</a:t>
            </a:r>
            <a:r>
              <a:rPr kumimoji="0" lang="en-GB" b="0" i="0" u="none" strike="noStrike" kern="0" cap="none" spc="-20"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Point</a:t>
            </a:r>
            <a:r>
              <a:rPr kumimoji="0" lang="en-GB" b="0" i="0" u="none" strike="noStrike" kern="0" cap="none" spc="-15"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4</a:t>
            </a:r>
            <a:r>
              <a:rPr kumimoji="0" lang="en-GB" b="0" i="0" u="none" strike="noStrike" kern="0" cap="none" spc="-20"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in</a:t>
            </a:r>
            <a:r>
              <a:rPr kumimoji="0" lang="en-GB" b="0" i="0" u="none" strike="noStrike" kern="0" cap="none" spc="-20" normalizeH="0" baseline="0" noProof="0" dirty="0">
                <a:ln>
                  <a:noFill/>
                </a:ln>
                <a:solidFill>
                  <a:sysClr val="windowText" lastClr="000000"/>
                </a:solidFill>
                <a:effectLst/>
                <a:uLnTx/>
                <a:uFillTx/>
                <a:latin typeface="Arial MT"/>
                <a:cs typeface="Arial MT"/>
              </a:rPr>
              <a:t> </a:t>
            </a:r>
            <a:r>
              <a:rPr kumimoji="0" lang="en-GB" b="0" i="0" u="none" strike="noStrike" kern="0" cap="none" spc="-50" normalizeH="0" baseline="0" noProof="0" dirty="0">
                <a:ln>
                  <a:noFill/>
                </a:ln>
                <a:solidFill>
                  <a:sysClr val="windowText" lastClr="000000"/>
                </a:solidFill>
                <a:effectLst/>
                <a:uLnTx/>
                <a:uFillTx/>
                <a:latin typeface="Arial MT"/>
                <a:cs typeface="Arial MT"/>
              </a:rPr>
              <a:t>a </a:t>
            </a:r>
            <a:r>
              <a:rPr kumimoji="0" lang="en-GB" b="0" i="0" u="none" strike="noStrike" kern="0" cap="none" spc="0" normalizeH="0" baseline="0" noProof="0" dirty="0">
                <a:ln>
                  <a:noFill/>
                </a:ln>
                <a:solidFill>
                  <a:sysClr val="windowText" lastClr="000000"/>
                </a:solidFill>
                <a:effectLst/>
                <a:uLnTx/>
                <a:uFillTx/>
                <a:latin typeface="Arial MT"/>
                <a:cs typeface="Arial MT"/>
              </a:rPr>
              <a:t>logical</a:t>
            </a:r>
            <a:r>
              <a:rPr kumimoji="0" lang="en-GB" b="0" i="0" u="none" strike="noStrike" kern="0" cap="none" spc="-20"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order</a:t>
            </a:r>
            <a:r>
              <a:rPr kumimoji="0" lang="en-GB" b="0" i="0" u="none" strike="noStrike" kern="0" cap="none" spc="-15"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a:t>
            </a:r>
            <a:r>
              <a:rPr kumimoji="0" lang="en-GB" b="0" i="0" u="none" strike="noStrike" kern="0" cap="none" spc="-20"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concluding</a:t>
            </a:r>
            <a:r>
              <a:rPr kumimoji="0" lang="en-GB" b="0" i="0" u="none" strike="noStrike" kern="0" cap="none" spc="-20"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with</a:t>
            </a:r>
            <a:r>
              <a:rPr kumimoji="0" lang="en-GB" b="0" i="0" u="none" strike="noStrike" kern="0" cap="none" spc="-20"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a</a:t>
            </a:r>
            <a:r>
              <a:rPr kumimoji="0" lang="en-GB" b="0" i="0" u="none" strike="noStrike" kern="0" cap="none" spc="-20"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powerful</a:t>
            </a:r>
            <a:r>
              <a:rPr kumimoji="0" lang="en-GB" b="0" i="0" u="none" strike="noStrike" kern="0" cap="none" spc="-20"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call</a:t>
            </a:r>
            <a:r>
              <a:rPr kumimoji="0" lang="en-GB" b="0" i="0" u="none" strike="noStrike" kern="0" cap="none" spc="-20"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to</a:t>
            </a:r>
            <a:r>
              <a:rPr kumimoji="0" lang="en-GB" b="0" i="0" u="none" strike="noStrike" kern="0" cap="none" spc="-20" normalizeH="0" baseline="0" noProof="0" dirty="0">
                <a:ln>
                  <a:noFill/>
                </a:ln>
                <a:solidFill>
                  <a:sysClr val="windowText" lastClr="000000"/>
                </a:solidFill>
                <a:effectLst/>
                <a:uLnTx/>
                <a:uFillTx/>
                <a:latin typeface="Arial MT"/>
                <a:cs typeface="Arial MT"/>
              </a:rPr>
              <a:t> </a:t>
            </a:r>
            <a:r>
              <a:rPr kumimoji="0" lang="en-GB" b="0" i="0" u="none" strike="noStrike" kern="0" cap="none" spc="-10" normalizeH="0" baseline="0" noProof="0" dirty="0">
                <a:ln>
                  <a:noFill/>
                </a:ln>
                <a:solidFill>
                  <a:sysClr val="windowText" lastClr="000000"/>
                </a:solidFill>
                <a:effectLst/>
                <a:uLnTx/>
                <a:uFillTx/>
                <a:latin typeface="Arial MT"/>
                <a:cs typeface="Arial MT"/>
              </a:rPr>
              <a:t>action.</a:t>
            </a:r>
            <a:r>
              <a:rPr lang="en-GB" dirty="0">
                <a:latin typeface="Arial MT"/>
                <a:cs typeface="Arial MT"/>
              </a:rPr>
              <a:t> </a:t>
            </a:r>
            <a:r>
              <a:rPr kumimoji="0" lang="en-GB" b="0" i="0" u="none" strike="noStrike" kern="0" cap="none" spc="-75" normalizeH="0" baseline="0" noProof="0" dirty="0">
                <a:ln>
                  <a:noFill/>
                </a:ln>
                <a:solidFill>
                  <a:sysClr val="windowText" lastClr="000000"/>
                </a:solidFill>
                <a:effectLst/>
                <a:uLnTx/>
                <a:uFillTx/>
                <a:latin typeface="Arial MT"/>
                <a:cs typeface="Arial MT"/>
              </a:rPr>
              <a:t>To</a:t>
            </a:r>
            <a:r>
              <a:rPr kumimoji="0" lang="en-GB" b="0" i="0" u="none" strike="noStrike" kern="0" cap="none" spc="-35"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implement</a:t>
            </a:r>
            <a:r>
              <a:rPr kumimoji="0" lang="en-GB" b="0" i="0" u="none" strike="noStrike" kern="0" cap="none" spc="-20"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this,</a:t>
            </a:r>
            <a:r>
              <a:rPr kumimoji="0" lang="en-GB" b="0" i="0" u="none" strike="noStrike" kern="0" cap="none" spc="-25"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it</a:t>
            </a:r>
            <a:r>
              <a:rPr kumimoji="0" lang="en-GB" b="0" i="0" u="none" strike="noStrike" kern="0" cap="none" spc="-20"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can</a:t>
            </a:r>
            <a:r>
              <a:rPr kumimoji="0" lang="en-GB" b="0" i="0" u="none" strike="noStrike" kern="0" cap="none" spc="-30"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be</a:t>
            </a:r>
            <a:r>
              <a:rPr kumimoji="0" lang="en-GB" b="0" i="0" u="none" strike="noStrike" kern="0" cap="none" spc="-30"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supplemented</a:t>
            </a:r>
            <a:r>
              <a:rPr kumimoji="0" lang="en-GB" b="0" i="0" u="none" strike="noStrike" kern="0" cap="none" spc="-35" normalizeH="0" baseline="0" noProof="0" dirty="0">
                <a:ln>
                  <a:noFill/>
                </a:ln>
                <a:solidFill>
                  <a:sysClr val="windowText" lastClr="000000"/>
                </a:solidFill>
                <a:effectLst/>
                <a:uLnTx/>
                <a:uFillTx/>
                <a:latin typeface="Arial MT"/>
                <a:cs typeface="Arial MT"/>
              </a:rPr>
              <a:t> </a:t>
            </a:r>
            <a:r>
              <a:rPr kumimoji="0" lang="en-GB" b="0" i="0" u="none" strike="noStrike" kern="0" cap="none" spc="-25" normalizeH="0" baseline="0" noProof="0" dirty="0">
                <a:ln>
                  <a:noFill/>
                </a:ln>
                <a:solidFill>
                  <a:sysClr val="windowText" lastClr="000000"/>
                </a:solidFill>
                <a:effectLst/>
                <a:uLnTx/>
                <a:uFillTx/>
                <a:latin typeface="Arial MT"/>
                <a:cs typeface="Arial MT"/>
              </a:rPr>
              <a:t>by:</a:t>
            </a:r>
          </a:p>
          <a:p>
            <a:pPr marL="240665" marR="0" lvl="0" indent="-227965" defTabSz="914400" eaLnBrk="1" fontAlgn="auto" latinLnBrk="0" hangingPunct="1">
              <a:spcBef>
                <a:spcPts val="0"/>
              </a:spcBef>
              <a:spcAft>
                <a:spcPts val="0"/>
              </a:spcAft>
              <a:buClrTx/>
              <a:buSzTx/>
              <a:buFontTx/>
              <a:buChar char="•"/>
              <a:tabLst>
                <a:tab pos="240665" algn="l"/>
              </a:tabLst>
              <a:defRPr/>
            </a:pPr>
            <a:endParaRPr kumimoji="0" lang="en-GB" b="0" i="0" u="none" strike="noStrike" kern="0" cap="none" spc="0" normalizeH="0" baseline="0" noProof="0" dirty="0">
              <a:ln>
                <a:noFill/>
              </a:ln>
              <a:solidFill>
                <a:sysClr val="windowText" lastClr="000000"/>
              </a:solidFill>
              <a:effectLst/>
              <a:uLnTx/>
              <a:uFillTx/>
              <a:latin typeface="Arial MT"/>
              <a:cs typeface="Arial MT"/>
            </a:endParaRPr>
          </a:p>
          <a:p>
            <a:pPr marL="526415" marR="0" lvl="1" indent="-285750" defTabSz="914400" eaLnBrk="1" fontAlgn="auto" latinLnBrk="0" hangingPunct="1">
              <a:spcBef>
                <a:spcPts val="465"/>
              </a:spcBef>
              <a:spcAft>
                <a:spcPts val="0"/>
              </a:spcAft>
              <a:buClrTx/>
              <a:buSzTx/>
              <a:buFont typeface="Arial" panose="020B0604020202020204" pitchFamily="34" charset="0"/>
              <a:buChar char="•"/>
              <a:tabLst>
                <a:tab pos="526415" algn="l"/>
              </a:tabLst>
              <a:defRPr/>
            </a:pPr>
            <a:r>
              <a:rPr kumimoji="0" lang="en-GB" b="1" i="1" u="none" strike="noStrike" kern="0" cap="none" spc="0" normalizeH="0" baseline="0" noProof="0" dirty="0">
                <a:ln>
                  <a:noFill/>
                </a:ln>
                <a:solidFill>
                  <a:sysClr val="windowText" lastClr="000000"/>
                </a:solidFill>
                <a:effectLst/>
                <a:uLnTx/>
                <a:uFillTx/>
                <a:latin typeface="Arial"/>
                <a:cs typeface="Arial"/>
              </a:rPr>
              <a:t>Background</a:t>
            </a:r>
            <a:r>
              <a:rPr kumimoji="0" lang="en-GB" b="1" i="1" u="none" strike="noStrike" kern="0" cap="none" spc="-35" normalizeH="0" baseline="0" noProof="0" dirty="0">
                <a:ln>
                  <a:noFill/>
                </a:ln>
                <a:solidFill>
                  <a:sysClr val="windowText" lastClr="000000"/>
                </a:solidFill>
                <a:effectLst/>
                <a:uLnTx/>
                <a:uFillTx/>
                <a:latin typeface="Arial"/>
                <a:cs typeface="Arial"/>
              </a:rPr>
              <a:t> </a:t>
            </a:r>
            <a:r>
              <a:rPr kumimoji="0" lang="en-GB" b="1" i="1" u="none" strike="noStrike" kern="0" cap="none" spc="0" normalizeH="0" baseline="0" noProof="0" dirty="0">
                <a:ln>
                  <a:noFill/>
                </a:ln>
                <a:solidFill>
                  <a:sysClr val="windowText" lastClr="000000"/>
                </a:solidFill>
                <a:effectLst/>
                <a:uLnTx/>
                <a:uFillTx/>
                <a:latin typeface="Arial"/>
                <a:cs typeface="Arial"/>
              </a:rPr>
              <a:t>separation</a:t>
            </a:r>
            <a:r>
              <a:rPr kumimoji="0" lang="en-GB" b="1" i="1" u="none" strike="noStrike" kern="0" cap="none" spc="-35" normalizeH="0" baseline="0" noProof="0" dirty="0">
                <a:ln>
                  <a:noFill/>
                </a:ln>
                <a:solidFill>
                  <a:sysClr val="windowText" lastClr="000000"/>
                </a:solidFill>
                <a:effectLst/>
                <a:uLnTx/>
                <a:uFillTx/>
                <a:latin typeface="Arial"/>
                <a:cs typeface="Arial"/>
              </a:rPr>
              <a:t> </a:t>
            </a:r>
            <a:r>
              <a:rPr kumimoji="0" lang="en-GB" b="0" i="0" u="none" strike="noStrike" kern="0" cap="none" spc="0" normalizeH="0" baseline="0" noProof="0" dirty="0">
                <a:ln>
                  <a:noFill/>
                </a:ln>
                <a:solidFill>
                  <a:sysClr val="windowText" lastClr="000000"/>
                </a:solidFill>
                <a:effectLst/>
                <a:uLnTx/>
                <a:uFillTx/>
                <a:latin typeface="Arial MT"/>
                <a:cs typeface="Arial MT"/>
              </a:rPr>
              <a:t>to</a:t>
            </a:r>
            <a:r>
              <a:rPr kumimoji="0" lang="en-GB" b="0" i="0" u="none" strike="noStrike" kern="0" cap="none" spc="-35"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focus</a:t>
            </a:r>
            <a:r>
              <a:rPr kumimoji="0" lang="en-GB" b="0" i="0" u="none" strike="noStrike" kern="0" cap="none" spc="-35"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the</a:t>
            </a:r>
            <a:r>
              <a:rPr kumimoji="0" lang="en-GB" b="0" i="0" u="none" strike="noStrike" kern="0" cap="none" spc="-30"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eye</a:t>
            </a:r>
            <a:r>
              <a:rPr kumimoji="0" lang="en-GB" b="0" i="0" u="none" strike="noStrike" kern="0" cap="none" spc="-35"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movement</a:t>
            </a:r>
            <a:r>
              <a:rPr kumimoji="0" lang="en-GB" b="0" i="0" u="none" strike="noStrike" kern="0" cap="none" spc="-35"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inside</a:t>
            </a:r>
            <a:r>
              <a:rPr kumimoji="0" lang="en-GB" b="0" i="0" u="none" strike="noStrike" kern="0" cap="none" spc="-35"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the</a:t>
            </a:r>
            <a:r>
              <a:rPr kumimoji="0" lang="en-GB" b="0" i="0" u="none" strike="noStrike" kern="0" cap="none" spc="-35"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framework</a:t>
            </a:r>
            <a:r>
              <a:rPr kumimoji="0" lang="en-GB" b="0" i="0" u="none" strike="noStrike" kern="0" cap="none" spc="-35"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of</a:t>
            </a:r>
            <a:r>
              <a:rPr kumimoji="0" lang="en-GB" b="0" i="0" u="none" strike="noStrike" kern="0" cap="none" spc="-35"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our</a:t>
            </a:r>
            <a:r>
              <a:rPr kumimoji="0" lang="en-GB" b="0" i="0" u="none" strike="noStrike" kern="0" cap="none" spc="-30" normalizeH="0" baseline="0" noProof="0" dirty="0">
                <a:ln>
                  <a:noFill/>
                </a:ln>
                <a:solidFill>
                  <a:sysClr val="windowText" lastClr="000000"/>
                </a:solidFill>
                <a:effectLst/>
                <a:uLnTx/>
                <a:uFillTx/>
                <a:latin typeface="Arial MT"/>
                <a:cs typeface="Arial MT"/>
              </a:rPr>
              <a:t> </a:t>
            </a:r>
            <a:r>
              <a:rPr kumimoji="0" lang="en-GB" b="0" i="0" u="none" strike="noStrike" kern="0" cap="none" spc="-10" normalizeH="0" baseline="0" noProof="0" dirty="0">
                <a:ln>
                  <a:noFill/>
                </a:ln>
                <a:solidFill>
                  <a:sysClr val="windowText" lastClr="000000"/>
                </a:solidFill>
                <a:effectLst/>
                <a:uLnTx/>
                <a:uFillTx/>
                <a:latin typeface="Arial MT"/>
                <a:cs typeface="Arial MT"/>
              </a:rPr>
              <a:t>design.</a:t>
            </a:r>
            <a:endParaRPr kumimoji="0" lang="en-GB" b="0" i="0" u="none" strike="noStrike" kern="0" cap="none" spc="0" normalizeH="0" baseline="0" noProof="0" dirty="0">
              <a:ln>
                <a:noFill/>
              </a:ln>
              <a:solidFill>
                <a:sysClr val="windowText" lastClr="000000"/>
              </a:solidFill>
              <a:effectLst/>
              <a:uLnTx/>
              <a:uFillTx/>
              <a:latin typeface="Arial MT"/>
              <a:cs typeface="Arial MT"/>
            </a:endParaRPr>
          </a:p>
          <a:p>
            <a:pPr marL="526415" marR="0" lvl="1" indent="-285750" defTabSz="914400" eaLnBrk="1" fontAlgn="auto" latinLnBrk="0" hangingPunct="1">
              <a:spcBef>
                <a:spcPts val="459"/>
              </a:spcBef>
              <a:spcAft>
                <a:spcPts val="0"/>
              </a:spcAft>
              <a:buClrTx/>
              <a:buSzTx/>
              <a:buFont typeface="Arial" panose="020B0604020202020204" pitchFamily="34" charset="0"/>
              <a:buChar char="•"/>
              <a:tabLst>
                <a:tab pos="526415" algn="l"/>
              </a:tabLst>
              <a:defRPr/>
            </a:pPr>
            <a:r>
              <a:rPr kumimoji="0" lang="en-GB" b="0" i="0" u="none" strike="noStrike" kern="0" cap="none" spc="0" normalizeH="0" baseline="0" noProof="0" dirty="0">
                <a:ln>
                  <a:noFill/>
                </a:ln>
                <a:solidFill>
                  <a:sysClr val="windowText" lastClr="000000"/>
                </a:solidFill>
                <a:effectLst/>
                <a:uLnTx/>
                <a:uFillTx/>
                <a:latin typeface="Arial MT"/>
                <a:cs typeface="Arial MT"/>
              </a:rPr>
              <a:t>A</a:t>
            </a:r>
            <a:r>
              <a:rPr kumimoji="0" lang="en-GB" b="0" i="0" u="none" strike="noStrike" kern="0" cap="none" spc="-95"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styled</a:t>
            </a:r>
            <a:r>
              <a:rPr kumimoji="0" lang="en-GB" b="0" i="0" u="none" strike="noStrike" kern="0" cap="none" spc="-25"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logo</a:t>
            </a:r>
            <a:r>
              <a:rPr kumimoji="0" lang="en-GB" b="0" i="0" u="none" strike="noStrike" kern="0" cap="none" spc="-20"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to</a:t>
            </a:r>
            <a:r>
              <a:rPr kumimoji="0" lang="en-GB" b="0" i="0" u="none" strike="noStrike" kern="0" cap="none" spc="-25"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grab</a:t>
            </a:r>
            <a:r>
              <a:rPr kumimoji="0" lang="en-GB" b="0" i="0" u="none" strike="noStrike" kern="0" cap="none" spc="-20"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the</a:t>
            </a:r>
            <a:r>
              <a:rPr kumimoji="0" lang="en-GB" b="0" i="0" u="none" strike="noStrike" kern="0" cap="none" spc="-25"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user’s</a:t>
            </a:r>
            <a:r>
              <a:rPr kumimoji="0" lang="en-GB" b="0" i="0" u="none" strike="noStrike" kern="0" cap="none" spc="-25"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attention</a:t>
            </a:r>
            <a:r>
              <a:rPr kumimoji="0" lang="en-GB" b="0" i="0" u="none" strike="noStrike" kern="0" cap="none" spc="-20"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at</a:t>
            </a:r>
            <a:r>
              <a:rPr kumimoji="0" lang="en-GB" b="0" i="0" u="none" strike="noStrike" kern="0" cap="none" spc="-25"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point</a:t>
            </a:r>
            <a:r>
              <a:rPr kumimoji="0" lang="en-GB" b="0" i="0" u="none" strike="noStrike" kern="0" cap="none" spc="-20" normalizeH="0" baseline="0" noProof="0" dirty="0">
                <a:ln>
                  <a:noFill/>
                </a:ln>
                <a:solidFill>
                  <a:sysClr val="windowText" lastClr="000000"/>
                </a:solidFill>
                <a:effectLst/>
                <a:uLnTx/>
                <a:uFillTx/>
                <a:latin typeface="Arial MT"/>
                <a:cs typeface="Arial MT"/>
              </a:rPr>
              <a:t> </a:t>
            </a:r>
            <a:r>
              <a:rPr kumimoji="0" lang="en-GB" b="0" i="0" u="none" strike="noStrike" kern="0" cap="none" spc="-25" normalizeH="0" baseline="0" noProof="0" dirty="0">
                <a:ln>
                  <a:noFill/>
                </a:ln>
                <a:solidFill>
                  <a:sysClr val="windowText" lastClr="000000"/>
                </a:solidFill>
                <a:effectLst/>
                <a:uLnTx/>
                <a:uFillTx/>
                <a:latin typeface="Arial MT"/>
                <a:cs typeface="Arial MT"/>
              </a:rPr>
              <a:t>#1.</a:t>
            </a:r>
            <a:endParaRPr kumimoji="0" lang="en-GB" b="0" i="0" u="none" strike="noStrike" kern="0" cap="none" spc="0" normalizeH="0" baseline="0" noProof="0" dirty="0">
              <a:ln>
                <a:noFill/>
              </a:ln>
              <a:solidFill>
                <a:sysClr val="windowText" lastClr="000000"/>
              </a:solidFill>
              <a:effectLst/>
              <a:uLnTx/>
              <a:uFillTx/>
              <a:latin typeface="Arial MT"/>
              <a:cs typeface="Arial MT"/>
            </a:endParaRPr>
          </a:p>
          <a:p>
            <a:pPr marL="526415" marR="0" lvl="1" indent="-285750" defTabSz="914400" eaLnBrk="1" fontAlgn="auto" latinLnBrk="0" hangingPunct="1">
              <a:spcBef>
                <a:spcPts val="430"/>
              </a:spcBef>
              <a:spcAft>
                <a:spcPts val="0"/>
              </a:spcAft>
              <a:buClrTx/>
              <a:buSzTx/>
              <a:buFont typeface="Arial" panose="020B0604020202020204" pitchFamily="34" charset="0"/>
              <a:buChar char="•"/>
              <a:tabLst>
                <a:tab pos="526415" algn="l"/>
              </a:tabLst>
              <a:defRPr/>
            </a:pPr>
            <a:r>
              <a:rPr kumimoji="0" lang="en-GB" b="0" i="0" u="none" strike="noStrike" kern="0" cap="none" spc="0" normalizeH="0" baseline="0" noProof="0" dirty="0">
                <a:ln>
                  <a:noFill/>
                </a:ln>
                <a:solidFill>
                  <a:sysClr val="windowText" lastClr="000000"/>
                </a:solidFill>
                <a:effectLst/>
                <a:uLnTx/>
                <a:uFillTx/>
                <a:latin typeface="Arial MT"/>
                <a:cs typeface="Arial MT"/>
              </a:rPr>
              <a:t>A</a:t>
            </a:r>
            <a:r>
              <a:rPr kumimoji="0" lang="en-GB" b="0" i="0" u="none" strike="noStrike" kern="0" cap="none" spc="-95"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colourful</a:t>
            </a:r>
            <a:r>
              <a:rPr kumimoji="0" lang="en-GB" b="0" i="0" u="none" strike="noStrike" kern="0" cap="none" spc="-30"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“sign</a:t>
            </a:r>
            <a:r>
              <a:rPr kumimoji="0" lang="en-GB" b="0" i="0" u="none" strike="noStrike" kern="0" cap="none" spc="-25"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up”</a:t>
            </a:r>
            <a:r>
              <a:rPr kumimoji="0" lang="en-GB" b="0" i="0" u="none" strike="noStrike" kern="0" cap="none" spc="-25"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button</a:t>
            </a:r>
            <a:r>
              <a:rPr kumimoji="0" lang="en-GB" b="0" i="0" u="none" strike="noStrike" kern="0" cap="none" spc="-25"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at</a:t>
            </a:r>
            <a:r>
              <a:rPr kumimoji="0" lang="en-GB" b="0" i="0" u="none" strike="noStrike" kern="0" cap="none" spc="-25"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point</a:t>
            </a:r>
            <a:r>
              <a:rPr kumimoji="0" lang="en-GB" b="0" i="0" u="none" strike="noStrike" kern="0" cap="none" spc="-30"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#2:</a:t>
            </a:r>
            <a:r>
              <a:rPr kumimoji="0" lang="en-GB" b="0" i="0" u="none" strike="noStrike" kern="0" cap="none" spc="-25"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this</a:t>
            </a:r>
            <a:r>
              <a:rPr kumimoji="0" lang="en-GB" b="0" i="0" u="none" strike="noStrike" kern="0" cap="none" spc="-25"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will</a:t>
            </a:r>
            <a:r>
              <a:rPr kumimoji="0" lang="en-GB" b="0" i="0" u="none" strike="noStrike" kern="0" cap="none" spc="-25" normalizeH="0" baseline="0" noProof="0" dirty="0">
                <a:ln>
                  <a:noFill/>
                </a:ln>
                <a:solidFill>
                  <a:sysClr val="windowText" lastClr="000000"/>
                </a:solidFill>
                <a:effectLst/>
                <a:uLnTx/>
                <a:uFillTx/>
                <a:latin typeface="Arial MT"/>
                <a:cs typeface="Arial MT"/>
              </a:rPr>
              <a:t> </a:t>
            </a:r>
            <a:r>
              <a:rPr kumimoji="0" lang="en-GB" b="1" i="1" u="none" strike="noStrike" kern="0" cap="none" spc="0" normalizeH="0" baseline="0" noProof="0" dirty="0">
                <a:ln>
                  <a:noFill/>
                </a:ln>
                <a:solidFill>
                  <a:sysClr val="windowText" lastClr="000000"/>
                </a:solidFill>
                <a:effectLst/>
                <a:uLnTx/>
                <a:uFillTx/>
                <a:latin typeface="Arial"/>
                <a:cs typeface="Arial"/>
              </a:rPr>
              <a:t>reinforce</a:t>
            </a:r>
            <a:r>
              <a:rPr kumimoji="0" lang="en-GB" b="1" i="1" u="none" strike="noStrike" kern="0" cap="none" spc="-30" normalizeH="0" baseline="0" noProof="0" dirty="0">
                <a:ln>
                  <a:noFill/>
                </a:ln>
                <a:solidFill>
                  <a:sysClr val="windowText" lastClr="000000"/>
                </a:solidFill>
                <a:effectLst/>
                <a:uLnTx/>
                <a:uFillTx/>
                <a:latin typeface="Arial"/>
                <a:cs typeface="Arial"/>
              </a:rPr>
              <a:t> </a:t>
            </a:r>
            <a:r>
              <a:rPr kumimoji="0" lang="en-GB" b="1" i="1" u="none" strike="noStrike" kern="0" cap="none" spc="0" normalizeH="0" baseline="0" noProof="0" dirty="0">
                <a:ln>
                  <a:noFill/>
                </a:ln>
                <a:solidFill>
                  <a:sysClr val="windowText" lastClr="000000"/>
                </a:solidFill>
                <a:effectLst/>
                <a:uLnTx/>
                <a:uFillTx/>
                <a:latin typeface="Arial"/>
                <a:cs typeface="Arial"/>
              </a:rPr>
              <a:t>the</a:t>
            </a:r>
            <a:r>
              <a:rPr kumimoji="0" lang="en-GB" b="1" i="1" u="none" strike="noStrike" kern="0" cap="none" spc="-25" normalizeH="0" baseline="0" noProof="0" dirty="0">
                <a:ln>
                  <a:noFill/>
                </a:ln>
                <a:solidFill>
                  <a:sysClr val="windowText" lastClr="000000"/>
                </a:solidFill>
                <a:effectLst/>
                <a:uLnTx/>
                <a:uFillTx/>
                <a:latin typeface="Arial"/>
                <a:cs typeface="Arial"/>
              </a:rPr>
              <a:t> </a:t>
            </a:r>
            <a:r>
              <a:rPr kumimoji="0" lang="en-GB" b="1" i="1" u="none" strike="noStrike" kern="0" cap="none" spc="0" normalizeH="0" baseline="0" noProof="0" dirty="0">
                <a:ln>
                  <a:noFill/>
                </a:ln>
                <a:solidFill>
                  <a:sysClr val="windowText" lastClr="000000"/>
                </a:solidFill>
                <a:effectLst/>
                <a:uLnTx/>
                <a:uFillTx/>
                <a:latin typeface="Arial"/>
                <a:cs typeface="Arial"/>
              </a:rPr>
              <a:t>desired</a:t>
            </a:r>
            <a:r>
              <a:rPr kumimoji="0" lang="en-GB" b="1" i="1" u="none" strike="noStrike" kern="0" cap="none" spc="-20" normalizeH="0" baseline="0" noProof="0" dirty="0">
                <a:ln>
                  <a:noFill/>
                </a:ln>
                <a:solidFill>
                  <a:sysClr val="windowText" lastClr="000000"/>
                </a:solidFill>
                <a:effectLst/>
                <a:uLnTx/>
                <a:uFillTx/>
                <a:latin typeface="Arial"/>
                <a:cs typeface="Arial"/>
              </a:rPr>
              <a:t> </a:t>
            </a:r>
            <a:r>
              <a:rPr kumimoji="0" lang="en-GB" b="1" i="1" u="none" strike="noStrike" kern="0" cap="none" spc="0" normalizeH="0" baseline="0" noProof="0" dirty="0">
                <a:ln>
                  <a:noFill/>
                </a:ln>
                <a:solidFill>
                  <a:sysClr val="windowText" lastClr="000000"/>
                </a:solidFill>
                <a:effectLst/>
                <a:uLnTx/>
                <a:uFillTx/>
                <a:latin typeface="Arial"/>
                <a:cs typeface="Arial"/>
              </a:rPr>
              <a:t>eye</a:t>
            </a:r>
            <a:r>
              <a:rPr kumimoji="0" lang="en-GB" b="1" i="1" u="none" strike="noStrike" kern="0" cap="none" spc="-30" normalizeH="0" baseline="0" noProof="0" dirty="0">
                <a:ln>
                  <a:noFill/>
                </a:ln>
                <a:solidFill>
                  <a:sysClr val="windowText" lastClr="000000"/>
                </a:solidFill>
                <a:effectLst/>
                <a:uLnTx/>
                <a:uFillTx/>
                <a:latin typeface="Arial"/>
                <a:cs typeface="Arial"/>
              </a:rPr>
              <a:t> </a:t>
            </a:r>
            <a:r>
              <a:rPr kumimoji="0" lang="en-GB" b="1" i="1" u="none" strike="noStrike" kern="0" cap="none" spc="-10" normalizeH="0" baseline="0" noProof="0" dirty="0">
                <a:ln>
                  <a:noFill/>
                </a:ln>
                <a:solidFill>
                  <a:sysClr val="windowText" lastClr="000000"/>
                </a:solidFill>
                <a:effectLst/>
                <a:uLnTx/>
                <a:uFillTx/>
                <a:latin typeface="Arial"/>
                <a:cs typeface="Arial"/>
              </a:rPr>
              <a:t>movement</a:t>
            </a:r>
            <a:r>
              <a:rPr kumimoji="0" lang="en-GB" b="0" i="0" u="none" strike="noStrike" kern="0" cap="none" spc="-10" normalizeH="0" baseline="0" noProof="0" dirty="0">
                <a:ln>
                  <a:noFill/>
                </a:ln>
                <a:solidFill>
                  <a:sysClr val="windowText" lastClr="000000"/>
                </a:solidFill>
                <a:effectLst/>
                <a:uLnTx/>
                <a:uFillTx/>
                <a:latin typeface="Arial MT"/>
                <a:cs typeface="Arial MT"/>
              </a:rPr>
              <a:t>.</a:t>
            </a:r>
            <a:endParaRPr kumimoji="0" lang="en-GB" b="0" i="0" u="none" strike="noStrike" kern="0" cap="none" spc="0" normalizeH="0" baseline="0" noProof="0" dirty="0">
              <a:ln>
                <a:noFill/>
              </a:ln>
              <a:solidFill>
                <a:sysClr val="windowText" lastClr="000000"/>
              </a:solidFill>
              <a:effectLst/>
              <a:uLnTx/>
              <a:uFillTx/>
              <a:latin typeface="Arial MT"/>
              <a:cs typeface="Arial MT"/>
            </a:endParaRPr>
          </a:p>
          <a:p>
            <a:pPr marL="526415" marR="126364" lvl="1" indent="-285750" defTabSz="914400" eaLnBrk="1" fontAlgn="auto" latinLnBrk="0" hangingPunct="1">
              <a:spcBef>
                <a:spcPts val="595"/>
              </a:spcBef>
              <a:spcAft>
                <a:spcPts val="0"/>
              </a:spcAft>
              <a:buClrTx/>
              <a:buSzTx/>
              <a:buFont typeface="Arial" panose="020B0604020202020204" pitchFamily="34" charset="0"/>
              <a:buChar char="•"/>
              <a:tabLst>
                <a:tab pos="526415" algn="l"/>
              </a:tabLst>
              <a:defRPr/>
            </a:pPr>
            <a:r>
              <a:rPr kumimoji="0" lang="en-GB" b="0" i="0" u="none" strike="noStrike" kern="0" cap="none" spc="0" normalizeH="0" baseline="0" noProof="0" dirty="0">
                <a:ln>
                  <a:noFill/>
                </a:ln>
                <a:solidFill>
                  <a:sysClr val="windowText" lastClr="000000"/>
                </a:solidFill>
                <a:effectLst/>
                <a:uLnTx/>
                <a:uFillTx/>
                <a:latin typeface="Arial MT"/>
                <a:cs typeface="Arial MT"/>
              </a:rPr>
              <a:t>A</a:t>
            </a:r>
            <a:r>
              <a:rPr kumimoji="0" lang="en-GB" b="0" i="0" u="none" strike="noStrike" kern="0" cap="none" spc="-95"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Featured</a:t>
            </a:r>
            <a:r>
              <a:rPr kumimoji="0" lang="en-GB" b="0" i="0" u="none" strike="noStrike" kern="0" cap="none" spc="-35"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Image</a:t>
            </a:r>
            <a:r>
              <a:rPr kumimoji="0" lang="en-GB" b="0" i="0" u="none" strike="noStrike" kern="0" cap="none" spc="-30"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Slider</a:t>
            </a:r>
            <a:r>
              <a:rPr kumimoji="0" lang="en-GB" b="0" i="0" u="none" strike="noStrike" kern="0" cap="none" spc="-20"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in</a:t>
            </a:r>
            <a:r>
              <a:rPr kumimoji="0" lang="en-GB" b="0" i="0" u="none" strike="noStrike" kern="0" cap="none" spc="-30"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the</a:t>
            </a:r>
            <a:r>
              <a:rPr kumimoji="0" lang="en-GB" b="0" i="0" u="none" strike="noStrike" kern="0" cap="none" spc="-25"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centre</a:t>
            </a:r>
            <a:r>
              <a:rPr kumimoji="0" lang="en-GB" b="0" i="0" u="none" strike="noStrike" kern="0" cap="none" spc="-25"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of</a:t>
            </a:r>
            <a:r>
              <a:rPr kumimoji="0" lang="en-GB" b="0" i="0" u="none" strike="noStrike" kern="0" cap="none" spc="-30"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the</a:t>
            </a:r>
            <a:r>
              <a:rPr kumimoji="0" lang="en-GB" b="0" i="0" u="none" strike="noStrike" kern="0" cap="none" spc="-25"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page:</a:t>
            </a:r>
            <a:r>
              <a:rPr kumimoji="0" lang="en-GB" b="0" i="0" u="none" strike="noStrike" kern="0" cap="none" spc="-30"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this</a:t>
            </a:r>
            <a:r>
              <a:rPr kumimoji="0" lang="en-GB" b="0" i="0" u="none" strike="noStrike" kern="0" cap="none" spc="-25" normalizeH="0" baseline="0" noProof="0" dirty="0">
                <a:ln>
                  <a:noFill/>
                </a:ln>
                <a:solidFill>
                  <a:sysClr val="windowText" lastClr="000000"/>
                </a:solidFill>
                <a:effectLst/>
                <a:uLnTx/>
                <a:uFillTx/>
                <a:latin typeface="Arial MT"/>
                <a:cs typeface="Arial MT"/>
              </a:rPr>
              <a:t> </a:t>
            </a:r>
            <a:r>
              <a:rPr kumimoji="0" lang="en-GB" b="1" i="1" u="none" strike="noStrike" kern="0" cap="none" spc="0" normalizeH="0" baseline="0" noProof="0" dirty="0">
                <a:ln>
                  <a:noFill/>
                </a:ln>
                <a:solidFill>
                  <a:sysClr val="windowText" lastClr="000000"/>
                </a:solidFill>
                <a:effectLst/>
                <a:uLnTx/>
                <a:uFillTx/>
                <a:latin typeface="Arial"/>
                <a:cs typeface="Arial"/>
              </a:rPr>
              <a:t>will</a:t>
            </a:r>
            <a:r>
              <a:rPr kumimoji="0" lang="en-GB" b="1" i="1" u="none" strike="noStrike" kern="0" cap="none" spc="-30" normalizeH="0" baseline="0" noProof="0" dirty="0">
                <a:ln>
                  <a:noFill/>
                </a:ln>
                <a:solidFill>
                  <a:sysClr val="windowText" lastClr="000000"/>
                </a:solidFill>
                <a:effectLst/>
                <a:uLnTx/>
                <a:uFillTx/>
                <a:latin typeface="Arial"/>
                <a:cs typeface="Arial"/>
              </a:rPr>
              <a:t> </a:t>
            </a:r>
            <a:r>
              <a:rPr kumimoji="0" lang="en-GB" b="1" i="1" u="none" strike="noStrike" kern="0" cap="none" spc="0" normalizeH="0" baseline="0" noProof="0" dirty="0">
                <a:ln>
                  <a:noFill/>
                </a:ln>
                <a:solidFill>
                  <a:sysClr val="windowText" lastClr="000000"/>
                </a:solidFill>
                <a:effectLst/>
                <a:uLnTx/>
                <a:uFillTx/>
                <a:latin typeface="Arial"/>
                <a:cs typeface="Arial"/>
              </a:rPr>
              <a:t>separate</a:t>
            </a:r>
            <a:r>
              <a:rPr kumimoji="0" lang="en-GB" b="1" i="1" u="none" strike="noStrike" kern="0" cap="none" spc="-25" normalizeH="0" baseline="0" noProof="0" dirty="0">
                <a:ln>
                  <a:noFill/>
                </a:ln>
                <a:solidFill>
                  <a:sysClr val="windowText" lastClr="000000"/>
                </a:solidFill>
                <a:effectLst/>
                <a:uLnTx/>
                <a:uFillTx/>
                <a:latin typeface="Arial"/>
                <a:cs typeface="Arial"/>
              </a:rPr>
              <a:t> </a:t>
            </a:r>
            <a:r>
              <a:rPr kumimoji="0" lang="en-GB" b="1" i="1" u="none" strike="noStrike" kern="0" cap="none" spc="0" normalizeH="0" baseline="0" noProof="0" dirty="0">
                <a:ln>
                  <a:noFill/>
                </a:ln>
                <a:solidFill>
                  <a:sysClr val="windowText" lastClr="000000"/>
                </a:solidFill>
                <a:effectLst/>
                <a:uLnTx/>
                <a:uFillTx/>
                <a:latin typeface="Arial"/>
                <a:cs typeface="Arial"/>
              </a:rPr>
              <a:t>the</a:t>
            </a:r>
            <a:r>
              <a:rPr kumimoji="0" lang="en-GB" b="1" i="1" u="none" strike="noStrike" kern="0" cap="none" spc="-30" normalizeH="0" baseline="0" noProof="0" dirty="0">
                <a:ln>
                  <a:noFill/>
                </a:ln>
                <a:solidFill>
                  <a:sysClr val="windowText" lastClr="000000"/>
                </a:solidFill>
                <a:effectLst/>
                <a:uLnTx/>
                <a:uFillTx/>
                <a:latin typeface="Arial"/>
                <a:cs typeface="Arial"/>
              </a:rPr>
              <a:t> </a:t>
            </a:r>
            <a:r>
              <a:rPr kumimoji="0" lang="en-GB" b="1" i="1" u="none" strike="noStrike" kern="0" cap="none" spc="0" normalizeH="0" baseline="0" noProof="0" dirty="0">
                <a:ln>
                  <a:noFill/>
                </a:ln>
                <a:solidFill>
                  <a:sysClr val="windowText" lastClr="000000"/>
                </a:solidFill>
                <a:effectLst/>
                <a:uLnTx/>
                <a:uFillTx/>
                <a:latin typeface="Arial"/>
                <a:cs typeface="Arial"/>
              </a:rPr>
              <a:t>top</a:t>
            </a:r>
            <a:r>
              <a:rPr kumimoji="0" lang="en-GB" b="1" i="1" u="none" strike="noStrike" kern="0" cap="none" spc="-20" normalizeH="0" baseline="0" noProof="0" dirty="0">
                <a:ln>
                  <a:noFill/>
                </a:ln>
                <a:solidFill>
                  <a:sysClr val="windowText" lastClr="000000"/>
                </a:solidFill>
                <a:effectLst/>
                <a:uLnTx/>
                <a:uFillTx/>
                <a:latin typeface="Arial"/>
                <a:cs typeface="Arial"/>
              </a:rPr>
              <a:t> </a:t>
            </a:r>
            <a:r>
              <a:rPr kumimoji="0" lang="en-GB" b="1" i="1" u="none" strike="noStrike" kern="0" cap="none" spc="0" normalizeH="0" baseline="0" noProof="0" dirty="0">
                <a:ln>
                  <a:noFill/>
                </a:ln>
                <a:solidFill>
                  <a:sysClr val="windowText" lastClr="000000"/>
                </a:solidFill>
                <a:effectLst/>
                <a:uLnTx/>
                <a:uFillTx/>
                <a:latin typeface="Arial"/>
                <a:cs typeface="Arial"/>
              </a:rPr>
              <a:t>section</a:t>
            </a:r>
            <a:r>
              <a:rPr kumimoji="0" lang="en-GB" b="1" i="1" u="none" strike="noStrike" kern="0" cap="none" spc="-25" normalizeH="0" baseline="0" noProof="0" dirty="0">
                <a:ln>
                  <a:noFill/>
                </a:ln>
                <a:solidFill>
                  <a:sysClr val="windowText" lastClr="000000"/>
                </a:solidFill>
                <a:effectLst/>
                <a:uLnTx/>
                <a:uFillTx/>
                <a:latin typeface="Arial"/>
                <a:cs typeface="Arial"/>
              </a:rPr>
              <a:t> of </a:t>
            </a:r>
            <a:r>
              <a:rPr kumimoji="0" lang="en-GB" b="1" i="1" u="none" strike="noStrike" kern="0" cap="none" spc="0" normalizeH="0" baseline="0" noProof="0" dirty="0">
                <a:ln>
                  <a:noFill/>
                </a:ln>
                <a:solidFill>
                  <a:sysClr val="windowText" lastClr="000000"/>
                </a:solidFill>
                <a:effectLst/>
                <a:uLnTx/>
                <a:uFillTx/>
                <a:latin typeface="Arial"/>
                <a:cs typeface="Arial"/>
              </a:rPr>
              <a:t>the</a:t>
            </a:r>
            <a:r>
              <a:rPr kumimoji="0" lang="en-GB" b="1" i="1" u="none" strike="noStrike" kern="0" cap="none" spc="-30" normalizeH="0" baseline="0" noProof="0" dirty="0">
                <a:ln>
                  <a:noFill/>
                </a:ln>
                <a:solidFill>
                  <a:sysClr val="windowText" lastClr="000000"/>
                </a:solidFill>
                <a:effectLst/>
                <a:uLnTx/>
                <a:uFillTx/>
                <a:latin typeface="Arial"/>
                <a:cs typeface="Arial"/>
              </a:rPr>
              <a:t> </a:t>
            </a:r>
            <a:r>
              <a:rPr kumimoji="0" lang="en-GB" b="1" i="1" u="none" strike="noStrike" kern="0" cap="none" spc="0" normalizeH="0" baseline="0" noProof="0" dirty="0">
                <a:ln>
                  <a:noFill/>
                </a:ln>
                <a:solidFill>
                  <a:sysClr val="windowText" lastClr="000000"/>
                </a:solidFill>
                <a:effectLst/>
                <a:uLnTx/>
                <a:uFillTx/>
                <a:latin typeface="Arial"/>
                <a:cs typeface="Arial"/>
              </a:rPr>
              <a:t>design</a:t>
            </a:r>
            <a:r>
              <a:rPr kumimoji="0" lang="en-GB" b="1" i="1" u="none" strike="noStrike" kern="0" cap="none" spc="-25" normalizeH="0" baseline="0" noProof="0" dirty="0">
                <a:ln>
                  <a:noFill/>
                </a:ln>
                <a:solidFill>
                  <a:sysClr val="windowText" lastClr="000000"/>
                </a:solidFill>
                <a:effectLst/>
                <a:uLnTx/>
                <a:uFillTx/>
                <a:latin typeface="Arial"/>
                <a:cs typeface="Arial"/>
              </a:rPr>
              <a:t> </a:t>
            </a:r>
            <a:r>
              <a:rPr kumimoji="0" lang="en-GB" b="1" i="1" u="none" strike="noStrike" kern="0" cap="none" spc="0" normalizeH="0" baseline="0" noProof="0" dirty="0">
                <a:ln>
                  <a:noFill/>
                </a:ln>
                <a:solidFill>
                  <a:sysClr val="windowText" lastClr="000000"/>
                </a:solidFill>
                <a:effectLst/>
                <a:uLnTx/>
                <a:uFillTx/>
                <a:latin typeface="Arial"/>
                <a:cs typeface="Arial"/>
              </a:rPr>
              <a:t>from</a:t>
            </a:r>
            <a:r>
              <a:rPr kumimoji="0" lang="en-GB" b="1" i="1" u="none" strike="noStrike" kern="0" cap="none" spc="-40" normalizeH="0" baseline="0" noProof="0" dirty="0">
                <a:ln>
                  <a:noFill/>
                </a:ln>
                <a:solidFill>
                  <a:sysClr val="windowText" lastClr="000000"/>
                </a:solidFill>
                <a:effectLst/>
                <a:uLnTx/>
                <a:uFillTx/>
                <a:latin typeface="Arial"/>
                <a:cs typeface="Arial"/>
              </a:rPr>
              <a:t> </a:t>
            </a:r>
            <a:r>
              <a:rPr kumimoji="0" lang="en-GB" b="1" i="1" u="none" strike="noStrike" kern="0" cap="none" spc="0" normalizeH="0" baseline="0" noProof="0" dirty="0">
                <a:ln>
                  <a:noFill/>
                </a:ln>
                <a:solidFill>
                  <a:sysClr val="windowText" lastClr="000000"/>
                </a:solidFill>
                <a:effectLst/>
                <a:uLnTx/>
                <a:uFillTx/>
                <a:latin typeface="Arial"/>
                <a:cs typeface="Arial"/>
              </a:rPr>
              <a:t>the</a:t>
            </a:r>
            <a:r>
              <a:rPr kumimoji="0" lang="en-GB" b="1" i="1" u="none" strike="noStrike" kern="0" cap="none" spc="-30" normalizeH="0" baseline="0" noProof="0" dirty="0">
                <a:ln>
                  <a:noFill/>
                </a:ln>
                <a:solidFill>
                  <a:sysClr val="windowText" lastClr="000000"/>
                </a:solidFill>
                <a:effectLst/>
                <a:uLnTx/>
                <a:uFillTx/>
                <a:latin typeface="Arial"/>
                <a:cs typeface="Arial"/>
              </a:rPr>
              <a:t> </a:t>
            </a:r>
            <a:r>
              <a:rPr kumimoji="0" lang="en-GB" b="1" i="1" u="none" strike="noStrike" kern="0" cap="none" spc="0" normalizeH="0" baseline="0" noProof="0" dirty="0">
                <a:ln>
                  <a:noFill/>
                </a:ln>
                <a:solidFill>
                  <a:sysClr val="windowText" lastClr="000000"/>
                </a:solidFill>
                <a:effectLst/>
                <a:uLnTx/>
                <a:uFillTx/>
                <a:latin typeface="Arial"/>
                <a:cs typeface="Arial"/>
              </a:rPr>
              <a:t>bottom</a:t>
            </a:r>
            <a:r>
              <a:rPr lang="en-GB" dirty="0">
                <a:latin typeface="Arial MT"/>
                <a:cs typeface="Arial"/>
              </a:rPr>
              <a:t> </a:t>
            </a:r>
            <a:r>
              <a:rPr kumimoji="0" lang="en-GB" b="0" i="0" u="none" strike="noStrike" kern="0" cap="none" spc="0" normalizeH="0" baseline="0" noProof="0" dirty="0">
                <a:ln>
                  <a:noFill/>
                </a:ln>
                <a:solidFill>
                  <a:sysClr val="windowText" lastClr="000000"/>
                </a:solidFill>
                <a:effectLst/>
                <a:uLnTx/>
                <a:uFillTx/>
                <a:latin typeface="Arial MT"/>
                <a:cs typeface="Arial MT"/>
              </a:rPr>
              <a:t>and</a:t>
            </a:r>
            <a:r>
              <a:rPr kumimoji="0" lang="en-GB" b="0" i="0" u="none" strike="noStrike" kern="0" cap="none" spc="-30"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facilitate</a:t>
            </a:r>
            <a:r>
              <a:rPr kumimoji="0" lang="en-GB" b="0" i="0" u="none" strike="noStrike" kern="0" cap="none" spc="-30"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eye</a:t>
            </a:r>
            <a:r>
              <a:rPr kumimoji="0" lang="en-GB" b="0" i="0" u="none" strike="noStrike" kern="0" cap="none" spc="-30"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movement</a:t>
            </a:r>
            <a:r>
              <a:rPr kumimoji="0" lang="en-GB" b="0" i="0" u="none" strike="noStrike" kern="0" cap="none" spc="-30" normalizeH="0" baseline="0" noProof="0" dirty="0">
                <a:ln>
                  <a:noFill/>
                </a:ln>
                <a:solidFill>
                  <a:sysClr val="windowText" lastClr="000000"/>
                </a:solidFill>
                <a:effectLst/>
                <a:uLnTx/>
                <a:uFillTx/>
                <a:latin typeface="Arial MT"/>
                <a:cs typeface="Arial MT"/>
              </a:rPr>
              <a:t> </a:t>
            </a:r>
            <a:r>
              <a:rPr kumimoji="0" lang="en-GB" b="0" i="0" u="none" strike="noStrike" kern="0" cap="none" spc="-10" normalizeH="0" baseline="0" noProof="0" dirty="0">
                <a:ln>
                  <a:noFill/>
                </a:ln>
                <a:solidFill>
                  <a:sysClr val="windowText" lastClr="000000"/>
                </a:solidFill>
                <a:effectLst/>
                <a:uLnTx/>
                <a:uFillTx/>
                <a:latin typeface="Arial MT"/>
                <a:cs typeface="Arial MT"/>
              </a:rPr>
              <a:t>downward.</a:t>
            </a:r>
            <a:endParaRPr kumimoji="0" lang="en-GB" b="0" i="0" u="none" strike="noStrike" kern="0" cap="none" spc="0" normalizeH="0" baseline="0" noProof="0" dirty="0">
              <a:ln>
                <a:noFill/>
              </a:ln>
              <a:solidFill>
                <a:sysClr val="windowText" lastClr="000000"/>
              </a:solidFill>
              <a:effectLst/>
              <a:uLnTx/>
              <a:uFillTx/>
              <a:latin typeface="Arial MT"/>
              <a:cs typeface="Arial MT"/>
            </a:endParaRPr>
          </a:p>
          <a:p>
            <a:pPr marL="526415" marR="120650" lvl="1" indent="-285750" defTabSz="914400" eaLnBrk="1" fontAlgn="auto" latinLnBrk="0" hangingPunct="1">
              <a:spcBef>
                <a:spcPts val="595"/>
              </a:spcBef>
              <a:spcAft>
                <a:spcPts val="0"/>
              </a:spcAft>
              <a:buClrTx/>
              <a:buSzTx/>
              <a:buFont typeface="Arial" panose="020B0604020202020204" pitchFamily="34" charset="0"/>
              <a:buChar char="•"/>
              <a:tabLst>
                <a:tab pos="526415" algn="l"/>
              </a:tabLst>
              <a:defRPr/>
            </a:pPr>
            <a:r>
              <a:rPr kumimoji="0" lang="en-GB" b="0" i="0" u="none" strike="noStrike" kern="0" cap="none" spc="0" normalizeH="0" baseline="0" noProof="0" dirty="0">
                <a:ln>
                  <a:noFill/>
                </a:ln>
                <a:solidFill>
                  <a:sysClr val="windowText" lastClr="000000"/>
                </a:solidFill>
                <a:effectLst/>
                <a:uLnTx/>
                <a:uFillTx/>
                <a:latin typeface="Arial MT"/>
                <a:cs typeface="Arial MT"/>
              </a:rPr>
              <a:t>Icons</a:t>
            </a:r>
            <a:r>
              <a:rPr kumimoji="0" lang="en-GB" b="0" i="0" u="none" strike="noStrike" kern="0" cap="none" spc="-30"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at</a:t>
            </a:r>
            <a:r>
              <a:rPr kumimoji="0" lang="en-GB" b="0" i="0" u="none" strike="noStrike" kern="0" cap="none" spc="-25"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point</a:t>
            </a:r>
            <a:r>
              <a:rPr kumimoji="0" lang="en-GB" b="0" i="0" u="none" strike="noStrike" kern="0" cap="none" spc="-25"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#3</a:t>
            </a:r>
            <a:r>
              <a:rPr kumimoji="0" lang="en-GB" b="0" i="0" u="none" strike="noStrike" kern="0" cap="none" spc="-25"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and</a:t>
            </a:r>
            <a:r>
              <a:rPr kumimoji="0" lang="en-GB" b="0" i="0" u="none" strike="noStrike" kern="0" cap="none" spc="-25"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along</a:t>
            </a:r>
            <a:r>
              <a:rPr kumimoji="0" lang="en-GB" b="0" i="0" u="none" strike="noStrike" kern="0" cap="none" spc="-25"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the</a:t>
            </a:r>
            <a:r>
              <a:rPr kumimoji="0" lang="en-GB" b="0" i="0" u="none" strike="noStrike" kern="0" cap="none" spc="-25"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bottom</a:t>
            </a:r>
            <a:r>
              <a:rPr kumimoji="0" lang="en-GB" b="0" i="0" u="none" strike="noStrike" kern="0" cap="none" spc="-20"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axis:</a:t>
            </a:r>
            <a:r>
              <a:rPr kumimoji="0" lang="en-GB" b="0" i="0" u="none" strike="noStrike" kern="0" cap="none" spc="-25"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this</a:t>
            </a:r>
            <a:r>
              <a:rPr kumimoji="0" lang="en-GB" b="0" i="0" u="none" strike="noStrike" kern="0" cap="none" spc="-25"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will</a:t>
            </a:r>
            <a:r>
              <a:rPr kumimoji="0" lang="en-GB" b="0" i="0" u="none" strike="noStrike" kern="0" cap="none" spc="-30" normalizeH="0" baseline="0" noProof="0" dirty="0">
                <a:ln>
                  <a:noFill/>
                </a:ln>
                <a:solidFill>
                  <a:sysClr val="windowText" lastClr="000000"/>
                </a:solidFill>
                <a:effectLst/>
                <a:uLnTx/>
                <a:uFillTx/>
                <a:latin typeface="Arial MT"/>
                <a:cs typeface="Arial MT"/>
              </a:rPr>
              <a:t> </a:t>
            </a:r>
            <a:r>
              <a:rPr kumimoji="0" lang="en-GB" b="1" i="1" u="none" strike="noStrike" kern="0" cap="none" spc="0" normalizeH="0" baseline="0" noProof="0" dirty="0">
                <a:ln>
                  <a:noFill/>
                </a:ln>
                <a:solidFill>
                  <a:sysClr val="windowText" lastClr="000000"/>
                </a:solidFill>
                <a:effectLst/>
                <a:uLnTx/>
                <a:uFillTx/>
                <a:latin typeface="Arial"/>
                <a:cs typeface="Arial"/>
              </a:rPr>
              <a:t>encourage</a:t>
            </a:r>
            <a:r>
              <a:rPr kumimoji="0" lang="en-GB" b="1" i="1" u="none" strike="noStrike" kern="0" cap="none" spc="-25" normalizeH="0" baseline="0" noProof="0" dirty="0">
                <a:ln>
                  <a:noFill/>
                </a:ln>
                <a:solidFill>
                  <a:sysClr val="windowText" lastClr="000000"/>
                </a:solidFill>
                <a:effectLst/>
                <a:uLnTx/>
                <a:uFillTx/>
                <a:latin typeface="Arial"/>
                <a:cs typeface="Arial"/>
              </a:rPr>
              <a:t> </a:t>
            </a:r>
            <a:r>
              <a:rPr kumimoji="0" lang="en-GB" b="1" i="1" u="none" strike="noStrike" kern="0" cap="none" spc="0" normalizeH="0" baseline="0" noProof="0" dirty="0">
                <a:ln>
                  <a:noFill/>
                </a:ln>
                <a:solidFill>
                  <a:sysClr val="windowText" lastClr="000000"/>
                </a:solidFill>
                <a:effectLst/>
                <a:uLnTx/>
                <a:uFillTx/>
                <a:latin typeface="Arial"/>
                <a:cs typeface="Arial"/>
              </a:rPr>
              <a:t>“title</a:t>
            </a:r>
            <a:r>
              <a:rPr kumimoji="0" lang="en-GB" b="1" i="1" u="none" strike="noStrike" kern="0" cap="none" spc="-25" normalizeH="0" baseline="0" noProof="0" dirty="0">
                <a:ln>
                  <a:noFill/>
                </a:ln>
                <a:solidFill>
                  <a:sysClr val="windowText" lastClr="000000"/>
                </a:solidFill>
                <a:effectLst/>
                <a:uLnTx/>
                <a:uFillTx/>
                <a:latin typeface="Arial"/>
                <a:cs typeface="Arial"/>
              </a:rPr>
              <a:t> </a:t>
            </a:r>
            <a:r>
              <a:rPr kumimoji="0" lang="en-GB" b="1" i="1" u="none" strike="noStrike" kern="0" cap="none" spc="0" normalizeH="0" baseline="0" noProof="0" dirty="0">
                <a:ln>
                  <a:noFill/>
                </a:ln>
                <a:solidFill>
                  <a:sysClr val="windowText" lastClr="000000"/>
                </a:solidFill>
                <a:effectLst/>
                <a:uLnTx/>
                <a:uFillTx/>
                <a:latin typeface="Arial"/>
                <a:cs typeface="Arial"/>
              </a:rPr>
              <a:t>scanning”</a:t>
            </a:r>
            <a:r>
              <a:rPr kumimoji="0" lang="en-GB" b="1" i="1" u="none" strike="noStrike" kern="0" cap="none" spc="-25" normalizeH="0" baseline="0" noProof="0" dirty="0">
                <a:ln>
                  <a:noFill/>
                </a:ln>
                <a:solidFill>
                  <a:sysClr val="windowText" lastClr="000000"/>
                </a:solidFill>
                <a:effectLst/>
                <a:uLnTx/>
                <a:uFillTx/>
                <a:latin typeface="Arial"/>
                <a:cs typeface="Arial"/>
              </a:rPr>
              <a:t> </a:t>
            </a:r>
            <a:r>
              <a:rPr kumimoji="0" lang="en-GB" b="0" i="0" u="none" strike="noStrike" kern="0" cap="none" spc="0" normalizeH="0" baseline="0" noProof="0" dirty="0">
                <a:ln>
                  <a:noFill/>
                </a:ln>
                <a:solidFill>
                  <a:sysClr val="windowText" lastClr="000000"/>
                </a:solidFill>
                <a:effectLst/>
                <a:uLnTx/>
                <a:uFillTx/>
                <a:latin typeface="Arial MT"/>
                <a:cs typeface="Arial MT"/>
              </a:rPr>
              <a:t>as</a:t>
            </a:r>
            <a:r>
              <a:rPr kumimoji="0" lang="en-GB" b="0" i="0" u="none" strike="noStrike" kern="0" cap="none" spc="-25" normalizeH="0" baseline="0" noProof="0" dirty="0">
                <a:ln>
                  <a:noFill/>
                </a:ln>
                <a:solidFill>
                  <a:sysClr val="windowText" lastClr="000000"/>
                </a:solidFill>
                <a:effectLst/>
                <a:uLnTx/>
                <a:uFillTx/>
                <a:latin typeface="Arial MT"/>
                <a:cs typeface="Arial MT"/>
              </a:rPr>
              <a:t> the </a:t>
            </a:r>
            <a:r>
              <a:rPr kumimoji="0" lang="en-GB" b="0" i="0" u="none" strike="noStrike" kern="0" cap="none" spc="0" normalizeH="0" baseline="0" noProof="0" dirty="0">
                <a:ln>
                  <a:noFill/>
                </a:ln>
                <a:solidFill>
                  <a:sysClr val="windowText" lastClr="000000"/>
                </a:solidFill>
                <a:effectLst/>
                <a:uLnTx/>
                <a:uFillTx/>
                <a:latin typeface="Arial MT"/>
                <a:cs typeface="Arial MT"/>
              </a:rPr>
              <a:t>eye</a:t>
            </a:r>
            <a:r>
              <a:rPr kumimoji="0" lang="en-GB" b="0" i="0" u="none" strike="noStrike" kern="0" cap="none" spc="-25"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moves</a:t>
            </a:r>
            <a:r>
              <a:rPr kumimoji="0" lang="en-GB" b="0" i="0" u="none" strike="noStrike" kern="0" cap="none" spc="-20"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to</a:t>
            </a:r>
            <a:r>
              <a:rPr kumimoji="0" lang="en-GB" b="0" i="0" u="none" strike="noStrike" kern="0" cap="none" spc="-20"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the</a:t>
            </a:r>
            <a:r>
              <a:rPr kumimoji="0" lang="en-GB" b="0" i="0" u="none" strike="noStrike" kern="0" cap="none" spc="-20"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call</a:t>
            </a:r>
            <a:r>
              <a:rPr kumimoji="0" lang="en-GB" b="0" i="0" u="none" strike="noStrike" kern="0" cap="none" spc="-25"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to</a:t>
            </a:r>
            <a:r>
              <a:rPr kumimoji="0" lang="en-GB" b="0" i="0" u="none" strike="noStrike" kern="0" cap="none" spc="-20" normalizeH="0" baseline="0" noProof="0" dirty="0">
                <a:ln>
                  <a:noFill/>
                </a:ln>
                <a:solidFill>
                  <a:sysClr val="windowText" lastClr="000000"/>
                </a:solidFill>
                <a:effectLst/>
                <a:uLnTx/>
                <a:uFillTx/>
                <a:latin typeface="Arial MT"/>
                <a:cs typeface="Arial MT"/>
              </a:rPr>
              <a:t> </a:t>
            </a:r>
            <a:r>
              <a:rPr kumimoji="0" lang="en-GB" b="0" i="0" u="none" strike="noStrike" kern="0" cap="none" spc="-10" normalizeH="0" baseline="0" noProof="0" dirty="0">
                <a:ln>
                  <a:noFill/>
                </a:ln>
                <a:solidFill>
                  <a:sysClr val="windowText" lastClr="000000"/>
                </a:solidFill>
                <a:effectLst/>
                <a:uLnTx/>
                <a:uFillTx/>
                <a:latin typeface="Arial MT"/>
                <a:cs typeface="Arial MT"/>
              </a:rPr>
              <a:t>action.</a:t>
            </a:r>
            <a:endParaRPr kumimoji="0" lang="en-GB" b="0" i="0" u="none" strike="noStrike" kern="0" cap="none" spc="0" normalizeH="0" baseline="0" noProof="0" dirty="0">
              <a:ln>
                <a:noFill/>
              </a:ln>
              <a:solidFill>
                <a:sysClr val="windowText" lastClr="000000"/>
              </a:solidFill>
              <a:effectLst/>
              <a:uLnTx/>
              <a:uFillTx/>
              <a:latin typeface="Arial MT"/>
              <a:cs typeface="Arial MT"/>
            </a:endParaRPr>
          </a:p>
          <a:p>
            <a:pPr marL="526415" marR="9525" lvl="1" indent="-285750" defTabSz="914400" eaLnBrk="1" fontAlgn="auto" latinLnBrk="0" hangingPunct="1">
              <a:spcBef>
                <a:spcPts val="625"/>
              </a:spcBef>
              <a:spcAft>
                <a:spcPts val="0"/>
              </a:spcAft>
              <a:buClrTx/>
              <a:buSzTx/>
              <a:buFont typeface="Arial" panose="020B0604020202020204" pitchFamily="34" charset="0"/>
              <a:buChar char="•"/>
              <a:tabLst>
                <a:tab pos="526415" algn="l"/>
              </a:tabLst>
              <a:defRPr/>
            </a:pPr>
            <a:r>
              <a:rPr kumimoji="0" lang="en-GB" b="0" i="0" u="none" strike="noStrike" kern="0" cap="none" spc="0" normalizeH="0" baseline="0" noProof="0" dirty="0">
                <a:ln>
                  <a:noFill/>
                </a:ln>
                <a:solidFill>
                  <a:sysClr val="windowText" lastClr="000000"/>
                </a:solidFill>
                <a:effectLst/>
                <a:uLnTx/>
                <a:uFillTx/>
                <a:latin typeface="Arial MT"/>
                <a:cs typeface="Arial MT"/>
              </a:rPr>
              <a:t>A</a:t>
            </a:r>
            <a:r>
              <a:rPr kumimoji="0" lang="en-GB" b="0" i="0" u="none" strike="noStrike" kern="0" cap="none" spc="-95"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big</a:t>
            </a:r>
            <a:r>
              <a:rPr kumimoji="0" lang="en-GB" b="0" i="0" u="none" strike="noStrike" kern="0" cap="none" spc="-25"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“call</a:t>
            </a:r>
            <a:r>
              <a:rPr kumimoji="0" lang="en-GB" b="0" i="0" u="none" strike="noStrike" kern="0" cap="none" spc="-20"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to</a:t>
            </a:r>
            <a:r>
              <a:rPr kumimoji="0" lang="en-GB" b="0" i="0" u="none" strike="noStrike" kern="0" cap="none" spc="-25"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action”</a:t>
            </a:r>
            <a:r>
              <a:rPr kumimoji="0" lang="en-GB" b="0" i="0" u="none" strike="noStrike" kern="0" cap="none" spc="-20"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at</a:t>
            </a:r>
            <a:r>
              <a:rPr kumimoji="0" lang="en-GB" b="0" i="0" u="none" strike="noStrike" kern="0" cap="none" spc="-20"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point</a:t>
            </a:r>
            <a:r>
              <a:rPr kumimoji="0" lang="en-GB" b="0" i="0" u="none" strike="noStrike" kern="0" cap="none" spc="-25"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#4</a:t>
            </a:r>
            <a:r>
              <a:rPr kumimoji="0" lang="en-GB" b="0" i="0" u="none" strike="noStrike" kern="0" cap="none" spc="-20"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a:t>
            </a:r>
            <a:r>
              <a:rPr kumimoji="0" lang="en-GB" b="0" i="0" u="none" strike="noStrike" kern="0" cap="none" spc="-25"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thanks</a:t>
            </a:r>
            <a:r>
              <a:rPr kumimoji="0" lang="en-GB" b="0" i="0" u="none" strike="noStrike" kern="0" cap="none" spc="-20"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to</a:t>
            </a:r>
            <a:r>
              <a:rPr kumimoji="0" lang="en-GB" b="0" i="0" u="none" strike="noStrike" kern="0" cap="none" spc="-25"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the</a:t>
            </a:r>
            <a:r>
              <a:rPr kumimoji="0" lang="en-GB" b="0" i="0" u="none" strike="noStrike" kern="0" cap="none" spc="-25" normalizeH="0" baseline="0" noProof="0" dirty="0">
                <a:ln>
                  <a:noFill/>
                </a:ln>
                <a:solidFill>
                  <a:sysClr val="windowText" lastClr="000000"/>
                </a:solidFill>
                <a:effectLst/>
                <a:uLnTx/>
                <a:uFillTx/>
                <a:latin typeface="Arial MT"/>
                <a:cs typeface="Arial MT"/>
              </a:rPr>
              <a:t> </a:t>
            </a:r>
            <a:r>
              <a:rPr kumimoji="0" lang="en-GB" b="1" i="1" u="none" strike="noStrike" kern="0" cap="none" spc="0" normalizeH="0" baseline="0" noProof="0" dirty="0">
                <a:ln>
                  <a:noFill/>
                </a:ln>
                <a:solidFill>
                  <a:sysClr val="windowText" lastClr="000000"/>
                </a:solidFill>
                <a:effectLst/>
                <a:uLnTx/>
                <a:uFillTx/>
                <a:latin typeface="Arial"/>
                <a:cs typeface="Arial"/>
              </a:rPr>
              <a:t>new</a:t>
            </a:r>
            <a:r>
              <a:rPr kumimoji="0" lang="en-GB" b="1" i="1" u="none" strike="noStrike" kern="0" cap="none" spc="-20" normalizeH="0" baseline="0" noProof="0" dirty="0">
                <a:ln>
                  <a:noFill/>
                </a:ln>
                <a:solidFill>
                  <a:sysClr val="windowText" lastClr="000000"/>
                </a:solidFill>
                <a:effectLst/>
                <a:uLnTx/>
                <a:uFillTx/>
                <a:latin typeface="Arial"/>
                <a:cs typeface="Arial"/>
              </a:rPr>
              <a:t> </a:t>
            </a:r>
            <a:r>
              <a:rPr kumimoji="0" lang="en-GB" b="1" i="1" u="none" strike="noStrike" kern="0" cap="none" spc="0" normalizeH="0" baseline="0" noProof="0" dirty="0">
                <a:ln>
                  <a:noFill/>
                </a:ln>
                <a:solidFill>
                  <a:sysClr val="windowText" lastClr="000000"/>
                </a:solidFill>
                <a:effectLst/>
                <a:uLnTx/>
                <a:uFillTx/>
                <a:latin typeface="Arial"/>
                <a:cs typeface="Arial"/>
              </a:rPr>
              <a:t>background</a:t>
            </a:r>
            <a:r>
              <a:rPr kumimoji="0" lang="en-GB" b="1" i="1" u="none" strike="noStrike" kern="0" cap="none" spc="-20" normalizeH="0" baseline="0" noProof="0" dirty="0">
                <a:ln>
                  <a:noFill/>
                </a:ln>
                <a:solidFill>
                  <a:sysClr val="windowText" lastClr="000000"/>
                </a:solidFill>
                <a:effectLst/>
                <a:uLnTx/>
                <a:uFillTx/>
                <a:latin typeface="Arial"/>
                <a:cs typeface="Arial"/>
              </a:rPr>
              <a:t> </a:t>
            </a:r>
            <a:r>
              <a:rPr kumimoji="0" lang="en-GB" b="1" i="1" u="none" strike="noStrike" kern="0" cap="none" spc="0" normalizeH="0" baseline="0" noProof="0" dirty="0">
                <a:ln>
                  <a:noFill/>
                </a:ln>
                <a:solidFill>
                  <a:sysClr val="windowText" lastClr="000000"/>
                </a:solidFill>
                <a:effectLst/>
                <a:uLnTx/>
                <a:uFillTx/>
                <a:latin typeface="Arial"/>
                <a:cs typeface="Arial"/>
              </a:rPr>
              <a:t>separation</a:t>
            </a:r>
            <a:r>
              <a:rPr kumimoji="0" lang="en-GB" b="0" i="0" u="none" strike="noStrike" kern="0" cap="none" spc="0" normalizeH="0" baseline="0" noProof="0" dirty="0">
                <a:ln>
                  <a:noFill/>
                </a:ln>
                <a:solidFill>
                  <a:sysClr val="windowText" lastClr="000000"/>
                </a:solidFill>
                <a:effectLst/>
                <a:uLnTx/>
                <a:uFillTx/>
                <a:latin typeface="Arial MT"/>
                <a:cs typeface="Arial MT"/>
              </a:rPr>
              <a:t>,</a:t>
            </a:r>
            <a:r>
              <a:rPr kumimoji="0" lang="en-GB" b="0" i="0" u="none" strike="noStrike" kern="0" cap="none" spc="-20"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this</a:t>
            </a:r>
            <a:r>
              <a:rPr kumimoji="0" lang="en-GB" b="0" i="0" u="none" strike="noStrike" kern="0" cap="none" spc="-25" normalizeH="0" baseline="0" noProof="0" dirty="0">
                <a:ln>
                  <a:noFill/>
                </a:ln>
                <a:solidFill>
                  <a:sysClr val="windowText" lastClr="000000"/>
                </a:solidFill>
                <a:effectLst/>
                <a:uLnTx/>
                <a:uFillTx/>
                <a:latin typeface="Arial MT"/>
                <a:cs typeface="Arial MT"/>
              </a:rPr>
              <a:t> </a:t>
            </a:r>
            <a:r>
              <a:rPr kumimoji="0" lang="en-GB" b="0" i="0" u="none" strike="noStrike" kern="0" cap="none" spc="-10" normalizeH="0" baseline="0" noProof="0" dirty="0">
                <a:ln>
                  <a:noFill/>
                </a:ln>
                <a:solidFill>
                  <a:sysClr val="windowText" lastClr="000000"/>
                </a:solidFill>
                <a:effectLst/>
                <a:uLnTx/>
                <a:uFillTx/>
                <a:latin typeface="Arial MT"/>
                <a:cs typeface="Arial MT"/>
              </a:rPr>
              <a:t>feature </a:t>
            </a:r>
            <a:r>
              <a:rPr kumimoji="0" lang="en-GB" b="0" i="0" u="none" strike="noStrike" kern="0" cap="none" spc="0" normalizeH="0" baseline="0" noProof="0" dirty="0">
                <a:ln>
                  <a:noFill/>
                </a:ln>
                <a:solidFill>
                  <a:sysClr val="windowText" lastClr="000000"/>
                </a:solidFill>
                <a:effectLst/>
                <a:uLnTx/>
                <a:uFillTx/>
                <a:latin typeface="Arial MT"/>
                <a:cs typeface="Arial MT"/>
              </a:rPr>
              <a:t>should</a:t>
            </a:r>
            <a:r>
              <a:rPr kumimoji="0" lang="en-GB" b="0" i="0" u="none" strike="noStrike" kern="0" cap="none" spc="-35"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stand</a:t>
            </a:r>
            <a:r>
              <a:rPr kumimoji="0" lang="en-GB" b="0" i="0" u="none" strike="noStrike" kern="0" cap="none" spc="-30" normalizeH="0" baseline="0" noProof="0" dirty="0">
                <a:ln>
                  <a:noFill/>
                </a:ln>
                <a:solidFill>
                  <a:sysClr val="windowText" lastClr="000000"/>
                </a:solidFill>
                <a:effectLst/>
                <a:uLnTx/>
                <a:uFillTx/>
                <a:latin typeface="Arial MT"/>
                <a:cs typeface="Arial MT"/>
              </a:rPr>
              <a:t> </a:t>
            </a:r>
            <a:r>
              <a:rPr kumimoji="0" lang="en-GB" b="0" i="0" u="none" strike="noStrike" kern="0" cap="none" spc="0" normalizeH="0" baseline="0" noProof="0" dirty="0">
                <a:ln>
                  <a:noFill/>
                </a:ln>
                <a:solidFill>
                  <a:sysClr val="windowText" lastClr="000000"/>
                </a:solidFill>
                <a:effectLst/>
                <a:uLnTx/>
                <a:uFillTx/>
                <a:latin typeface="Arial MT"/>
                <a:cs typeface="Arial MT"/>
              </a:rPr>
              <a:t>out</a:t>
            </a:r>
            <a:r>
              <a:rPr kumimoji="0" lang="en-GB" b="0" i="0" u="none" strike="noStrike" kern="0" cap="none" spc="-35" normalizeH="0" baseline="0" noProof="0" dirty="0">
                <a:ln>
                  <a:noFill/>
                </a:ln>
                <a:solidFill>
                  <a:sysClr val="windowText" lastClr="000000"/>
                </a:solidFill>
                <a:effectLst/>
                <a:uLnTx/>
                <a:uFillTx/>
                <a:latin typeface="Arial MT"/>
                <a:cs typeface="Arial MT"/>
              </a:rPr>
              <a:t> </a:t>
            </a:r>
            <a:r>
              <a:rPr kumimoji="0" lang="en-GB" b="0" i="0" u="none" strike="noStrike" kern="0" cap="none" spc="-10" normalizeH="0" baseline="0" noProof="0" dirty="0">
                <a:ln>
                  <a:noFill/>
                </a:ln>
                <a:solidFill>
                  <a:sysClr val="windowText" lastClr="000000"/>
                </a:solidFill>
                <a:effectLst/>
                <a:uLnTx/>
                <a:uFillTx/>
                <a:latin typeface="Arial MT"/>
                <a:cs typeface="Arial MT"/>
              </a:rPr>
              <a:t>more.</a:t>
            </a:r>
            <a:endParaRPr kumimoji="0" lang="en-GB" b="0" i="0" u="none" strike="noStrike" kern="0" cap="none" spc="0" normalizeH="0" baseline="0" noProof="0" dirty="0">
              <a:ln>
                <a:noFill/>
              </a:ln>
              <a:solidFill>
                <a:sysClr val="windowText" lastClr="000000"/>
              </a:solidFill>
              <a:effectLst/>
              <a:uLnTx/>
              <a:uFillTx/>
              <a:latin typeface="Arial MT"/>
              <a:cs typeface="Arial MT"/>
            </a:endParaRPr>
          </a:p>
        </p:txBody>
      </p:sp>
    </p:spTree>
    <p:extLst>
      <p:ext uri="{BB962C8B-B14F-4D97-AF65-F5344CB8AC3E}">
        <p14:creationId xmlns:p14="http://schemas.microsoft.com/office/powerpoint/2010/main" val="35820460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514732"/>
            <a:ext cx="5257800" cy="551433"/>
          </a:xfrm>
          <a:prstGeom prst="rect">
            <a:avLst/>
          </a:prstGeom>
        </p:spPr>
        <p:txBody>
          <a:bodyPr vert="horz" wrap="square" lIns="0" tIns="12700" rIns="0" bIns="0" rtlCol="0">
            <a:spAutoFit/>
          </a:bodyPr>
          <a:lstStyle/>
          <a:p>
            <a:pPr marL="12700">
              <a:lnSpc>
                <a:spcPct val="100000"/>
              </a:lnSpc>
              <a:spcBef>
                <a:spcPts val="100"/>
              </a:spcBef>
            </a:pPr>
            <a:r>
              <a:rPr lang="en-GB" spc="-10" dirty="0"/>
              <a:t>Example Z Pattern</a:t>
            </a:r>
            <a:endParaRPr spc="-10" dirty="0"/>
          </a:p>
        </p:txBody>
      </p:sp>
      <p:pic>
        <p:nvPicPr>
          <p:cNvPr id="5" name="object 4" descr="Example of Z Pattern"/>
          <p:cNvPicPr/>
          <p:nvPr/>
        </p:nvPicPr>
        <p:blipFill>
          <a:blip r:embed="rId2" cstate="print"/>
          <a:stretch>
            <a:fillRect/>
          </a:stretch>
        </p:blipFill>
        <p:spPr>
          <a:xfrm>
            <a:off x="1403820" y="1959438"/>
            <a:ext cx="6336360" cy="4383830"/>
          </a:xfrm>
          <a:prstGeom prst="rect">
            <a:avLst/>
          </a:prstGeom>
        </p:spPr>
      </p:pic>
    </p:spTree>
    <p:extLst>
      <p:ext uri="{BB962C8B-B14F-4D97-AF65-F5344CB8AC3E}">
        <p14:creationId xmlns:p14="http://schemas.microsoft.com/office/powerpoint/2010/main" val="1293645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514732"/>
            <a:ext cx="5257800" cy="551433"/>
          </a:xfrm>
          <a:prstGeom prst="rect">
            <a:avLst/>
          </a:prstGeom>
        </p:spPr>
        <p:txBody>
          <a:bodyPr vert="horz" wrap="square" lIns="0" tIns="12700" rIns="0" bIns="0" rtlCol="0">
            <a:spAutoFit/>
          </a:bodyPr>
          <a:lstStyle/>
          <a:p>
            <a:pPr marL="12700">
              <a:lnSpc>
                <a:spcPct val="100000"/>
              </a:lnSpc>
              <a:spcBef>
                <a:spcPts val="100"/>
              </a:spcBef>
            </a:pPr>
            <a:r>
              <a:rPr lang="en-GB" spc="-10" dirty="0"/>
              <a:t>Example Z Pattern</a:t>
            </a:r>
            <a:endParaRPr spc="-10" dirty="0"/>
          </a:p>
        </p:txBody>
      </p:sp>
      <p:pic>
        <p:nvPicPr>
          <p:cNvPr id="3" name="object 3" descr="Example of Z Pattern"/>
          <p:cNvPicPr/>
          <p:nvPr/>
        </p:nvPicPr>
        <p:blipFill>
          <a:blip r:embed="rId2" cstate="print"/>
          <a:stretch>
            <a:fillRect/>
          </a:stretch>
        </p:blipFill>
        <p:spPr>
          <a:xfrm>
            <a:off x="228780" y="2258146"/>
            <a:ext cx="8686439" cy="4085122"/>
          </a:xfrm>
          <a:prstGeom prst="rect">
            <a:avLst/>
          </a:prstGeom>
        </p:spPr>
      </p:pic>
    </p:spTree>
    <p:extLst>
      <p:ext uri="{BB962C8B-B14F-4D97-AF65-F5344CB8AC3E}">
        <p14:creationId xmlns:p14="http://schemas.microsoft.com/office/powerpoint/2010/main" val="7327101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514732"/>
            <a:ext cx="5257800" cy="551433"/>
          </a:xfrm>
          <a:prstGeom prst="rect">
            <a:avLst/>
          </a:prstGeom>
        </p:spPr>
        <p:txBody>
          <a:bodyPr vert="horz" wrap="square" lIns="0" tIns="12700" rIns="0" bIns="0" rtlCol="0">
            <a:spAutoFit/>
          </a:bodyPr>
          <a:lstStyle/>
          <a:p>
            <a:pPr marL="12700">
              <a:lnSpc>
                <a:spcPct val="100000"/>
              </a:lnSpc>
              <a:spcBef>
                <a:spcPts val="100"/>
              </a:spcBef>
            </a:pPr>
            <a:r>
              <a:rPr lang="en-GB" spc="-10" dirty="0"/>
              <a:t>Example Z Pattern</a:t>
            </a:r>
            <a:endParaRPr spc="-10" dirty="0"/>
          </a:p>
        </p:txBody>
      </p:sp>
      <p:pic>
        <p:nvPicPr>
          <p:cNvPr id="4" name="object 3" descr="Example of Z Pattern"/>
          <p:cNvPicPr/>
          <p:nvPr/>
        </p:nvPicPr>
        <p:blipFill>
          <a:blip r:embed="rId2" cstate="print"/>
          <a:stretch>
            <a:fillRect/>
          </a:stretch>
        </p:blipFill>
        <p:spPr>
          <a:xfrm>
            <a:off x="1209258" y="2149043"/>
            <a:ext cx="6725484" cy="4194225"/>
          </a:xfrm>
          <a:prstGeom prst="rect">
            <a:avLst/>
          </a:prstGeom>
        </p:spPr>
      </p:pic>
    </p:spTree>
    <p:extLst>
      <p:ext uri="{BB962C8B-B14F-4D97-AF65-F5344CB8AC3E}">
        <p14:creationId xmlns:p14="http://schemas.microsoft.com/office/powerpoint/2010/main" val="21616816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body" idx="1"/>
          </p:nvPr>
        </p:nvSpPr>
        <p:spPr>
          <a:xfrm>
            <a:off x="481611" y="1813650"/>
            <a:ext cx="7977889" cy="3852337"/>
          </a:xfrm>
          <a:prstGeom prst="rect">
            <a:avLst/>
          </a:prstGeom>
        </p:spPr>
        <p:txBody>
          <a:bodyPr vert="horz" wrap="square" lIns="0" tIns="73660" rIns="0" bIns="0" rtlCol="0">
            <a:spAutoFit/>
          </a:bodyPr>
          <a:lstStyle/>
          <a:p>
            <a:pPr marL="241935" indent="-229235" algn="just">
              <a:spcBef>
                <a:spcPts val="580"/>
              </a:spcBef>
              <a:buFont typeface="Arial MT"/>
              <a:buChar char="•"/>
              <a:tabLst>
                <a:tab pos="241935" algn="l"/>
              </a:tabLst>
            </a:pPr>
            <a:r>
              <a:rPr dirty="0"/>
              <a:t>Why</a:t>
            </a:r>
            <a:r>
              <a:rPr spc="-10" dirty="0"/>
              <a:t> </a:t>
            </a:r>
            <a:r>
              <a:rPr dirty="0"/>
              <a:t>it</a:t>
            </a:r>
            <a:r>
              <a:rPr spc="-15" dirty="0"/>
              <a:t> </a:t>
            </a:r>
            <a:r>
              <a:rPr spc="-20" dirty="0"/>
              <a:t>Works</a:t>
            </a:r>
            <a:endParaRPr lang="en-GB" spc="-20" dirty="0"/>
          </a:p>
          <a:p>
            <a:pPr marL="12700" algn="just">
              <a:spcBef>
                <a:spcPts val="580"/>
              </a:spcBef>
              <a:tabLst>
                <a:tab pos="241935" algn="l"/>
              </a:tabLst>
            </a:pPr>
            <a:endParaRPr spc="-20" dirty="0"/>
          </a:p>
          <a:p>
            <a:pPr marL="12700" marR="5080" indent="229235" algn="just">
              <a:spcBef>
                <a:spcPts val="670"/>
              </a:spcBef>
              <a:buChar char="•"/>
              <a:tabLst>
                <a:tab pos="241935" algn="l"/>
              </a:tabLst>
            </a:pPr>
            <a:r>
              <a:rPr b="0" dirty="0">
                <a:latin typeface="Arial MT"/>
                <a:cs typeface="Arial MT"/>
              </a:rPr>
              <a:t>The</a:t>
            </a:r>
            <a:r>
              <a:rPr b="0" spc="-40" dirty="0">
                <a:latin typeface="Arial MT"/>
                <a:cs typeface="Arial MT"/>
              </a:rPr>
              <a:t> </a:t>
            </a:r>
            <a:r>
              <a:rPr b="0" spc="-10" dirty="0">
                <a:latin typeface="Arial MT"/>
                <a:cs typeface="Arial MT"/>
              </a:rPr>
              <a:t>Z-</a:t>
            </a:r>
            <a:r>
              <a:rPr b="0" dirty="0">
                <a:latin typeface="Arial MT"/>
                <a:cs typeface="Arial MT"/>
              </a:rPr>
              <a:t>Layout</a:t>
            </a:r>
            <a:r>
              <a:rPr b="0" spc="-35" dirty="0">
                <a:latin typeface="Arial MT"/>
                <a:cs typeface="Arial MT"/>
              </a:rPr>
              <a:t> </a:t>
            </a:r>
            <a:r>
              <a:rPr b="0" dirty="0">
                <a:latin typeface="Arial MT"/>
                <a:cs typeface="Arial MT"/>
              </a:rPr>
              <a:t>certainly</a:t>
            </a:r>
            <a:r>
              <a:rPr b="0" spc="-40" dirty="0">
                <a:latin typeface="Arial MT"/>
                <a:cs typeface="Arial MT"/>
              </a:rPr>
              <a:t> </a:t>
            </a:r>
            <a:r>
              <a:rPr b="0" dirty="0">
                <a:latin typeface="Arial MT"/>
                <a:cs typeface="Arial MT"/>
              </a:rPr>
              <a:t>doesn’t</a:t>
            </a:r>
            <a:r>
              <a:rPr b="0" spc="-35" dirty="0">
                <a:latin typeface="Arial MT"/>
                <a:cs typeface="Arial MT"/>
              </a:rPr>
              <a:t> </a:t>
            </a:r>
            <a:r>
              <a:rPr b="0" dirty="0">
                <a:latin typeface="Arial MT"/>
                <a:cs typeface="Arial MT"/>
              </a:rPr>
              <a:t>need</a:t>
            </a:r>
            <a:r>
              <a:rPr b="0" spc="-35" dirty="0">
                <a:latin typeface="Arial MT"/>
                <a:cs typeface="Arial MT"/>
              </a:rPr>
              <a:t> </a:t>
            </a:r>
            <a:r>
              <a:rPr b="0" dirty="0">
                <a:latin typeface="Arial MT"/>
                <a:cs typeface="Arial MT"/>
              </a:rPr>
              <a:t>to</a:t>
            </a:r>
            <a:r>
              <a:rPr b="0" spc="-40" dirty="0">
                <a:latin typeface="Arial MT"/>
                <a:cs typeface="Arial MT"/>
              </a:rPr>
              <a:t> </a:t>
            </a:r>
            <a:r>
              <a:rPr b="0" dirty="0">
                <a:latin typeface="Arial MT"/>
                <a:cs typeface="Arial MT"/>
              </a:rPr>
              <a:t>be</a:t>
            </a:r>
            <a:r>
              <a:rPr b="0" spc="-35" dirty="0">
                <a:latin typeface="Arial MT"/>
                <a:cs typeface="Arial MT"/>
              </a:rPr>
              <a:t> </a:t>
            </a:r>
            <a:r>
              <a:rPr b="0" dirty="0">
                <a:latin typeface="Arial MT"/>
                <a:cs typeface="Arial MT"/>
              </a:rPr>
              <a:t>the</a:t>
            </a:r>
            <a:r>
              <a:rPr b="0" spc="-35" dirty="0">
                <a:latin typeface="Arial MT"/>
                <a:cs typeface="Arial MT"/>
              </a:rPr>
              <a:t> </a:t>
            </a:r>
            <a:r>
              <a:rPr lang="en-GB" b="0" spc="-35" dirty="0">
                <a:latin typeface="Arial MT"/>
                <a:cs typeface="Arial MT"/>
              </a:rPr>
              <a:t>only </a:t>
            </a:r>
            <a:r>
              <a:rPr b="0" dirty="0">
                <a:latin typeface="Arial MT"/>
                <a:cs typeface="Arial MT"/>
              </a:rPr>
              <a:t>concrete</a:t>
            </a:r>
            <a:r>
              <a:rPr b="0" spc="-35" dirty="0">
                <a:latin typeface="Arial MT"/>
                <a:cs typeface="Arial MT"/>
              </a:rPr>
              <a:t> </a:t>
            </a:r>
            <a:r>
              <a:rPr b="0" dirty="0">
                <a:latin typeface="Arial MT"/>
                <a:cs typeface="Arial MT"/>
              </a:rPr>
              <a:t>solution</a:t>
            </a:r>
            <a:r>
              <a:rPr b="0" spc="-35" dirty="0">
                <a:latin typeface="Arial MT"/>
                <a:cs typeface="Arial MT"/>
              </a:rPr>
              <a:t> </a:t>
            </a:r>
            <a:r>
              <a:rPr b="0" spc="-25" dirty="0">
                <a:latin typeface="Arial MT"/>
                <a:cs typeface="Arial MT"/>
              </a:rPr>
              <a:t>for </a:t>
            </a:r>
            <a:r>
              <a:rPr b="0" dirty="0">
                <a:latin typeface="Arial MT"/>
                <a:cs typeface="Arial MT"/>
              </a:rPr>
              <a:t>all</a:t>
            </a:r>
            <a:r>
              <a:rPr b="0" spc="-35" dirty="0">
                <a:latin typeface="Arial MT"/>
                <a:cs typeface="Arial MT"/>
              </a:rPr>
              <a:t> </a:t>
            </a:r>
            <a:r>
              <a:rPr b="0" dirty="0">
                <a:latin typeface="Arial MT"/>
                <a:cs typeface="Arial MT"/>
              </a:rPr>
              <a:t>sites,</a:t>
            </a:r>
            <a:r>
              <a:rPr b="0" spc="-30" dirty="0">
                <a:latin typeface="Arial MT"/>
                <a:cs typeface="Arial MT"/>
              </a:rPr>
              <a:t> </a:t>
            </a:r>
            <a:r>
              <a:rPr b="0" dirty="0">
                <a:latin typeface="Arial MT"/>
                <a:cs typeface="Arial MT"/>
              </a:rPr>
              <a:t>it’s</a:t>
            </a:r>
            <a:r>
              <a:rPr b="0" spc="-35" dirty="0">
                <a:latin typeface="Arial MT"/>
                <a:cs typeface="Arial MT"/>
              </a:rPr>
              <a:t> </a:t>
            </a:r>
            <a:r>
              <a:rPr b="0" dirty="0">
                <a:latin typeface="Arial MT"/>
                <a:cs typeface="Arial MT"/>
              </a:rPr>
              <a:t>often</a:t>
            </a:r>
            <a:r>
              <a:rPr b="0" spc="-35" dirty="0">
                <a:latin typeface="Arial MT"/>
                <a:cs typeface="Arial MT"/>
              </a:rPr>
              <a:t> </a:t>
            </a:r>
            <a:r>
              <a:rPr b="0" dirty="0">
                <a:latin typeface="Arial MT"/>
                <a:cs typeface="Arial MT"/>
              </a:rPr>
              <a:t>a</a:t>
            </a:r>
            <a:r>
              <a:rPr b="0" spc="-30" dirty="0">
                <a:latin typeface="Arial MT"/>
                <a:cs typeface="Arial MT"/>
              </a:rPr>
              <a:t> </a:t>
            </a:r>
            <a:r>
              <a:rPr b="0" dirty="0">
                <a:latin typeface="Arial MT"/>
                <a:cs typeface="Arial MT"/>
              </a:rPr>
              <a:t>great</a:t>
            </a:r>
            <a:r>
              <a:rPr b="0" spc="-30" dirty="0">
                <a:latin typeface="Arial MT"/>
                <a:cs typeface="Arial MT"/>
              </a:rPr>
              <a:t> </a:t>
            </a:r>
            <a:r>
              <a:rPr b="0" dirty="0">
                <a:latin typeface="Arial MT"/>
                <a:cs typeface="Arial MT"/>
              </a:rPr>
              <a:t>jumping</a:t>
            </a:r>
            <a:r>
              <a:rPr b="0" spc="-30" dirty="0">
                <a:latin typeface="Arial MT"/>
                <a:cs typeface="Arial MT"/>
              </a:rPr>
              <a:t> </a:t>
            </a:r>
            <a:r>
              <a:rPr b="0" dirty="0">
                <a:latin typeface="Arial MT"/>
                <a:cs typeface="Arial MT"/>
              </a:rPr>
              <a:t>off</a:t>
            </a:r>
            <a:r>
              <a:rPr b="0" spc="-30" dirty="0">
                <a:latin typeface="Arial MT"/>
                <a:cs typeface="Arial MT"/>
              </a:rPr>
              <a:t> </a:t>
            </a:r>
            <a:r>
              <a:rPr b="0" dirty="0">
                <a:latin typeface="Arial MT"/>
                <a:cs typeface="Arial MT"/>
              </a:rPr>
              <a:t>point</a:t>
            </a:r>
            <a:r>
              <a:rPr b="0" spc="-30" dirty="0">
                <a:latin typeface="Arial MT"/>
                <a:cs typeface="Arial MT"/>
              </a:rPr>
              <a:t> </a:t>
            </a:r>
            <a:r>
              <a:rPr b="0" dirty="0">
                <a:latin typeface="Arial MT"/>
                <a:cs typeface="Arial MT"/>
              </a:rPr>
              <a:t>for</a:t>
            </a:r>
            <a:r>
              <a:rPr b="0" spc="-40" dirty="0">
                <a:latin typeface="Arial MT"/>
                <a:cs typeface="Arial MT"/>
              </a:rPr>
              <a:t> </a:t>
            </a:r>
            <a:r>
              <a:rPr b="0" dirty="0">
                <a:latin typeface="Arial MT"/>
                <a:cs typeface="Arial MT"/>
              </a:rPr>
              <a:t>any</a:t>
            </a:r>
            <a:r>
              <a:rPr b="0" spc="-35" dirty="0">
                <a:latin typeface="Arial MT"/>
                <a:cs typeface="Arial MT"/>
              </a:rPr>
              <a:t> </a:t>
            </a:r>
            <a:r>
              <a:rPr b="0" dirty="0">
                <a:latin typeface="Arial MT"/>
                <a:cs typeface="Arial MT"/>
              </a:rPr>
              <a:t>design</a:t>
            </a:r>
            <a:r>
              <a:rPr b="0" spc="-30" dirty="0">
                <a:latin typeface="Arial MT"/>
                <a:cs typeface="Arial MT"/>
              </a:rPr>
              <a:t> </a:t>
            </a:r>
            <a:r>
              <a:rPr b="0" dirty="0">
                <a:latin typeface="Arial MT"/>
                <a:cs typeface="Arial MT"/>
              </a:rPr>
              <a:t>project</a:t>
            </a:r>
            <a:r>
              <a:rPr b="0" spc="-30" dirty="0">
                <a:latin typeface="Arial MT"/>
                <a:cs typeface="Arial MT"/>
              </a:rPr>
              <a:t> </a:t>
            </a:r>
            <a:r>
              <a:rPr b="0" spc="-10" dirty="0">
                <a:latin typeface="Arial MT"/>
                <a:cs typeface="Arial MT"/>
              </a:rPr>
              <a:t>because </a:t>
            </a:r>
            <a:r>
              <a:rPr b="0" dirty="0">
                <a:latin typeface="Arial MT"/>
                <a:cs typeface="Arial MT"/>
              </a:rPr>
              <a:t>it</a:t>
            </a:r>
            <a:r>
              <a:rPr b="0" spc="-30" dirty="0">
                <a:latin typeface="Arial MT"/>
                <a:cs typeface="Arial MT"/>
              </a:rPr>
              <a:t> </a:t>
            </a:r>
            <a:r>
              <a:rPr b="0" dirty="0">
                <a:latin typeface="Arial MT"/>
                <a:cs typeface="Arial MT"/>
              </a:rPr>
              <a:t>tackles</a:t>
            </a:r>
            <a:r>
              <a:rPr b="0" spc="-30" dirty="0">
                <a:latin typeface="Arial MT"/>
                <a:cs typeface="Arial MT"/>
              </a:rPr>
              <a:t> </a:t>
            </a:r>
            <a:r>
              <a:rPr b="0" dirty="0">
                <a:latin typeface="Arial MT"/>
                <a:cs typeface="Arial MT"/>
              </a:rPr>
              <a:t>the</a:t>
            </a:r>
            <a:r>
              <a:rPr b="0" spc="-25" dirty="0">
                <a:latin typeface="Arial MT"/>
                <a:cs typeface="Arial MT"/>
              </a:rPr>
              <a:t> </a:t>
            </a:r>
            <a:r>
              <a:rPr b="0" dirty="0">
                <a:latin typeface="Arial MT"/>
                <a:cs typeface="Arial MT"/>
              </a:rPr>
              <a:t>4</a:t>
            </a:r>
            <a:r>
              <a:rPr b="0" spc="-25" dirty="0">
                <a:latin typeface="Arial MT"/>
                <a:cs typeface="Arial MT"/>
              </a:rPr>
              <a:t> </a:t>
            </a:r>
            <a:r>
              <a:rPr b="0" dirty="0">
                <a:latin typeface="Arial MT"/>
                <a:cs typeface="Arial MT"/>
              </a:rPr>
              <a:t>of</a:t>
            </a:r>
            <a:r>
              <a:rPr b="0" spc="-25" dirty="0">
                <a:latin typeface="Arial MT"/>
                <a:cs typeface="Arial MT"/>
              </a:rPr>
              <a:t> </a:t>
            </a:r>
            <a:r>
              <a:rPr b="0" dirty="0">
                <a:latin typeface="Arial MT"/>
                <a:cs typeface="Arial MT"/>
              </a:rPr>
              <a:t>the</a:t>
            </a:r>
            <a:r>
              <a:rPr b="0" spc="-30" dirty="0">
                <a:latin typeface="Arial MT"/>
                <a:cs typeface="Arial MT"/>
              </a:rPr>
              <a:t> </a:t>
            </a:r>
            <a:r>
              <a:rPr b="0" dirty="0">
                <a:latin typeface="Arial MT"/>
                <a:cs typeface="Arial MT"/>
              </a:rPr>
              <a:t>big</a:t>
            </a:r>
            <a:r>
              <a:rPr b="0" spc="-25" dirty="0">
                <a:latin typeface="Arial MT"/>
                <a:cs typeface="Arial MT"/>
              </a:rPr>
              <a:t> </a:t>
            </a:r>
            <a:r>
              <a:rPr b="0" dirty="0">
                <a:latin typeface="Arial MT"/>
                <a:cs typeface="Arial MT"/>
              </a:rPr>
              <a:t>principles</a:t>
            </a:r>
            <a:r>
              <a:rPr b="0" spc="-30" dirty="0">
                <a:latin typeface="Arial MT"/>
                <a:cs typeface="Arial MT"/>
              </a:rPr>
              <a:t> </a:t>
            </a:r>
            <a:r>
              <a:rPr b="0" dirty="0">
                <a:latin typeface="Arial MT"/>
                <a:cs typeface="Arial MT"/>
              </a:rPr>
              <a:t>of</a:t>
            </a:r>
            <a:r>
              <a:rPr b="0" spc="-25" dirty="0">
                <a:latin typeface="Arial MT"/>
                <a:cs typeface="Arial MT"/>
              </a:rPr>
              <a:t> </a:t>
            </a:r>
            <a:r>
              <a:rPr b="0" dirty="0">
                <a:latin typeface="Arial MT"/>
                <a:cs typeface="Arial MT"/>
              </a:rPr>
              <a:t>an</a:t>
            </a:r>
            <a:r>
              <a:rPr b="0" spc="-25" dirty="0">
                <a:latin typeface="Arial MT"/>
                <a:cs typeface="Arial MT"/>
              </a:rPr>
              <a:t> </a:t>
            </a:r>
            <a:r>
              <a:rPr b="0" dirty="0">
                <a:latin typeface="Arial MT"/>
                <a:cs typeface="Arial MT"/>
              </a:rPr>
              <a:t>effective</a:t>
            </a:r>
            <a:r>
              <a:rPr b="0" spc="-25" dirty="0">
                <a:latin typeface="Arial MT"/>
                <a:cs typeface="Arial MT"/>
              </a:rPr>
              <a:t> </a:t>
            </a:r>
            <a:r>
              <a:rPr b="0" spc="-10" dirty="0">
                <a:latin typeface="Arial MT"/>
                <a:cs typeface="Arial MT"/>
              </a:rPr>
              <a:t>design:</a:t>
            </a:r>
          </a:p>
          <a:p>
            <a:pPr>
              <a:spcBef>
                <a:spcPts val="805"/>
              </a:spcBef>
              <a:buFont typeface="Arial MT"/>
              <a:buChar char="•"/>
            </a:pPr>
            <a:endParaRPr b="0" spc="-10" dirty="0">
              <a:latin typeface="Arial MT"/>
              <a:cs typeface="Arial MT"/>
            </a:endParaRPr>
          </a:p>
          <a:p>
            <a:pPr marL="812800" lvl="1" indent="-342900">
              <a:buFont typeface="+mj-lt"/>
              <a:buAutoNum type="arabicPeriod"/>
              <a:tabLst>
                <a:tab pos="240665" algn="l"/>
              </a:tabLst>
            </a:pPr>
            <a:r>
              <a:rPr b="1" spc="-10" dirty="0">
                <a:latin typeface="Arial MT"/>
                <a:cs typeface="Arial MT"/>
              </a:rPr>
              <a:t>Branding</a:t>
            </a:r>
            <a:endParaRPr lang="en-GB" b="1" spc="-10" dirty="0">
              <a:latin typeface="Arial MT"/>
              <a:cs typeface="Arial MT"/>
            </a:endParaRPr>
          </a:p>
          <a:p>
            <a:pPr marL="812800" lvl="1" indent="-342900">
              <a:buFont typeface="+mj-lt"/>
              <a:buAutoNum type="arabicPeriod"/>
              <a:tabLst>
                <a:tab pos="240665" algn="l"/>
              </a:tabLst>
            </a:pPr>
            <a:endParaRPr lang="en-GB" b="1" spc="-10" dirty="0">
              <a:latin typeface="Arial MT"/>
              <a:cs typeface="Arial MT"/>
            </a:endParaRPr>
          </a:p>
          <a:p>
            <a:pPr marL="812800" lvl="1" indent="-342900">
              <a:buFont typeface="+mj-lt"/>
              <a:buAutoNum type="arabicPeriod"/>
              <a:tabLst>
                <a:tab pos="240665" algn="l"/>
              </a:tabLst>
            </a:pPr>
            <a:r>
              <a:rPr b="1" spc="-10" dirty="0">
                <a:latin typeface="Arial MT"/>
                <a:cs typeface="Arial MT"/>
              </a:rPr>
              <a:t>Hierarchy</a:t>
            </a:r>
            <a:endParaRPr lang="en-GB" b="1" spc="-10" dirty="0">
              <a:latin typeface="Arial MT"/>
              <a:cs typeface="Arial MT"/>
            </a:endParaRPr>
          </a:p>
          <a:p>
            <a:pPr marL="812800" lvl="1" indent="-342900">
              <a:buFont typeface="+mj-lt"/>
              <a:buAutoNum type="arabicPeriod"/>
              <a:tabLst>
                <a:tab pos="240665" algn="l"/>
              </a:tabLst>
            </a:pPr>
            <a:endParaRPr lang="en-GB" b="1" spc="-10" dirty="0">
              <a:latin typeface="Arial MT"/>
              <a:cs typeface="Arial MT"/>
            </a:endParaRPr>
          </a:p>
          <a:p>
            <a:pPr marL="812800" lvl="1" indent="-342900">
              <a:buFont typeface="+mj-lt"/>
              <a:buAutoNum type="arabicPeriod"/>
              <a:tabLst>
                <a:tab pos="240665" algn="l"/>
              </a:tabLst>
            </a:pPr>
            <a:r>
              <a:rPr b="1" spc="-10" dirty="0">
                <a:latin typeface="Arial MT"/>
                <a:cs typeface="Arial MT"/>
              </a:rPr>
              <a:t>Structure</a:t>
            </a:r>
            <a:endParaRPr lang="en-GB" b="1" spc="-10" dirty="0">
              <a:latin typeface="Arial MT"/>
              <a:cs typeface="Arial MT"/>
            </a:endParaRPr>
          </a:p>
          <a:p>
            <a:pPr marL="812800" lvl="1" indent="-342900">
              <a:buFont typeface="+mj-lt"/>
              <a:buAutoNum type="arabicPeriod"/>
              <a:tabLst>
                <a:tab pos="240665" algn="l"/>
              </a:tabLst>
            </a:pPr>
            <a:endParaRPr lang="en-GB" b="1" spc="-10" dirty="0">
              <a:latin typeface="Arial MT"/>
              <a:cs typeface="Arial MT"/>
            </a:endParaRPr>
          </a:p>
          <a:p>
            <a:pPr marL="812800" lvl="1" indent="-342900">
              <a:buFont typeface="+mj-lt"/>
              <a:buAutoNum type="arabicPeriod"/>
              <a:tabLst>
                <a:tab pos="240665" algn="l"/>
              </a:tabLst>
            </a:pPr>
            <a:r>
              <a:rPr b="1" dirty="0">
                <a:latin typeface="Arial MT"/>
                <a:cs typeface="Arial MT"/>
              </a:rPr>
              <a:t>A</a:t>
            </a:r>
            <a:r>
              <a:rPr b="1" spc="-105" dirty="0">
                <a:latin typeface="Arial MT"/>
                <a:cs typeface="Arial MT"/>
              </a:rPr>
              <a:t> </a:t>
            </a:r>
            <a:r>
              <a:rPr b="1" dirty="0">
                <a:latin typeface="Arial MT"/>
                <a:cs typeface="Arial MT"/>
              </a:rPr>
              <a:t>Call</a:t>
            </a:r>
            <a:r>
              <a:rPr b="1" spc="-20" dirty="0">
                <a:latin typeface="Arial MT"/>
                <a:cs typeface="Arial MT"/>
              </a:rPr>
              <a:t> </a:t>
            </a:r>
            <a:r>
              <a:rPr b="1" dirty="0">
                <a:latin typeface="Arial MT"/>
                <a:cs typeface="Arial MT"/>
              </a:rPr>
              <a:t>to</a:t>
            </a:r>
            <a:r>
              <a:rPr b="1" spc="-105" dirty="0">
                <a:latin typeface="Arial MT"/>
                <a:cs typeface="Arial MT"/>
              </a:rPr>
              <a:t> </a:t>
            </a:r>
            <a:r>
              <a:rPr b="1" spc="-10" dirty="0">
                <a:latin typeface="Arial MT"/>
                <a:cs typeface="Arial MT"/>
              </a:rPr>
              <a:t>Action</a:t>
            </a:r>
          </a:p>
        </p:txBody>
      </p:sp>
      <p:pic>
        <p:nvPicPr>
          <p:cNvPr id="5" name="object 5" descr="Facebook as Example of Z Pattern"/>
          <p:cNvPicPr/>
          <p:nvPr/>
        </p:nvPicPr>
        <p:blipFill>
          <a:blip r:embed="rId2" cstate="print"/>
          <a:stretch>
            <a:fillRect/>
          </a:stretch>
        </p:blipFill>
        <p:spPr>
          <a:xfrm>
            <a:off x="3283258" y="3581400"/>
            <a:ext cx="5182900" cy="2572554"/>
          </a:xfrm>
          <a:prstGeom prst="rect">
            <a:avLst/>
          </a:prstGeom>
        </p:spPr>
      </p:pic>
      <p:sp>
        <p:nvSpPr>
          <p:cNvPr id="8" name="object 2">
            <a:extLst>
              <a:ext uri="{FF2B5EF4-FFF2-40B4-BE49-F238E27FC236}">
                <a16:creationId xmlns:a16="http://schemas.microsoft.com/office/drawing/2014/main" id="{547BA144-6CE5-02F2-42B5-6B5F5BEF2DF7}"/>
              </a:ext>
            </a:extLst>
          </p:cNvPr>
          <p:cNvSpPr txBox="1">
            <a:spLocks noGrp="1"/>
          </p:cNvSpPr>
          <p:nvPr>
            <p:ph type="title"/>
          </p:nvPr>
        </p:nvSpPr>
        <p:spPr>
          <a:xfrm>
            <a:off x="533400" y="514732"/>
            <a:ext cx="5257800" cy="551433"/>
          </a:xfrm>
          <a:prstGeom prst="rect">
            <a:avLst/>
          </a:prstGeom>
        </p:spPr>
        <p:txBody>
          <a:bodyPr vert="horz" wrap="square" lIns="0" tIns="12700" rIns="0" bIns="0" rtlCol="0">
            <a:spAutoFit/>
          </a:bodyPr>
          <a:lstStyle/>
          <a:p>
            <a:pPr marL="12700">
              <a:lnSpc>
                <a:spcPct val="100000"/>
              </a:lnSpc>
              <a:spcBef>
                <a:spcPts val="100"/>
              </a:spcBef>
            </a:pPr>
            <a:r>
              <a:rPr lang="en-GB" spc="-10" dirty="0"/>
              <a:t>Organisation Z Pattern</a:t>
            </a:r>
            <a:endParaRPr spc="-1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57200" y="1905000"/>
            <a:ext cx="8305800" cy="1899879"/>
          </a:xfrm>
          <a:prstGeom prst="rect">
            <a:avLst/>
          </a:prstGeom>
        </p:spPr>
        <p:txBody>
          <a:bodyPr vert="horz" wrap="square" lIns="0" tIns="85725" rIns="0" bIns="0" rtlCol="0">
            <a:spAutoFit/>
          </a:bodyPr>
          <a:lstStyle/>
          <a:p>
            <a:pPr marL="240029" indent="-227329">
              <a:lnSpc>
                <a:spcPct val="100000"/>
              </a:lnSpc>
              <a:spcBef>
                <a:spcPts val="675"/>
              </a:spcBef>
              <a:buFont typeface="Arial MT"/>
              <a:buChar char="•"/>
              <a:tabLst>
                <a:tab pos="240029" algn="l"/>
              </a:tabLst>
            </a:pPr>
            <a:r>
              <a:rPr sz="2400" b="1" dirty="0">
                <a:latin typeface="Arial"/>
                <a:cs typeface="Arial"/>
              </a:rPr>
              <a:t>High</a:t>
            </a:r>
            <a:r>
              <a:rPr sz="2400" b="1" spc="-35" dirty="0">
                <a:latin typeface="Arial"/>
                <a:cs typeface="Arial"/>
              </a:rPr>
              <a:t> </a:t>
            </a:r>
            <a:r>
              <a:rPr sz="2400" b="1" dirty="0">
                <a:latin typeface="Arial"/>
                <a:cs typeface="Arial"/>
              </a:rPr>
              <a:t>Fidelity</a:t>
            </a:r>
            <a:r>
              <a:rPr sz="2400" b="1" spc="-30" dirty="0">
                <a:latin typeface="Arial"/>
                <a:cs typeface="Arial"/>
              </a:rPr>
              <a:t> </a:t>
            </a:r>
            <a:r>
              <a:rPr sz="2400" b="1" spc="-10" dirty="0">
                <a:latin typeface="Arial"/>
                <a:cs typeface="Arial"/>
              </a:rPr>
              <a:t>(Hi-</a:t>
            </a:r>
            <a:r>
              <a:rPr sz="2400" b="1" dirty="0">
                <a:latin typeface="Arial"/>
                <a:cs typeface="Arial"/>
              </a:rPr>
              <a:t>Fi)</a:t>
            </a:r>
            <a:r>
              <a:rPr sz="2400" b="1" spc="-25" dirty="0">
                <a:latin typeface="Arial"/>
                <a:cs typeface="Arial"/>
              </a:rPr>
              <a:t> </a:t>
            </a:r>
            <a:r>
              <a:rPr sz="2400" b="1" dirty="0">
                <a:latin typeface="Arial"/>
                <a:cs typeface="Arial"/>
              </a:rPr>
              <a:t>prototypes</a:t>
            </a:r>
            <a:r>
              <a:rPr sz="2400" b="1" spc="-30" dirty="0">
                <a:latin typeface="Arial"/>
                <a:cs typeface="Arial"/>
              </a:rPr>
              <a:t> </a:t>
            </a:r>
            <a:r>
              <a:rPr sz="2400" spc="-10" dirty="0">
                <a:latin typeface="Arial MT"/>
                <a:cs typeface="Arial MT"/>
              </a:rPr>
              <a:t>including:</a:t>
            </a:r>
            <a:endParaRPr lang="en-GB" sz="2400" spc="-10" dirty="0">
              <a:latin typeface="Arial MT"/>
              <a:cs typeface="Arial MT"/>
            </a:endParaRPr>
          </a:p>
          <a:p>
            <a:pPr marL="240029" indent="-227329">
              <a:lnSpc>
                <a:spcPct val="100000"/>
              </a:lnSpc>
              <a:spcBef>
                <a:spcPts val="675"/>
              </a:spcBef>
              <a:buFont typeface="Arial MT"/>
              <a:buChar char="•"/>
              <a:tabLst>
                <a:tab pos="240029" algn="l"/>
              </a:tabLst>
            </a:pPr>
            <a:endParaRPr sz="2400" dirty="0">
              <a:latin typeface="Arial MT"/>
              <a:cs typeface="Arial MT"/>
            </a:endParaRPr>
          </a:p>
          <a:p>
            <a:pPr marL="355600" lvl="1" indent="-342900">
              <a:spcBef>
                <a:spcPts val="430"/>
              </a:spcBef>
              <a:buFont typeface="+mj-lt"/>
              <a:buAutoNum type="arabicPeriod"/>
              <a:tabLst>
                <a:tab pos="298450" algn="l"/>
              </a:tabLst>
            </a:pPr>
            <a:r>
              <a:rPr dirty="0">
                <a:latin typeface="Arial MT"/>
                <a:cs typeface="Arial MT"/>
              </a:rPr>
              <a:t>Organization</a:t>
            </a:r>
            <a:r>
              <a:rPr spc="-40" dirty="0">
                <a:latin typeface="Arial MT"/>
                <a:cs typeface="Arial MT"/>
              </a:rPr>
              <a:t> </a:t>
            </a:r>
            <a:r>
              <a:rPr dirty="0">
                <a:latin typeface="Arial MT"/>
                <a:cs typeface="Arial MT"/>
              </a:rPr>
              <a:t>Layouts</a:t>
            </a:r>
            <a:r>
              <a:rPr spc="-35" dirty="0">
                <a:latin typeface="Arial MT"/>
                <a:cs typeface="Arial MT"/>
              </a:rPr>
              <a:t> </a:t>
            </a:r>
            <a:r>
              <a:rPr dirty="0">
                <a:latin typeface="Arial MT"/>
                <a:cs typeface="Arial MT"/>
              </a:rPr>
              <a:t>with</a:t>
            </a:r>
            <a:r>
              <a:rPr spc="-35" dirty="0">
                <a:latin typeface="Arial MT"/>
                <a:cs typeface="Arial MT"/>
              </a:rPr>
              <a:t> </a:t>
            </a:r>
            <a:r>
              <a:rPr dirty="0">
                <a:latin typeface="Arial MT"/>
                <a:cs typeface="Arial MT"/>
              </a:rPr>
              <a:t>outline</a:t>
            </a:r>
            <a:r>
              <a:rPr spc="-35" dirty="0">
                <a:latin typeface="Arial MT"/>
                <a:cs typeface="Arial MT"/>
              </a:rPr>
              <a:t> </a:t>
            </a:r>
            <a:r>
              <a:rPr dirty="0">
                <a:latin typeface="Arial MT"/>
                <a:cs typeface="Arial MT"/>
              </a:rPr>
              <a:t>design</a:t>
            </a:r>
            <a:r>
              <a:rPr spc="-35" dirty="0">
                <a:latin typeface="Arial MT"/>
                <a:cs typeface="Arial MT"/>
              </a:rPr>
              <a:t> </a:t>
            </a:r>
            <a:r>
              <a:rPr spc="-10" dirty="0">
                <a:latin typeface="Arial MT"/>
                <a:cs typeface="Arial MT"/>
              </a:rPr>
              <a:t>decisions</a:t>
            </a:r>
            <a:r>
              <a:rPr lang="en-GB" spc="-10" dirty="0">
                <a:latin typeface="Arial MT"/>
                <a:cs typeface="Arial MT"/>
              </a:rPr>
              <a:t>.</a:t>
            </a:r>
          </a:p>
          <a:p>
            <a:pPr marL="355600" lvl="1" indent="-342900">
              <a:spcBef>
                <a:spcPts val="430"/>
              </a:spcBef>
              <a:buFont typeface="+mj-lt"/>
              <a:buAutoNum type="arabicPeriod"/>
              <a:tabLst>
                <a:tab pos="298450" algn="l"/>
              </a:tabLst>
            </a:pPr>
            <a:endParaRPr lang="en-GB" sz="1800" spc="-10" dirty="0">
              <a:latin typeface="Arial MT"/>
              <a:cs typeface="Arial MT"/>
            </a:endParaRPr>
          </a:p>
          <a:p>
            <a:pPr marL="355600" lvl="1" indent="-342900">
              <a:spcBef>
                <a:spcPts val="430"/>
              </a:spcBef>
              <a:buFont typeface="+mj-lt"/>
              <a:buAutoNum type="arabicPeriod"/>
              <a:tabLst>
                <a:tab pos="298450" algn="l"/>
              </a:tabLst>
            </a:pPr>
            <a:r>
              <a:rPr sz="1800" dirty="0">
                <a:latin typeface="Arial MT"/>
                <a:cs typeface="Arial MT"/>
              </a:rPr>
              <a:t>Final</a:t>
            </a:r>
            <a:r>
              <a:rPr sz="1800" spc="-15" dirty="0">
                <a:latin typeface="Arial MT"/>
                <a:cs typeface="Arial MT"/>
              </a:rPr>
              <a:t> </a:t>
            </a:r>
            <a:r>
              <a:rPr sz="1800" dirty="0">
                <a:latin typeface="Arial MT"/>
                <a:cs typeface="Arial MT"/>
              </a:rPr>
              <a:t>Copy</a:t>
            </a:r>
            <a:r>
              <a:rPr sz="1800" spc="-20" dirty="0">
                <a:latin typeface="Arial MT"/>
                <a:cs typeface="Arial MT"/>
              </a:rPr>
              <a:t> </a:t>
            </a:r>
            <a:r>
              <a:rPr sz="1800" dirty="0">
                <a:latin typeface="Arial MT"/>
                <a:cs typeface="Arial MT"/>
              </a:rPr>
              <a:t>of</a:t>
            </a:r>
            <a:r>
              <a:rPr sz="1800" spc="-20" dirty="0">
                <a:latin typeface="Arial MT"/>
                <a:cs typeface="Arial MT"/>
              </a:rPr>
              <a:t> </a:t>
            </a:r>
            <a:r>
              <a:rPr sz="1800" spc="-10" dirty="0">
                <a:latin typeface="Arial MT"/>
                <a:cs typeface="Arial MT"/>
              </a:rPr>
              <a:t>content</a:t>
            </a:r>
            <a:r>
              <a:rPr lang="en-GB" sz="1800" spc="-10" dirty="0">
                <a:latin typeface="Arial MT"/>
                <a:cs typeface="Arial MT"/>
              </a:rPr>
              <a:t>.</a:t>
            </a:r>
            <a:endParaRPr sz="1800" dirty="0">
              <a:latin typeface="Arial MT"/>
              <a:cs typeface="Arial MT"/>
            </a:endParaRPr>
          </a:p>
        </p:txBody>
      </p:sp>
      <p:sp>
        <p:nvSpPr>
          <p:cNvPr id="7" name="object 2">
            <a:extLst>
              <a:ext uri="{FF2B5EF4-FFF2-40B4-BE49-F238E27FC236}">
                <a16:creationId xmlns:a16="http://schemas.microsoft.com/office/drawing/2014/main" id="{5B56C2C3-AEA8-B5E5-9A12-75643BB0DEE5}"/>
              </a:ext>
            </a:extLst>
          </p:cNvPr>
          <p:cNvSpPr txBox="1">
            <a:spLocks noGrp="1"/>
          </p:cNvSpPr>
          <p:nvPr>
            <p:ph type="title"/>
          </p:nvPr>
        </p:nvSpPr>
        <p:spPr>
          <a:xfrm>
            <a:off x="533400" y="514732"/>
            <a:ext cx="6477000" cy="551433"/>
          </a:xfrm>
          <a:prstGeom prst="rect">
            <a:avLst/>
          </a:prstGeom>
        </p:spPr>
        <p:txBody>
          <a:bodyPr vert="horz" wrap="square" lIns="0" tIns="12700" rIns="0" bIns="0" rtlCol="0">
            <a:spAutoFit/>
          </a:bodyPr>
          <a:lstStyle/>
          <a:p>
            <a:pPr marL="12700">
              <a:lnSpc>
                <a:spcPct val="100000"/>
              </a:lnSpc>
              <a:spcBef>
                <a:spcPts val="100"/>
              </a:spcBef>
            </a:pPr>
            <a:r>
              <a:rPr lang="en-GB" spc="-10" dirty="0"/>
              <a:t>Outputs of Information Design</a:t>
            </a:r>
            <a:endParaRPr spc="-1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p:nvPr/>
        </p:nvSpPr>
        <p:spPr>
          <a:xfrm>
            <a:off x="0" y="228600"/>
            <a:ext cx="9144000" cy="4412615"/>
          </a:xfrm>
          <a:custGeom>
            <a:avLst/>
            <a:gdLst/>
            <a:ahLst/>
            <a:cxnLst/>
            <a:rect l="l" t="t" r="r" b="b"/>
            <a:pathLst>
              <a:path w="9144000" h="4412615">
                <a:moveTo>
                  <a:pt x="9144000" y="0"/>
                </a:moveTo>
                <a:lnTo>
                  <a:pt x="0" y="0"/>
                </a:lnTo>
                <a:lnTo>
                  <a:pt x="0" y="4412581"/>
                </a:lnTo>
                <a:lnTo>
                  <a:pt x="9144000" y="4412581"/>
                </a:lnTo>
                <a:lnTo>
                  <a:pt x="9144000" y="0"/>
                </a:lnTo>
                <a:close/>
              </a:path>
            </a:pathLst>
          </a:custGeom>
          <a:solidFill>
            <a:schemeClr val="accent1">
              <a:lumMod val="75000"/>
            </a:schemeClr>
          </a:solidFill>
        </p:spPr>
        <p:txBody>
          <a:bodyPr wrap="square" lIns="0" tIns="0" rIns="0" bIns="0" rtlCol="0"/>
          <a:lstStyle/>
          <a:p>
            <a:pPr algn="l" rtl="0"/>
            <a:endParaRPr/>
          </a:p>
        </p:txBody>
      </p:sp>
      <p:grpSp>
        <p:nvGrpSpPr>
          <p:cNvPr id="13" name="object 2">
            <a:extLst>
              <a:ext uri="{FF2B5EF4-FFF2-40B4-BE49-F238E27FC236}">
                <a16:creationId xmlns:a16="http://schemas.microsoft.com/office/drawing/2014/main" id="{E69F06C5-38BA-63DD-8816-33CB3E78FE26}"/>
              </a:ext>
              <a:ext uri="{C183D7F6-B498-43B3-948B-1728B52AA6E4}">
                <adec:decorative xmlns:adec="http://schemas.microsoft.com/office/drawing/2017/decorative" val="1"/>
              </a:ext>
            </a:extLst>
          </p:cNvPr>
          <p:cNvGrpSpPr/>
          <p:nvPr/>
        </p:nvGrpSpPr>
        <p:grpSpPr>
          <a:xfrm>
            <a:off x="0" y="228596"/>
            <a:ext cx="9144000" cy="5437628"/>
            <a:chOff x="0" y="2"/>
            <a:chExt cx="9144000" cy="5437628"/>
          </a:xfrm>
        </p:grpSpPr>
        <p:sp>
          <p:nvSpPr>
            <p:cNvPr id="14" name="object 3">
              <a:extLst>
                <a:ext uri="{FF2B5EF4-FFF2-40B4-BE49-F238E27FC236}">
                  <a16:creationId xmlns:a16="http://schemas.microsoft.com/office/drawing/2014/main" id="{4A404F51-348A-095B-3483-EB9123D2C68D}"/>
                </a:ext>
              </a:extLst>
            </p:cNvPr>
            <p:cNvSpPr/>
            <p:nvPr/>
          </p:nvSpPr>
          <p:spPr>
            <a:xfrm>
              <a:off x="0" y="2"/>
              <a:ext cx="9144000" cy="4412615"/>
            </a:xfrm>
            <a:custGeom>
              <a:avLst/>
              <a:gdLst/>
              <a:ahLst/>
              <a:cxnLst/>
              <a:rect l="l" t="t" r="r" b="b"/>
              <a:pathLst>
                <a:path w="9144000" h="4412615">
                  <a:moveTo>
                    <a:pt x="9144000" y="0"/>
                  </a:moveTo>
                  <a:lnTo>
                    <a:pt x="0" y="0"/>
                  </a:lnTo>
                  <a:lnTo>
                    <a:pt x="0" y="4412581"/>
                  </a:lnTo>
                  <a:lnTo>
                    <a:pt x="9144000" y="4412581"/>
                  </a:lnTo>
                  <a:lnTo>
                    <a:pt x="9144000" y="0"/>
                  </a:lnTo>
                  <a:close/>
                </a:path>
              </a:pathLst>
            </a:custGeom>
            <a:solidFill>
              <a:schemeClr val="tx2"/>
            </a:solidFill>
          </p:spPr>
          <p:txBody>
            <a:bodyPr wrap="square" lIns="0" tIns="0" rIns="0" bIns="0" rtlCol="0"/>
            <a:lstStyle/>
            <a:p>
              <a:endParaRPr dirty="0"/>
            </a:p>
          </p:txBody>
        </p:sp>
        <p:pic>
          <p:nvPicPr>
            <p:cNvPr id="15" name="object 4">
              <a:extLst>
                <a:ext uri="{FF2B5EF4-FFF2-40B4-BE49-F238E27FC236}">
                  <a16:creationId xmlns:a16="http://schemas.microsoft.com/office/drawing/2014/main" id="{828E7885-5907-6495-D7C4-F0F3960E0A80}"/>
                </a:ext>
              </a:extLst>
            </p:cNvPr>
            <p:cNvPicPr/>
            <p:nvPr/>
          </p:nvPicPr>
          <p:blipFill>
            <a:blip r:embed="rId2" cstate="print"/>
            <a:stretch>
              <a:fillRect/>
            </a:stretch>
          </p:blipFill>
          <p:spPr>
            <a:xfrm>
              <a:off x="304800" y="536447"/>
              <a:ext cx="8534400" cy="4901183"/>
            </a:xfrm>
            <a:prstGeom prst="rect">
              <a:avLst/>
            </a:prstGeom>
          </p:spPr>
        </p:pic>
        <p:sp>
          <p:nvSpPr>
            <p:cNvPr id="16" name="object 5">
              <a:extLst>
                <a:ext uri="{FF2B5EF4-FFF2-40B4-BE49-F238E27FC236}">
                  <a16:creationId xmlns:a16="http://schemas.microsoft.com/office/drawing/2014/main" id="{0B36E4B1-0CA7-65F9-C268-0448226EF13C}"/>
                </a:ext>
              </a:extLst>
            </p:cNvPr>
            <p:cNvSpPr/>
            <p:nvPr/>
          </p:nvSpPr>
          <p:spPr>
            <a:xfrm>
              <a:off x="447347" y="551962"/>
              <a:ext cx="8249920" cy="4618990"/>
            </a:xfrm>
            <a:custGeom>
              <a:avLst/>
              <a:gdLst/>
              <a:ahLst/>
              <a:cxnLst/>
              <a:rect l="l" t="t" r="r" b="b"/>
              <a:pathLst>
                <a:path w="8249920" h="4618990">
                  <a:moveTo>
                    <a:pt x="8249303" y="0"/>
                  </a:moveTo>
                  <a:lnTo>
                    <a:pt x="0" y="0"/>
                  </a:lnTo>
                  <a:lnTo>
                    <a:pt x="0" y="4618548"/>
                  </a:lnTo>
                  <a:lnTo>
                    <a:pt x="8249303" y="4618548"/>
                  </a:lnTo>
                  <a:lnTo>
                    <a:pt x="8249303" y="0"/>
                  </a:lnTo>
                  <a:close/>
                </a:path>
              </a:pathLst>
            </a:custGeom>
            <a:solidFill>
              <a:srgbClr val="FFFFFF"/>
            </a:solidFill>
          </p:spPr>
          <p:txBody>
            <a:bodyPr wrap="square" lIns="0" tIns="0" rIns="0" bIns="0" rtlCol="0"/>
            <a:lstStyle/>
            <a:p>
              <a:endParaRPr dirty="0"/>
            </a:p>
          </p:txBody>
        </p:sp>
      </p:grpSp>
      <p:sp>
        <p:nvSpPr>
          <p:cNvPr id="17" name="object 7">
            <a:extLst>
              <a:ext uri="{FF2B5EF4-FFF2-40B4-BE49-F238E27FC236}">
                <a16:creationId xmlns:a16="http://schemas.microsoft.com/office/drawing/2014/main" id="{6FCE77DD-3B0D-AFDC-2645-B80E56BF38B2}"/>
              </a:ext>
            </a:extLst>
          </p:cNvPr>
          <p:cNvSpPr txBox="1">
            <a:spLocks noGrp="1"/>
          </p:cNvSpPr>
          <p:nvPr>
            <p:ph type="title" idx="4294967295"/>
          </p:nvPr>
        </p:nvSpPr>
        <p:spPr>
          <a:xfrm>
            <a:off x="457200" y="872588"/>
            <a:ext cx="8229600" cy="3336811"/>
          </a:xfrm>
          <a:prstGeom prst="rect">
            <a:avLst/>
          </a:prstGeom>
          <a:noFill/>
          <a:ln>
            <a:noFill/>
            <a:prstDash/>
          </a:ln>
          <a:effectLst/>
        </p:spPr>
        <p:txBody>
          <a:bodyPr rot="0" spcFirstLastPara="0" vertOverflow="overflow" horzOverflow="overflow" vert="horz" wrap="square" lIns="0" tIns="12700" rIns="0" bIns="0" numCol="1" spcCol="0" rtlCol="0" fromWordArt="0" anchor="t" anchorCtr="0" forceAA="0" compatLnSpc="1">
            <a:prstTxWarp prst="textNoShape">
              <a:avLst/>
            </a:prstTxWarp>
            <a:spAutoFit/>
          </a:bodyPr>
          <a:lstStyle/>
          <a:p>
            <a:pPr marL="12700" marR="0" lvl="0" indent="0" algn="ctr" defTabSz="914400" eaLnBrk="1" fontAlgn="auto" latinLnBrk="0" hangingPunct="1">
              <a:lnSpc>
                <a:spcPct val="100000"/>
              </a:lnSpc>
              <a:spcBef>
                <a:spcPts val="100"/>
              </a:spcBef>
              <a:spcAft>
                <a:spcPts val="0"/>
              </a:spcAft>
              <a:buClrTx/>
              <a:buSzTx/>
              <a:buFontTx/>
              <a:buNone/>
              <a:tabLst/>
              <a:defRPr/>
            </a:pPr>
            <a:r>
              <a:rPr kumimoji="0" lang="en-GB" sz="5400" b="1" i="0" u="none" strike="noStrike" kern="0" cap="none" spc="-65" normalizeH="0" baseline="0" noProof="0" dirty="0">
                <a:ln>
                  <a:noFill/>
                </a:ln>
                <a:solidFill>
                  <a:srgbClr val="1F497D"/>
                </a:solidFill>
                <a:effectLst/>
                <a:uLnTx/>
                <a:uFillTx/>
                <a:latin typeface="Arial"/>
                <a:cs typeface="Arial"/>
              </a:rPr>
              <a:t>Colour, typography &amp; white space, we will address in the visual design lecture next week.</a:t>
            </a:r>
          </a:p>
        </p:txBody>
      </p:sp>
      <p:sp>
        <p:nvSpPr>
          <p:cNvPr id="8" name="object 8">
            <a:extLst>
              <a:ext uri="{C183D7F6-B498-43B3-948B-1728B52AA6E4}">
                <adec:decorative xmlns:adec="http://schemas.microsoft.com/office/drawing/2017/decorative" val="1"/>
              </a:ext>
            </a:extLst>
          </p:cNvPr>
          <p:cNvSpPr/>
          <p:nvPr/>
        </p:nvSpPr>
        <p:spPr>
          <a:xfrm>
            <a:off x="447350" y="5105400"/>
            <a:ext cx="8250555" cy="0"/>
          </a:xfrm>
          <a:custGeom>
            <a:avLst/>
            <a:gdLst/>
            <a:ahLst/>
            <a:cxnLst/>
            <a:rect l="l" t="t" r="r" b="b"/>
            <a:pathLst>
              <a:path w="8250555">
                <a:moveTo>
                  <a:pt x="8250175" y="0"/>
                </a:moveTo>
                <a:lnTo>
                  <a:pt x="0" y="1"/>
                </a:lnTo>
              </a:path>
            </a:pathLst>
          </a:custGeom>
          <a:ln w="101600">
            <a:solidFill>
              <a:schemeClr val="accent1">
                <a:lumMod val="75000"/>
              </a:schemeClr>
            </a:solidFill>
          </a:ln>
        </p:spPr>
        <p:txBody>
          <a:bodyPr wrap="square" lIns="0" tIns="0" rIns="0" bIns="0" rtlCol="0"/>
          <a:lstStyle/>
          <a:p>
            <a:endParaRPr/>
          </a:p>
        </p:txBody>
      </p:sp>
    </p:spTree>
    <p:extLst>
      <p:ext uri="{BB962C8B-B14F-4D97-AF65-F5344CB8AC3E}">
        <p14:creationId xmlns:p14="http://schemas.microsoft.com/office/powerpoint/2010/main" val="14879788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 y="329755"/>
            <a:ext cx="7098665" cy="740716"/>
          </a:xfrm>
          <a:prstGeom prst="rect">
            <a:avLst/>
          </a:prstGeom>
        </p:spPr>
        <p:txBody>
          <a:bodyPr vert="horz" wrap="square" lIns="0" tIns="200152" rIns="0" bIns="0" rtlCol="0">
            <a:spAutoFit/>
          </a:bodyPr>
          <a:lstStyle/>
          <a:p>
            <a:pPr marL="583565">
              <a:lnSpc>
                <a:spcPct val="100000"/>
              </a:lnSpc>
              <a:spcBef>
                <a:spcPts val="100"/>
              </a:spcBef>
            </a:pPr>
            <a:r>
              <a:rPr lang="en-GB" spc="-10" dirty="0"/>
              <a:t> Further </a:t>
            </a:r>
            <a:r>
              <a:rPr spc="-10" dirty="0"/>
              <a:t>Reading</a:t>
            </a:r>
          </a:p>
        </p:txBody>
      </p:sp>
      <p:sp>
        <p:nvSpPr>
          <p:cNvPr id="3" name="object 3"/>
          <p:cNvSpPr txBox="1"/>
          <p:nvPr/>
        </p:nvSpPr>
        <p:spPr>
          <a:xfrm>
            <a:off x="457199" y="1905000"/>
            <a:ext cx="8410893" cy="4087656"/>
          </a:xfrm>
          <a:prstGeom prst="rect">
            <a:avLst/>
          </a:prstGeom>
        </p:spPr>
        <p:txBody>
          <a:bodyPr vert="horz" wrap="square" lIns="0" tIns="55244" rIns="0" bIns="0" rtlCol="0">
            <a:spAutoFit/>
          </a:bodyPr>
          <a:lstStyle/>
          <a:p>
            <a:pPr marL="240665" indent="-227965">
              <a:spcBef>
                <a:spcPts val="434"/>
              </a:spcBef>
              <a:buFont typeface="Arial MT"/>
              <a:buChar char="•"/>
              <a:tabLst>
                <a:tab pos="240665" algn="l"/>
              </a:tabLst>
            </a:pPr>
            <a:r>
              <a:rPr sz="1600" b="1" dirty="0">
                <a:latin typeface="Arial"/>
                <a:cs typeface="Arial"/>
              </a:rPr>
              <a:t>Interface</a:t>
            </a:r>
            <a:r>
              <a:rPr sz="1600" b="1" spc="-50" dirty="0">
                <a:latin typeface="Arial"/>
                <a:cs typeface="Arial"/>
              </a:rPr>
              <a:t> </a:t>
            </a:r>
            <a:r>
              <a:rPr sz="1600" b="1" spc="-10" dirty="0">
                <a:latin typeface="Arial"/>
                <a:cs typeface="Arial"/>
              </a:rPr>
              <a:t>Design</a:t>
            </a:r>
            <a:endParaRPr sz="1600" dirty="0">
              <a:latin typeface="Arial"/>
              <a:cs typeface="Arial"/>
            </a:endParaRPr>
          </a:p>
          <a:p>
            <a:pPr marL="12700">
              <a:spcBef>
                <a:spcPts val="335"/>
              </a:spcBef>
              <a:tabLst>
                <a:tab pos="240665" algn="l"/>
              </a:tabLst>
            </a:pPr>
            <a:r>
              <a:rPr sz="1600" dirty="0">
                <a:latin typeface="Arial MT"/>
                <a:cs typeface="Arial MT"/>
              </a:rPr>
              <a:t>Constantine</a:t>
            </a:r>
            <a:r>
              <a:rPr sz="1600" spc="-40" dirty="0">
                <a:latin typeface="Arial MT"/>
                <a:cs typeface="Arial MT"/>
              </a:rPr>
              <a:t> </a:t>
            </a:r>
            <a:r>
              <a:rPr sz="1600" dirty="0">
                <a:latin typeface="Arial MT"/>
                <a:cs typeface="Arial MT"/>
              </a:rPr>
              <a:t>and</a:t>
            </a:r>
            <a:r>
              <a:rPr sz="1600" spc="-35" dirty="0">
                <a:latin typeface="Arial MT"/>
                <a:cs typeface="Arial MT"/>
              </a:rPr>
              <a:t> </a:t>
            </a:r>
            <a:r>
              <a:rPr sz="1600" dirty="0">
                <a:latin typeface="Arial MT"/>
                <a:cs typeface="Arial MT"/>
              </a:rPr>
              <a:t>Lockwood</a:t>
            </a:r>
            <a:r>
              <a:rPr sz="1600" spc="-40" dirty="0">
                <a:latin typeface="Arial MT"/>
                <a:cs typeface="Arial MT"/>
              </a:rPr>
              <a:t> </a:t>
            </a:r>
            <a:r>
              <a:rPr sz="1600" dirty="0">
                <a:latin typeface="Arial MT"/>
                <a:cs typeface="Arial MT"/>
              </a:rPr>
              <a:t>(1999)</a:t>
            </a:r>
            <a:r>
              <a:rPr sz="1600" spc="-40" dirty="0">
                <a:latin typeface="Arial MT"/>
                <a:cs typeface="Arial MT"/>
              </a:rPr>
              <a:t> </a:t>
            </a:r>
            <a:r>
              <a:rPr sz="1600" i="1" dirty="0">
                <a:latin typeface="Arial"/>
                <a:cs typeface="Arial"/>
              </a:rPr>
              <a:t>Interface</a:t>
            </a:r>
            <a:r>
              <a:rPr sz="1600" i="1" spc="-35" dirty="0">
                <a:latin typeface="Arial"/>
                <a:cs typeface="Arial"/>
              </a:rPr>
              <a:t> </a:t>
            </a:r>
            <a:r>
              <a:rPr sz="1600" i="1" dirty="0">
                <a:latin typeface="Arial"/>
                <a:cs typeface="Arial"/>
              </a:rPr>
              <a:t>Design</a:t>
            </a:r>
            <a:r>
              <a:rPr sz="1600" i="1" spc="-40" dirty="0">
                <a:latin typeface="Arial"/>
                <a:cs typeface="Arial"/>
              </a:rPr>
              <a:t> </a:t>
            </a:r>
            <a:r>
              <a:rPr sz="1600" dirty="0">
                <a:latin typeface="Arial MT"/>
                <a:cs typeface="Arial MT"/>
              </a:rPr>
              <a:t>Addison</a:t>
            </a:r>
            <a:r>
              <a:rPr sz="1600" spc="-35" dirty="0">
                <a:latin typeface="Arial MT"/>
                <a:cs typeface="Arial MT"/>
              </a:rPr>
              <a:t> </a:t>
            </a:r>
            <a:r>
              <a:rPr sz="1600" dirty="0">
                <a:latin typeface="Arial MT"/>
                <a:cs typeface="Arial MT"/>
              </a:rPr>
              <a:t>and</a:t>
            </a:r>
            <a:r>
              <a:rPr sz="1600" spc="-40" dirty="0">
                <a:latin typeface="Arial MT"/>
                <a:cs typeface="Arial MT"/>
              </a:rPr>
              <a:t> </a:t>
            </a:r>
            <a:r>
              <a:rPr sz="1600" spc="-10" dirty="0">
                <a:latin typeface="Arial MT"/>
                <a:cs typeface="Arial MT"/>
              </a:rPr>
              <a:t>Wesley</a:t>
            </a:r>
            <a:endParaRPr sz="1600" dirty="0">
              <a:latin typeface="Arial MT"/>
              <a:cs typeface="Arial MT"/>
            </a:endParaRPr>
          </a:p>
          <a:p>
            <a:pPr marL="12700">
              <a:spcBef>
                <a:spcPts val="215"/>
              </a:spcBef>
              <a:buClr>
                <a:srgbClr val="000000"/>
              </a:buClr>
              <a:tabLst>
                <a:tab pos="240665" algn="l"/>
              </a:tabLst>
            </a:pPr>
            <a:r>
              <a:rPr sz="1600" u="sng" spc="-10" dirty="0">
                <a:solidFill>
                  <a:srgbClr val="0000FF"/>
                </a:solidFill>
                <a:uFill>
                  <a:solidFill>
                    <a:srgbClr val="0000FF"/>
                  </a:solidFill>
                </a:uFill>
                <a:latin typeface="Arial MT"/>
                <a:cs typeface="Arial MT"/>
                <a:hlinkClick r:id="rId2"/>
              </a:rPr>
              <a:t>http://www.smashingmagazine.com/2008/01/31/10-principles-of-effective-web-design/</a:t>
            </a:r>
            <a:endParaRPr sz="1600" dirty="0">
              <a:latin typeface="Arial MT"/>
              <a:cs typeface="Arial MT"/>
            </a:endParaRPr>
          </a:p>
          <a:p>
            <a:pPr marL="12700" marR="426720">
              <a:spcBef>
                <a:spcPts val="700"/>
              </a:spcBef>
              <a:buClr>
                <a:srgbClr val="000000"/>
              </a:buClr>
              <a:tabLst>
                <a:tab pos="240665" algn="l"/>
              </a:tabLst>
            </a:pPr>
            <a:r>
              <a:rPr sz="1600" u="sng" spc="-10" dirty="0">
                <a:solidFill>
                  <a:srgbClr val="0000FF"/>
                </a:solidFill>
                <a:uFill>
                  <a:solidFill>
                    <a:srgbClr val="0000FF"/>
                  </a:solidFill>
                </a:uFill>
                <a:latin typeface="Arial MT"/>
                <a:cs typeface="Arial MT"/>
                <a:hlinkClick r:id="rId3"/>
              </a:rPr>
              <a:t>http://psd.tutsplus.com/articles/6-interface-design-principles-and-tips-every-</a:t>
            </a:r>
            <a:r>
              <a:rPr sz="1600" u="sng" spc="-20" dirty="0">
                <a:solidFill>
                  <a:srgbClr val="0000FF"/>
                </a:solidFill>
                <a:uFill>
                  <a:solidFill>
                    <a:srgbClr val="0000FF"/>
                  </a:solidFill>
                </a:uFill>
                <a:latin typeface="Arial MT"/>
                <a:cs typeface="Arial MT"/>
                <a:hlinkClick r:id="rId3"/>
              </a:rPr>
              <a:t>web-</a:t>
            </a:r>
            <a:r>
              <a:rPr sz="1600" spc="-20" dirty="0">
                <a:solidFill>
                  <a:srgbClr val="0000FF"/>
                </a:solidFill>
                <a:latin typeface="Arial MT"/>
                <a:cs typeface="Arial MT"/>
              </a:rPr>
              <a:t> </a:t>
            </a:r>
            <a:r>
              <a:rPr sz="1600" u="sng" spc="-10" dirty="0">
                <a:solidFill>
                  <a:srgbClr val="0000FF"/>
                </a:solidFill>
                <a:uFill>
                  <a:solidFill>
                    <a:srgbClr val="0000FF"/>
                  </a:solidFill>
                </a:uFill>
                <a:latin typeface="Arial MT"/>
                <a:cs typeface="Arial MT"/>
              </a:rPr>
              <a:t>designer-should-know/</a:t>
            </a:r>
            <a:endParaRPr sz="1600" dirty="0">
              <a:latin typeface="Arial MT"/>
              <a:cs typeface="Arial MT"/>
            </a:endParaRPr>
          </a:p>
          <a:p>
            <a:pPr>
              <a:spcBef>
                <a:spcPts val="620"/>
              </a:spcBef>
              <a:buFont typeface="Arial MT"/>
              <a:buChar char="•"/>
            </a:pPr>
            <a:endParaRPr sz="1600" dirty="0">
              <a:latin typeface="Arial MT"/>
              <a:cs typeface="Arial MT"/>
            </a:endParaRPr>
          </a:p>
          <a:p>
            <a:pPr marL="240665" indent="-227965">
              <a:buFont typeface="Arial MT"/>
              <a:buChar char="•"/>
              <a:tabLst>
                <a:tab pos="240665" algn="l"/>
              </a:tabLst>
            </a:pPr>
            <a:r>
              <a:rPr sz="1600" b="1" dirty="0">
                <a:latin typeface="Arial"/>
                <a:cs typeface="Arial"/>
              </a:rPr>
              <a:t>Navigation</a:t>
            </a:r>
            <a:r>
              <a:rPr sz="1600" b="1" spc="-60" dirty="0">
                <a:latin typeface="Arial"/>
                <a:cs typeface="Arial"/>
              </a:rPr>
              <a:t> </a:t>
            </a:r>
            <a:r>
              <a:rPr sz="1600" b="1" spc="-10" dirty="0">
                <a:latin typeface="Arial"/>
                <a:cs typeface="Arial"/>
              </a:rPr>
              <a:t>Design</a:t>
            </a:r>
            <a:endParaRPr sz="1600" dirty="0">
              <a:latin typeface="Arial"/>
              <a:cs typeface="Arial"/>
            </a:endParaRPr>
          </a:p>
          <a:p>
            <a:pPr marL="12700" marR="71120">
              <a:spcBef>
                <a:spcPts val="505"/>
              </a:spcBef>
              <a:buClr>
                <a:srgbClr val="000000"/>
              </a:buClr>
              <a:tabLst>
                <a:tab pos="240665" algn="l"/>
              </a:tabLst>
            </a:pPr>
            <a:r>
              <a:rPr sz="1600" u="sng" spc="-10" dirty="0">
                <a:solidFill>
                  <a:srgbClr val="0000FF"/>
                </a:solidFill>
                <a:uFill>
                  <a:solidFill>
                    <a:srgbClr val="0000FF"/>
                  </a:solidFill>
                </a:uFill>
                <a:latin typeface="Arial MT"/>
                <a:cs typeface="Arial MT"/>
                <a:hlinkClick r:id="rId4"/>
              </a:rPr>
              <a:t>http://www.onextrapixel.com/2009/07/03/10-principles-of-navigation-design-and-</a:t>
            </a:r>
            <a:r>
              <a:rPr sz="1600" u="sng" spc="-20" dirty="0">
                <a:solidFill>
                  <a:srgbClr val="0000FF"/>
                </a:solidFill>
                <a:uFill>
                  <a:solidFill>
                    <a:srgbClr val="0000FF"/>
                  </a:solidFill>
                </a:uFill>
                <a:latin typeface="Arial MT"/>
                <a:cs typeface="Arial MT"/>
                <a:hlinkClick r:id="rId4"/>
              </a:rPr>
              <a:t>why-</a:t>
            </a:r>
            <a:r>
              <a:rPr sz="1600" spc="-20" dirty="0">
                <a:solidFill>
                  <a:srgbClr val="0000FF"/>
                </a:solidFill>
                <a:latin typeface="Arial MT"/>
                <a:cs typeface="Arial MT"/>
              </a:rPr>
              <a:t> </a:t>
            </a:r>
            <a:r>
              <a:rPr sz="1600" u="sng" spc="-10" dirty="0">
                <a:solidFill>
                  <a:srgbClr val="0000FF"/>
                </a:solidFill>
                <a:uFill>
                  <a:solidFill>
                    <a:srgbClr val="0000FF"/>
                  </a:solidFill>
                </a:uFill>
                <a:latin typeface="Arial MT"/>
                <a:cs typeface="Arial MT"/>
              </a:rPr>
              <a:t>quality-navigation-is-so-critical/</a:t>
            </a:r>
            <a:endParaRPr sz="1600" dirty="0">
              <a:latin typeface="Arial MT"/>
              <a:cs typeface="Arial MT"/>
            </a:endParaRPr>
          </a:p>
          <a:p>
            <a:pPr marL="12700">
              <a:spcBef>
                <a:spcPts val="244"/>
              </a:spcBef>
              <a:buClr>
                <a:srgbClr val="000000"/>
              </a:buClr>
              <a:tabLst>
                <a:tab pos="240665" algn="l"/>
              </a:tabLst>
            </a:pPr>
            <a:r>
              <a:rPr sz="1600" u="sng" spc="-10" dirty="0">
                <a:solidFill>
                  <a:srgbClr val="0000FF"/>
                </a:solidFill>
                <a:uFill>
                  <a:solidFill>
                    <a:srgbClr val="0000FF"/>
                  </a:solidFill>
                </a:uFill>
                <a:latin typeface="Arial MT"/>
                <a:cs typeface="Arial MT"/>
                <a:hlinkClick r:id="rId5"/>
              </a:rPr>
              <a:t>http://www.uxmag.com/design/web-navigation-design-workshop-with-james-kalbach</a:t>
            </a:r>
            <a:endParaRPr sz="1600" dirty="0">
              <a:latin typeface="Arial MT"/>
              <a:cs typeface="Arial MT"/>
            </a:endParaRPr>
          </a:p>
          <a:p>
            <a:pPr>
              <a:spcBef>
                <a:spcPts val="595"/>
              </a:spcBef>
              <a:buFont typeface="Arial MT"/>
              <a:buChar char="•"/>
            </a:pPr>
            <a:endParaRPr sz="1600" dirty="0">
              <a:latin typeface="Arial MT"/>
              <a:cs typeface="Arial MT"/>
            </a:endParaRPr>
          </a:p>
          <a:p>
            <a:pPr marL="240665" indent="-227965">
              <a:buFont typeface="Arial MT"/>
              <a:buChar char="•"/>
              <a:tabLst>
                <a:tab pos="240665" algn="l"/>
              </a:tabLst>
            </a:pPr>
            <a:r>
              <a:rPr sz="1600" b="1" dirty="0">
                <a:latin typeface="Arial"/>
                <a:cs typeface="Arial"/>
              </a:rPr>
              <a:t>Information</a:t>
            </a:r>
            <a:r>
              <a:rPr sz="1600" b="1" spc="-75" dirty="0">
                <a:latin typeface="Arial"/>
                <a:cs typeface="Arial"/>
              </a:rPr>
              <a:t> </a:t>
            </a:r>
            <a:r>
              <a:rPr sz="1600" b="1" spc="-10" dirty="0">
                <a:latin typeface="Arial"/>
                <a:cs typeface="Arial"/>
              </a:rPr>
              <a:t>Design</a:t>
            </a:r>
            <a:endParaRPr sz="1600" dirty="0">
              <a:latin typeface="Arial"/>
              <a:cs typeface="Arial"/>
            </a:endParaRPr>
          </a:p>
          <a:p>
            <a:pPr marL="12700">
              <a:spcBef>
                <a:spcPts val="315"/>
              </a:spcBef>
              <a:buClr>
                <a:srgbClr val="000000"/>
              </a:buClr>
              <a:tabLst>
                <a:tab pos="240665" algn="l"/>
              </a:tabLst>
            </a:pPr>
            <a:r>
              <a:rPr sz="1600" u="sng" spc="-10" dirty="0">
                <a:solidFill>
                  <a:srgbClr val="0000FF"/>
                </a:solidFill>
                <a:uFill>
                  <a:solidFill>
                    <a:srgbClr val="0000FF"/>
                  </a:solidFill>
                </a:uFill>
                <a:latin typeface="Arial MT"/>
                <a:cs typeface="Arial MT"/>
                <a:hlinkClick r:id="rId6"/>
              </a:rPr>
              <a:t>http://www.cc.gatech.edu/projects/PageSleuth/references/p309-zimmermann.pdf</a:t>
            </a:r>
            <a:endParaRPr sz="1600" dirty="0">
              <a:latin typeface="Arial MT"/>
              <a:cs typeface="Arial MT"/>
            </a:endParaRPr>
          </a:p>
          <a:p>
            <a:pPr marL="12700">
              <a:spcBef>
                <a:spcPts val="240"/>
              </a:spcBef>
              <a:buClr>
                <a:srgbClr val="000000"/>
              </a:buClr>
              <a:tabLst>
                <a:tab pos="240665" algn="l"/>
              </a:tabLst>
            </a:pPr>
            <a:r>
              <a:rPr sz="1600" u="sng" spc="-10" dirty="0">
                <a:solidFill>
                  <a:srgbClr val="0000FF"/>
                </a:solidFill>
                <a:uFill>
                  <a:solidFill>
                    <a:srgbClr val="0000FF"/>
                  </a:solidFill>
                </a:uFill>
                <a:latin typeface="Arial MT"/>
                <a:cs typeface="Arial MT"/>
                <a:hlinkClick r:id="rId7"/>
              </a:rPr>
              <a:t>http://mkweb.bcgsc.ca/vizbi/2012/principles.pdf</a:t>
            </a:r>
            <a:endParaRPr sz="1600" dirty="0">
              <a:latin typeface="Arial MT"/>
              <a:cs typeface="Arial MT"/>
            </a:endParaRPr>
          </a:p>
        </p:txBody>
      </p:sp>
      <p:sp>
        <p:nvSpPr>
          <p:cNvPr id="4" name="object 4"/>
          <p:cNvSpPr txBox="1"/>
          <p:nvPr/>
        </p:nvSpPr>
        <p:spPr>
          <a:xfrm>
            <a:off x="8868093" y="6547611"/>
            <a:ext cx="165100" cy="177800"/>
          </a:xfrm>
          <a:prstGeom prst="rect">
            <a:avLst/>
          </a:prstGeom>
        </p:spPr>
        <p:txBody>
          <a:bodyPr vert="horz" wrap="square" lIns="0" tIns="12700" rIns="0" bIns="0" rtlCol="0">
            <a:spAutoFit/>
          </a:bodyPr>
          <a:lstStyle/>
          <a:p>
            <a:pPr marL="12700">
              <a:lnSpc>
                <a:spcPct val="100000"/>
              </a:lnSpc>
              <a:spcBef>
                <a:spcPts val="100"/>
              </a:spcBef>
            </a:pPr>
            <a:r>
              <a:rPr sz="1000" spc="-25" dirty="0">
                <a:solidFill>
                  <a:srgbClr val="7F7F7F"/>
                </a:solidFill>
                <a:latin typeface="Arial MT"/>
                <a:cs typeface="Arial MT"/>
              </a:rPr>
              <a:t>31</a:t>
            </a:r>
            <a:endParaRPr sz="1000">
              <a:latin typeface="Arial MT"/>
              <a:cs typeface="Arial M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4194</TotalTime>
  <Words>1980</Words>
  <Application>Microsoft Macintosh PowerPoint</Application>
  <PresentationFormat>On-screen Show (4:3)</PresentationFormat>
  <Paragraphs>193</Paragraphs>
  <Slides>29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Aptos</vt:lpstr>
      <vt:lpstr>Arial</vt:lpstr>
      <vt:lpstr>Arial MT</vt:lpstr>
      <vt:lpstr>Atkinson Hyperlegible</vt:lpstr>
      <vt:lpstr>Calibri</vt:lpstr>
      <vt:lpstr>Office Theme</vt:lpstr>
      <vt:lpstr>Week 8 – Information Design</vt:lpstr>
      <vt:lpstr>Change of Schedule for Lecture and Lab Sessions in May</vt:lpstr>
      <vt:lpstr>UX Design - Skeleton</vt:lpstr>
      <vt:lpstr>Information Design</vt:lpstr>
      <vt:lpstr>Information Design</vt:lpstr>
      <vt:lpstr> Information Design vs. Interaction Design </vt:lpstr>
      <vt:lpstr> Information Design vs. Visual Design  </vt:lpstr>
      <vt:lpstr>Information Design vs. Content Strategy</vt:lpstr>
      <vt:lpstr>Information Design Techniques</vt:lpstr>
      <vt:lpstr>Information Design</vt:lpstr>
      <vt:lpstr>Plain Writing</vt:lpstr>
      <vt:lpstr>Plain Writing Examples</vt:lpstr>
      <vt:lpstr>Plain Writing Examples</vt:lpstr>
      <vt:lpstr>Plain Writing Examples</vt:lpstr>
      <vt:lpstr>Exercise</vt:lpstr>
      <vt:lpstr>Organisation with Patterns</vt:lpstr>
      <vt:lpstr>Behaviour Pattern</vt:lpstr>
      <vt:lpstr>Organisation F Pattern</vt:lpstr>
      <vt:lpstr>Organisation F Pattern</vt:lpstr>
      <vt:lpstr>Organisation F Pattern</vt:lpstr>
      <vt:lpstr>Organisation Z Pattern</vt:lpstr>
      <vt:lpstr>Organisation Z Pattern</vt:lpstr>
      <vt:lpstr>Example Z Pattern</vt:lpstr>
      <vt:lpstr>Example Z Pattern</vt:lpstr>
      <vt:lpstr>Example Z Pattern</vt:lpstr>
      <vt:lpstr>Organisation Z Pattern</vt:lpstr>
      <vt:lpstr>Outputs of Information Design</vt:lpstr>
      <vt:lpstr>Colour, typography &amp; white space, we will address in the visual design lecture next week.</vt:lpstr>
      <vt:lpstr> Further Reading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Bassma Al-Jubouri</cp:lastModifiedBy>
  <cp:revision>6</cp:revision>
  <dcterms:created xsi:type="dcterms:W3CDTF">2024-04-06T15:05:27Z</dcterms:created>
  <dcterms:modified xsi:type="dcterms:W3CDTF">2025-04-02T20:48:51Z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2023-03-12T00:00:00Z</vt:filetime>
  </property>
  <property fmtid="{D5CDD505-2E9C-101B-9397-08002B2CF9AE}" pid="3" name="LastSaved">
    <vt:filetime>2024-04-06T00:00:00Z</vt:filetime>
  </property>
  <property fmtid="{D5CDD505-2E9C-101B-9397-08002B2CF9AE}" pid="4" name="Producer">
    <vt:lpwstr>macOS Version 12.4 (Build 21F79) Quartz PDFContext</vt:lpwstr>
  </property>
</Properties>
</file>