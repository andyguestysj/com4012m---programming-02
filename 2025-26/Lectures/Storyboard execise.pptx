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4"/>
  </p:notesMasterIdLst>
  <p:sldIdLst>
    <p:sldId id="256" r:id="rId2"/>
    <p:sldId id="257" r:id="rId3"/>
    <p:sldId id="265" r:id="rId4"/>
    <p:sldId id="259" r:id="rId5"/>
    <p:sldId id="261" r:id="rId6"/>
    <p:sldId id="260" r:id="rId7"/>
    <p:sldId id="262" r:id="rId8"/>
    <p:sldId id="267" r:id="rId9"/>
    <p:sldId id="258" r:id="rId10"/>
    <p:sldId id="263" r:id="rId11"/>
    <p:sldId id="264" r:id="rId12"/>
    <p:sldId id="268" r:id="rId13"/>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70"/>
    <p:restoredTop sz="94684"/>
  </p:normalViewPr>
  <p:slideViewPr>
    <p:cSldViewPr snapToGrid="0">
      <p:cViewPr>
        <p:scale>
          <a:sx n="110" d="100"/>
          <a:sy n="110" d="100"/>
        </p:scale>
        <p:origin x="41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E1202F-B0DF-ED49-B9FD-8C4CD832ED45}" type="doc">
      <dgm:prSet loTypeId="urn:microsoft.com/office/officeart/2005/8/layout/matrix1" loCatId="" qsTypeId="urn:microsoft.com/office/officeart/2005/8/quickstyle/simple5" qsCatId="simple" csTypeId="urn:microsoft.com/office/officeart/2005/8/colors/colorful3" csCatId="colorful" phldr="1"/>
      <dgm:spPr/>
      <dgm:t>
        <a:bodyPr/>
        <a:lstStyle/>
        <a:p>
          <a:endParaRPr lang="en-GB"/>
        </a:p>
      </dgm:t>
    </dgm:pt>
    <dgm:pt modelId="{4A59DE83-9773-D740-A3FD-587FB0893AA3}">
      <dgm:prSet phldrT="[Text]"/>
      <dgm:spPr/>
      <dgm:t>
        <a:bodyPr/>
        <a:lstStyle/>
        <a:p>
          <a:pPr rtl="0"/>
          <a:r>
            <a:rPr lang="en-GB" dirty="0"/>
            <a:t>User</a:t>
          </a:r>
        </a:p>
      </dgm:t>
    </dgm:pt>
    <dgm:pt modelId="{014A5789-805D-E64C-8BAC-F643F68D2C8F}" type="parTrans" cxnId="{56AE8EE3-A900-A047-A1A9-E70453AF72CB}">
      <dgm:prSet/>
      <dgm:spPr/>
      <dgm:t>
        <a:bodyPr/>
        <a:lstStyle/>
        <a:p>
          <a:endParaRPr lang="en-GB"/>
        </a:p>
      </dgm:t>
    </dgm:pt>
    <dgm:pt modelId="{26CEC29A-6261-4D4E-84F7-92BEDCE55D1C}" type="sibTrans" cxnId="{56AE8EE3-A900-A047-A1A9-E70453AF72CB}">
      <dgm:prSet/>
      <dgm:spPr/>
      <dgm:t>
        <a:bodyPr/>
        <a:lstStyle/>
        <a:p>
          <a:endParaRPr lang="en-GB"/>
        </a:p>
      </dgm:t>
    </dgm:pt>
    <dgm:pt modelId="{77D23A0C-4CC9-3944-9F6D-33243F747075}">
      <dgm:prSet phldrT="[Text]"/>
      <dgm:spPr/>
      <dgm:t>
        <a:bodyPr/>
        <a:lstStyle/>
        <a:p>
          <a:pPr rtl="0"/>
          <a:r>
            <a:rPr lang="en-GB" dirty="0"/>
            <a:t>Says</a:t>
          </a:r>
        </a:p>
      </dgm:t>
    </dgm:pt>
    <dgm:pt modelId="{DB774915-1A0B-394A-BA5B-B649AF761816}" type="parTrans" cxnId="{26B57AF7-B9CF-364B-B8DF-F2E9545B76BE}">
      <dgm:prSet/>
      <dgm:spPr/>
      <dgm:t>
        <a:bodyPr/>
        <a:lstStyle/>
        <a:p>
          <a:endParaRPr lang="en-GB"/>
        </a:p>
      </dgm:t>
    </dgm:pt>
    <dgm:pt modelId="{04ACC527-4DA5-EB45-BAE1-E26E3B9FA1B8}" type="sibTrans" cxnId="{26B57AF7-B9CF-364B-B8DF-F2E9545B76BE}">
      <dgm:prSet/>
      <dgm:spPr/>
      <dgm:t>
        <a:bodyPr/>
        <a:lstStyle/>
        <a:p>
          <a:endParaRPr lang="en-GB"/>
        </a:p>
      </dgm:t>
    </dgm:pt>
    <dgm:pt modelId="{1E451D81-ACB1-5548-A8C8-5BE5B6945F7E}">
      <dgm:prSet phldrT="[Text]"/>
      <dgm:spPr/>
      <dgm:t>
        <a:bodyPr/>
        <a:lstStyle/>
        <a:p>
          <a:pPr rtl="0"/>
          <a:r>
            <a:rPr lang="en-GB" dirty="0"/>
            <a:t>Thinks</a:t>
          </a:r>
        </a:p>
      </dgm:t>
    </dgm:pt>
    <dgm:pt modelId="{36B0D75E-5264-5547-A966-AB6350B41631}" type="parTrans" cxnId="{75F4BE91-BCA9-9541-8BB7-1D7A83D3D2B1}">
      <dgm:prSet/>
      <dgm:spPr/>
      <dgm:t>
        <a:bodyPr/>
        <a:lstStyle/>
        <a:p>
          <a:endParaRPr lang="en-GB"/>
        </a:p>
      </dgm:t>
    </dgm:pt>
    <dgm:pt modelId="{1D5AE606-5301-464C-BED1-2E2CC69A8DBF}" type="sibTrans" cxnId="{75F4BE91-BCA9-9541-8BB7-1D7A83D3D2B1}">
      <dgm:prSet/>
      <dgm:spPr/>
      <dgm:t>
        <a:bodyPr/>
        <a:lstStyle/>
        <a:p>
          <a:endParaRPr lang="en-GB"/>
        </a:p>
      </dgm:t>
    </dgm:pt>
    <dgm:pt modelId="{DD68A516-296A-1747-A332-8DBAEDA01F06}">
      <dgm:prSet phldrT="[Text]"/>
      <dgm:spPr/>
      <dgm:t>
        <a:bodyPr/>
        <a:lstStyle/>
        <a:p>
          <a:pPr rtl="0"/>
          <a:r>
            <a:rPr lang="en-GB" dirty="0"/>
            <a:t>Does</a:t>
          </a:r>
        </a:p>
      </dgm:t>
    </dgm:pt>
    <dgm:pt modelId="{EEB0732E-2E0E-754E-97C4-C90E4506AE9A}" type="parTrans" cxnId="{0E1C003B-7893-E142-B4E5-376BE0D72F9C}">
      <dgm:prSet/>
      <dgm:spPr/>
      <dgm:t>
        <a:bodyPr/>
        <a:lstStyle/>
        <a:p>
          <a:endParaRPr lang="en-GB"/>
        </a:p>
      </dgm:t>
    </dgm:pt>
    <dgm:pt modelId="{A357F189-3EA8-D74E-BFAF-CDD5D9806A3F}" type="sibTrans" cxnId="{0E1C003B-7893-E142-B4E5-376BE0D72F9C}">
      <dgm:prSet/>
      <dgm:spPr/>
      <dgm:t>
        <a:bodyPr/>
        <a:lstStyle/>
        <a:p>
          <a:endParaRPr lang="en-GB"/>
        </a:p>
      </dgm:t>
    </dgm:pt>
    <dgm:pt modelId="{4708E70A-91AE-F143-86F9-5CBE5F73ABB7}">
      <dgm:prSet phldrT="[Text]"/>
      <dgm:spPr/>
      <dgm:t>
        <a:bodyPr/>
        <a:lstStyle/>
        <a:p>
          <a:pPr rtl="0"/>
          <a:r>
            <a:rPr lang="en-GB" dirty="0"/>
            <a:t>Feels</a:t>
          </a:r>
        </a:p>
      </dgm:t>
    </dgm:pt>
    <dgm:pt modelId="{28CEE4D5-D38E-1240-B4D1-A48DDCCCDECF}" type="parTrans" cxnId="{B7EA3F3B-9C0D-974E-A08D-D56E93E78A09}">
      <dgm:prSet/>
      <dgm:spPr/>
      <dgm:t>
        <a:bodyPr/>
        <a:lstStyle/>
        <a:p>
          <a:endParaRPr lang="en-GB"/>
        </a:p>
      </dgm:t>
    </dgm:pt>
    <dgm:pt modelId="{149F5223-6FDC-8644-A3E1-F356996D8CE2}" type="sibTrans" cxnId="{B7EA3F3B-9C0D-974E-A08D-D56E93E78A09}">
      <dgm:prSet/>
      <dgm:spPr/>
      <dgm:t>
        <a:bodyPr/>
        <a:lstStyle/>
        <a:p>
          <a:endParaRPr lang="en-GB"/>
        </a:p>
      </dgm:t>
    </dgm:pt>
    <dgm:pt modelId="{90147119-2B27-FB41-82FE-58B5341E049C}" type="pres">
      <dgm:prSet presAssocID="{AEE1202F-B0DF-ED49-B9FD-8C4CD832ED45}" presName="diagram" presStyleCnt="0">
        <dgm:presLayoutVars>
          <dgm:chMax val="1"/>
          <dgm:dir/>
          <dgm:animLvl val="ctr"/>
          <dgm:resizeHandles val="exact"/>
        </dgm:presLayoutVars>
      </dgm:prSet>
      <dgm:spPr/>
    </dgm:pt>
    <dgm:pt modelId="{0C30114B-3552-2140-B502-E52A66A82195}" type="pres">
      <dgm:prSet presAssocID="{AEE1202F-B0DF-ED49-B9FD-8C4CD832ED45}" presName="matrix" presStyleCnt="0"/>
      <dgm:spPr/>
    </dgm:pt>
    <dgm:pt modelId="{4825508F-B230-9F4C-9FE9-E39C55B36F37}" type="pres">
      <dgm:prSet presAssocID="{AEE1202F-B0DF-ED49-B9FD-8C4CD832ED45}" presName="tile1" presStyleLbl="node1" presStyleIdx="0" presStyleCnt="4"/>
      <dgm:spPr/>
    </dgm:pt>
    <dgm:pt modelId="{490565D8-B90E-F14F-9023-136D7D932C9B}" type="pres">
      <dgm:prSet presAssocID="{AEE1202F-B0DF-ED49-B9FD-8C4CD832ED45}" presName="tile1text" presStyleLbl="node1" presStyleIdx="0" presStyleCnt="4">
        <dgm:presLayoutVars>
          <dgm:chMax val="0"/>
          <dgm:chPref val="0"/>
          <dgm:bulletEnabled val="1"/>
        </dgm:presLayoutVars>
      </dgm:prSet>
      <dgm:spPr/>
    </dgm:pt>
    <dgm:pt modelId="{7FEC4546-08F3-8C4D-82FD-BFEBA928E571}" type="pres">
      <dgm:prSet presAssocID="{AEE1202F-B0DF-ED49-B9FD-8C4CD832ED45}" presName="tile2" presStyleLbl="node1" presStyleIdx="1" presStyleCnt="4"/>
      <dgm:spPr/>
    </dgm:pt>
    <dgm:pt modelId="{6EA0DE1C-5DF0-7D42-B105-66F7D2EE8467}" type="pres">
      <dgm:prSet presAssocID="{AEE1202F-B0DF-ED49-B9FD-8C4CD832ED45}" presName="tile2text" presStyleLbl="node1" presStyleIdx="1" presStyleCnt="4">
        <dgm:presLayoutVars>
          <dgm:chMax val="0"/>
          <dgm:chPref val="0"/>
          <dgm:bulletEnabled val="1"/>
        </dgm:presLayoutVars>
      </dgm:prSet>
      <dgm:spPr/>
    </dgm:pt>
    <dgm:pt modelId="{AB46A6E2-87B2-DF49-9AE5-3EEC8968AA3F}" type="pres">
      <dgm:prSet presAssocID="{AEE1202F-B0DF-ED49-B9FD-8C4CD832ED45}" presName="tile3" presStyleLbl="node1" presStyleIdx="2" presStyleCnt="4"/>
      <dgm:spPr/>
    </dgm:pt>
    <dgm:pt modelId="{F739380C-68E7-EB43-8B0D-CD9A05A62BD2}" type="pres">
      <dgm:prSet presAssocID="{AEE1202F-B0DF-ED49-B9FD-8C4CD832ED45}" presName="tile3text" presStyleLbl="node1" presStyleIdx="2" presStyleCnt="4">
        <dgm:presLayoutVars>
          <dgm:chMax val="0"/>
          <dgm:chPref val="0"/>
          <dgm:bulletEnabled val="1"/>
        </dgm:presLayoutVars>
      </dgm:prSet>
      <dgm:spPr/>
    </dgm:pt>
    <dgm:pt modelId="{AF8649B0-52D9-0D44-AF09-C5104FA41E29}" type="pres">
      <dgm:prSet presAssocID="{AEE1202F-B0DF-ED49-B9FD-8C4CD832ED45}" presName="tile4" presStyleLbl="node1" presStyleIdx="3" presStyleCnt="4"/>
      <dgm:spPr/>
    </dgm:pt>
    <dgm:pt modelId="{10E6E2D2-EA6B-6942-8865-B3BA80937472}" type="pres">
      <dgm:prSet presAssocID="{AEE1202F-B0DF-ED49-B9FD-8C4CD832ED45}" presName="tile4text" presStyleLbl="node1" presStyleIdx="3" presStyleCnt="4">
        <dgm:presLayoutVars>
          <dgm:chMax val="0"/>
          <dgm:chPref val="0"/>
          <dgm:bulletEnabled val="1"/>
        </dgm:presLayoutVars>
      </dgm:prSet>
      <dgm:spPr/>
    </dgm:pt>
    <dgm:pt modelId="{E350C847-7F5D-204F-8CB8-46B19573FDE7}" type="pres">
      <dgm:prSet presAssocID="{AEE1202F-B0DF-ED49-B9FD-8C4CD832ED45}" presName="centerTile" presStyleLbl="fgShp" presStyleIdx="0" presStyleCnt="1">
        <dgm:presLayoutVars>
          <dgm:chMax val="0"/>
          <dgm:chPref val="0"/>
        </dgm:presLayoutVars>
      </dgm:prSet>
      <dgm:spPr/>
    </dgm:pt>
  </dgm:ptLst>
  <dgm:cxnLst>
    <dgm:cxn modelId="{AEAD6808-0295-8343-8967-9FC35557375C}" type="presOf" srcId="{4708E70A-91AE-F143-86F9-5CBE5F73ABB7}" destId="{10E6E2D2-EA6B-6942-8865-B3BA80937472}" srcOrd="1" destOrd="0" presId="urn:microsoft.com/office/officeart/2005/8/layout/matrix1"/>
    <dgm:cxn modelId="{5C1A371B-2DC4-F546-9117-DF94CB775515}" type="presOf" srcId="{4708E70A-91AE-F143-86F9-5CBE5F73ABB7}" destId="{AF8649B0-52D9-0D44-AF09-C5104FA41E29}" srcOrd="0" destOrd="0" presId="urn:microsoft.com/office/officeart/2005/8/layout/matrix1"/>
    <dgm:cxn modelId="{777B6621-10CF-C540-9F0D-D81ECC9587B2}" type="presOf" srcId="{4A59DE83-9773-D740-A3FD-587FB0893AA3}" destId="{E350C847-7F5D-204F-8CB8-46B19573FDE7}" srcOrd="0" destOrd="0" presId="urn:microsoft.com/office/officeart/2005/8/layout/matrix1"/>
    <dgm:cxn modelId="{A84B552E-10D3-3940-8C04-FB0AECE3CB74}" type="presOf" srcId="{DD68A516-296A-1747-A332-8DBAEDA01F06}" destId="{F739380C-68E7-EB43-8B0D-CD9A05A62BD2}" srcOrd="1" destOrd="0" presId="urn:microsoft.com/office/officeart/2005/8/layout/matrix1"/>
    <dgm:cxn modelId="{D335A237-A17B-D64E-8151-C3ECF1E55C81}" type="presOf" srcId="{77D23A0C-4CC9-3944-9F6D-33243F747075}" destId="{4825508F-B230-9F4C-9FE9-E39C55B36F37}" srcOrd="0" destOrd="0" presId="urn:microsoft.com/office/officeart/2005/8/layout/matrix1"/>
    <dgm:cxn modelId="{0E1C003B-7893-E142-B4E5-376BE0D72F9C}" srcId="{4A59DE83-9773-D740-A3FD-587FB0893AA3}" destId="{DD68A516-296A-1747-A332-8DBAEDA01F06}" srcOrd="2" destOrd="0" parTransId="{EEB0732E-2E0E-754E-97C4-C90E4506AE9A}" sibTransId="{A357F189-3EA8-D74E-BFAF-CDD5D9806A3F}"/>
    <dgm:cxn modelId="{B7EA3F3B-9C0D-974E-A08D-D56E93E78A09}" srcId="{4A59DE83-9773-D740-A3FD-587FB0893AA3}" destId="{4708E70A-91AE-F143-86F9-5CBE5F73ABB7}" srcOrd="3" destOrd="0" parTransId="{28CEE4D5-D38E-1240-B4D1-A48DDCCCDECF}" sibTransId="{149F5223-6FDC-8644-A3E1-F356996D8CE2}"/>
    <dgm:cxn modelId="{75F4BE91-BCA9-9541-8BB7-1D7A83D3D2B1}" srcId="{4A59DE83-9773-D740-A3FD-587FB0893AA3}" destId="{1E451D81-ACB1-5548-A8C8-5BE5B6945F7E}" srcOrd="1" destOrd="0" parTransId="{36B0D75E-5264-5547-A966-AB6350B41631}" sibTransId="{1D5AE606-5301-464C-BED1-2E2CC69A8DBF}"/>
    <dgm:cxn modelId="{AF011BAD-98FC-6D4E-9D02-A8BA2F5AEA3F}" type="presOf" srcId="{1E451D81-ACB1-5548-A8C8-5BE5B6945F7E}" destId="{7FEC4546-08F3-8C4D-82FD-BFEBA928E571}" srcOrd="0" destOrd="0" presId="urn:microsoft.com/office/officeart/2005/8/layout/matrix1"/>
    <dgm:cxn modelId="{996B67C6-9CBD-AA46-8F2D-CEC152E50D7A}" type="presOf" srcId="{DD68A516-296A-1747-A332-8DBAEDA01F06}" destId="{AB46A6E2-87B2-DF49-9AE5-3EEC8968AA3F}" srcOrd="0" destOrd="0" presId="urn:microsoft.com/office/officeart/2005/8/layout/matrix1"/>
    <dgm:cxn modelId="{F22FF7D6-62BA-4C42-A70B-2E15F0AE2D77}" type="presOf" srcId="{77D23A0C-4CC9-3944-9F6D-33243F747075}" destId="{490565D8-B90E-F14F-9023-136D7D932C9B}" srcOrd="1" destOrd="0" presId="urn:microsoft.com/office/officeart/2005/8/layout/matrix1"/>
    <dgm:cxn modelId="{56AE8EE3-A900-A047-A1A9-E70453AF72CB}" srcId="{AEE1202F-B0DF-ED49-B9FD-8C4CD832ED45}" destId="{4A59DE83-9773-D740-A3FD-587FB0893AA3}" srcOrd="0" destOrd="0" parTransId="{014A5789-805D-E64C-8BAC-F643F68D2C8F}" sibTransId="{26CEC29A-6261-4D4E-84F7-92BEDCE55D1C}"/>
    <dgm:cxn modelId="{305172EB-D4DD-2D48-BC83-1442E6796266}" type="presOf" srcId="{AEE1202F-B0DF-ED49-B9FD-8C4CD832ED45}" destId="{90147119-2B27-FB41-82FE-58B5341E049C}" srcOrd="0" destOrd="0" presId="urn:microsoft.com/office/officeart/2005/8/layout/matrix1"/>
    <dgm:cxn modelId="{26B57AF7-B9CF-364B-B8DF-F2E9545B76BE}" srcId="{4A59DE83-9773-D740-A3FD-587FB0893AA3}" destId="{77D23A0C-4CC9-3944-9F6D-33243F747075}" srcOrd="0" destOrd="0" parTransId="{DB774915-1A0B-394A-BA5B-B649AF761816}" sibTransId="{04ACC527-4DA5-EB45-BAE1-E26E3B9FA1B8}"/>
    <dgm:cxn modelId="{896B96FA-30B1-9F45-A4F0-68D9BD346CA4}" type="presOf" srcId="{1E451D81-ACB1-5548-A8C8-5BE5B6945F7E}" destId="{6EA0DE1C-5DF0-7D42-B105-66F7D2EE8467}" srcOrd="1" destOrd="0" presId="urn:microsoft.com/office/officeart/2005/8/layout/matrix1"/>
    <dgm:cxn modelId="{1C8141EB-5261-3042-A141-808AF15F4CC9}" type="presParOf" srcId="{90147119-2B27-FB41-82FE-58B5341E049C}" destId="{0C30114B-3552-2140-B502-E52A66A82195}" srcOrd="0" destOrd="0" presId="urn:microsoft.com/office/officeart/2005/8/layout/matrix1"/>
    <dgm:cxn modelId="{7EA9FE53-E0E7-AC41-8AFA-4DA52E7582EF}" type="presParOf" srcId="{0C30114B-3552-2140-B502-E52A66A82195}" destId="{4825508F-B230-9F4C-9FE9-E39C55B36F37}" srcOrd="0" destOrd="0" presId="urn:microsoft.com/office/officeart/2005/8/layout/matrix1"/>
    <dgm:cxn modelId="{80199682-75BE-8F42-A809-E8C45F5E8A44}" type="presParOf" srcId="{0C30114B-3552-2140-B502-E52A66A82195}" destId="{490565D8-B90E-F14F-9023-136D7D932C9B}" srcOrd="1" destOrd="0" presId="urn:microsoft.com/office/officeart/2005/8/layout/matrix1"/>
    <dgm:cxn modelId="{06884329-A6DF-714C-8DE8-9E30727673E9}" type="presParOf" srcId="{0C30114B-3552-2140-B502-E52A66A82195}" destId="{7FEC4546-08F3-8C4D-82FD-BFEBA928E571}" srcOrd="2" destOrd="0" presId="urn:microsoft.com/office/officeart/2005/8/layout/matrix1"/>
    <dgm:cxn modelId="{E7E776CB-182A-BE46-A915-A0645E06CAE5}" type="presParOf" srcId="{0C30114B-3552-2140-B502-E52A66A82195}" destId="{6EA0DE1C-5DF0-7D42-B105-66F7D2EE8467}" srcOrd="3" destOrd="0" presId="urn:microsoft.com/office/officeart/2005/8/layout/matrix1"/>
    <dgm:cxn modelId="{FD42375B-3330-CD42-90A0-A005BB846639}" type="presParOf" srcId="{0C30114B-3552-2140-B502-E52A66A82195}" destId="{AB46A6E2-87B2-DF49-9AE5-3EEC8968AA3F}" srcOrd="4" destOrd="0" presId="urn:microsoft.com/office/officeart/2005/8/layout/matrix1"/>
    <dgm:cxn modelId="{C7954AF7-5C40-8C4D-9BBC-008801FB634B}" type="presParOf" srcId="{0C30114B-3552-2140-B502-E52A66A82195}" destId="{F739380C-68E7-EB43-8B0D-CD9A05A62BD2}" srcOrd="5" destOrd="0" presId="urn:microsoft.com/office/officeart/2005/8/layout/matrix1"/>
    <dgm:cxn modelId="{AA0B9159-F92C-BC42-BBB8-4AF7CDEAC78C}" type="presParOf" srcId="{0C30114B-3552-2140-B502-E52A66A82195}" destId="{AF8649B0-52D9-0D44-AF09-C5104FA41E29}" srcOrd="6" destOrd="0" presId="urn:microsoft.com/office/officeart/2005/8/layout/matrix1"/>
    <dgm:cxn modelId="{5A96CE7A-0512-8B46-B622-B28C08530BA4}" type="presParOf" srcId="{0C30114B-3552-2140-B502-E52A66A82195}" destId="{10E6E2D2-EA6B-6942-8865-B3BA80937472}" srcOrd="7" destOrd="0" presId="urn:microsoft.com/office/officeart/2005/8/layout/matrix1"/>
    <dgm:cxn modelId="{E0A51E1F-CE5A-134B-A379-EF7361D786E8}" type="presParOf" srcId="{90147119-2B27-FB41-82FE-58B5341E049C}" destId="{E350C847-7F5D-204F-8CB8-46B19573FDE7}"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25508F-B230-9F4C-9FE9-E39C55B36F37}">
      <dsp:nvSpPr>
        <dsp:cNvPr id="0" name=""/>
        <dsp:cNvSpPr/>
      </dsp:nvSpPr>
      <dsp:spPr>
        <a:xfrm rot="16200000">
          <a:off x="677333" y="-677333"/>
          <a:ext cx="2709333" cy="4064000"/>
        </a:xfrm>
        <a:prstGeom prst="round1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05384" tIns="405384" rIns="405384" bIns="405384" numCol="1" spcCol="1270" anchor="ctr" anchorCtr="0">
          <a:noAutofit/>
        </a:bodyPr>
        <a:lstStyle/>
        <a:p>
          <a:pPr marL="0" lvl="0" indent="0" algn="ctr" defTabSz="2533650" rtl="0">
            <a:lnSpc>
              <a:spcPct val="90000"/>
            </a:lnSpc>
            <a:spcBef>
              <a:spcPct val="0"/>
            </a:spcBef>
            <a:spcAft>
              <a:spcPct val="35000"/>
            </a:spcAft>
            <a:buNone/>
          </a:pPr>
          <a:r>
            <a:rPr lang="en-GB" sz="5700" kern="1200" dirty="0"/>
            <a:t>Says</a:t>
          </a:r>
        </a:p>
      </dsp:txBody>
      <dsp:txXfrm rot="5400000">
        <a:off x="-1" y="1"/>
        <a:ext cx="4064000" cy="2032000"/>
      </dsp:txXfrm>
    </dsp:sp>
    <dsp:sp modelId="{7FEC4546-08F3-8C4D-82FD-BFEBA928E571}">
      <dsp:nvSpPr>
        <dsp:cNvPr id="0" name=""/>
        <dsp:cNvSpPr/>
      </dsp:nvSpPr>
      <dsp:spPr>
        <a:xfrm>
          <a:off x="4064000" y="0"/>
          <a:ext cx="4064000" cy="2709333"/>
        </a:xfrm>
        <a:prstGeom prst="round1Rect">
          <a:avLst/>
        </a:prstGeom>
        <a:gradFill rotWithShape="0">
          <a:gsLst>
            <a:gs pos="0">
              <a:schemeClr val="accent3">
                <a:hueOff val="-5337424"/>
                <a:satOff val="18947"/>
                <a:lumOff val="-2418"/>
                <a:alphaOff val="0"/>
                <a:satMod val="103000"/>
                <a:lumMod val="102000"/>
                <a:tint val="94000"/>
              </a:schemeClr>
            </a:gs>
            <a:gs pos="50000">
              <a:schemeClr val="accent3">
                <a:hueOff val="-5337424"/>
                <a:satOff val="18947"/>
                <a:lumOff val="-2418"/>
                <a:alphaOff val="0"/>
                <a:satMod val="110000"/>
                <a:lumMod val="100000"/>
                <a:shade val="100000"/>
              </a:schemeClr>
            </a:gs>
            <a:gs pos="100000">
              <a:schemeClr val="accent3">
                <a:hueOff val="-5337424"/>
                <a:satOff val="18947"/>
                <a:lumOff val="-241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05384" tIns="405384" rIns="405384" bIns="405384" numCol="1" spcCol="1270" anchor="ctr" anchorCtr="0">
          <a:noAutofit/>
        </a:bodyPr>
        <a:lstStyle/>
        <a:p>
          <a:pPr marL="0" lvl="0" indent="0" algn="ctr" defTabSz="2533650" rtl="0">
            <a:lnSpc>
              <a:spcPct val="90000"/>
            </a:lnSpc>
            <a:spcBef>
              <a:spcPct val="0"/>
            </a:spcBef>
            <a:spcAft>
              <a:spcPct val="35000"/>
            </a:spcAft>
            <a:buNone/>
          </a:pPr>
          <a:r>
            <a:rPr lang="en-GB" sz="5700" kern="1200" dirty="0"/>
            <a:t>Thinks</a:t>
          </a:r>
        </a:p>
      </dsp:txBody>
      <dsp:txXfrm>
        <a:off x="4064000" y="0"/>
        <a:ext cx="4064000" cy="2032000"/>
      </dsp:txXfrm>
    </dsp:sp>
    <dsp:sp modelId="{AB46A6E2-87B2-DF49-9AE5-3EEC8968AA3F}">
      <dsp:nvSpPr>
        <dsp:cNvPr id="0" name=""/>
        <dsp:cNvSpPr/>
      </dsp:nvSpPr>
      <dsp:spPr>
        <a:xfrm rot="10800000">
          <a:off x="0" y="2709333"/>
          <a:ext cx="4064000" cy="2709333"/>
        </a:xfrm>
        <a:prstGeom prst="round1Rect">
          <a:avLst/>
        </a:prstGeom>
        <a:gradFill rotWithShape="0">
          <a:gsLst>
            <a:gs pos="0">
              <a:schemeClr val="accent3">
                <a:hueOff val="-10674847"/>
                <a:satOff val="37893"/>
                <a:lumOff val="-4837"/>
                <a:alphaOff val="0"/>
                <a:satMod val="103000"/>
                <a:lumMod val="102000"/>
                <a:tint val="94000"/>
              </a:schemeClr>
            </a:gs>
            <a:gs pos="50000">
              <a:schemeClr val="accent3">
                <a:hueOff val="-10674847"/>
                <a:satOff val="37893"/>
                <a:lumOff val="-4837"/>
                <a:alphaOff val="0"/>
                <a:satMod val="110000"/>
                <a:lumMod val="100000"/>
                <a:shade val="100000"/>
              </a:schemeClr>
            </a:gs>
            <a:gs pos="100000">
              <a:schemeClr val="accent3">
                <a:hueOff val="-10674847"/>
                <a:satOff val="37893"/>
                <a:lumOff val="-483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05384" tIns="405384" rIns="405384" bIns="405384" numCol="1" spcCol="1270" anchor="ctr" anchorCtr="0">
          <a:noAutofit/>
        </a:bodyPr>
        <a:lstStyle/>
        <a:p>
          <a:pPr marL="0" lvl="0" indent="0" algn="ctr" defTabSz="2533650" rtl="0">
            <a:lnSpc>
              <a:spcPct val="90000"/>
            </a:lnSpc>
            <a:spcBef>
              <a:spcPct val="0"/>
            </a:spcBef>
            <a:spcAft>
              <a:spcPct val="35000"/>
            </a:spcAft>
            <a:buNone/>
          </a:pPr>
          <a:r>
            <a:rPr lang="en-GB" sz="5700" kern="1200" dirty="0"/>
            <a:t>Does</a:t>
          </a:r>
        </a:p>
      </dsp:txBody>
      <dsp:txXfrm rot="10800000">
        <a:off x="0" y="3386666"/>
        <a:ext cx="4064000" cy="2032000"/>
      </dsp:txXfrm>
    </dsp:sp>
    <dsp:sp modelId="{AF8649B0-52D9-0D44-AF09-C5104FA41E29}">
      <dsp:nvSpPr>
        <dsp:cNvPr id="0" name=""/>
        <dsp:cNvSpPr/>
      </dsp:nvSpPr>
      <dsp:spPr>
        <a:xfrm rot="5400000">
          <a:off x="4741333" y="2032000"/>
          <a:ext cx="2709333" cy="4064000"/>
        </a:xfrm>
        <a:prstGeom prst="round1Rect">
          <a:avLst/>
        </a:prstGeom>
        <a:gradFill rotWithShape="0">
          <a:gsLst>
            <a:gs pos="0">
              <a:schemeClr val="accent3">
                <a:hueOff val="-16012271"/>
                <a:satOff val="56840"/>
                <a:lumOff val="-7255"/>
                <a:alphaOff val="0"/>
                <a:satMod val="103000"/>
                <a:lumMod val="102000"/>
                <a:tint val="94000"/>
              </a:schemeClr>
            </a:gs>
            <a:gs pos="50000">
              <a:schemeClr val="accent3">
                <a:hueOff val="-16012271"/>
                <a:satOff val="56840"/>
                <a:lumOff val="-7255"/>
                <a:alphaOff val="0"/>
                <a:satMod val="110000"/>
                <a:lumMod val="100000"/>
                <a:shade val="100000"/>
              </a:schemeClr>
            </a:gs>
            <a:gs pos="100000">
              <a:schemeClr val="accent3">
                <a:hueOff val="-16012271"/>
                <a:satOff val="56840"/>
                <a:lumOff val="-725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05384" tIns="405384" rIns="405384" bIns="405384" numCol="1" spcCol="1270" anchor="ctr" anchorCtr="0">
          <a:noAutofit/>
        </a:bodyPr>
        <a:lstStyle/>
        <a:p>
          <a:pPr marL="0" lvl="0" indent="0" algn="ctr" defTabSz="2533650" rtl="0">
            <a:lnSpc>
              <a:spcPct val="90000"/>
            </a:lnSpc>
            <a:spcBef>
              <a:spcPct val="0"/>
            </a:spcBef>
            <a:spcAft>
              <a:spcPct val="35000"/>
            </a:spcAft>
            <a:buNone/>
          </a:pPr>
          <a:r>
            <a:rPr lang="en-GB" sz="5700" kern="1200" dirty="0"/>
            <a:t>Feels</a:t>
          </a:r>
        </a:p>
      </dsp:txBody>
      <dsp:txXfrm rot="-5400000">
        <a:off x="4063999" y="3386666"/>
        <a:ext cx="4064000" cy="2032000"/>
      </dsp:txXfrm>
    </dsp:sp>
    <dsp:sp modelId="{E350C847-7F5D-204F-8CB8-46B19573FDE7}">
      <dsp:nvSpPr>
        <dsp:cNvPr id="0" name=""/>
        <dsp:cNvSpPr/>
      </dsp:nvSpPr>
      <dsp:spPr>
        <a:xfrm>
          <a:off x="2844799" y="2032000"/>
          <a:ext cx="2438400" cy="1354666"/>
        </a:xfrm>
        <a:prstGeom prst="roundRect">
          <a:avLst/>
        </a:prstGeom>
        <a:gradFill rotWithShape="0">
          <a:gsLst>
            <a:gs pos="0">
              <a:schemeClr val="accent3">
                <a:tint val="40000"/>
                <a:hueOff val="0"/>
                <a:satOff val="0"/>
                <a:lumOff val="0"/>
                <a:alphaOff val="0"/>
                <a:satMod val="103000"/>
                <a:lumMod val="102000"/>
                <a:tint val="94000"/>
              </a:schemeClr>
            </a:gs>
            <a:gs pos="50000">
              <a:schemeClr val="accent3">
                <a:tint val="40000"/>
                <a:hueOff val="0"/>
                <a:satOff val="0"/>
                <a:lumOff val="0"/>
                <a:alphaOff val="0"/>
                <a:satMod val="110000"/>
                <a:lumMod val="100000"/>
                <a:shade val="100000"/>
              </a:schemeClr>
            </a:gs>
            <a:gs pos="100000">
              <a:schemeClr val="accent3">
                <a:tint val="4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dsp:style>
      <dsp:txBody>
        <a:bodyPr spcFirstLastPara="0" vert="horz" wrap="square" lIns="217170" tIns="217170" rIns="217170" bIns="217170" numCol="1" spcCol="1270" anchor="ctr" anchorCtr="0">
          <a:noAutofit/>
        </a:bodyPr>
        <a:lstStyle/>
        <a:p>
          <a:pPr marL="0" lvl="0" indent="0" algn="ctr" defTabSz="2533650" rtl="0">
            <a:lnSpc>
              <a:spcPct val="90000"/>
            </a:lnSpc>
            <a:spcBef>
              <a:spcPct val="0"/>
            </a:spcBef>
            <a:spcAft>
              <a:spcPct val="35000"/>
            </a:spcAft>
            <a:buNone/>
          </a:pPr>
          <a:r>
            <a:rPr lang="en-GB" sz="5700" kern="1200" dirty="0"/>
            <a:t>User</a:t>
          </a:r>
        </a:p>
      </dsp:txBody>
      <dsp:txXfrm>
        <a:off x="2910928" y="2098129"/>
        <a:ext cx="2306142" cy="1222408"/>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69517-CBD8-2A4D-92CF-00FCCA08BB29}" type="datetimeFigureOut">
              <a:rPr lang="en-GB" smtClean="0"/>
              <a:t>23/03/2025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92274C-12DA-E746-B3E7-D6A1F9CD3357}" type="slidenum">
              <a:rPr lang="en-GB" smtClean="0"/>
              <a:t>‹#›</a:t>
            </a:fld>
            <a:endParaRPr lang="en-GB"/>
          </a:p>
        </p:txBody>
      </p:sp>
    </p:spTree>
    <p:extLst>
      <p:ext uri="{BB962C8B-B14F-4D97-AF65-F5344CB8AC3E}">
        <p14:creationId xmlns:p14="http://schemas.microsoft.com/office/powerpoint/2010/main" val="3277320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9a7987df20_0_9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9a7987df20_0_9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b="1">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3/23/25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56947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3/23/25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764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3/23/25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910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3/23/25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86537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3/23/25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7370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3/23/25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9086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3/23/25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6204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3/23/25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04405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3/23/25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7627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3/23/25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4432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3/23/25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87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3/23/25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0688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osamaabdelnaser.medium.com/learn-more-about-creating-storyboards-266922e4dc52"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osamaabdelnaser.medium.com/learn-more-about-creating-storyboards-266922e4dc5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osamaabdelnaser.medium.com/learn-more-about-creating-storyboards-266922e4dc52"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osamaabdelnaser.medium.com/learn-more-about-creating-storyboards-266922e4dc52"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WyXTT30YFj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78DAC2-37B1-9E6E-0068-6BA7C4C843A5}"/>
              </a:ext>
            </a:extLst>
          </p:cNvPr>
          <p:cNvSpPr>
            <a:spLocks noGrp="1"/>
          </p:cNvSpPr>
          <p:nvPr>
            <p:ph type="ctrTitle"/>
          </p:nvPr>
        </p:nvSpPr>
        <p:spPr>
          <a:xfrm>
            <a:off x="7537528" y="1032764"/>
            <a:ext cx="4308672" cy="3224045"/>
          </a:xfrm>
        </p:spPr>
        <p:txBody>
          <a:bodyPr anchor="b">
            <a:normAutofit/>
          </a:bodyPr>
          <a:lstStyle/>
          <a:p>
            <a:r>
              <a:rPr lang="en-GB" sz="5800"/>
              <a:t>Storyboard exercise</a:t>
            </a:r>
          </a:p>
        </p:txBody>
      </p:sp>
      <p:pic>
        <p:nvPicPr>
          <p:cNvPr id="4" name="Picture 3" descr="Person writing on a notepad">
            <a:extLst>
              <a:ext uri="{FF2B5EF4-FFF2-40B4-BE49-F238E27FC236}">
                <a16:creationId xmlns:a16="http://schemas.microsoft.com/office/drawing/2014/main" id="{C51EC854-FEB8-5FF8-1A89-E0C1F13430F7}"/>
              </a:ext>
            </a:extLst>
          </p:cNvPr>
          <p:cNvPicPr>
            <a:picLocks noChangeAspect="1"/>
          </p:cNvPicPr>
          <p:nvPr/>
        </p:nvPicPr>
        <p:blipFill>
          <a:blip r:embed="rId2"/>
          <a:srcRect l="13645" r="6260"/>
          <a:stretch/>
        </p:blipFill>
        <p:spPr>
          <a:xfrm>
            <a:off x="20" y="10"/>
            <a:ext cx="6931132" cy="6857990"/>
          </a:xfrm>
          <a:prstGeom prst="rect">
            <a:avLst/>
          </a:prstGeom>
        </p:spPr>
      </p:pic>
      <p:cxnSp>
        <p:nvCxnSpPr>
          <p:cNvPr id="10" name="Straight Connector 9">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692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8145-73B6-A1D8-3173-A181F559E4E4}"/>
              </a:ext>
            </a:extLst>
          </p:cNvPr>
          <p:cNvSpPr>
            <a:spLocks noGrp="1"/>
          </p:cNvSpPr>
          <p:nvPr>
            <p:ph type="title"/>
          </p:nvPr>
        </p:nvSpPr>
        <p:spPr/>
        <p:txBody>
          <a:bodyPr/>
          <a:lstStyle/>
          <a:p>
            <a:r>
              <a:rPr lang="en-GB" dirty="0"/>
              <a:t>Storyboard Elements </a:t>
            </a:r>
          </a:p>
        </p:txBody>
      </p:sp>
      <p:sp>
        <p:nvSpPr>
          <p:cNvPr id="3" name="Content Placeholder 2">
            <a:extLst>
              <a:ext uri="{FF2B5EF4-FFF2-40B4-BE49-F238E27FC236}">
                <a16:creationId xmlns:a16="http://schemas.microsoft.com/office/drawing/2014/main" id="{F57C3431-D0C0-3DFB-3DA1-05CDE7A6D8C8}"/>
              </a:ext>
            </a:extLst>
          </p:cNvPr>
          <p:cNvSpPr>
            <a:spLocks noGrp="1"/>
          </p:cNvSpPr>
          <p:nvPr>
            <p:ph idx="1"/>
          </p:nvPr>
        </p:nvSpPr>
        <p:spPr/>
        <p:txBody>
          <a:bodyPr/>
          <a:lstStyle/>
          <a:p>
            <a:pPr algn="l">
              <a:buFont typeface="Arial" panose="020B0604020202020204" pitchFamily="34" charset="0"/>
              <a:buChar char="•"/>
            </a:pPr>
            <a:r>
              <a:rPr lang="en-GB" b="1" i="0" dirty="0">
                <a:solidFill>
                  <a:srgbClr val="242424"/>
                </a:solidFill>
                <a:effectLst/>
                <a:latin typeface="Grandview Display" panose="020B0502040204020203" pitchFamily="34" charset="0"/>
              </a:rPr>
              <a:t>Character</a:t>
            </a:r>
            <a:r>
              <a:rPr lang="en-GB" b="0" i="0" dirty="0">
                <a:solidFill>
                  <a:srgbClr val="242424"/>
                </a:solidFill>
                <a:effectLst/>
                <a:latin typeface="Grandview Display" panose="020B0502040204020203" pitchFamily="34" charset="0"/>
              </a:rPr>
              <a:t>: States the user in the storyboard.</a:t>
            </a:r>
          </a:p>
          <a:p>
            <a:pPr algn="l">
              <a:buFont typeface="Arial" panose="020B0604020202020204" pitchFamily="34" charset="0"/>
              <a:buChar char="•"/>
            </a:pPr>
            <a:r>
              <a:rPr lang="en-GB" b="1" i="0" dirty="0">
                <a:solidFill>
                  <a:srgbClr val="242424"/>
                </a:solidFill>
                <a:effectLst/>
                <a:latin typeface="Grandview Display" panose="020B0502040204020203" pitchFamily="34" charset="0"/>
              </a:rPr>
              <a:t>Scene</a:t>
            </a:r>
            <a:r>
              <a:rPr lang="en-GB" b="0" i="0" dirty="0">
                <a:solidFill>
                  <a:srgbClr val="242424"/>
                </a:solidFill>
                <a:effectLst/>
                <a:latin typeface="Grandview Display" panose="020B0502040204020203" pitchFamily="34" charset="0"/>
              </a:rPr>
              <a:t>: Gives designers a way to imagine the user’s environment.</a:t>
            </a:r>
          </a:p>
          <a:p>
            <a:pPr algn="l">
              <a:buFont typeface="Arial" panose="020B0604020202020204" pitchFamily="34" charset="0"/>
              <a:buChar char="•"/>
            </a:pPr>
            <a:r>
              <a:rPr lang="en-GB" b="1" i="0" dirty="0">
                <a:solidFill>
                  <a:srgbClr val="242424"/>
                </a:solidFill>
                <a:effectLst/>
                <a:latin typeface="Grandview Display" panose="020B0502040204020203" pitchFamily="34" charset="0"/>
              </a:rPr>
              <a:t>Plot</a:t>
            </a:r>
            <a:r>
              <a:rPr lang="en-GB" b="0" i="0" dirty="0">
                <a:solidFill>
                  <a:srgbClr val="242424"/>
                </a:solidFill>
                <a:effectLst/>
                <a:latin typeface="Grandview Display" panose="020B0502040204020203" pitchFamily="34" charset="0"/>
              </a:rPr>
              <a:t>: Describes the solution or benefit offered by the design.</a:t>
            </a:r>
          </a:p>
          <a:p>
            <a:pPr algn="l">
              <a:buFont typeface="Arial" panose="020B0604020202020204" pitchFamily="34" charset="0"/>
              <a:buChar char="•"/>
            </a:pPr>
            <a:r>
              <a:rPr lang="en-GB" b="1" i="0" dirty="0">
                <a:solidFill>
                  <a:srgbClr val="242424"/>
                </a:solidFill>
                <a:effectLst/>
                <a:latin typeface="Grandview Display" panose="020B0502040204020203" pitchFamily="34" charset="0"/>
              </a:rPr>
              <a:t>Narrative</a:t>
            </a:r>
            <a:r>
              <a:rPr lang="en-GB" b="0" i="0" dirty="0">
                <a:solidFill>
                  <a:srgbClr val="242424"/>
                </a:solidFill>
                <a:effectLst/>
                <a:latin typeface="Grandview Display" panose="020B0502040204020203" pitchFamily="34" charset="0"/>
              </a:rPr>
              <a:t>: Describes the problem the user is facing and how the design will solve this problem.</a:t>
            </a:r>
          </a:p>
          <a:p>
            <a:pPr marL="0" indent="0">
              <a:buNone/>
            </a:pPr>
            <a:endParaRPr lang="en-GB" dirty="0">
              <a:latin typeface="Grandview Display" panose="020B0502040204020203" pitchFamily="34" charset="0"/>
            </a:endParaRPr>
          </a:p>
        </p:txBody>
      </p:sp>
    </p:spTree>
    <p:extLst>
      <p:ext uri="{BB962C8B-B14F-4D97-AF65-F5344CB8AC3E}">
        <p14:creationId xmlns:p14="http://schemas.microsoft.com/office/powerpoint/2010/main" val="398142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3D6E66F-FBB2-2016-8E3F-C5CAE13C8C1B}"/>
              </a:ext>
            </a:extLst>
          </p:cNvPr>
          <p:cNvGraphicFramePr/>
          <p:nvPr>
            <p:extLst>
              <p:ext uri="{D42A27DB-BD31-4B8C-83A1-F6EECF244321}">
                <p14:modId xmlns:p14="http://schemas.microsoft.com/office/powerpoint/2010/main" val="3783554310"/>
              </p:ext>
            </p:extLst>
          </p:nvPr>
        </p:nvGraphicFramePr>
        <p:xfrm>
          <a:off x="2055149" y="928010"/>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C3163B99-8138-5AC6-67A7-FFFACA62D580}"/>
              </a:ext>
            </a:extLst>
          </p:cNvPr>
          <p:cNvSpPr txBox="1"/>
          <p:nvPr/>
        </p:nvSpPr>
        <p:spPr>
          <a:xfrm>
            <a:off x="2465408" y="208344"/>
            <a:ext cx="7407797" cy="523220"/>
          </a:xfrm>
          <a:prstGeom prst="rect">
            <a:avLst/>
          </a:prstGeom>
          <a:noFill/>
        </p:spPr>
        <p:txBody>
          <a:bodyPr wrap="square" rtlCol="0">
            <a:spAutoFit/>
          </a:bodyPr>
          <a:lstStyle/>
          <a:p>
            <a:pPr algn="ctr"/>
            <a:r>
              <a:rPr lang="en-GB" sz="2800" dirty="0"/>
              <a:t>Empathy Map</a:t>
            </a:r>
          </a:p>
        </p:txBody>
      </p:sp>
    </p:spTree>
    <p:extLst>
      <p:ext uri="{BB962C8B-B14F-4D97-AF65-F5344CB8AC3E}">
        <p14:creationId xmlns:p14="http://schemas.microsoft.com/office/powerpoint/2010/main" val="3848487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7C5A-A0AA-C979-6A6F-3B5B8267EBDB}"/>
              </a:ext>
            </a:extLst>
          </p:cNvPr>
          <p:cNvSpPr>
            <a:spLocks noGrp="1"/>
          </p:cNvSpPr>
          <p:nvPr>
            <p:ph type="title"/>
          </p:nvPr>
        </p:nvSpPr>
        <p:spPr/>
        <p:txBody>
          <a:bodyPr/>
          <a:lstStyle/>
          <a:p>
            <a:r>
              <a:rPr lang="en-GB" dirty="0"/>
              <a:t>Problem Statement</a:t>
            </a:r>
          </a:p>
        </p:txBody>
      </p:sp>
      <p:sp>
        <p:nvSpPr>
          <p:cNvPr id="3" name="Content Placeholder 2">
            <a:extLst>
              <a:ext uri="{FF2B5EF4-FFF2-40B4-BE49-F238E27FC236}">
                <a16:creationId xmlns:a16="http://schemas.microsoft.com/office/drawing/2014/main" id="{7C76A3EB-9BA2-EC69-B9A1-9E9B2F17D4FC}"/>
              </a:ext>
            </a:extLst>
          </p:cNvPr>
          <p:cNvSpPr>
            <a:spLocks noGrp="1"/>
          </p:cNvSpPr>
          <p:nvPr>
            <p:ph idx="1"/>
          </p:nvPr>
        </p:nvSpPr>
        <p:spPr/>
        <p:txBody>
          <a:bodyPr/>
          <a:lstStyle/>
          <a:p>
            <a:pPr>
              <a:lnSpc>
                <a:spcPct val="200000"/>
              </a:lnSpc>
            </a:pPr>
            <a:r>
              <a:rPr lang="en-GB" dirty="0"/>
              <a:t>                                                   is a </a:t>
            </a:r>
          </a:p>
          <a:p>
            <a:pPr marL="0" indent="0">
              <a:lnSpc>
                <a:spcPct val="200000"/>
              </a:lnSpc>
              <a:buNone/>
            </a:pPr>
            <a:r>
              <a:rPr lang="en-GB" dirty="0"/>
              <a:t>who needs</a:t>
            </a:r>
          </a:p>
          <a:p>
            <a:pPr marL="0" indent="0">
              <a:lnSpc>
                <a:spcPct val="200000"/>
              </a:lnSpc>
              <a:buNone/>
            </a:pPr>
            <a:r>
              <a:rPr lang="en-GB" dirty="0"/>
              <a:t>because </a:t>
            </a:r>
          </a:p>
        </p:txBody>
      </p:sp>
      <p:cxnSp>
        <p:nvCxnSpPr>
          <p:cNvPr id="7" name="Straight Connector 6">
            <a:extLst>
              <a:ext uri="{FF2B5EF4-FFF2-40B4-BE49-F238E27FC236}">
                <a16:creationId xmlns:a16="http://schemas.microsoft.com/office/drawing/2014/main" id="{65308FB9-5939-DA51-DF19-05E3460BBD00}"/>
              </a:ext>
            </a:extLst>
          </p:cNvPr>
          <p:cNvCxnSpPr/>
          <p:nvPr/>
        </p:nvCxnSpPr>
        <p:spPr>
          <a:xfrm>
            <a:off x="995355" y="3100456"/>
            <a:ext cx="31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329187E-4285-28AE-2851-9437C90FF6A7}"/>
              </a:ext>
            </a:extLst>
          </p:cNvPr>
          <p:cNvCxnSpPr/>
          <p:nvPr/>
        </p:nvCxnSpPr>
        <p:spPr>
          <a:xfrm>
            <a:off x="5238518" y="3110471"/>
            <a:ext cx="31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C7C2E73-3C0C-70AD-12E0-02AA59CCC068}"/>
              </a:ext>
            </a:extLst>
          </p:cNvPr>
          <p:cNvCxnSpPr/>
          <p:nvPr/>
        </p:nvCxnSpPr>
        <p:spPr>
          <a:xfrm>
            <a:off x="1906938" y="4559236"/>
            <a:ext cx="31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3255638-849B-46AE-D21C-68771B461AF5}"/>
              </a:ext>
            </a:extLst>
          </p:cNvPr>
          <p:cNvCxnSpPr/>
          <p:nvPr/>
        </p:nvCxnSpPr>
        <p:spPr>
          <a:xfrm>
            <a:off x="2106518" y="3841606"/>
            <a:ext cx="31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8133F08-DDBD-8F61-65FB-AEB637659AEC}"/>
              </a:ext>
            </a:extLst>
          </p:cNvPr>
          <p:cNvSpPr txBox="1"/>
          <p:nvPr/>
        </p:nvSpPr>
        <p:spPr>
          <a:xfrm>
            <a:off x="1412111" y="3194613"/>
            <a:ext cx="2303362" cy="338554"/>
          </a:xfrm>
          <a:prstGeom prst="rect">
            <a:avLst/>
          </a:prstGeom>
          <a:noFill/>
        </p:spPr>
        <p:txBody>
          <a:bodyPr wrap="square" rtlCol="0">
            <a:spAutoFit/>
          </a:bodyPr>
          <a:lstStyle/>
          <a:p>
            <a:pPr algn="ctr"/>
            <a:r>
              <a:rPr lang="en-GB" sz="1600" dirty="0">
                <a:solidFill>
                  <a:schemeClr val="tx1">
                    <a:lumMod val="65000"/>
                    <a:lumOff val="35000"/>
                  </a:schemeClr>
                </a:solidFill>
              </a:rPr>
              <a:t>User name</a:t>
            </a:r>
          </a:p>
        </p:txBody>
      </p:sp>
      <p:sp>
        <p:nvSpPr>
          <p:cNvPr id="13" name="TextBox 12">
            <a:extLst>
              <a:ext uri="{FF2B5EF4-FFF2-40B4-BE49-F238E27FC236}">
                <a16:creationId xmlns:a16="http://schemas.microsoft.com/office/drawing/2014/main" id="{B738F29B-4824-EB8F-C0B6-03D773AEBB00}"/>
              </a:ext>
            </a:extLst>
          </p:cNvPr>
          <p:cNvSpPr txBox="1"/>
          <p:nvPr/>
        </p:nvSpPr>
        <p:spPr>
          <a:xfrm>
            <a:off x="5511481" y="3196541"/>
            <a:ext cx="2303362" cy="338554"/>
          </a:xfrm>
          <a:prstGeom prst="rect">
            <a:avLst/>
          </a:prstGeom>
          <a:noFill/>
        </p:spPr>
        <p:txBody>
          <a:bodyPr wrap="square" rtlCol="0">
            <a:spAutoFit/>
          </a:bodyPr>
          <a:lstStyle/>
          <a:p>
            <a:pPr algn="ctr"/>
            <a:r>
              <a:rPr lang="en-GB" sz="1600" dirty="0">
                <a:solidFill>
                  <a:schemeClr val="tx1">
                    <a:lumMod val="65000"/>
                    <a:lumOff val="35000"/>
                  </a:schemeClr>
                </a:solidFill>
              </a:rPr>
              <a:t>User character</a:t>
            </a:r>
          </a:p>
        </p:txBody>
      </p:sp>
      <p:sp>
        <p:nvSpPr>
          <p:cNvPr id="14" name="TextBox 13">
            <a:extLst>
              <a:ext uri="{FF2B5EF4-FFF2-40B4-BE49-F238E27FC236}">
                <a16:creationId xmlns:a16="http://schemas.microsoft.com/office/drawing/2014/main" id="{3C2B7AAD-8B46-5A52-62B5-77B37EC980FC}"/>
              </a:ext>
            </a:extLst>
          </p:cNvPr>
          <p:cNvSpPr txBox="1"/>
          <p:nvPr/>
        </p:nvSpPr>
        <p:spPr>
          <a:xfrm>
            <a:off x="2490486" y="3891023"/>
            <a:ext cx="2303362" cy="338554"/>
          </a:xfrm>
          <a:prstGeom prst="rect">
            <a:avLst/>
          </a:prstGeom>
          <a:noFill/>
        </p:spPr>
        <p:txBody>
          <a:bodyPr wrap="square" rtlCol="0">
            <a:spAutoFit/>
          </a:bodyPr>
          <a:lstStyle/>
          <a:p>
            <a:pPr algn="ctr"/>
            <a:r>
              <a:rPr lang="en-GB" sz="1600" dirty="0">
                <a:solidFill>
                  <a:schemeClr val="tx1">
                    <a:lumMod val="65000"/>
                    <a:lumOff val="35000"/>
                  </a:schemeClr>
                </a:solidFill>
              </a:rPr>
              <a:t>User needs</a:t>
            </a:r>
          </a:p>
        </p:txBody>
      </p:sp>
      <p:sp>
        <p:nvSpPr>
          <p:cNvPr id="15" name="TextBox 14">
            <a:extLst>
              <a:ext uri="{FF2B5EF4-FFF2-40B4-BE49-F238E27FC236}">
                <a16:creationId xmlns:a16="http://schemas.microsoft.com/office/drawing/2014/main" id="{A095AC48-96F9-0546-B1A4-C3CFA2F7B491}"/>
              </a:ext>
            </a:extLst>
          </p:cNvPr>
          <p:cNvSpPr txBox="1"/>
          <p:nvPr/>
        </p:nvSpPr>
        <p:spPr>
          <a:xfrm>
            <a:off x="2386312" y="4712824"/>
            <a:ext cx="2303362" cy="338554"/>
          </a:xfrm>
          <a:prstGeom prst="rect">
            <a:avLst/>
          </a:prstGeom>
          <a:noFill/>
        </p:spPr>
        <p:txBody>
          <a:bodyPr wrap="square" rtlCol="0">
            <a:spAutoFit/>
          </a:bodyPr>
          <a:lstStyle/>
          <a:p>
            <a:pPr algn="ctr"/>
            <a:r>
              <a:rPr lang="en-GB" sz="1600" dirty="0">
                <a:solidFill>
                  <a:schemeClr val="tx1">
                    <a:lumMod val="65000"/>
                    <a:lumOff val="35000"/>
                  </a:schemeClr>
                </a:solidFill>
              </a:rPr>
              <a:t>insight</a:t>
            </a:r>
          </a:p>
        </p:txBody>
      </p:sp>
      <p:sp>
        <p:nvSpPr>
          <p:cNvPr id="16" name="TextBox 15">
            <a:extLst>
              <a:ext uri="{FF2B5EF4-FFF2-40B4-BE49-F238E27FC236}">
                <a16:creationId xmlns:a16="http://schemas.microsoft.com/office/drawing/2014/main" id="{8430D623-CE0E-9444-FBBB-D128DC372822}"/>
              </a:ext>
            </a:extLst>
          </p:cNvPr>
          <p:cNvSpPr txBox="1"/>
          <p:nvPr/>
        </p:nvSpPr>
        <p:spPr>
          <a:xfrm>
            <a:off x="2002420" y="6199632"/>
            <a:ext cx="4734046" cy="276999"/>
          </a:xfrm>
          <a:prstGeom prst="rect">
            <a:avLst/>
          </a:prstGeom>
          <a:noFill/>
        </p:spPr>
        <p:txBody>
          <a:bodyPr wrap="square" rtlCol="0">
            <a:spAutoFit/>
          </a:bodyPr>
          <a:lstStyle/>
          <a:p>
            <a:pPr algn="ctr"/>
            <a:r>
              <a:rPr lang="en-GB" sz="1200" dirty="0"/>
              <a:t>S</a:t>
            </a:r>
            <a:r>
              <a:rPr lang="nb-NO" sz="1200" dirty="0" err="1"/>
              <a:t>ource</a:t>
            </a:r>
            <a:r>
              <a:rPr lang="nb-NO" sz="1200" dirty="0"/>
              <a:t>: Google </a:t>
            </a:r>
            <a:r>
              <a:rPr lang="nb-NO" sz="1200" dirty="0" err="1"/>
              <a:t>career</a:t>
            </a:r>
            <a:endParaRPr lang="en-GB" sz="1200" dirty="0"/>
          </a:p>
        </p:txBody>
      </p:sp>
    </p:spTree>
    <p:extLst>
      <p:ext uri="{BB962C8B-B14F-4D97-AF65-F5344CB8AC3E}">
        <p14:creationId xmlns:p14="http://schemas.microsoft.com/office/powerpoint/2010/main" val="180853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3E7D9-305D-9605-B91D-FEA568122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515C5-104B-5EC2-D18A-3CBECEA2E55A}"/>
              </a:ext>
            </a:extLst>
          </p:cNvPr>
          <p:cNvSpPr>
            <a:spLocks noGrp="1"/>
          </p:cNvSpPr>
          <p:nvPr>
            <p:ph type="title"/>
          </p:nvPr>
        </p:nvSpPr>
        <p:spPr/>
        <p:txBody>
          <a:bodyPr/>
          <a:lstStyle/>
          <a:p>
            <a:r>
              <a:rPr lang="en-GB" dirty="0"/>
              <a:t>Goal Statement </a:t>
            </a:r>
          </a:p>
        </p:txBody>
      </p:sp>
      <p:sp>
        <p:nvSpPr>
          <p:cNvPr id="3" name="Content Placeholder 2">
            <a:extLst>
              <a:ext uri="{FF2B5EF4-FFF2-40B4-BE49-F238E27FC236}">
                <a16:creationId xmlns:a16="http://schemas.microsoft.com/office/drawing/2014/main" id="{EC3AEE56-1A76-084B-EE2B-5545012FDE99}"/>
              </a:ext>
            </a:extLst>
          </p:cNvPr>
          <p:cNvSpPr>
            <a:spLocks noGrp="1"/>
          </p:cNvSpPr>
          <p:nvPr>
            <p:ph idx="1"/>
          </p:nvPr>
        </p:nvSpPr>
        <p:spPr/>
        <p:txBody>
          <a:bodyPr/>
          <a:lstStyle/>
          <a:p>
            <a:r>
              <a:rPr lang="en-GB" dirty="0"/>
              <a:t>Develop a goal statement. This statement will assist you in defining a storyline (the advantage or solution offered by your design) for your storyboard.</a:t>
            </a:r>
          </a:p>
        </p:txBody>
      </p:sp>
    </p:spTree>
    <p:extLst>
      <p:ext uri="{BB962C8B-B14F-4D97-AF65-F5344CB8AC3E}">
        <p14:creationId xmlns:p14="http://schemas.microsoft.com/office/powerpoint/2010/main" val="2852444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41"/>
          <p:cNvSpPr txBox="1"/>
          <p:nvPr/>
        </p:nvSpPr>
        <p:spPr>
          <a:xfrm>
            <a:off x="6489700" y="4978400"/>
            <a:ext cx="686000" cy="292000"/>
          </a:xfrm>
          <a:prstGeom prst="rect">
            <a:avLst/>
          </a:prstGeom>
          <a:noFill/>
          <a:ln>
            <a:noFill/>
          </a:ln>
        </p:spPr>
        <p:txBody>
          <a:bodyPr spcFirstLastPara="1" wrap="square" lIns="121900" tIns="121900" rIns="121900" bIns="121900" anchor="t" anchorCtr="0">
            <a:noAutofit/>
          </a:bodyPr>
          <a:lstStyle/>
          <a:p>
            <a:endParaRPr sz="2400"/>
          </a:p>
        </p:txBody>
      </p:sp>
      <p:sp>
        <p:nvSpPr>
          <p:cNvPr id="185" name="Google Shape;185;p41"/>
          <p:cNvSpPr txBox="1"/>
          <p:nvPr/>
        </p:nvSpPr>
        <p:spPr>
          <a:xfrm>
            <a:off x="3340100" y="4902200"/>
            <a:ext cx="6972400" cy="25200"/>
          </a:xfrm>
          <a:prstGeom prst="rect">
            <a:avLst/>
          </a:prstGeom>
          <a:noFill/>
          <a:ln>
            <a:noFill/>
          </a:ln>
        </p:spPr>
        <p:txBody>
          <a:bodyPr spcFirstLastPara="1" wrap="square" lIns="121900" tIns="121900" rIns="121900" bIns="121900" anchor="t" anchorCtr="0">
            <a:noAutofit/>
          </a:bodyPr>
          <a:lstStyle/>
          <a:p>
            <a:endParaRPr sz="2400"/>
          </a:p>
        </p:txBody>
      </p:sp>
      <p:sp>
        <p:nvSpPr>
          <p:cNvPr id="186" name="Google Shape;186;p41"/>
          <p:cNvSpPr txBox="1"/>
          <p:nvPr/>
        </p:nvSpPr>
        <p:spPr>
          <a:xfrm>
            <a:off x="2641600" y="4673600"/>
            <a:ext cx="1092400" cy="292000"/>
          </a:xfrm>
          <a:prstGeom prst="rect">
            <a:avLst/>
          </a:prstGeom>
          <a:noFill/>
          <a:ln>
            <a:noFill/>
          </a:ln>
        </p:spPr>
        <p:txBody>
          <a:bodyPr spcFirstLastPara="1" wrap="square" lIns="121900" tIns="121900" rIns="121900" bIns="121900" anchor="t" anchorCtr="0">
            <a:noAutofit/>
          </a:bodyPr>
          <a:lstStyle/>
          <a:p>
            <a:endParaRPr sz="2400"/>
          </a:p>
        </p:txBody>
      </p:sp>
      <p:sp>
        <p:nvSpPr>
          <p:cNvPr id="187" name="Google Shape;187;p41"/>
          <p:cNvSpPr/>
          <p:nvPr/>
        </p:nvSpPr>
        <p:spPr>
          <a:xfrm>
            <a:off x="14033" y="5798933"/>
            <a:ext cx="12022800" cy="9500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188" name="Google Shape;188;p41"/>
          <p:cNvSpPr/>
          <p:nvPr/>
        </p:nvSpPr>
        <p:spPr>
          <a:xfrm>
            <a:off x="819200" y="120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89" name="Google Shape;189;p41"/>
          <p:cNvSpPr/>
          <p:nvPr/>
        </p:nvSpPr>
        <p:spPr>
          <a:xfrm>
            <a:off x="8681200" y="120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90" name="Google Shape;190;p41"/>
          <p:cNvSpPr/>
          <p:nvPr/>
        </p:nvSpPr>
        <p:spPr>
          <a:xfrm>
            <a:off x="4750200" y="120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91" name="Google Shape;191;p41"/>
          <p:cNvSpPr/>
          <p:nvPr/>
        </p:nvSpPr>
        <p:spPr>
          <a:xfrm>
            <a:off x="819200" y="417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92" name="Google Shape;192;p41"/>
          <p:cNvSpPr/>
          <p:nvPr/>
        </p:nvSpPr>
        <p:spPr>
          <a:xfrm>
            <a:off x="8681200" y="417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93" name="Google Shape;193;p41"/>
          <p:cNvSpPr/>
          <p:nvPr/>
        </p:nvSpPr>
        <p:spPr>
          <a:xfrm>
            <a:off x="4750200" y="4174800"/>
            <a:ext cx="2691600" cy="1970400"/>
          </a:xfrm>
          <a:prstGeom prst="rect">
            <a:avLst/>
          </a:prstGeom>
          <a:no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cxnSp>
        <p:nvCxnSpPr>
          <p:cNvPr id="194" name="Google Shape;194;p41"/>
          <p:cNvCxnSpPr/>
          <p:nvPr/>
        </p:nvCxnSpPr>
        <p:spPr>
          <a:xfrm>
            <a:off x="805600" y="3488200"/>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195" name="Google Shape;195;p41"/>
          <p:cNvCxnSpPr/>
          <p:nvPr/>
        </p:nvCxnSpPr>
        <p:spPr>
          <a:xfrm>
            <a:off x="805600" y="3766133"/>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196" name="Google Shape;196;p41"/>
          <p:cNvCxnSpPr/>
          <p:nvPr/>
        </p:nvCxnSpPr>
        <p:spPr>
          <a:xfrm>
            <a:off x="4750200" y="3490933"/>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197" name="Google Shape;197;p41"/>
          <p:cNvCxnSpPr/>
          <p:nvPr/>
        </p:nvCxnSpPr>
        <p:spPr>
          <a:xfrm>
            <a:off x="4750200" y="3768867"/>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198" name="Google Shape;198;p41"/>
          <p:cNvCxnSpPr/>
          <p:nvPr/>
        </p:nvCxnSpPr>
        <p:spPr>
          <a:xfrm>
            <a:off x="8667600" y="3493667"/>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199" name="Google Shape;199;p41"/>
          <p:cNvCxnSpPr/>
          <p:nvPr/>
        </p:nvCxnSpPr>
        <p:spPr>
          <a:xfrm>
            <a:off x="8667600" y="3771600"/>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0" name="Google Shape;200;p41"/>
          <p:cNvCxnSpPr/>
          <p:nvPr/>
        </p:nvCxnSpPr>
        <p:spPr>
          <a:xfrm>
            <a:off x="805600" y="6383000"/>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1" name="Google Shape;201;p41"/>
          <p:cNvCxnSpPr/>
          <p:nvPr/>
        </p:nvCxnSpPr>
        <p:spPr>
          <a:xfrm>
            <a:off x="805600" y="6660933"/>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2" name="Google Shape;202;p41"/>
          <p:cNvCxnSpPr/>
          <p:nvPr/>
        </p:nvCxnSpPr>
        <p:spPr>
          <a:xfrm>
            <a:off x="4750200" y="6380267"/>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3" name="Google Shape;203;p41"/>
          <p:cNvCxnSpPr/>
          <p:nvPr/>
        </p:nvCxnSpPr>
        <p:spPr>
          <a:xfrm>
            <a:off x="4750200" y="6658200"/>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4" name="Google Shape;204;p41"/>
          <p:cNvCxnSpPr/>
          <p:nvPr/>
        </p:nvCxnSpPr>
        <p:spPr>
          <a:xfrm>
            <a:off x="8667600" y="6385733"/>
            <a:ext cx="2718800" cy="0"/>
          </a:xfrm>
          <a:prstGeom prst="straightConnector1">
            <a:avLst/>
          </a:prstGeom>
          <a:noFill/>
          <a:ln w="9525" cap="flat" cmpd="sng">
            <a:solidFill>
              <a:schemeClr val="dk2"/>
            </a:solidFill>
            <a:prstDash val="solid"/>
            <a:round/>
            <a:headEnd type="none" w="med" len="med"/>
            <a:tailEnd type="none" w="med" len="med"/>
          </a:ln>
        </p:spPr>
      </p:cxnSp>
      <p:cxnSp>
        <p:nvCxnSpPr>
          <p:cNvPr id="205" name="Google Shape;205;p41"/>
          <p:cNvCxnSpPr/>
          <p:nvPr/>
        </p:nvCxnSpPr>
        <p:spPr>
          <a:xfrm>
            <a:off x="8667600" y="6663667"/>
            <a:ext cx="2718800" cy="0"/>
          </a:xfrm>
          <a:prstGeom prst="straightConnector1">
            <a:avLst/>
          </a:prstGeom>
          <a:noFill/>
          <a:ln w="9525" cap="flat" cmpd="sng">
            <a:solidFill>
              <a:schemeClr val="dk2"/>
            </a:solidFill>
            <a:prstDash val="solid"/>
            <a:round/>
            <a:headEnd type="none" w="med" len="med"/>
            <a:tailEnd type="none" w="med" len="med"/>
          </a:ln>
        </p:spPr>
      </p:cxnSp>
      <p:sp>
        <p:nvSpPr>
          <p:cNvPr id="206" name="Google Shape;206;p41"/>
          <p:cNvSpPr txBox="1"/>
          <p:nvPr/>
        </p:nvSpPr>
        <p:spPr>
          <a:xfrm>
            <a:off x="59633" y="66267"/>
            <a:ext cx="11931600" cy="923289"/>
          </a:xfrm>
          <a:prstGeom prst="rect">
            <a:avLst/>
          </a:prstGeom>
          <a:noFill/>
          <a:ln>
            <a:noFill/>
          </a:ln>
        </p:spPr>
        <p:txBody>
          <a:bodyPr spcFirstLastPara="1" wrap="square" lIns="121900" tIns="121900" rIns="121900" bIns="121900" anchor="t" anchorCtr="0">
            <a:spAutoFit/>
          </a:bodyPr>
          <a:lstStyle/>
          <a:p>
            <a:r>
              <a:rPr lang="en" sz="2400" b="1">
                <a:solidFill>
                  <a:schemeClr val="accent1"/>
                </a:solidFill>
                <a:latin typeface="Google Sans"/>
                <a:ea typeface="Google Sans"/>
                <a:cs typeface="Google Sans"/>
                <a:sym typeface="Google Sans"/>
              </a:rPr>
              <a:t>UX Design Storyboard	</a:t>
            </a:r>
            <a:r>
              <a:rPr lang="en" sz="2400">
                <a:solidFill>
                  <a:schemeClr val="accent1"/>
                </a:solidFill>
                <a:latin typeface="Google Sans"/>
                <a:ea typeface="Google Sans"/>
                <a:cs typeface="Google Sans"/>
                <a:sym typeface="Google Sans"/>
              </a:rPr>
              <a:t>			</a:t>
            </a:r>
            <a:endParaRPr sz="2400">
              <a:solidFill>
                <a:schemeClr val="accent1"/>
              </a:solidFill>
              <a:latin typeface="Google Sans"/>
              <a:ea typeface="Google Sans"/>
              <a:cs typeface="Google Sans"/>
              <a:sym typeface="Google Sans"/>
            </a:endParaRPr>
          </a:p>
          <a:p>
            <a:endParaRPr sz="667">
              <a:solidFill>
                <a:schemeClr val="accent1"/>
              </a:solidFill>
              <a:latin typeface="Google Sans"/>
              <a:ea typeface="Google Sans"/>
              <a:cs typeface="Google Sans"/>
              <a:sym typeface="Google Sans"/>
            </a:endParaRPr>
          </a:p>
          <a:p>
            <a:r>
              <a:rPr lang="en" sz="1333" b="1">
                <a:solidFill>
                  <a:schemeClr val="accent1"/>
                </a:solidFill>
                <a:latin typeface="Google Sans"/>
                <a:ea typeface="Google Sans"/>
                <a:cs typeface="Google Sans"/>
                <a:sym typeface="Google Sans"/>
              </a:rPr>
              <a:t>Scenario:</a:t>
            </a:r>
            <a:endParaRPr sz="1333" b="1">
              <a:solidFill>
                <a:schemeClr val="accent1"/>
              </a:solidFill>
              <a:latin typeface="Google Sans"/>
              <a:ea typeface="Google Sans"/>
              <a:cs typeface="Google Sans"/>
              <a:sym typeface="Google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DD6663-ABE4-715B-C5B5-101FDC9735C2}"/>
            </a:ext>
          </a:extLst>
        </p:cNvPr>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33" name="Rectangle 103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696239-553D-D2CA-981A-57BFEDCD7E45}"/>
              </a:ext>
            </a:extLst>
          </p:cNvPr>
          <p:cNvSpPr>
            <a:spLocks noGrp="1"/>
          </p:cNvSpPr>
          <p:nvPr>
            <p:ph type="title"/>
          </p:nvPr>
        </p:nvSpPr>
        <p:spPr>
          <a:xfrm>
            <a:off x="640080" y="1302091"/>
            <a:ext cx="3291840" cy="2770216"/>
          </a:xfrm>
        </p:spPr>
        <p:txBody>
          <a:bodyPr vert="horz" lIns="91440" tIns="45720" rIns="91440" bIns="45720" rtlCol="0" anchor="t">
            <a:normAutofit/>
          </a:bodyPr>
          <a:lstStyle/>
          <a:p>
            <a:r>
              <a:rPr lang="en-US" sz="4400" dirty="0"/>
              <a:t>Example:</a:t>
            </a:r>
            <a:br>
              <a:rPr lang="en-US" sz="4400" dirty="0"/>
            </a:br>
            <a:r>
              <a:rPr lang="en-GB" sz="2000" b="0" i="1" dirty="0">
                <a:solidFill>
                  <a:srgbClr val="242424"/>
                </a:solidFill>
                <a:effectLst/>
                <a:latin typeface="source-serif-pro"/>
              </a:rPr>
              <a:t>Dan is the lead guitarist of a band that is looking to hire a new drummer due to difficulties in replacing their former drummer.</a:t>
            </a:r>
            <a:endParaRPr lang="en-US" sz="4400" dirty="0"/>
          </a:p>
        </p:txBody>
      </p:sp>
      <p:sp>
        <p:nvSpPr>
          <p:cNvPr id="4" name="TextBox 3">
            <a:extLst>
              <a:ext uri="{FF2B5EF4-FFF2-40B4-BE49-F238E27FC236}">
                <a16:creationId xmlns:a16="http://schemas.microsoft.com/office/drawing/2014/main" id="{F409D910-4AD4-317A-E140-8A8A4AED98A6}"/>
              </a:ext>
            </a:extLst>
          </p:cNvPr>
          <p:cNvSpPr txBox="1"/>
          <p:nvPr/>
        </p:nvSpPr>
        <p:spPr>
          <a:xfrm>
            <a:off x="640080" y="4846904"/>
            <a:ext cx="3145535" cy="993821"/>
          </a:xfrm>
          <a:prstGeom prst="rect">
            <a:avLst/>
          </a:prstGeom>
        </p:spPr>
        <p:txBody>
          <a:bodyPr vert="horz" lIns="91440" tIns="45720" rIns="91440" bIns="45720" rtlCol="0" anchor="t">
            <a:normAutofit/>
          </a:bodyPr>
          <a:lstStyle/>
          <a:p>
            <a:pPr>
              <a:lnSpc>
                <a:spcPct val="130000"/>
              </a:lnSpc>
              <a:spcBef>
                <a:spcPts val="1000"/>
              </a:spcBef>
              <a:buSzPct val="87000"/>
            </a:pPr>
            <a:r>
              <a:rPr lang="en-US" b="1" cap="all" spc="300"/>
              <a:t>Source: </a:t>
            </a:r>
            <a:r>
              <a:rPr lang="en-US" b="1" cap="all" spc="300">
                <a:hlinkClick r:id="rId2"/>
              </a:rPr>
              <a:t>Medium</a:t>
            </a:r>
            <a:endParaRPr lang="en-US" b="1" cap="all" spc="300"/>
          </a:p>
        </p:txBody>
      </p:sp>
      <p:cxnSp>
        <p:nvCxnSpPr>
          <p:cNvPr id="1035" name="Straight Connector 1034">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26" name="Picture 2" descr="A white paper with text on it&#10;&#10;Description automatically generated">
            <a:extLst>
              <a:ext uri="{FF2B5EF4-FFF2-40B4-BE49-F238E27FC236}">
                <a16:creationId xmlns:a16="http://schemas.microsoft.com/office/drawing/2014/main" id="{DC54BE73-AE7A-1182-3F77-1B1C15214B8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443984" y="1756219"/>
            <a:ext cx="7086600" cy="3295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492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D8A1D4-8803-B505-5DF8-B9698624D3EF}"/>
            </a:ext>
          </a:extLst>
        </p:cNvPr>
        <p:cNvGrpSpPr/>
        <p:nvPr/>
      </p:nvGrpSpPr>
      <p:grpSpPr>
        <a:xfrm>
          <a:off x="0" y="0"/>
          <a:ext cx="0" cy="0"/>
          <a:chOff x="0" y="0"/>
          <a:chExt cx="0" cy="0"/>
        </a:xfrm>
      </p:grpSpPr>
      <p:cxnSp>
        <p:nvCxnSpPr>
          <p:cNvPr id="3079" name="Straight Connector 307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3081" name="Rectangle 308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75A2D-70F6-77BD-D265-4E569357F534}"/>
              </a:ext>
            </a:extLst>
          </p:cNvPr>
          <p:cNvSpPr>
            <a:spLocks noGrp="1"/>
          </p:cNvSpPr>
          <p:nvPr>
            <p:ph type="title"/>
          </p:nvPr>
        </p:nvSpPr>
        <p:spPr>
          <a:xfrm>
            <a:off x="640079" y="1302090"/>
            <a:ext cx="3607829" cy="3073125"/>
          </a:xfrm>
        </p:spPr>
        <p:txBody>
          <a:bodyPr vert="horz" lIns="91440" tIns="45720" rIns="91440" bIns="45720" rtlCol="0" anchor="t">
            <a:normAutofit/>
          </a:bodyPr>
          <a:lstStyle/>
          <a:p>
            <a:pPr>
              <a:lnSpc>
                <a:spcPct val="90000"/>
              </a:lnSpc>
            </a:pPr>
            <a:r>
              <a:rPr lang="en-US" sz="4400" dirty="0"/>
              <a:t>Example:</a:t>
            </a:r>
            <a:br>
              <a:rPr lang="en-US" sz="1400" dirty="0"/>
            </a:br>
            <a:r>
              <a:rPr lang="en-US" sz="1600" i="1" dirty="0">
                <a:effectLst/>
              </a:rPr>
              <a:t>Bandmate app will enable users to recruit new or substitute musicians, benefiting those who require additional band members by simplifying the process of finding qualified musicians to hire. Its effectiveness will be monitored by reviewing user feedback and monitoring successful hires.</a:t>
            </a:r>
            <a:endParaRPr lang="en-US" sz="1600" dirty="0"/>
          </a:p>
        </p:txBody>
      </p:sp>
      <p:sp>
        <p:nvSpPr>
          <p:cNvPr id="4" name="TextBox 3">
            <a:extLst>
              <a:ext uri="{FF2B5EF4-FFF2-40B4-BE49-F238E27FC236}">
                <a16:creationId xmlns:a16="http://schemas.microsoft.com/office/drawing/2014/main" id="{74DA2B56-48D5-7E21-1208-9AA423D1C61C}"/>
              </a:ext>
            </a:extLst>
          </p:cNvPr>
          <p:cNvSpPr txBox="1"/>
          <p:nvPr/>
        </p:nvSpPr>
        <p:spPr>
          <a:xfrm>
            <a:off x="640080" y="4846904"/>
            <a:ext cx="3145535" cy="993821"/>
          </a:xfrm>
          <a:prstGeom prst="rect">
            <a:avLst/>
          </a:prstGeom>
        </p:spPr>
        <p:txBody>
          <a:bodyPr vert="horz" lIns="91440" tIns="45720" rIns="91440" bIns="45720" rtlCol="0" anchor="t">
            <a:normAutofit/>
          </a:bodyPr>
          <a:lstStyle/>
          <a:p>
            <a:pPr>
              <a:lnSpc>
                <a:spcPct val="130000"/>
              </a:lnSpc>
              <a:spcBef>
                <a:spcPts val="1000"/>
              </a:spcBef>
              <a:buSzPct val="87000"/>
            </a:pPr>
            <a:r>
              <a:rPr lang="en-US" b="1" cap="all" spc="300" dirty="0"/>
              <a:t>Source: </a:t>
            </a:r>
            <a:r>
              <a:rPr lang="en-US" b="1" cap="all" spc="300" dirty="0">
                <a:hlinkClick r:id="rId2"/>
              </a:rPr>
              <a:t>Medium</a:t>
            </a:r>
            <a:endParaRPr lang="en-US" b="1" cap="all" spc="300" dirty="0"/>
          </a:p>
        </p:txBody>
      </p:sp>
      <p:cxnSp>
        <p:nvCxnSpPr>
          <p:cNvPr id="3083" name="Straight Connector 3082">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074" name="Picture 2" descr="A goal statement with colorful text&#10;&#10;Description automatically generated">
            <a:extLst>
              <a:ext uri="{FF2B5EF4-FFF2-40B4-BE49-F238E27FC236}">
                <a16:creationId xmlns:a16="http://schemas.microsoft.com/office/drawing/2014/main" id="{F77FF409-CF4C-146B-C8C7-E099C07AD70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43984" y="1747361"/>
            <a:ext cx="7086600" cy="3312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97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F67FF-8192-B451-9FAB-C8CD050E3FE5}"/>
              </a:ext>
            </a:extLst>
          </p:cNvPr>
          <p:cNvSpPr>
            <a:spLocks noGrp="1"/>
          </p:cNvSpPr>
          <p:nvPr>
            <p:ph type="title"/>
          </p:nvPr>
        </p:nvSpPr>
        <p:spPr/>
        <p:txBody>
          <a:bodyPr/>
          <a:lstStyle/>
          <a:p>
            <a:r>
              <a:rPr lang="en-GB" dirty="0"/>
              <a:t>Storyboard Types</a:t>
            </a:r>
          </a:p>
        </p:txBody>
      </p:sp>
      <p:sp>
        <p:nvSpPr>
          <p:cNvPr id="3" name="Content Placeholder 2">
            <a:extLst>
              <a:ext uri="{FF2B5EF4-FFF2-40B4-BE49-F238E27FC236}">
                <a16:creationId xmlns:a16="http://schemas.microsoft.com/office/drawing/2014/main" id="{3CA2E0CF-6CFB-9084-2881-237209A92015}"/>
              </a:ext>
            </a:extLst>
          </p:cNvPr>
          <p:cNvSpPr>
            <a:spLocks noGrp="1"/>
          </p:cNvSpPr>
          <p:nvPr>
            <p:ph idx="1"/>
          </p:nvPr>
        </p:nvSpPr>
        <p:spPr/>
        <p:txBody>
          <a:bodyPr/>
          <a:lstStyle/>
          <a:p>
            <a:r>
              <a:rPr lang="en-GB" dirty="0"/>
              <a:t>Big-picture storyboards emphasize the user's needs, the context in which they operate, and the reasons why the product will be beneficial for them. These storyboards are typically employed early in the design process to help designers gain stakeholder buy-in for their concepts. </a:t>
            </a:r>
          </a:p>
          <a:p>
            <a:r>
              <a:rPr lang="en-GB" dirty="0"/>
              <a:t>On the other hand, close-up storyboards focus on the product itself and its functionality. They are most effective during the middle to later stages of the design process.</a:t>
            </a:r>
          </a:p>
        </p:txBody>
      </p:sp>
    </p:spTree>
    <p:extLst>
      <p:ext uri="{BB962C8B-B14F-4D97-AF65-F5344CB8AC3E}">
        <p14:creationId xmlns:p14="http://schemas.microsoft.com/office/powerpoint/2010/main" val="197270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F72C6F-BED4-769B-E971-3FFE8FA7172C}"/>
            </a:ext>
          </a:extLst>
        </p:cNvPr>
        <p:cNvGrpSpPr/>
        <p:nvPr/>
      </p:nvGrpSpPr>
      <p:grpSpPr>
        <a:xfrm>
          <a:off x="0" y="0"/>
          <a:ext cx="0" cy="0"/>
          <a:chOff x="0" y="0"/>
          <a:chExt cx="0" cy="0"/>
        </a:xfrm>
      </p:grpSpPr>
      <p:cxnSp>
        <p:nvCxnSpPr>
          <p:cNvPr id="4124" name="Straight Connector 412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4125" name="Rectangle 412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098" name="Picture 2" descr="A group of black and white drawings&#10;&#10;Description automatically generated">
            <a:extLst>
              <a:ext uri="{FF2B5EF4-FFF2-40B4-BE49-F238E27FC236}">
                <a16:creationId xmlns:a16="http://schemas.microsoft.com/office/drawing/2014/main" id="{17EE1E5C-695B-F077-F2EF-A97AC7832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05" b="4034"/>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4126" name="Rectangle 4125">
            <a:extLst>
              <a:ext uri="{FF2B5EF4-FFF2-40B4-BE49-F238E27FC236}">
                <a16:creationId xmlns:a16="http://schemas.microsoft.com/office/drawing/2014/main" id="{05DEC45B-BA77-21C0-3869-05DE7C923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705856"/>
            <a:ext cx="12192001" cy="1152144"/>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BB8596D8-3FA9-A473-099F-EAFBC9F45646}"/>
              </a:ext>
            </a:extLst>
          </p:cNvPr>
          <p:cNvSpPr>
            <a:spLocks noGrp="1"/>
          </p:cNvSpPr>
          <p:nvPr>
            <p:ph type="title"/>
          </p:nvPr>
        </p:nvSpPr>
        <p:spPr>
          <a:xfrm>
            <a:off x="356615" y="5863030"/>
            <a:ext cx="7955280" cy="870008"/>
          </a:xfrm>
        </p:spPr>
        <p:txBody>
          <a:bodyPr vert="horz" lIns="91440" tIns="45720" rIns="91440" bIns="45720" rtlCol="0" anchor="ctr">
            <a:normAutofit/>
          </a:bodyPr>
          <a:lstStyle/>
          <a:p>
            <a:r>
              <a:rPr lang="en-US" sz="4800" b="1" kern="1200">
                <a:solidFill>
                  <a:schemeClr val="tx1"/>
                </a:solidFill>
                <a:latin typeface="+mj-lt"/>
                <a:ea typeface="+mj-ea"/>
                <a:cs typeface="+mj-cs"/>
              </a:rPr>
              <a:t>Big-Picture Storyboards</a:t>
            </a:r>
          </a:p>
        </p:txBody>
      </p:sp>
      <p:cxnSp>
        <p:nvCxnSpPr>
          <p:cNvPr id="4127" name="Straight Connector 4126">
            <a:extLst>
              <a:ext uri="{FF2B5EF4-FFF2-40B4-BE49-F238E27FC236}">
                <a16:creationId xmlns:a16="http://schemas.microsoft.com/office/drawing/2014/main" id="{7A0A4642-D29D-0121-4C05-5A5559BC5F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560574" y="6281928"/>
            <a:ext cx="115214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516A4E8-CAB0-3A6A-0743-36A60C94F001}"/>
              </a:ext>
            </a:extLst>
          </p:cNvPr>
          <p:cNvSpPr txBox="1"/>
          <p:nvPr/>
        </p:nvSpPr>
        <p:spPr>
          <a:xfrm>
            <a:off x="7755038" y="6072223"/>
            <a:ext cx="3837008" cy="419410"/>
          </a:xfrm>
          <a:prstGeom prst="rect">
            <a:avLst/>
          </a:prstGeom>
          <a:noFill/>
        </p:spPr>
        <p:txBody>
          <a:bodyPr wrap="square">
            <a:spAutoFit/>
          </a:bodyPr>
          <a:lstStyle/>
          <a:p>
            <a:pPr>
              <a:lnSpc>
                <a:spcPct val="130000"/>
              </a:lnSpc>
              <a:spcBef>
                <a:spcPts val="1000"/>
              </a:spcBef>
              <a:buSzPct val="87000"/>
            </a:pPr>
            <a:r>
              <a:rPr lang="en-US" b="1" cap="all" spc="300" dirty="0"/>
              <a:t>Source: </a:t>
            </a:r>
            <a:r>
              <a:rPr lang="en-US" b="1" cap="all" spc="300" dirty="0">
                <a:hlinkClick r:id="rId3"/>
              </a:rPr>
              <a:t>Medium</a:t>
            </a:r>
            <a:endParaRPr lang="en-US" b="1" cap="all" spc="300" dirty="0"/>
          </a:p>
        </p:txBody>
      </p:sp>
    </p:spTree>
    <p:extLst>
      <p:ext uri="{BB962C8B-B14F-4D97-AF65-F5344CB8AC3E}">
        <p14:creationId xmlns:p14="http://schemas.microsoft.com/office/powerpoint/2010/main" val="1527487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5D6B33-5725-E550-CF7D-51093EF7D4E2}"/>
            </a:ext>
          </a:extLst>
        </p:cNvPr>
        <p:cNvGrpSpPr/>
        <p:nvPr/>
      </p:nvGrpSpPr>
      <p:grpSpPr>
        <a:xfrm>
          <a:off x="0" y="0"/>
          <a:ext cx="0" cy="0"/>
          <a:chOff x="0" y="0"/>
          <a:chExt cx="0" cy="0"/>
        </a:xfrm>
      </p:grpSpPr>
      <p:cxnSp>
        <p:nvCxnSpPr>
          <p:cNvPr id="5127" name="Straight Connector 512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5129" name="Rectangle 512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122" name="Picture 2" descr="A white board with black writing&#10;&#10;Description automatically generated with medium confidence">
            <a:extLst>
              <a:ext uri="{FF2B5EF4-FFF2-40B4-BE49-F238E27FC236}">
                <a16:creationId xmlns:a16="http://schemas.microsoft.com/office/drawing/2014/main" id="{C3BCE147-FE66-BC60-F606-25DA08790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639" b="2386"/>
          <a:stretch/>
        </p:blipFill>
        <p:spPr bwMode="auto">
          <a:xfrm>
            <a:off x="-150454" y="-15602"/>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5131" name="Rectangle 5130">
            <a:extLst>
              <a:ext uri="{FF2B5EF4-FFF2-40B4-BE49-F238E27FC236}">
                <a16:creationId xmlns:a16="http://schemas.microsoft.com/office/drawing/2014/main" id="{05DEC45B-BA77-21C0-3869-05DE7C923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705856"/>
            <a:ext cx="12192001" cy="1152144"/>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6EB99ACC-3646-97DD-1B5E-E70B0C94ED3B}"/>
              </a:ext>
            </a:extLst>
          </p:cNvPr>
          <p:cNvSpPr>
            <a:spLocks noGrp="1"/>
          </p:cNvSpPr>
          <p:nvPr>
            <p:ph type="title"/>
          </p:nvPr>
        </p:nvSpPr>
        <p:spPr>
          <a:xfrm>
            <a:off x="356615" y="5863030"/>
            <a:ext cx="7955280" cy="870008"/>
          </a:xfrm>
        </p:spPr>
        <p:txBody>
          <a:bodyPr vert="horz" lIns="91440" tIns="45720" rIns="91440" bIns="45720" rtlCol="0" anchor="ctr">
            <a:normAutofit/>
          </a:bodyPr>
          <a:lstStyle/>
          <a:p>
            <a:r>
              <a:rPr lang="en-US" sz="4800" b="1" kern="1200">
                <a:solidFill>
                  <a:schemeClr val="tx1"/>
                </a:solidFill>
                <a:latin typeface="+mj-lt"/>
                <a:ea typeface="+mj-ea"/>
                <a:cs typeface="+mj-cs"/>
              </a:rPr>
              <a:t>Close-Up Storyboards</a:t>
            </a:r>
          </a:p>
        </p:txBody>
      </p:sp>
      <p:cxnSp>
        <p:nvCxnSpPr>
          <p:cNvPr id="5133" name="Straight Connector 5132">
            <a:extLst>
              <a:ext uri="{FF2B5EF4-FFF2-40B4-BE49-F238E27FC236}">
                <a16:creationId xmlns:a16="http://schemas.microsoft.com/office/drawing/2014/main" id="{7A0A4642-D29D-0121-4C05-5A5559BC5F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560574" y="6281928"/>
            <a:ext cx="115214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76D99B2-1803-63DF-4A27-EF4BDC044C05}"/>
              </a:ext>
            </a:extLst>
          </p:cNvPr>
          <p:cNvSpPr txBox="1"/>
          <p:nvPr/>
        </p:nvSpPr>
        <p:spPr>
          <a:xfrm>
            <a:off x="7755038" y="6072223"/>
            <a:ext cx="3837008" cy="419410"/>
          </a:xfrm>
          <a:prstGeom prst="rect">
            <a:avLst/>
          </a:prstGeom>
          <a:noFill/>
        </p:spPr>
        <p:txBody>
          <a:bodyPr wrap="square">
            <a:spAutoFit/>
          </a:bodyPr>
          <a:lstStyle/>
          <a:p>
            <a:pPr>
              <a:lnSpc>
                <a:spcPct val="130000"/>
              </a:lnSpc>
              <a:spcBef>
                <a:spcPts val="1000"/>
              </a:spcBef>
              <a:buSzPct val="87000"/>
            </a:pPr>
            <a:r>
              <a:rPr lang="en-US" b="1" cap="all" spc="300" dirty="0"/>
              <a:t>Source: </a:t>
            </a:r>
            <a:r>
              <a:rPr lang="en-US" b="1" cap="all" spc="300" dirty="0">
                <a:hlinkClick r:id="rId3"/>
              </a:rPr>
              <a:t>Medium</a:t>
            </a:r>
            <a:endParaRPr lang="en-US" b="1" cap="all" spc="300" dirty="0"/>
          </a:p>
        </p:txBody>
      </p:sp>
    </p:spTree>
    <p:extLst>
      <p:ext uri="{BB962C8B-B14F-4D97-AF65-F5344CB8AC3E}">
        <p14:creationId xmlns:p14="http://schemas.microsoft.com/office/powerpoint/2010/main" val="67282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28658-E6D1-19FC-9F32-B2BD6C49016C}"/>
              </a:ext>
            </a:extLst>
          </p:cNvPr>
          <p:cNvSpPr>
            <a:spLocks noGrp="1"/>
          </p:cNvSpPr>
          <p:nvPr>
            <p:ph type="title"/>
          </p:nvPr>
        </p:nvSpPr>
        <p:spPr/>
        <p:txBody>
          <a:bodyPr/>
          <a:lstStyle/>
          <a:p>
            <a:r>
              <a:rPr lang="en-GB" dirty="0"/>
              <a:t>Useful Tutorial </a:t>
            </a:r>
          </a:p>
        </p:txBody>
      </p:sp>
      <p:sp>
        <p:nvSpPr>
          <p:cNvPr id="3" name="Content Placeholder 2">
            <a:extLst>
              <a:ext uri="{FF2B5EF4-FFF2-40B4-BE49-F238E27FC236}">
                <a16:creationId xmlns:a16="http://schemas.microsoft.com/office/drawing/2014/main" id="{4B49C0DC-3D3B-2FAA-80BD-64283FEF3F6D}"/>
              </a:ext>
            </a:extLst>
          </p:cNvPr>
          <p:cNvSpPr>
            <a:spLocks noGrp="1"/>
          </p:cNvSpPr>
          <p:nvPr>
            <p:ph idx="1"/>
          </p:nvPr>
        </p:nvSpPr>
        <p:spPr/>
        <p:txBody>
          <a:bodyPr/>
          <a:lstStyle/>
          <a:p>
            <a:r>
              <a:rPr lang="en-GB" dirty="0">
                <a:hlinkClick r:id="rId2"/>
              </a:rPr>
              <a:t>Google Career Certificates</a:t>
            </a:r>
            <a:endParaRPr lang="en-GB" dirty="0"/>
          </a:p>
        </p:txBody>
      </p:sp>
    </p:spTree>
    <p:extLst>
      <p:ext uri="{BB962C8B-B14F-4D97-AF65-F5344CB8AC3E}">
        <p14:creationId xmlns:p14="http://schemas.microsoft.com/office/powerpoint/2010/main" val="87957396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688</TotalTime>
  <Words>296</Words>
  <Application>Microsoft Macintosh PowerPoint</Application>
  <PresentationFormat>Widescreen</PresentationFormat>
  <Paragraphs>39</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Avenir Next LT Pro</vt:lpstr>
      <vt:lpstr>Google Sans</vt:lpstr>
      <vt:lpstr>Grandview Display</vt:lpstr>
      <vt:lpstr>source-serif-pro</vt:lpstr>
      <vt:lpstr>DashVTI</vt:lpstr>
      <vt:lpstr>Storyboard exercise</vt:lpstr>
      <vt:lpstr>Storyboard Elements </vt:lpstr>
      <vt:lpstr>PowerPoint Presentation</vt:lpstr>
      <vt:lpstr>Problem Statement</vt:lpstr>
      <vt:lpstr>Goal Statement </vt:lpstr>
      <vt:lpstr>PowerPoint Presentation</vt:lpstr>
      <vt:lpstr>Example: Dan is the lead guitarist of a band that is looking to hire a new drummer due to difficulties in replacing their former drummer.</vt:lpstr>
      <vt:lpstr>Example: Bandmate app will enable users to recruit new or substitute musicians, benefiting those who require additional band members by simplifying the process of finding qualified musicians to hire. Its effectiveness will be monitored by reviewing user feedback and monitoring successful hires.</vt:lpstr>
      <vt:lpstr>Storyboard Types</vt:lpstr>
      <vt:lpstr>Big-Picture Storyboards</vt:lpstr>
      <vt:lpstr>Close-Up Storyboards</vt:lpstr>
      <vt:lpstr>Useful Tutorial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Bassma Al-Jubouri</dc:creator>
  <cp:lastModifiedBy>Bassma Al-Jubouri</cp:lastModifiedBy>
  <cp:revision>2</cp:revision>
  <dcterms:created xsi:type="dcterms:W3CDTF">2025-03-23T21:23:12Z</dcterms:created>
  <dcterms:modified xsi:type="dcterms:W3CDTF">2025-03-24T08:52:05Z</dcterms:modified>
</cp:coreProperties>
</file>