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35"/>
  </p:notesMasterIdLst>
  <p:sldIdLst>
    <p:sldId id="256" r:id="rId2"/>
    <p:sldId id="344" r:id="rId3"/>
    <p:sldId id="319" r:id="rId4"/>
    <p:sldId id="320" r:id="rId5"/>
    <p:sldId id="321" r:id="rId6"/>
    <p:sldId id="288" r:id="rId7"/>
    <p:sldId id="322" r:id="rId8"/>
    <p:sldId id="323" r:id="rId9"/>
    <p:sldId id="287" r:id="rId10"/>
    <p:sldId id="343" r:id="rId11"/>
    <p:sldId id="324" r:id="rId12"/>
    <p:sldId id="280" r:id="rId13"/>
    <p:sldId id="327" r:id="rId14"/>
    <p:sldId id="330" r:id="rId15"/>
    <p:sldId id="279" r:id="rId16"/>
    <p:sldId id="326" r:id="rId17"/>
    <p:sldId id="334" r:id="rId18"/>
    <p:sldId id="328" r:id="rId19"/>
    <p:sldId id="329" r:id="rId20"/>
    <p:sldId id="331" r:id="rId21"/>
    <p:sldId id="333" r:id="rId22"/>
    <p:sldId id="332" r:id="rId23"/>
    <p:sldId id="338" r:id="rId24"/>
    <p:sldId id="335" r:id="rId25"/>
    <p:sldId id="337" r:id="rId26"/>
    <p:sldId id="339" r:id="rId27"/>
    <p:sldId id="340" r:id="rId28"/>
    <p:sldId id="341" r:id="rId29"/>
    <p:sldId id="278" r:id="rId30"/>
    <p:sldId id="325" r:id="rId31"/>
    <p:sldId id="342" r:id="rId32"/>
    <p:sldId id="336" r:id="rId33"/>
    <p:sldId id="316" r:id="rId34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91"/>
    <p:restoredTop sz="75459" autoAdjust="0"/>
  </p:normalViewPr>
  <p:slideViewPr>
    <p:cSldViewPr>
      <p:cViewPr varScale="1">
        <p:scale>
          <a:sx n="79" d="100"/>
          <a:sy n="79" d="100"/>
        </p:scale>
        <p:origin x="98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2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c Wells" userId="527ade61401a42c1" providerId="LiveId" clId="{A9538C26-934E-463C-9866-94E924CCB149}"/>
    <pc:docChg chg="undo custSel modSld">
      <pc:chgData name="Alec Wells" userId="527ade61401a42c1" providerId="LiveId" clId="{A9538C26-934E-463C-9866-94E924CCB149}" dt="2024-02-04T23:34:49.366" v="193" actId="20577"/>
      <pc:docMkLst>
        <pc:docMk/>
      </pc:docMkLst>
      <pc:sldChg chg="modSp mod">
        <pc:chgData name="Alec Wells" userId="527ade61401a42c1" providerId="LiveId" clId="{A9538C26-934E-463C-9866-94E924CCB149}" dt="2024-02-04T23:15:35.338" v="78" actId="20577"/>
        <pc:sldMkLst>
          <pc:docMk/>
          <pc:sldMk cId="0" sldId="275"/>
        </pc:sldMkLst>
        <pc:spChg chg="mod">
          <ac:chgData name="Alec Wells" userId="527ade61401a42c1" providerId="LiveId" clId="{A9538C26-934E-463C-9866-94E924CCB149}" dt="2024-02-04T23:15:35.338" v="78" actId="20577"/>
          <ac:spMkLst>
            <pc:docMk/>
            <pc:sldMk cId="0" sldId="275"/>
            <ac:spMk id="5123" creationId="{8A828AB5-4322-803C-0D20-8A3CC519681F}"/>
          </ac:spMkLst>
        </pc:spChg>
      </pc:sldChg>
      <pc:sldChg chg="modSp mod">
        <pc:chgData name="Alec Wells" userId="527ade61401a42c1" providerId="LiveId" clId="{A9538C26-934E-463C-9866-94E924CCB149}" dt="2024-02-04T23:21:41.600" v="80" actId="20577"/>
        <pc:sldMkLst>
          <pc:docMk/>
          <pc:sldMk cId="0" sldId="278"/>
        </pc:sldMkLst>
        <pc:spChg chg="mod">
          <ac:chgData name="Alec Wells" userId="527ade61401a42c1" providerId="LiveId" clId="{A9538C26-934E-463C-9866-94E924CCB149}" dt="2024-02-04T23:21:41.600" v="80" actId="20577"/>
          <ac:spMkLst>
            <pc:docMk/>
            <pc:sldMk cId="0" sldId="278"/>
            <ac:spMk id="13315" creationId="{892F6EC5-4AE6-C49F-C559-4F05855EB0AF}"/>
          </ac:spMkLst>
        </pc:spChg>
      </pc:sldChg>
      <pc:sldChg chg="modSp mod">
        <pc:chgData name="Alec Wells" userId="527ade61401a42c1" providerId="LiveId" clId="{A9538C26-934E-463C-9866-94E924CCB149}" dt="2024-02-04T23:24:45.445" v="82" actId="20577"/>
        <pc:sldMkLst>
          <pc:docMk/>
          <pc:sldMk cId="0" sldId="279"/>
        </pc:sldMkLst>
        <pc:spChg chg="mod">
          <ac:chgData name="Alec Wells" userId="527ade61401a42c1" providerId="LiveId" clId="{A9538C26-934E-463C-9866-94E924CCB149}" dt="2024-02-04T23:24:45.445" v="82" actId="20577"/>
          <ac:spMkLst>
            <pc:docMk/>
            <pc:sldMk cId="0" sldId="279"/>
            <ac:spMk id="15363" creationId="{3CDC1BB5-DC4F-E73A-E326-8FC3DC840E20}"/>
          </ac:spMkLst>
        </pc:spChg>
      </pc:sldChg>
      <pc:sldChg chg="modSp mod">
        <pc:chgData name="Alec Wells" userId="527ade61401a42c1" providerId="LiveId" clId="{A9538C26-934E-463C-9866-94E924CCB149}" dt="2024-02-04T23:25:54.904" v="84" actId="20577"/>
        <pc:sldMkLst>
          <pc:docMk/>
          <pc:sldMk cId="0" sldId="280"/>
        </pc:sldMkLst>
        <pc:spChg chg="mod">
          <ac:chgData name="Alec Wells" userId="527ade61401a42c1" providerId="LiveId" clId="{A9538C26-934E-463C-9866-94E924CCB149}" dt="2024-02-04T23:25:54.904" v="84" actId="20577"/>
          <ac:spMkLst>
            <pc:docMk/>
            <pc:sldMk cId="0" sldId="280"/>
            <ac:spMk id="16387" creationId="{81342D44-74E1-97A4-8589-796867BFD118}"/>
          </ac:spMkLst>
        </pc:spChg>
      </pc:sldChg>
      <pc:sldChg chg="modSp mod">
        <pc:chgData name="Alec Wells" userId="527ade61401a42c1" providerId="LiveId" clId="{A9538C26-934E-463C-9866-94E924CCB149}" dt="2024-02-04T23:30:28.298" v="139"/>
        <pc:sldMkLst>
          <pc:docMk/>
          <pc:sldMk cId="0" sldId="299"/>
        </pc:sldMkLst>
        <pc:spChg chg="mod">
          <ac:chgData name="Alec Wells" userId="527ade61401a42c1" providerId="LiveId" clId="{A9538C26-934E-463C-9866-94E924CCB149}" dt="2024-02-04T23:30:28.298" v="139"/>
          <ac:spMkLst>
            <pc:docMk/>
            <pc:sldMk cId="0" sldId="299"/>
            <ac:spMk id="19459" creationId="{F9524D05-EA0A-01DE-41AA-61C48B5219D6}"/>
          </ac:spMkLst>
        </pc:spChg>
      </pc:sldChg>
      <pc:sldChg chg="modSp modAnim">
        <pc:chgData name="Alec Wells" userId="527ade61401a42c1" providerId="LiveId" clId="{A9538C26-934E-463C-9866-94E924CCB149}" dt="2024-02-04T23:34:13.069" v="176" actId="20577"/>
        <pc:sldMkLst>
          <pc:docMk/>
          <pc:sldMk cId="0" sldId="311"/>
        </pc:sldMkLst>
        <pc:spChg chg="mod">
          <ac:chgData name="Alec Wells" userId="527ade61401a42c1" providerId="LiveId" clId="{A9538C26-934E-463C-9866-94E924CCB149}" dt="2024-02-04T23:34:13.069" v="176" actId="20577"/>
          <ac:spMkLst>
            <pc:docMk/>
            <pc:sldMk cId="0" sldId="311"/>
            <ac:spMk id="71683" creationId="{1C0AB33C-93C0-4EBF-38CC-89665315011A}"/>
          </ac:spMkLst>
        </pc:spChg>
      </pc:sldChg>
      <pc:sldChg chg="modSp modAnim">
        <pc:chgData name="Alec Wells" userId="527ade61401a42c1" providerId="LiveId" clId="{A9538C26-934E-463C-9866-94E924CCB149}" dt="2024-02-04T23:32:21.687" v="159" actId="20577"/>
        <pc:sldMkLst>
          <pc:docMk/>
          <pc:sldMk cId="0" sldId="312"/>
        </pc:sldMkLst>
        <pc:spChg chg="mod">
          <ac:chgData name="Alec Wells" userId="527ade61401a42c1" providerId="LiveId" clId="{A9538C26-934E-463C-9866-94E924CCB149}" dt="2024-02-04T23:32:21.687" v="159" actId="20577"/>
          <ac:spMkLst>
            <pc:docMk/>
            <pc:sldMk cId="0" sldId="312"/>
            <ac:spMk id="72707" creationId="{E203CAC6-2918-6484-E950-2E2A951BA4A0}"/>
          </ac:spMkLst>
        </pc:spChg>
      </pc:sldChg>
      <pc:sldChg chg="modSp modAnim">
        <pc:chgData name="Alec Wells" userId="527ade61401a42c1" providerId="LiveId" clId="{A9538C26-934E-463C-9866-94E924CCB149}" dt="2024-02-04T23:34:49.366" v="193" actId="20577"/>
        <pc:sldMkLst>
          <pc:docMk/>
          <pc:sldMk cId="0" sldId="313"/>
        </pc:sldMkLst>
        <pc:spChg chg="mod">
          <ac:chgData name="Alec Wells" userId="527ade61401a42c1" providerId="LiveId" clId="{A9538C26-934E-463C-9866-94E924CCB149}" dt="2024-02-04T23:34:49.366" v="193" actId="20577"/>
          <ac:spMkLst>
            <pc:docMk/>
            <pc:sldMk cId="0" sldId="313"/>
            <ac:spMk id="73731" creationId="{AE623F94-62CE-3522-785B-870B1FD22FB0}"/>
          </ac:spMkLst>
        </pc:spChg>
      </pc:sldChg>
    </pc:docChg>
  </pc:docChgLst>
  <pc:docChgLst>
    <pc:chgData name="Alec Wells" userId="527ade61401a42c1" providerId="LiveId" clId="{EE5E0F48-9A11-47F4-88FB-34198AA52DCB}"/>
    <pc:docChg chg="modSld">
      <pc:chgData name="Alec Wells" userId="527ade61401a42c1" providerId="LiveId" clId="{EE5E0F48-9A11-47F4-88FB-34198AA52DCB}" dt="2024-02-11T23:08:55.218" v="5" actId="20577"/>
      <pc:docMkLst>
        <pc:docMk/>
      </pc:docMkLst>
      <pc:sldChg chg="modSp mod">
        <pc:chgData name="Alec Wells" userId="527ade61401a42c1" providerId="LiveId" clId="{EE5E0F48-9A11-47F4-88FB-34198AA52DCB}" dt="2024-02-11T23:08:55.218" v="5" actId="20577"/>
        <pc:sldMkLst>
          <pc:docMk/>
          <pc:sldMk cId="0" sldId="256"/>
        </pc:sldMkLst>
        <pc:spChg chg="mod">
          <ac:chgData name="Alec Wells" userId="527ade61401a42c1" providerId="LiveId" clId="{EE5E0F48-9A11-47F4-88FB-34198AA52DCB}" dt="2024-02-11T23:08:55.218" v="5" actId="20577"/>
          <ac:spMkLst>
            <pc:docMk/>
            <pc:sldMk cId="0" sldId="256"/>
            <ac:spMk id="2050" creationId="{CBD22B11-C1DB-B6A6-2EEE-0A845FB7059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0C43917-5DA0-DECF-FF69-2A40A360DA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7651BE-CB62-1C46-2D82-5CE8C878F16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F8F6FD23-3D60-4451-A465-FCB20600655D}" type="datetimeFigureOut">
              <a:rPr lang="en-GB" altLang="en-US"/>
              <a:pPr>
                <a:defRPr/>
              </a:pPr>
              <a:t>02/04/2025</a:t>
            </a:fld>
            <a:endParaRPr lang="en-GB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EB60F19-1FDC-AE14-9F7A-B626270BC2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F6E3879-375D-FC9C-BF07-9901CCEEF4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  <a:endParaRPr lang="en-GB" altLang="en-US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C8949-BF00-F811-963F-ECEB0B12FDB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A25848-9C49-2CA4-2EC3-282A591EAB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A21F885-8204-4DD9-BC7B-9FC74636C35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F1054-8DDF-92FF-6688-A92B8B54A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F6F515CB-7BC9-A3F3-DA17-7143A5E5BB5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577410B9-4EB9-8391-B4F4-860E52A4D8A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9422B773-B09D-0D30-B50C-86C2872B47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9F1681-EC19-4A88-9D1E-FFAFBDB113BD}" type="slidenum">
              <a:rPr lang="en-GB" altLang="en-US" smtClean="0"/>
              <a:pPr/>
              <a:t>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48177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F07E8-7767-186B-582A-9710C07A7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6DD1C52F-78F2-7052-F63A-A7BA028F675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DCEB2D34-2C7C-58B8-90DA-205D79376DA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8CA884E1-5DDD-E567-F5F2-C8DC8D562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9F1681-EC19-4A88-9D1E-FFAFBDB113BD}" type="slidenum">
              <a:rPr lang="en-GB" altLang="en-US" smtClean="0"/>
              <a:pPr/>
              <a:t>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60392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6F683-0859-4494-2924-5B9900EF6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19E9CF09-3886-61AA-2A8A-EF7C21650BB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8C1C450E-8F36-1639-6ADD-827C28E2578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28652056-3C60-ED33-90CF-A84C160605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9F1681-EC19-4A88-9D1E-FFAFBDB113BD}" type="slidenum">
              <a:rPr lang="en-GB" altLang="en-US" smtClean="0"/>
              <a:pPr/>
              <a:t>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494827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45C1E-540C-EC5E-5C4F-C29FC3BAE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8B625C9A-EEE5-025F-D8E3-0DCFB392199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4A699013-45B7-4A2F-CCD4-4BADA92004D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FFFFFF"/>
                </a:solidFill>
                <a:effectLst/>
                <a:latin typeface="Atkinson Hyperlegible"/>
              </a:rPr>
              <a:t>Sets the font of the heading to be Garamond, Times New Roman, or a default serif font, in that order of preference.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FFFFFF"/>
                </a:solidFill>
                <a:effectLst/>
                <a:latin typeface="Atkinson Hyperlegible"/>
              </a:rPr>
              <a:t>Makes the heading text twice as large (200%) as the default font size.</a:t>
            </a:r>
          </a:p>
          <a:p>
            <a:pPr eaLnBrk="1" hangingPunct="1"/>
            <a:r>
              <a:rPr lang="en-GB" dirty="0"/>
              <a:t>204, 204, 255</a:t>
            </a:r>
            <a:r>
              <a:rPr lang="en-GB" b="0" i="0" dirty="0">
                <a:solidFill>
                  <a:srgbClr val="FFFFFF"/>
                </a:solidFill>
                <a:effectLst/>
                <a:latin typeface="Atkinson Hyperlegible"/>
              </a:rPr>
              <a:t>: This represents a light lavender or pale blue </a:t>
            </a:r>
            <a:r>
              <a:rPr lang="en-GB" b="0" i="0" dirty="0" err="1">
                <a:solidFill>
                  <a:srgbClr val="FFFFFF"/>
                </a:solidFill>
                <a:effectLst/>
                <a:latin typeface="Atkinson Hyperlegible"/>
              </a:rPr>
              <a:t>color</a:t>
            </a:r>
            <a:r>
              <a:rPr lang="en-GB" b="0" i="0" dirty="0">
                <a:solidFill>
                  <a:srgbClr val="FFFFFF"/>
                </a:solidFill>
                <a:effectLst/>
                <a:latin typeface="Atkinson Hyperlegible"/>
              </a:rPr>
              <a:t>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FFFFFF"/>
                </a:solidFill>
                <a:effectLst/>
                <a:latin typeface="Atkinson Hyperlegible"/>
              </a:rPr>
              <a:t>padding: The CSS property that adds space </a:t>
            </a:r>
            <a:r>
              <a:rPr lang="en-GB" b="0" i="1" dirty="0">
                <a:solidFill>
                  <a:srgbClr val="FFFFFF"/>
                </a:solidFill>
                <a:effectLst/>
                <a:latin typeface="Atkinson Hyperlegible"/>
              </a:rPr>
              <a:t>inside</a:t>
            </a:r>
            <a:r>
              <a:rPr lang="en-GB" b="0" i="0" dirty="0">
                <a:solidFill>
                  <a:srgbClr val="FFFFFF"/>
                </a:solidFill>
                <a:effectLst/>
                <a:latin typeface="Atkinson Hyperlegible"/>
              </a:rPr>
              <a:t> the element's border, between the content and the border.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FFFFFF"/>
                </a:solidFill>
                <a:effectLst/>
                <a:latin typeface="Atkinson Hyperlegible"/>
              </a:rPr>
              <a:t>0.5em: The value. An </a:t>
            </a:r>
            <a:r>
              <a:rPr lang="en-GB" b="0" i="0" dirty="0" err="1">
                <a:solidFill>
                  <a:srgbClr val="FFFFFF"/>
                </a:solidFill>
                <a:effectLst/>
                <a:latin typeface="Atkinson Hyperlegible"/>
              </a:rPr>
              <a:t>em</a:t>
            </a:r>
            <a:r>
              <a:rPr lang="en-GB" b="0" i="0" dirty="0">
                <a:solidFill>
                  <a:srgbClr val="FFFFFF"/>
                </a:solidFill>
                <a:effectLst/>
                <a:latin typeface="Atkinson Hyperlegible"/>
              </a:rPr>
              <a:t> unit is relative to the </a:t>
            </a:r>
            <a:r>
              <a:rPr lang="en-GB" b="0" i="1" dirty="0">
                <a:solidFill>
                  <a:srgbClr val="FFFFFF"/>
                </a:solidFill>
                <a:effectLst/>
                <a:latin typeface="Atkinson Hyperlegible"/>
              </a:rPr>
              <a:t>font size</a:t>
            </a:r>
            <a:r>
              <a:rPr lang="en-GB" b="0" i="0" dirty="0">
                <a:solidFill>
                  <a:srgbClr val="FFFFFF"/>
                </a:solidFill>
                <a:effectLst/>
                <a:latin typeface="Atkinson Hyperlegible"/>
              </a:rPr>
              <a:t> of the element. If the font size is 16px, then 0.5em is equivalent to 8px. In essence, this means a padding of half the font size is applied to all sides of the content within the &lt;div&gt;.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sz="1200" dirty="0">
                <a:latin typeface="Arial" panose="020B0604020202020204" pitchFamily="34" charset="0"/>
              </a:rPr>
              <a:t>border: 1px solid #000000;”: </a:t>
            </a:r>
            <a:r>
              <a:rPr lang="en-GB" b="0" i="0" dirty="0">
                <a:solidFill>
                  <a:srgbClr val="FFFFFF"/>
                </a:solidFill>
                <a:effectLst/>
                <a:latin typeface="Atkinson Hyperlegible"/>
              </a:rPr>
              <a:t>Adds a 1-pixel solid black border around the &lt;div&gt;.</a:t>
            </a:r>
          </a:p>
          <a:p>
            <a:pPr eaLnBrk="1" hangingPunct="1"/>
            <a:endParaRPr lang="en-GB" altLang="en-US" dirty="0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7C7986A4-C017-594A-BE3D-95895B9ED2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0C6A30B-EE63-4C00-A719-0635AAEB3D31}" type="slidenum">
              <a:rPr lang="en-GB" altLang="en-US" smtClean="0"/>
              <a:pPr/>
              <a:t>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965488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CD4A0-BC52-29A8-41DF-41120DB34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4A2CAD1A-6946-AE66-6EB4-20CAA17ECA6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18CBF186-BE79-6FB9-0EEF-0CEB3F22AF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110A07CB-553D-35CE-AE2C-2E732A6972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0C6A30B-EE63-4C00-A719-0635AAEB3D31}" type="slidenum">
              <a:rPr lang="en-GB" altLang="en-US" smtClean="0"/>
              <a:pPr/>
              <a:t>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232879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6E6E39B3-F045-A9E3-D413-40EFFB5ECE1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642E7928-878B-573D-9A88-23010C950E0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64265BC0-639B-4E4E-DC79-0DC8AAA7CB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0C6A30B-EE63-4C00-A719-0635AAEB3D31}" type="slidenum">
              <a:rPr lang="en-GB" altLang="en-US" smtClean="0"/>
              <a:pPr/>
              <a:t>9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506FD-E801-8FD8-E320-A2F65D5FC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DE81D3C3-AF6B-9754-8F04-52E8ED3ADAF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84D890A6-F1CE-BFBF-DA23-74E0ECFF730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F4453B46-9415-D889-FF27-A1407358A3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0C6A30B-EE63-4C00-A719-0635AAEB3D31}" type="slidenum">
              <a:rPr lang="en-GB" altLang="en-US" smtClean="0"/>
              <a:pPr/>
              <a:t>10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75935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BBAFB-C6ED-4820-7CC8-4B2299CB3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9B34F-007A-4505-C473-7A739958F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77DD2-9ABA-4339-C4A0-71FC7FAFE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BE0E50-4C41-4C5F-A6E6-AC7BF62D185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88784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D4698-C369-2023-91B9-BF198125B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A1741-3F88-8162-B004-697E368D3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6B3B1-73CB-EC00-EED5-0EEA39969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5BD3A-794A-4E96-98D9-29C2B056AD7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26168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6FFD-939A-BD45-E1E8-529438FC7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43CDE-922C-2344-660F-03C06D117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66662-5449-E588-4330-3A244FF5A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108A3C-4472-4BAF-A76A-4F4F697D913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002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F96180A-360A-28AC-BC5B-A14C3263B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1FAE49A-406E-6125-F6F8-1D8F79C8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1914FC4-FB85-D5D5-FABA-19F789F72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88C25F-8E11-4064-AE56-034BE9F0A5E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78618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C118F79-0C6B-8A0F-452A-293937782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DAC1512-3CFA-9ED4-6912-E83D46A6A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F6B54D7-BD1B-60A9-EE0C-E6240E295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5C60ED-42C1-4545-9468-EB382124E43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49002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7A73B05-6FFC-20AB-88CD-C36C2814B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D173DA2-E0C4-C94C-1189-0B6927EA5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9F8BBCA-AB2F-A0B1-0591-4896EDB6C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A3FA38-719B-4553-BB70-BC9B5BFEE36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80714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FE38D44-9016-3653-11C1-D7EED8428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9221E15-45F9-4641-B1AD-217C36677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80A2E8F-4061-8E93-340C-1D20852C2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0F20B5-584E-4376-A04B-5421FA31DE3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89468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08620D2-93DB-34AF-586C-192F933C1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690FA0B-7904-A676-6163-FD77398C1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1176326-CFAA-29F9-92E3-DCEB4670C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C705C3-B364-4629-A107-E36FCF12B0F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63523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4D5AA8B-B01E-46F3-C62F-FCE7D9A56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8E1609F-5AA5-80F4-30D0-DBCE52369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FA5CEA0-E675-CDA8-9359-23A3EAA6C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24EF56-4ACE-450F-A7DD-8E4C428E809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40205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2C65B-8123-09AD-C768-EFA9AA22F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5FD1B-7CD8-996E-2C11-932D1F4DB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40A63-02C6-C3BE-37F9-0CD17051A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0B4257-4EAD-4B33-9187-8B0607F5998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0163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8E955-62F5-DD4E-EE52-7755BC986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3F677-8E04-4AF5-7A8F-62E869B9A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1409A-F1AF-841D-E371-7B283311D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E30639-9610-4849-A845-B7AFDD53177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37282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CA64DF63-3DD7-821E-54F3-A943D67D81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  <a:endParaRPr lang="en-US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D262D890-8658-5D37-F511-34DD99DB7A1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DFAD4-83EC-8E6C-126A-4165CC02B6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8FCFC-4EA7-3C10-D20A-1EB4D2655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AD705-2A07-18FC-AAED-DB92C7D6C8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49CF8B0-F3D1-4896-8BDE-4D5FE3D569F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MS PGothic" pitchFamily="34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MS PGothic" pitchFamily="34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MS PGothic" pitchFamily="34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MS PGothic" pitchFamily="34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MS PGothic" pitchFamily="34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MS PGothic" pitchFamily="34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colorexplorer.com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validator.w3.org/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schools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BD22B11-C1DB-B6A6-2EEE-0A845FB7059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>
                <a:latin typeface="Arial" charset="0"/>
                <a:ea typeface="+mj-ea"/>
                <a:cs typeface="+mj-cs"/>
              </a:rPr>
              <a:t>COM4012M - CSS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DA12F9B4-B776-2DD3-BE3B-4F6AF00DB9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en-US" dirty="0">
                <a:solidFill>
                  <a:srgbClr val="898989"/>
                </a:solidFill>
                <a:latin typeface="Arial" panose="020B0604020202020204" pitchFamily="34" charset="0"/>
              </a:rPr>
              <a:t>Week 2 Lab Session 2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GB" altLang="en-US" dirty="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F44A5-6255-14F7-D636-ABAAE75AD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Note on Server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8DDE4-A733-C659-DCD4-5059D7364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46237"/>
            <a:ext cx="8458200" cy="4525963"/>
          </a:xfrm>
        </p:spPr>
        <p:txBody>
          <a:bodyPr/>
          <a:lstStyle/>
          <a:p>
            <a:r>
              <a:rPr lang="en-GB" dirty="0"/>
              <a:t>Check your email for a new username and password. </a:t>
            </a:r>
          </a:p>
          <a:p>
            <a:r>
              <a:rPr lang="en-GB" dirty="0"/>
              <a:t>Follow the tutorial on how to use FileZilla to connect to </a:t>
            </a:r>
            <a:r>
              <a:rPr lang="en-GB" dirty="0" err="1"/>
              <a:t>ysjcs.net</a:t>
            </a:r>
            <a:r>
              <a:rPr lang="en-GB" dirty="0"/>
              <a:t> server with your new credentials.</a:t>
            </a:r>
          </a:p>
          <a:p>
            <a:r>
              <a:rPr lang="en-GB" dirty="0"/>
              <a:t>Transfer your files to the server and then access them by going to https://</a:t>
            </a:r>
            <a:r>
              <a:rPr lang="en-GB" dirty="0" err="1"/>
              <a:t>ysjcs.net</a:t>
            </a:r>
            <a:r>
              <a:rPr lang="en-GB" dirty="0"/>
              <a:t>/</a:t>
            </a:r>
            <a:r>
              <a:rPr lang="en-GB" dirty="0">
                <a:highlight>
                  <a:srgbClr val="FFFF00"/>
                </a:highlight>
              </a:rPr>
              <a:t>~</a:t>
            </a:r>
            <a:r>
              <a:rPr lang="en-GB" dirty="0"/>
              <a:t>username/.</a:t>
            </a:r>
          </a:p>
        </p:txBody>
      </p:sp>
    </p:spTree>
    <p:extLst>
      <p:ext uri="{BB962C8B-B14F-4D97-AF65-F5344CB8AC3E}">
        <p14:creationId xmlns:p14="http://schemas.microsoft.com/office/powerpoint/2010/main" val="3410852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718F653-B16D-8A80-B338-53FD53F62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3008CAA-58BB-9816-3370-99195DD15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838200"/>
          </a:xfrm>
        </p:spPr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CSS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372D5BC-0841-7191-D4A0-4C1202001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800" dirty="0">
                <a:latin typeface="Arial" panose="020B0604020202020204" pitchFamily="34" charset="0"/>
              </a:rPr>
              <a:t>Cascading Style Sheets (CSS) is a stylesheet language used to describe the presentation of a document written in HTML or XML. 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400" dirty="0">
                <a:latin typeface="Arial" panose="020B0604020202020204" pitchFamily="34" charset="0"/>
              </a:rPr>
              <a:t>CSS describes how elements should be rendered on screen, on paper, in speech, or on other media.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400" dirty="0">
                <a:latin typeface="Arial" panose="020B0604020202020204" pitchFamily="34" charset="0"/>
              </a:rPr>
              <a:t>It was designed primarily to allow the separation of content and presentation (layout, colours, fonts, etc).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400" dirty="0">
                <a:latin typeface="Arial" panose="020B0604020202020204" pitchFamily="34" charset="0"/>
              </a:rPr>
              <a:t>It allows you to control the look of your website across multiple pages.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400" dirty="0">
                <a:latin typeface="Arial" panose="020B0604020202020204" pitchFamily="34" charset="0"/>
              </a:rPr>
              <a:t>CSS can also be used to control the way a web page displays depending on the viewer's device or screen size.</a:t>
            </a:r>
          </a:p>
          <a:p>
            <a:pPr lvl="1" eaLnBrk="1" hangingPunct="1">
              <a:lnSpc>
                <a:spcPct val="90000"/>
              </a:lnSpc>
            </a:pPr>
            <a:endParaRPr lang="en-GB" altLang="en-US" sz="2400" dirty="0"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endParaRPr lang="en-GB" altLang="en-US" sz="2400" dirty="0"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endParaRPr lang="en-GB" altLang="en-US" sz="2000" dirty="0"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endParaRPr lang="en-GB" altLang="en-US" sz="2000" dirty="0"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endParaRPr lang="en-GB" altLang="en-US" sz="2000" dirty="0"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endParaRPr lang="en-GB" altLang="en-US" sz="2000" dirty="0"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endParaRPr lang="en-GB" altLang="en-US" sz="2000" dirty="0"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endParaRPr lang="en-GB" altLang="en-US" sz="2000" dirty="0"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endParaRPr lang="en-GB" altLang="en-US" sz="2000" dirty="0"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endParaRPr lang="en-GB" altLang="en-US" sz="2000" dirty="0">
              <a:latin typeface="Arial" panose="020B0604020202020204" pitchFamily="34" charset="0"/>
            </a:endParaRP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GB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3282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339219C-22A4-6CB1-35DC-B96E899A9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D504D0F-EA23-1C0C-536A-83011BE58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83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4400" dirty="0">
                <a:latin typeface="Arial" panose="020B0604020202020204" pitchFamily="34" charset="0"/>
              </a:rPr>
              <a:t>Inline vs Internal vs External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09CD60AF-6ED3-765B-7BE5-CC4A71781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800" dirty="0">
                <a:latin typeface="Arial" panose="020B0604020202020204" pitchFamily="34" charset="0"/>
              </a:rPr>
              <a:t>Styling can be done in 3 ways. Inline, Internally or Externally.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400" dirty="0">
                <a:latin typeface="Arial" panose="020B0604020202020204" pitchFamily="34" charset="0"/>
              </a:rPr>
              <a:t>Inline styling is done within a single tag like a table and will apply to that specific HTML element on that page.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400" dirty="0">
                <a:latin typeface="Arial" panose="020B0604020202020204" pitchFamily="34" charset="0"/>
              </a:rPr>
              <a:t>Internal styling is coded at the top of the page in the Header of the HTML document and that will refer to the whole page and its individual HTML elements.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400" dirty="0">
                <a:latin typeface="Arial" panose="020B0604020202020204" pitchFamily="34" charset="0"/>
              </a:rPr>
              <a:t>Both these methods allows for targeted styling where a certain page or elements needs to differ in some way compared to others, that won’t be repeated anywhere else.</a:t>
            </a:r>
            <a:endParaRPr lang="en-GB" altLang="en-US" sz="2800" dirty="0"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endParaRPr lang="en-GB" altLang="en-US" sz="2000" dirty="0"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endParaRPr lang="en-GB" altLang="en-US" sz="2000" dirty="0">
              <a:latin typeface="Arial" panose="020B0604020202020204" pitchFamily="34" charset="0"/>
            </a:endParaRP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GB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445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A05F03E-BDF1-EAEB-10B6-F1754A882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A7F4135-10B2-1A5A-493F-627F6C77E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83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4400" dirty="0">
                <a:latin typeface="Arial" panose="020B0604020202020204" pitchFamily="34" charset="0"/>
              </a:rPr>
              <a:t>Inline vs Internal vs External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81CB796-D834-D21F-B872-FD7C60DFE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800" dirty="0">
                <a:latin typeface="Arial" panose="020B0604020202020204" pitchFamily="34" charset="0"/>
              </a:rPr>
              <a:t>However, styling is primarily done in external style sheets. These apply to the entire web page and ensure a consistent styling across multiple pages.</a:t>
            </a:r>
            <a:endParaRPr lang="en-GB" altLang="en-US" sz="20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GB" altLang="en-US" sz="2800" dirty="0">
                <a:latin typeface="Arial" panose="020B0604020202020204" pitchFamily="34" charset="0"/>
              </a:rPr>
              <a:t>You should always be using External Styling for any website with more than one page.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400" dirty="0">
                <a:latin typeface="Arial" panose="020B0604020202020204" pitchFamily="34" charset="0"/>
              </a:rPr>
              <a:t>This reduces repetition of needing to type the same styles multiple times.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400" dirty="0">
                <a:latin typeface="Arial" panose="020B0604020202020204" pitchFamily="34" charset="0"/>
              </a:rPr>
              <a:t>Makes debugging easier.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400" dirty="0">
                <a:latin typeface="Arial" panose="020B0604020202020204" pitchFamily="34" charset="0"/>
              </a:rPr>
              <a:t>Retains the same styling across the whole site.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400" dirty="0">
                <a:latin typeface="Arial" panose="020B0604020202020204" pitchFamily="34" charset="0"/>
              </a:rPr>
              <a:t>Easier to update and maintain.</a:t>
            </a:r>
          </a:p>
          <a:p>
            <a:pPr lvl="1" eaLnBrk="1" hangingPunct="1">
              <a:lnSpc>
                <a:spcPct val="90000"/>
              </a:lnSpc>
            </a:pPr>
            <a:endParaRPr lang="en-GB" altLang="en-US" sz="2000" dirty="0"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endParaRPr lang="en-GB" altLang="en-US" sz="2000" dirty="0"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endParaRPr lang="en-GB" altLang="en-US" sz="2000" dirty="0">
              <a:latin typeface="Arial" panose="020B0604020202020204" pitchFamily="34" charset="0"/>
            </a:endParaRP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GB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795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60AED26-C427-6B88-E02C-E6372E5FE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371600"/>
          </a:xfrm>
        </p:spPr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Setup a Stylesheet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52DE4ECD-C5F6-A1E5-C293-EDEE52A10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dirty="0">
                <a:latin typeface="Arial" panose="020B0604020202020204" pitchFamily="34" charset="0"/>
              </a:rPr>
              <a:t>A stylesheet ends with the .</a:t>
            </a:r>
            <a:r>
              <a:rPr lang="en-GB" altLang="en-US" dirty="0" err="1">
                <a:latin typeface="Arial" panose="020B0604020202020204" pitchFamily="34" charset="0"/>
              </a:rPr>
              <a:t>css</a:t>
            </a:r>
            <a:r>
              <a:rPr lang="en-GB" altLang="en-US" dirty="0">
                <a:latin typeface="Arial" panose="020B0604020202020204" pitchFamily="34" charset="0"/>
              </a:rPr>
              <a:t> file extension: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>
                <a:latin typeface="Arial" panose="020B0604020202020204" pitchFamily="34" charset="0"/>
              </a:rPr>
              <a:t>main.css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>
                <a:latin typeface="Arial" panose="020B0604020202020204" pitchFamily="34" charset="0"/>
              </a:rPr>
              <a:t>stylesheet1.css</a:t>
            </a:r>
          </a:p>
          <a:p>
            <a:pPr lvl="1" eaLnBrk="1" hangingPunct="1">
              <a:lnSpc>
                <a:spcPct val="90000"/>
              </a:lnSpc>
            </a:pPr>
            <a:endParaRPr lang="en-GB" altLang="en-US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GB" altLang="en-US" dirty="0">
                <a:latin typeface="Arial" panose="020B0604020202020204" pitchFamily="34" charset="0"/>
              </a:rPr>
              <a:t>In the header of your HTML document, you then refer to that stylesheet like so: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GB" altLang="en-US" dirty="0">
                <a:latin typeface="Arial" panose="020B0604020202020204" pitchFamily="34" charset="0"/>
              </a:rPr>
              <a:t>&lt;link </a:t>
            </a:r>
            <a:r>
              <a:rPr lang="en-GB" altLang="en-US" dirty="0" err="1">
                <a:latin typeface="Arial" panose="020B0604020202020204" pitchFamily="34" charset="0"/>
              </a:rPr>
              <a:t>rel</a:t>
            </a:r>
            <a:r>
              <a:rPr lang="en-GB" altLang="en-US" dirty="0">
                <a:latin typeface="Arial" panose="020B0604020202020204" pitchFamily="34" charset="0"/>
              </a:rPr>
              <a:t>=“stylesheet” </a:t>
            </a:r>
            <a:r>
              <a:rPr lang="en-GB" altLang="en-US" dirty="0" err="1">
                <a:latin typeface="Arial" panose="020B0604020202020204" pitchFamily="34" charset="0"/>
              </a:rPr>
              <a:t>href</a:t>
            </a:r>
            <a:r>
              <a:rPr lang="en-GB" altLang="en-US" dirty="0">
                <a:latin typeface="Arial" panose="020B0604020202020204" pitchFamily="34" charset="0"/>
              </a:rPr>
              <a:t>=“stylesheet1.css”&gt;</a:t>
            </a:r>
          </a:p>
          <a:p>
            <a:pPr lvl="1" eaLnBrk="1" hangingPunct="1">
              <a:lnSpc>
                <a:spcPct val="90000"/>
              </a:lnSpc>
            </a:pPr>
            <a:endParaRPr lang="en-GB" altLang="en-US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GB" altLang="en-US" dirty="0">
                <a:latin typeface="Arial" panose="020B0604020202020204" pitchFamily="34" charset="0"/>
              </a:rPr>
              <a:t>A stylesheet doesn’t have any setup specifications like a HTML document.</a:t>
            </a:r>
          </a:p>
          <a:p>
            <a:pPr lvl="1" eaLnBrk="1" hangingPunct="1">
              <a:lnSpc>
                <a:spcPct val="90000"/>
              </a:lnSpc>
            </a:pPr>
            <a:endParaRPr lang="en-GB" altLang="en-US" dirty="0">
              <a:latin typeface="Arial" panose="020B0604020202020204" pitchFamily="34" charset="0"/>
            </a:endParaRP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GB" altLang="en-US" dirty="0">
              <a:latin typeface="Arial" panose="020B0604020202020204" pitchFamily="34" charset="0"/>
            </a:endParaRP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GB" altLang="en-US" sz="2000" dirty="0"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endParaRPr lang="en-GB" altLang="en-US" sz="2000" dirty="0">
              <a:latin typeface="Arial" panose="020B0604020202020204" pitchFamily="34" charset="0"/>
            </a:endParaRP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GB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D45C587-E7B3-4074-21D8-55E0AA787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4A4FC365-8B08-951E-8A6D-A7C79A84A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Inline Stylesheet Example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5CC3486B-08E6-F214-9AB6-A0B28ADAE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800" dirty="0">
                <a:latin typeface="Arial" panose="020B0604020202020204" pitchFamily="34" charset="0"/>
              </a:rPr>
              <a:t>&lt;body style= "</a:t>
            </a:r>
            <a:r>
              <a:rPr lang="en-GB" altLang="en-US" sz="2800" dirty="0" err="1">
                <a:latin typeface="Arial" panose="020B0604020202020204" pitchFamily="34" charset="0"/>
              </a:rPr>
              <a:t>background-color:blue</a:t>
            </a:r>
            <a:r>
              <a:rPr lang="en-GB" altLang="en-US" sz="2800" dirty="0">
                <a:latin typeface="Arial" panose="020B0604020202020204" pitchFamily="34" charset="0"/>
              </a:rPr>
              <a:t>; margin-left: 15%; margin-right: 15%;"&gt;}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n-GB" altLang="en-US" sz="2800" dirty="0">
              <a:latin typeface="Arial" panose="020B0604020202020204" pitchFamily="34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800" dirty="0">
                <a:latin typeface="Arial" panose="020B0604020202020204" pitchFamily="34" charset="0"/>
              </a:rPr>
              <a:t>&lt;h1  style="font-family: Garamond, Times New Roman, serif; font-size: 200%;" &gt;This is the page heading&lt;/h1&gt;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n-GB" altLang="en-US" sz="2800" dirty="0">
              <a:latin typeface="Arial" panose="020B0604020202020204" pitchFamily="34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800" dirty="0">
                <a:latin typeface="Arial" panose="020B0604020202020204" pitchFamily="34" charset="0"/>
              </a:rPr>
              <a:t>&lt;div style="background-</a:t>
            </a:r>
            <a:r>
              <a:rPr lang="en-GB" altLang="en-US" sz="2800" dirty="0" err="1">
                <a:latin typeface="Arial" panose="020B0604020202020204" pitchFamily="34" charset="0"/>
              </a:rPr>
              <a:t>color</a:t>
            </a:r>
            <a:r>
              <a:rPr lang="en-GB" altLang="en-US" sz="2800" dirty="0">
                <a:latin typeface="Arial" panose="020B0604020202020204" pitchFamily="34" charset="0"/>
              </a:rPr>
              <a:t>: </a:t>
            </a:r>
            <a:r>
              <a:rPr lang="en-GB" altLang="en-US" sz="2800" dirty="0" err="1">
                <a:latin typeface="Arial" panose="020B0604020202020204" pitchFamily="34" charset="0"/>
              </a:rPr>
              <a:t>rgb</a:t>
            </a:r>
            <a:r>
              <a:rPr lang="en-GB" altLang="en-US" sz="2800" dirty="0">
                <a:latin typeface="Arial" panose="020B0604020202020204" pitchFamily="34" charset="0"/>
              </a:rPr>
              <a:t>(204,204,255);padding: 0.5em;border: 1px solid #000000;"&gt;</a:t>
            </a:r>
          </a:p>
        </p:txBody>
      </p:sp>
    </p:spTree>
    <p:extLst>
      <p:ext uri="{BB962C8B-B14F-4D97-AF65-F5344CB8AC3E}">
        <p14:creationId xmlns:p14="http://schemas.microsoft.com/office/powerpoint/2010/main" val="2344798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A7E39B3-2B4A-4AA4-BA80-8C72AAA8A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4CF5082-D7F5-B4E5-1C7B-26348DB48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Internal Stylesheet Example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6A7A7E31-0D87-E432-725B-F3E242FA0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400" dirty="0">
                <a:latin typeface="Arial" panose="020B0604020202020204" pitchFamily="34" charset="0"/>
              </a:rPr>
              <a:t>&lt;!DOCTYPE html&gt;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400" dirty="0">
                <a:latin typeface="Arial" panose="020B0604020202020204" pitchFamily="34" charset="0"/>
              </a:rPr>
              <a:t>&lt;html&gt;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400" dirty="0">
                <a:latin typeface="Arial" panose="020B0604020202020204" pitchFamily="34" charset="0"/>
              </a:rPr>
              <a:t>	&lt;head&gt;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400" dirty="0">
                <a:latin typeface="Arial" panose="020B0604020202020204" pitchFamily="34" charset="0"/>
              </a:rPr>
              <a:t>		&lt;style&gt;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400" dirty="0">
                <a:latin typeface="Arial" panose="020B0604020202020204" pitchFamily="34" charset="0"/>
              </a:rPr>
              <a:t>			#myDIV {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400" dirty="0">
                <a:latin typeface="Arial" panose="020B0604020202020204" pitchFamily="34" charset="0"/>
              </a:rPr>
              <a:t>  			</a:t>
            </a:r>
            <a:r>
              <a:rPr lang="en-GB" altLang="en-US" sz="2400" dirty="0" err="1">
                <a:latin typeface="Arial" panose="020B0604020202020204" pitchFamily="34" charset="0"/>
              </a:rPr>
              <a:t>color</a:t>
            </a:r>
            <a:r>
              <a:rPr lang="en-GB" altLang="en-US" sz="2400" dirty="0">
                <a:latin typeface="Arial" panose="020B0604020202020204" pitchFamily="34" charset="0"/>
              </a:rPr>
              <a:t>: blue;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400" dirty="0">
                <a:latin typeface="Arial" panose="020B0604020202020204" pitchFamily="34" charset="0"/>
              </a:rPr>
              <a:t>  			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400" dirty="0">
                <a:latin typeface="Arial" panose="020B0604020202020204" pitchFamily="34" charset="0"/>
              </a:rPr>
              <a:t>			} border: 10px solid </a:t>
            </a:r>
            <a:r>
              <a:rPr lang="en-GB" altLang="en-US" sz="2400" dirty="0" err="1">
                <a:latin typeface="Arial" panose="020B0604020202020204" pitchFamily="34" charset="0"/>
              </a:rPr>
              <a:t>currentcolor</a:t>
            </a:r>
            <a:r>
              <a:rPr lang="en-GB" altLang="en-US" sz="2400" dirty="0">
                <a:latin typeface="Arial" panose="020B0604020202020204" pitchFamily="34" charset="0"/>
              </a:rPr>
              <a:t>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400" dirty="0">
                <a:latin typeface="Arial" panose="020B0604020202020204" pitchFamily="34" charset="0"/>
              </a:rPr>
              <a:t>		&lt;/style&gt;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400" dirty="0">
                <a:latin typeface="Arial" panose="020B0604020202020204" pitchFamily="34" charset="0"/>
              </a:rPr>
              <a:t>	&lt;/head&gt;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400" dirty="0">
                <a:latin typeface="Arial" panose="020B0604020202020204" pitchFamily="34" charset="0"/>
              </a:rPr>
              <a:t>&lt;body&gt;</a:t>
            </a:r>
          </a:p>
        </p:txBody>
      </p:sp>
    </p:spTree>
    <p:extLst>
      <p:ext uri="{BB962C8B-B14F-4D97-AF65-F5344CB8AC3E}">
        <p14:creationId xmlns:p14="http://schemas.microsoft.com/office/powerpoint/2010/main" val="3268456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5362BEA7-EC92-2F89-F89B-624D5B075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External Stylesheet Example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464945EE-56BF-8A97-9C1C-AD997CFE1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h1{ 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margin: 0px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background-</a:t>
            </a:r>
            <a:r>
              <a:rPr lang="en-GB" altLang="en-US" sz="2000" dirty="0" err="1">
                <a:latin typeface="Arial" panose="020B0604020202020204" pitchFamily="34" charset="0"/>
              </a:rPr>
              <a:t>color</a:t>
            </a:r>
            <a:r>
              <a:rPr lang="en-GB" altLang="en-US" sz="2000" dirty="0">
                <a:latin typeface="Arial" panose="020B0604020202020204" pitchFamily="34" charset="0"/>
              </a:rPr>
              <a:t>: </a:t>
            </a:r>
            <a:r>
              <a:rPr lang="en-GB" altLang="en-US" sz="2000" dirty="0" err="1">
                <a:latin typeface="Arial" panose="020B0604020202020204" pitchFamily="34" charset="0"/>
              </a:rPr>
              <a:t>rgb</a:t>
            </a:r>
            <a:r>
              <a:rPr lang="en-GB" altLang="en-US" sz="2000" dirty="0">
                <a:latin typeface="Arial" panose="020B0604020202020204" pitchFamily="34" charset="0"/>
              </a:rPr>
              <a:t>(132, 202, 245);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width: 100%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</a:t>
            </a:r>
            <a:r>
              <a:rPr lang="en-GB" altLang="en-US" sz="2000" dirty="0" err="1">
                <a:latin typeface="Arial" panose="020B0604020202020204" pitchFamily="34" charset="0"/>
              </a:rPr>
              <a:t>color</a:t>
            </a:r>
            <a:r>
              <a:rPr lang="en-GB" altLang="en-US" sz="2000" dirty="0">
                <a:latin typeface="Arial" panose="020B0604020202020204" pitchFamily="34" charset="0"/>
              </a:rPr>
              <a:t>: black;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text-align: </a:t>
            </a:r>
            <a:r>
              <a:rPr lang="en-GB" altLang="en-US" sz="2000" dirty="0" err="1">
                <a:latin typeface="Arial" panose="020B0604020202020204" pitchFamily="34" charset="0"/>
              </a:rPr>
              <a:t>center</a:t>
            </a:r>
            <a:r>
              <a:rPr lang="en-GB" altLang="en-US" sz="2000" dirty="0">
                <a:latin typeface="Arial" panose="020B0604020202020204" pitchFamily="34" charset="0"/>
              </a:rPr>
              <a:t>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font-size: 80px;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}</a:t>
            </a:r>
          </a:p>
          <a:p>
            <a:pPr marL="0" indent="0" eaLnBrk="1" hangingPunct="1">
              <a:buNone/>
            </a:pPr>
            <a:endParaRPr lang="en-GB" altLang="en-US" sz="2000" dirty="0">
              <a:latin typeface="Arial" panose="020B0604020202020204" pitchFamily="34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.Style1 {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font-family: Arial, Helvetica, Verdana, sans-serif;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font-weight: bold;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</a:t>
            </a:r>
            <a:r>
              <a:rPr lang="en-GB" altLang="en-US" sz="2000" dirty="0" err="1">
                <a:latin typeface="Arial" panose="020B0604020202020204" pitchFamily="34" charset="0"/>
              </a:rPr>
              <a:t>color</a:t>
            </a:r>
            <a:r>
              <a:rPr lang="en-GB" altLang="en-US" sz="2000" dirty="0">
                <a:latin typeface="Arial" panose="020B0604020202020204" pitchFamily="34" charset="0"/>
              </a:rPr>
              <a:t>: “#00FF00”;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} 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n-GB" altLang="en-US" sz="2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20DA272-5D2B-CE4B-7ECC-0FE14967A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9D83BFB6-AD57-974E-FEC6-FF25E72B5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External Stylesheet Example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2C1EFF96-5C62-59CD-B03B-7B2126598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h1{ 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margin: 0px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background-</a:t>
            </a:r>
            <a:r>
              <a:rPr lang="en-GB" altLang="en-US" sz="2000" dirty="0" err="1">
                <a:latin typeface="Arial" panose="020B0604020202020204" pitchFamily="34" charset="0"/>
              </a:rPr>
              <a:t>color</a:t>
            </a:r>
            <a:r>
              <a:rPr lang="en-GB" altLang="en-US" sz="2000" dirty="0">
                <a:latin typeface="Arial" panose="020B0604020202020204" pitchFamily="34" charset="0"/>
              </a:rPr>
              <a:t>: </a:t>
            </a:r>
            <a:r>
              <a:rPr lang="en-GB" altLang="en-US" sz="2000" dirty="0" err="1">
                <a:latin typeface="Arial" panose="020B0604020202020204" pitchFamily="34" charset="0"/>
              </a:rPr>
              <a:t>rgb</a:t>
            </a:r>
            <a:r>
              <a:rPr lang="en-GB" altLang="en-US" sz="2000" dirty="0">
                <a:latin typeface="Arial" panose="020B0604020202020204" pitchFamily="34" charset="0"/>
              </a:rPr>
              <a:t>(132, 202, 245);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width: 100%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</a:t>
            </a:r>
            <a:r>
              <a:rPr lang="en-GB" altLang="en-US" sz="2000" dirty="0" err="1">
                <a:latin typeface="Arial" panose="020B0604020202020204" pitchFamily="34" charset="0"/>
              </a:rPr>
              <a:t>color</a:t>
            </a:r>
            <a:r>
              <a:rPr lang="en-GB" altLang="en-US" sz="2000" dirty="0">
                <a:latin typeface="Arial" panose="020B0604020202020204" pitchFamily="34" charset="0"/>
              </a:rPr>
              <a:t>: black;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text-align: </a:t>
            </a:r>
            <a:r>
              <a:rPr lang="en-GB" altLang="en-US" sz="2000" dirty="0" err="1">
                <a:latin typeface="Arial" panose="020B0604020202020204" pitchFamily="34" charset="0"/>
              </a:rPr>
              <a:t>center</a:t>
            </a:r>
            <a:r>
              <a:rPr lang="en-GB" altLang="en-US" sz="2000" dirty="0">
                <a:latin typeface="Arial" panose="020B0604020202020204" pitchFamily="34" charset="0"/>
              </a:rPr>
              <a:t>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font-size: 80px;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}</a:t>
            </a:r>
          </a:p>
          <a:p>
            <a:pPr eaLnBrk="1" hangingPunct="1"/>
            <a:r>
              <a:rPr lang="en-GB" altLang="en-US" sz="2000" dirty="0">
                <a:solidFill>
                  <a:srgbClr val="FF0000"/>
                </a:solidFill>
                <a:latin typeface="Arial" panose="020B0604020202020204" pitchFamily="34" charset="0"/>
              </a:rPr>
              <a:t>You can create custom tags using the .Name {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.Style1 {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font-family: Arial, Helvetica, Verdana, sans-serif;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font-weight: bold;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</a:t>
            </a:r>
            <a:r>
              <a:rPr lang="en-GB" altLang="en-US" sz="2000" dirty="0" err="1">
                <a:latin typeface="Arial" panose="020B0604020202020204" pitchFamily="34" charset="0"/>
              </a:rPr>
              <a:t>color</a:t>
            </a:r>
            <a:r>
              <a:rPr lang="en-GB" altLang="en-US" sz="2000" dirty="0">
                <a:latin typeface="Arial" panose="020B0604020202020204" pitchFamily="34" charset="0"/>
              </a:rPr>
              <a:t>: “#00FF00”;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} 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n-GB" altLang="en-US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564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F191C8C-3534-4994-02D6-704AEE59A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4C57017-27C9-A618-2949-B40D93F0B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371600"/>
          </a:xfrm>
        </p:spPr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Stylesheet Priority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4219E382-E3A1-BB2B-4EF4-38FD6F7BB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dirty="0">
                <a:latin typeface="Arial" panose="020B0604020202020204" pitchFamily="34" charset="0"/>
              </a:rPr>
              <a:t>You can combine using all 3 methods of stylesheet for a single website, in which case in terms of what style gets applied it’s always the most specific: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GB" altLang="en-US" dirty="0">
                <a:latin typeface="Arial" panose="020B0604020202020204" pitchFamily="34" charset="0"/>
              </a:rPr>
              <a:t>			Inline &gt; Internal &gt; External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dirty="0">
                <a:latin typeface="Arial" panose="020B0604020202020204" pitchFamily="34" charset="0"/>
              </a:rPr>
              <a:t>This also applies to the tags you use, for example having a Div class be given .Style2 would be overwritten by a paragraph having p styling.</a:t>
            </a:r>
          </a:p>
          <a:p>
            <a:pPr lvl="1" eaLnBrk="1" hangingPunct="1">
              <a:lnSpc>
                <a:spcPct val="90000"/>
              </a:lnSpc>
            </a:pPr>
            <a:endParaRPr lang="en-GB" altLang="en-US" dirty="0">
              <a:latin typeface="Arial" panose="020B0604020202020204" pitchFamily="34" charset="0"/>
            </a:endParaRP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GB" altLang="en-US" dirty="0">
              <a:latin typeface="Arial" panose="020B0604020202020204" pitchFamily="34" charset="0"/>
            </a:endParaRP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GB" altLang="en-US" dirty="0">
              <a:latin typeface="Arial" panose="020B0604020202020204" pitchFamily="34" charset="0"/>
            </a:endParaRP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GB" altLang="en-US" sz="2000" dirty="0"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endParaRPr lang="en-GB" altLang="en-US" sz="2000" dirty="0">
              <a:latin typeface="Arial" panose="020B0604020202020204" pitchFamily="34" charset="0"/>
            </a:endParaRP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GB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616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F913AC3-A2EB-60CC-3A60-0C428FF5C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Colours (</a:t>
            </a:r>
            <a:r>
              <a:rPr lang="en-GB" altLang="en-US" dirty="0" err="1">
                <a:latin typeface="Arial" panose="020B0604020202020204" pitchFamily="34" charset="0"/>
              </a:rPr>
              <a:t>Color</a:t>
            </a:r>
            <a:r>
              <a:rPr lang="en-GB" altLang="en-US" dirty="0"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81342D44-74E1-97A4-8589-796867BFD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Text Colour: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&lt;h1 style="</a:t>
            </a:r>
            <a:r>
              <a:rPr lang="en-GB" altLang="en-US" dirty="0" err="1">
                <a:latin typeface="Arial" panose="020B0604020202020204" pitchFamily="34" charset="0"/>
              </a:rPr>
              <a:t>color:Violet</a:t>
            </a:r>
            <a:r>
              <a:rPr lang="en-GB" altLang="en-US" dirty="0">
                <a:latin typeface="Arial" panose="020B0604020202020204" pitchFamily="34" charset="0"/>
              </a:rPr>
              <a:t>;"&gt;Hello World&lt;/h1&gt;</a:t>
            </a:r>
          </a:p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Background Colour: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&lt;h1 style="</a:t>
            </a:r>
            <a:r>
              <a:rPr lang="en-GB" altLang="en-US" dirty="0" err="1">
                <a:latin typeface="Arial" panose="020B0604020202020204" pitchFamily="34" charset="0"/>
              </a:rPr>
              <a:t>background-color:DodgerBlue</a:t>
            </a:r>
            <a:r>
              <a:rPr lang="en-GB" altLang="en-US" dirty="0">
                <a:latin typeface="Arial" panose="020B0604020202020204" pitchFamily="34" charset="0"/>
              </a:rPr>
              <a:t>;"&gt;Hello World&lt;/h1&gt;</a:t>
            </a:r>
          </a:p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Border Colour: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&lt;h1 style="border:2px solid Tomato;"&gt;Hello World&lt;/h1&gt;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34F02EC-28A0-5C3B-8BB7-A9411A648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E29E18AE-1449-0779-DCE7-EA7099DD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Colours (</a:t>
            </a:r>
            <a:r>
              <a:rPr lang="en-GB" altLang="en-US" dirty="0" err="1">
                <a:latin typeface="Arial" panose="020B0604020202020204" pitchFamily="34" charset="0"/>
              </a:rPr>
              <a:t>Color</a:t>
            </a:r>
            <a:r>
              <a:rPr lang="en-GB" altLang="en-US" dirty="0"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3B778C6F-B7AB-98F2-2F2E-A8DE268E7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2400" dirty="0">
                <a:latin typeface="Arial" panose="020B0604020202020204" pitchFamily="34" charset="0"/>
              </a:rPr>
              <a:t>There are several ways to choose colours in CSS:</a:t>
            </a:r>
          </a:p>
          <a:p>
            <a:pPr lvl="1" eaLnBrk="1" hangingPunct="1"/>
            <a:r>
              <a:rPr lang="en-GB" altLang="en-US" sz="1800" dirty="0">
                <a:latin typeface="Arial" panose="020B0604020202020204" pitchFamily="34" charset="0"/>
              </a:rPr>
              <a:t>Predefined colour names (CSS has 140 options)</a:t>
            </a:r>
          </a:p>
          <a:p>
            <a:pPr marL="457200" lvl="1" indent="0" eaLnBrk="1" hangingPunct="1">
              <a:buNone/>
            </a:pPr>
            <a:r>
              <a:rPr lang="en-GB" altLang="en-US" sz="1800" dirty="0">
                <a:latin typeface="Arial" panose="020B0604020202020204" pitchFamily="34" charset="0"/>
              </a:rPr>
              <a:t>&lt;h2 style="</a:t>
            </a:r>
            <a:r>
              <a:rPr lang="en-GB" altLang="en-US" sz="1800" dirty="0" err="1">
                <a:latin typeface="Arial" panose="020B0604020202020204" pitchFamily="34" charset="0"/>
              </a:rPr>
              <a:t>background-color:Tomato</a:t>
            </a:r>
            <a:r>
              <a:rPr lang="en-GB" altLang="en-US" sz="1800" dirty="0">
                <a:latin typeface="Arial" panose="020B0604020202020204" pitchFamily="34" charset="0"/>
              </a:rPr>
              <a:t>;"&gt;Tomato&lt;/h2&gt;</a:t>
            </a:r>
          </a:p>
          <a:p>
            <a:pPr marL="457200" lvl="1" indent="0" eaLnBrk="1" hangingPunct="1">
              <a:buNone/>
            </a:pPr>
            <a:endParaRPr lang="en-GB" altLang="en-US" sz="1800" dirty="0">
              <a:latin typeface="Arial" panose="020B0604020202020204" pitchFamily="34" charset="0"/>
            </a:endParaRPr>
          </a:p>
          <a:p>
            <a:pPr lvl="1" eaLnBrk="1" hangingPunct="1"/>
            <a:r>
              <a:rPr lang="en-GB" altLang="en-US" sz="1800" dirty="0">
                <a:latin typeface="Arial" panose="020B0604020202020204" pitchFamily="34" charset="0"/>
              </a:rPr>
              <a:t>RGB Colours (Red, Green, Blue)</a:t>
            </a:r>
          </a:p>
          <a:p>
            <a:pPr marL="457200" lvl="1" indent="0" eaLnBrk="1" hangingPunct="1">
              <a:buNone/>
            </a:pPr>
            <a:r>
              <a:rPr lang="en-GB" altLang="en-US" sz="1800" dirty="0">
                <a:latin typeface="Arial" panose="020B0604020202020204" pitchFamily="34" charset="0"/>
              </a:rPr>
              <a:t>&lt;h2 style="</a:t>
            </a:r>
            <a:r>
              <a:rPr lang="en-GB" altLang="en-US" sz="1800" dirty="0" err="1">
                <a:latin typeface="Arial" panose="020B0604020202020204" pitchFamily="34" charset="0"/>
              </a:rPr>
              <a:t>background-color:rgb</a:t>
            </a:r>
            <a:r>
              <a:rPr lang="en-GB" altLang="en-US" sz="1800" dirty="0">
                <a:latin typeface="Arial" panose="020B0604020202020204" pitchFamily="34" charset="0"/>
              </a:rPr>
              <a:t>(255, 0, 0);"&gt;Red&lt;/h1&gt;</a:t>
            </a:r>
            <a:br>
              <a:rPr lang="en-GB" altLang="en-US" sz="1800" dirty="0">
                <a:latin typeface="Arial" panose="020B0604020202020204" pitchFamily="34" charset="0"/>
              </a:rPr>
            </a:br>
            <a:endParaRPr lang="en-GB" altLang="en-US" sz="1800" dirty="0">
              <a:latin typeface="Arial" panose="020B0604020202020204" pitchFamily="34" charset="0"/>
            </a:endParaRPr>
          </a:p>
          <a:p>
            <a:pPr lvl="1" eaLnBrk="1" hangingPunct="1"/>
            <a:r>
              <a:rPr lang="en-GB" altLang="en-US" sz="1800" dirty="0">
                <a:latin typeface="Arial" panose="020B0604020202020204" pitchFamily="34" charset="0"/>
              </a:rPr>
              <a:t>Hexadecimal (#RRGGBB, </a:t>
            </a:r>
            <a:r>
              <a:rPr lang="en-GB" altLang="en-US" sz="1800" dirty="0" err="1">
                <a:latin typeface="Arial" panose="020B0604020202020204" pitchFamily="34" charset="0"/>
              </a:rPr>
              <a:t>RedGreenBlue</a:t>
            </a:r>
            <a:r>
              <a:rPr lang="en-GB" altLang="en-US" sz="1800" dirty="0">
                <a:latin typeface="Arial" panose="020B0604020202020204" pitchFamily="34" charset="0"/>
              </a:rPr>
              <a:t> </a:t>
            </a:r>
            <a:r>
              <a:rPr lang="en-GB" altLang="en-US" sz="1800" dirty="0" err="1">
                <a:latin typeface="Arial" panose="020B0604020202020204" pitchFamily="34" charset="0"/>
              </a:rPr>
              <a:t>hexademical</a:t>
            </a:r>
            <a:r>
              <a:rPr lang="en-GB" altLang="en-US" sz="1800" dirty="0">
                <a:latin typeface="Arial" panose="020B0604020202020204" pitchFamily="34" charset="0"/>
              </a:rPr>
              <a:t> integers)</a:t>
            </a:r>
          </a:p>
          <a:p>
            <a:pPr marL="457200" lvl="1" indent="0" eaLnBrk="1" hangingPunct="1">
              <a:buNone/>
            </a:pPr>
            <a:r>
              <a:rPr lang="en-GB" altLang="en-US" sz="1800" dirty="0">
                <a:latin typeface="Arial" panose="020B0604020202020204" pitchFamily="34" charset="0"/>
              </a:rPr>
              <a:t>&lt;h2 style="background-</a:t>
            </a:r>
            <a:r>
              <a:rPr lang="en-GB" altLang="en-US" sz="1800" dirty="0" err="1">
                <a:latin typeface="Arial" panose="020B0604020202020204" pitchFamily="34" charset="0"/>
              </a:rPr>
              <a:t>color</a:t>
            </a:r>
            <a:r>
              <a:rPr lang="en-GB" altLang="en-US" sz="1800" dirty="0">
                <a:latin typeface="Arial" panose="020B0604020202020204" pitchFamily="34" charset="0"/>
              </a:rPr>
              <a:t>:#0000ff;"&gt;Blue&lt;/h2&gt;</a:t>
            </a:r>
          </a:p>
          <a:p>
            <a:pPr marL="457200" lvl="1" indent="0" eaLnBrk="1" hangingPunct="1">
              <a:buNone/>
            </a:pPr>
            <a:endParaRPr lang="en-GB" altLang="en-US" sz="1800" dirty="0">
              <a:latin typeface="Arial" panose="020B0604020202020204" pitchFamily="34" charset="0"/>
            </a:endParaRPr>
          </a:p>
          <a:p>
            <a:pPr lvl="1" eaLnBrk="1" hangingPunct="1"/>
            <a:r>
              <a:rPr lang="en-GB" altLang="en-US" sz="1800" dirty="0">
                <a:latin typeface="Arial" panose="020B0604020202020204" pitchFamily="34" charset="0"/>
              </a:rPr>
              <a:t>HSL (Hue, Saturation, Lightness) </a:t>
            </a:r>
          </a:p>
          <a:p>
            <a:pPr marL="457200" lvl="1" indent="0" eaLnBrk="1" hangingPunct="1">
              <a:buNone/>
            </a:pPr>
            <a:r>
              <a:rPr lang="en-GB" altLang="en-US" sz="1800" dirty="0">
                <a:latin typeface="Arial" panose="020B0604020202020204" pitchFamily="34" charset="0"/>
              </a:rPr>
              <a:t>&lt;h2 style="</a:t>
            </a:r>
            <a:r>
              <a:rPr lang="en-GB" altLang="en-US" sz="1800" dirty="0" err="1">
                <a:latin typeface="Arial" panose="020B0604020202020204" pitchFamily="34" charset="0"/>
              </a:rPr>
              <a:t>background-color:hsl</a:t>
            </a:r>
            <a:r>
              <a:rPr lang="en-GB" altLang="en-US" sz="1800" dirty="0">
                <a:latin typeface="Arial" panose="020B0604020202020204" pitchFamily="34" charset="0"/>
              </a:rPr>
              <a:t>(147, 50%, 47%);"&gt;Green&lt;/h2&gt;</a:t>
            </a:r>
          </a:p>
        </p:txBody>
      </p:sp>
    </p:spTree>
    <p:extLst>
      <p:ext uri="{BB962C8B-B14F-4D97-AF65-F5344CB8AC3E}">
        <p14:creationId xmlns:p14="http://schemas.microsoft.com/office/powerpoint/2010/main" val="4158563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5B30C44-3DE1-C7A8-A834-00F0884B0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0D69DA27-B7CA-5BF9-E104-613B43154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Colours (</a:t>
            </a:r>
            <a:r>
              <a:rPr lang="en-GB" altLang="en-US" dirty="0" err="1">
                <a:latin typeface="Arial" panose="020B0604020202020204" pitchFamily="34" charset="0"/>
              </a:rPr>
              <a:t>Color</a:t>
            </a:r>
            <a:r>
              <a:rPr lang="en-GB" altLang="en-US" dirty="0"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74452D8D-065F-A8B7-5262-8C3F795CD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2400" dirty="0">
                <a:latin typeface="Arial" panose="020B0604020202020204" pitchFamily="34" charset="0"/>
              </a:rPr>
              <a:t>You can also add in transparency to colour using either RGBA or HSLA, this would be 50% transparent -&gt;</a:t>
            </a:r>
          </a:p>
          <a:p>
            <a:pPr lvl="1" eaLnBrk="1" hangingPunct="1"/>
            <a:r>
              <a:rPr lang="en-GB" altLang="en-US" sz="2000" dirty="0">
                <a:latin typeface="Arial" panose="020B0604020202020204" pitchFamily="34" charset="0"/>
              </a:rPr>
              <a:t>&lt;h1 style="</a:t>
            </a:r>
            <a:r>
              <a:rPr lang="en-GB" altLang="en-US" sz="2000" dirty="0" err="1">
                <a:latin typeface="Arial" panose="020B0604020202020204" pitchFamily="34" charset="0"/>
              </a:rPr>
              <a:t>background-color:rgba</a:t>
            </a:r>
            <a:r>
              <a:rPr lang="en-GB" altLang="en-US" sz="2000" dirty="0">
                <a:latin typeface="Arial" panose="020B0604020202020204" pitchFamily="34" charset="0"/>
              </a:rPr>
              <a:t>(255, 99, 71, 0.5);"&gt;h1&gt;</a:t>
            </a:r>
          </a:p>
          <a:p>
            <a:pPr lvl="1" eaLnBrk="1" hangingPunct="1"/>
            <a:endParaRPr lang="en-GB" altLang="en-US" sz="2000" dirty="0">
              <a:latin typeface="Arial" panose="020B0604020202020204" pitchFamily="34" charset="0"/>
            </a:endParaRPr>
          </a:p>
          <a:p>
            <a:pPr eaLnBrk="1" hangingPunct="1"/>
            <a:r>
              <a:rPr lang="en-GB" altLang="en-US" sz="2400" dirty="0">
                <a:latin typeface="Arial" panose="020B0604020202020204" pitchFamily="34" charset="0"/>
              </a:rPr>
              <a:t>Also keep in mind using a general colour theme to your websites, to keep your sites easy to read and professional looking.</a:t>
            </a:r>
          </a:p>
          <a:p>
            <a:pPr eaLnBrk="1" hangingPunct="1"/>
            <a:r>
              <a:rPr lang="en-GB" altLang="en-US" sz="2400" dirty="0">
                <a:latin typeface="Arial" panose="020B0604020202020204" pitchFamily="34" charset="0"/>
                <a:hlinkClick r:id="rId2"/>
              </a:rPr>
              <a:t>http://colorexplorer.com/</a:t>
            </a:r>
            <a:r>
              <a:rPr lang="en-GB" altLang="en-US" sz="2400" dirty="0">
                <a:latin typeface="Arial" panose="020B0604020202020204" pitchFamily="34" charset="0"/>
              </a:rPr>
              <a:t> </a:t>
            </a:r>
          </a:p>
          <a:p>
            <a:pPr eaLnBrk="1" hangingPunct="1"/>
            <a:r>
              <a:rPr lang="en-GB" altLang="en-US" sz="2400" dirty="0">
                <a:latin typeface="Arial" panose="020B0604020202020204" pitchFamily="34" charset="0"/>
              </a:rPr>
              <a:t>(This is obviously more of an art/designer thing)</a:t>
            </a:r>
            <a:endParaRPr lang="en-GB" altLang="en-US" sz="2000" dirty="0">
              <a:latin typeface="Arial" panose="020B0604020202020204" pitchFamily="34" charset="0"/>
            </a:endParaRPr>
          </a:p>
          <a:p>
            <a:pPr marL="457200" lvl="1" indent="0" eaLnBrk="1" hangingPunct="1">
              <a:buNone/>
            </a:pPr>
            <a:endParaRPr lang="en-GB" altLang="en-US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869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79C23F70-B7B7-53D1-ED6B-6AA2FA8B2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Fonts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CDC1BB5-DC4F-E73A-E326-8FC3DC840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GB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 CSS there are five generic font families:</a:t>
            </a:r>
          </a:p>
          <a:p>
            <a:pPr lvl="1">
              <a:buFont typeface="+mj-lt"/>
              <a:buAutoNum type="arabicPeriod"/>
            </a:pPr>
            <a:r>
              <a:rPr lang="en-GB" sz="16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Serif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fonts have a small stroke at the edges of each letter. They create a sense of formality and elegance.</a:t>
            </a:r>
          </a:p>
          <a:p>
            <a:pPr lvl="1">
              <a:buFont typeface="+mj-lt"/>
              <a:buAutoNum type="arabicPeriod"/>
            </a:pPr>
            <a:r>
              <a:rPr lang="en-GB" sz="16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Sans-serif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fonts have clean lines (no small strokes attached). They create a modern and minimalistic look.</a:t>
            </a:r>
          </a:p>
          <a:p>
            <a:pPr lvl="1">
              <a:buFont typeface="+mj-lt"/>
              <a:buAutoNum type="arabicPeriod"/>
            </a:pPr>
            <a:r>
              <a:rPr lang="en-GB" sz="16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Monospace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fonts - here all the letters have the same fixed width. They create a mechanical look. </a:t>
            </a:r>
          </a:p>
          <a:p>
            <a:pPr lvl="1">
              <a:buFont typeface="+mj-lt"/>
              <a:buAutoNum type="arabicPeriod"/>
            </a:pPr>
            <a:r>
              <a:rPr lang="en-GB" sz="16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Cursive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fonts imitate human handwriting.</a:t>
            </a:r>
          </a:p>
          <a:p>
            <a:pPr lvl="1">
              <a:buFont typeface="+mj-lt"/>
              <a:buAutoNum type="arabicPeriod"/>
            </a:pPr>
            <a:r>
              <a:rPr lang="en-GB" sz="16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Fantasy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fonts are decorative/playful fonts.</a:t>
            </a:r>
            <a:endParaRPr lang="en-GB" sz="20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en-GB" sz="2000" dirty="0">
                <a:solidFill>
                  <a:srgbClr val="000000"/>
                </a:solidFill>
                <a:latin typeface="Verdana" panose="020B0604030504040204" pitchFamily="34" charset="0"/>
              </a:rPr>
              <a:t>In general, Sans-Serif fonts are considered easier to read on computer screens than Serif fonts.</a:t>
            </a:r>
            <a:endParaRPr lang="en-GB" sz="20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lvl="1">
              <a:buFont typeface="+mj-lt"/>
              <a:buAutoNum type="arabicPeriod"/>
            </a:pPr>
            <a:endParaRPr lang="en-GB" sz="1600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pic>
        <p:nvPicPr>
          <p:cNvPr id="3" name="Picture 2" descr="Different fonts ">
            <a:extLst>
              <a:ext uri="{FF2B5EF4-FFF2-40B4-BE49-F238E27FC236}">
                <a16:creationId xmlns:a16="http://schemas.microsoft.com/office/drawing/2014/main" id="{AED3E8C1-D178-885F-FCCF-AD0C34726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4953000"/>
            <a:ext cx="3971925" cy="14954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F1FF7B1-C137-D99E-1239-FD962CF6B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3A701422-34D9-8036-AF60-D57614A4A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Fonts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AF2CF21D-7B20-30CB-58D7-121F29E68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/>
          <a:lstStyle/>
          <a:p>
            <a:pPr algn="l"/>
            <a:r>
              <a:rPr lang="en-GB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.p1 {</a:t>
            </a:r>
          </a:p>
          <a:p>
            <a:pPr marL="0" indent="0" algn="l">
              <a:buNone/>
            </a:pPr>
            <a:r>
              <a:rPr lang="en-GB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 		font-family: "Times New Roman", Times, serif;</a:t>
            </a:r>
          </a:p>
          <a:p>
            <a:pPr marL="0" indent="0" algn="l">
              <a:buNone/>
            </a:pPr>
            <a:r>
              <a:rPr lang="en-GB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	}</a:t>
            </a:r>
          </a:p>
          <a:p>
            <a:pPr marL="0" indent="0" algn="ctr">
              <a:buNone/>
            </a:pPr>
            <a:r>
              <a:rPr lang="en-GB" sz="20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Times New Roman</a:t>
            </a:r>
          </a:p>
          <a:p>
            <a:pPr algn="l"/>
            <a:r>
              <a:rPr lang="en-GB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.p2 {</a:t>
            </a:r>
          </a:p>
          <a:p>
            <a:pPr marL="0" indent="0" algn="l">
              <a:buNone/>
            </a:pPr>
            <a:r>
              <a:rPr lang="en-GB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 		font-family: Arial, Helvetica, sans-serif;</a:t>
            </a:r>
          </a:p>
          <a:p>
            <a:pPr marL="0" indent="0" algn="l">
              <a:buNone/>
            </a:pPr>
            <a:r>
              <a:rPr lang="en-GB" sz="2000" dirty="0">
                <a:solidFill>
                  <a:srgbClr val="000000"/>
                </a:solidFill>
                <a:latin typeface="Verdana" panose="020B0604030504040204" pitchFamily="34" charset="0"/>
              </a:rPr>
              <a:t>	</a:t>
            </a:r>
            <a:r>
              <a:rPr lang="en-GB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}</a:t>
            </a:r>
          </a:p>
          <a:p>
            <a:pPr marL="0" indent="0" algn="ctr">
              <a:buNone/>
            </a:pPr>
            <a:r>
              <a:rPr lang="en-GB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Arial</a:t>
            </a:r>
            <a:endParaRPr lang="en-GB" sz="20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.p3 {</a:t>
            </a:r>
          </a:p>
          <a:p>
            <a:pPr marL="0" indent="0" algn="l">
              <a:buNone/>
            </a:pPr>
            <a:r>
              <a:rPr lang="en-GB" sz="2000" dirty="0">
                <a:solidFill>
                  <a:srgbClr val="000000"/>
                </a:solidFill>
                <a:latin typeface="Verdana" panose="020B0604030504040204" pitchFamily="34" charset="0"/>
              </a:rPr>
              <a:t>		</a:t>
            </a:r>
            <a:r>
              <a:rPr lang="en-GB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font-family: "Lucida Console", "Courier New", 			monospace;</a:t>
            </a:r>
          </a:p>
          <a:p>
            <a:pPr marL="0" indent="0" algn="l">
              <a:buNone/>
            </a:pPr>
            <a:r>
              <a:rPr lang="en-GB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	}</a:t>
            </a:r>
          </a:p>
          <a:p>
            <a:pPr marL="0" indent="0" algn="ctr">
              <a:buNone/>
            </a:pPr>
            <a:r>
              <a:rPr lang="en-GB" sz="2000" dirty="0">
                <a:solidFill>
                  <a:srgbClr val="000000"/>
                </a:solidFill>
                <a:latin typeface="Lucida Console" panose="020B0609040504020204" pitchFamily="49" charset="0"/>
              </a:rPr>
              <a:t>Lucida Console</a:t>
            </a:r>
            <a:endParaRPr lang="en-GB" sz="2000" b="0" i="0" dirty="0"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pPr marL="0" indent="0" algn="l">
              <a:buNone/>
            </a:pPr>
            <a:endParaRPr lang="en-GB" sz="1600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48265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20806FB-BB39-4CB4-4846-E2244784C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90915C94-D708-D27F-5058-C7C60B5DC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Text (Size)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ECF0BC27-9A28-BFF2-E93F-8F131267A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altLang="en-US" sz="2800" dirty="0">
                <a:latin typeface="Arial" panose="020B0604020202020204" pitchFamily="34" charset="0"/>
              </a:rPr>
              <a:t>h1 {</a:t>
            </a:r>
          </a:p>
          <a:p>
            <a:pPr marL="0" indent="0" eaLnBrk="1" hangingPunct="1">
              <a:buNone/>
            </a:pPr>
            <a:r>
              <a:rPr lang="pt-BR" altLang="en-US" sz="2800" dirty="0">
                <a:latin typeface="Arial" panose="020B0604020202020204" pitchFamily="34" charset="0"/>
              </a:rPr>
              <a:t>		font-size: 25px;</a:t>
            </a:r>
          </a:p>
          <a:p>
            <a:pPr marL="0" indent="0" eaLnBrk="1" hangingPunct="1">
              <a:buNone/>
            </a:pPr>
            <a:r>
              <a:rPr lang="pt-BR" altLang="en-US" sz="2800" dirty="0">
                <a:latin typeface="Arial" panose="020B0604020202020204" pitchFamily="34" charset="0"/>
              </a:rPr>
              <a:t>	}</a:t>
            </a:r>
          </a:p>
          <a:p>
            <a:pPr eaLnBrk="1" hangingPunct="1"/>
            <a:r>
              <a:rPr lang="en-GB" altLang="en-US" sz="2800" dirty="0">
                <a:latin typeface="Arial" panose="020B0604020202020204" pitchFamily="34" charset="0"/>
              </a:rPr>
              <a:t>body {</a:t>
            </a:r>
          </a:p>
          <a:p>
            <a:pPr marL="0" indent="0" eaLnBrk="1" hangingPunct="1">
              <a:buNone/>
            </a:pPr>
            <a:r>
              <a:rPr lang="en-GB" altLang="en-US" sz="2800" dirty="0">
                <a:latin typeface="Arial" panose="020B0604020202020204" pitchFamily="34" charset="0"/>
              </a:rPr>
              <a:t>		font-size: 100%;</a:t>
            </a:r>
          </a:p>
          <a:p>
            <a:pPr marL="0" indent="0" eaLnBrk="1" hangingPunct="1">
              <a:buNone/>
            </a:pPr>
            <a:r>
              <a:rPr lang="en-GB" altLang="en-US" sz="2800" dirty="0">
                <a:latin typeface="Arial" panose="020B0604020202020204" pitchFamily="34" charset="0"/>
              </a:rPr>
              <a:t>	}</a:t>
            </a:r>
          </a:p>
          <a:p>
            <a:pPr eaLnBrk="1" hangingPunct="1"/>
            <a:r>
              <a:rPr lang="en-GB" altLang="en-US" sz="2800" dirty="0">
                <a:latin typeface="Arial" panose="020B0604020202020204" pitchFamily="34" charset="0"/>
              </a:rPr>
              <a:t>p {</a:t>
            </a:r>
          </a:p>
          <a:p>
            <a:pPr marL="0" indent="0" eaLnBrk="1" hangingPunct="1">
              <a:buNone/>
            </a:pPr>
            <a:r>
              <a:rPr lang="en-GB" altLang="en-US" sz="2800" dirty="0">
                <a:latin typeface="Arial" panose="020B0604020202020204" pitchFamily="34" charset="0"/>
              </a:rPr>
              <a:t>		font-size: 0.875em;</a:t>
            </a:r>
          </a:p>
          <a:p>
            <a:pPr marL="0" indent="0" eaLnBrk="1" hangingPunct="1">
              <a:buNone/>
            </a:pPr>
            <a:r>
              <a:rPr lang="en-GB" altLang="en-US" sz="2800" dirty="0">
                <a:latin typeface="Arial" panose="020B0604020202020204" pitchFamily="34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2884673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44B63C7-98B8-2BEE-14CB-CEBA4F17C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78BD80CA-2459-0036-4B0A-3F5BA354F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Text (Alignment)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419D11D-69B7-5A22-DE13-33F07D1B6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h1 {</a:t>
            </a:r>
          </a:p>
          <a:p>
            <a:pPr marL="0" indent="0" eaLnBrk="1" hangingPunct="1">
              <a:buNone/>
            </a:pPr>
            <a:r>
              <a:rPr lang="en-GB" altLang="en-US" dirty="0">
                <a:latin typeface="Arial" panose="020B0604020202020204" pitchFamily="34" charset="0"/>
              </a:rPr>
              <a:t>  	text-align: </a:t>
            </a:r>
            <a:r>
              <a:rPr lang="en-GB" altLang="en-US" dirty="0" err="1">
                <a:latin typeface="Arial" panose="020B0604020202020204" pitchFamily="34" charset="0"/>
              </a:rPr>
              <a:t>center</a:t>
            </a:r>
            <a:r>
              <a:rPr lang="en-GB" altLang="en-US" dirty="0">
                <a:latin typeface="Arial" panose="020B0604020202020204" pitchFamily="34" charset="0"/>
              </a:rPr>
              <a:t>/left/right;</a:t>
            </a:r>
          </a:p>
          <a:p>
            <a:pPr marL="0" indent="0" eaLnBrk="1" hangingPunct="1">
              <a:buNone/>
            </a:pPr>
            <a:r>
              <a:rPr lang="en-GB" altLang="en-US" dirty="0">
                <a:latin typeface="Arial" panose="020B0604020202020204" pitchFamily="34" charset="0"/>
              </a:rPr>
              <a:t>	}</a:t>
            </a:r>
          </a:p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h1 {</a:t>
            </a:r>
          </a:p>
          <a:p>
            <a:pPr marL="0" indent="0" eaLnBrk="1" hangingPunct="1">
              <a:buNone/>
            </a:pPr>
            <a:r>
              <a:rPr lang="en-GB" altLang="en-US" dirty="0">
                <a:latin typeface="Arial" panose="020B0604020202020204" pitchFamily="34" charset="0"/>
              </a:rPr>
              <a:t>  	text-align: justify;</a:t>
            </a:r>
          </a:p>
          <a:p>
            <a:pPr marL="0" indent="0" eaLnBrk="1" hangingPunct="1">
              <a:buNone/>
            </a:pPr>
            <a:r>
              <a:rPr lang="en-GB" altLang="en-US" dirty="0">
                <a:latin typeface="Arial" panose="020B0604020202020204" pitchFamily="34" charset="0"/>
              </a:rPr>
              <a:t>	}</a:t>
            </a:r>
          </a:p>
          <a:p>
            <a:pPr marL="0" indent="0" eaLnBrk="1" hangingPunct="1">
              <a:buNone/>
            </a:pPr>
            <a:endParaRPr lang="en-GB" altLang="en-US" dirty="0">
              <a:latin typeface="Arial" panose="020B0604020202020204" pitchFamily="34" charset="0"/>
            </a:endParaRPr>
          </a:p>
          <a:p>
            <a:pPr eaLnBrk="1" hangingPunct="1"/>
            <a:endParaRPr lang="en-GB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65522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22AB274-B4BC-FD59-50F8-BEA365702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58B4A88F-4556-D6AA-4CE2-A54032555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Text (Decoration Lines)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13D8B2D9-D6D2-53D9-E97D-382D92776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2000" dirty="0">
                <a:latin typeface="Arial" panose="020B0604020202020204" pitchFamily="34" charset="0"/>
              </a:rPr>
              <a:t>h1 {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  		text-decoration-line: overline;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}</a:t>
            </a:r>
          </a:p>
          <a:p>
            <a:pPr eaLnBrk="1" hangingPunct="1"/>
            <a:r>
              <a:rPr lang="en-GB" altLang="en-US" sz="2000" dirty="0">
                <a:latin typeface="Arial" panose="020B0604020202020204" pitchFamily="34" charset="0"/>
              </a:rPr>
              <a:t>h2 {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	text-decoration-line: line-through;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}</a:t>
            </a:r>
          </a:p>
          <a:p>
            <a:pPr eaLnBrk="1" hangingPunct="1"/>
            <a:r>
              <a:rPr lang="en-GB" altLang="en-US" sz="2000" dirty="0">
                <a:latin typeface="Arial" panose="020B0604020202020204" pitchFamily="34" charset="0"/>
              </a:rPr>
              <a:t>h3 {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	text-decoration-line: underline;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}</a:t>
            </a:r>
            <a:endParaRPr lang="en-GB" altLang="en-US" dirty="0">
              <a:latin typeface="Arial" panose="020B0604020202020204" pitchFamily="34" charset="0"/>
            </a:endParaRPr>
          </a:p>
          <a:p>
            <a:pPr eaLnBrk="1" hangingPunct="1"/>
            <a:r>
              <a:rPr lang="en-GB" altLang="en-US" sz="2000" dirty="0">
                <a:latin typeface="Arial" panose="020B0604020202020204" pitchFamily="34" charset="0"/>
              </a:rPr>
              <a:t>p {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	text-decoration-line: overline underline;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}</a:t>
            </a:r>
          </a:p>
          <a:p>
            <a:pPr eaLnBrk="1" hangingPunct="1"/>
            <a:endParaRPr lang="en-GB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0462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0BB645D-61B6-A866-AC18-3D6060F2B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4E001F43-91AF-7770-01F9-A1B2841DA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Text (Bold)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B300BE9A-1FA3-66FB-F0D3-731391D7F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2000" dirty="0" err="1">
                <a:latin typeface="Arial" panose="020B0604020202020204" pitchFamily="34" charset="0"/>
              </a:rPr>
              <a:t>p.normal</a:t>
            </a:r>
            <a:r>
              <a:rPr lang="en-GB" altLang="en-US" sz="2000" dirty="0">
                <a:latin typeface="Arial" panose="020B0604020202020204" pitchFamily="34" charset="0"/>
              </a:rPr>
              <a:t> {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	font-weight: normal;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}</a:t>
            </a:r>
          </a:p>
          <a:p>
            <a:pPr eaLnBrk="1" hangingPunct="1"/>
            <a:r>
              <a:rPr lang="en-GB" altLang="en-US" sz="2000" dirty="0" err="1">
                <a:latin typeface="Arial" panose="020B0604020202020204" pitchFamily="34" charset="0"/>
              </a:rPr>
              <a:t>p.light</a:t>
            </a:r>
            <a:r>
              <a:rPr lang="en-GB" altLang="en-US" sz="2000" dirty="0">
                <a:latin typeface="Arial" panose="020B0604020202020204" pitchFamily="34" charset="0"/>
              </a:rPr>
              <a:t> {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	font-weight: lighter;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}</a:t>
            </a:r>
          </a:p>
          <a:p>
            <a:pPr eaLnBrk="1" hangingPunct="1"/>
            <a:r>
              <a:rPr lang="en-GB" altLang="en-US" sz="2000" dirty="0" err="1">
                <a:latin typeface="Arial" panose="020B0604020202020204" pitchFamily="34" charset="0"/>
              </a:rPr>
              <a:t>p.thick</a:t>
            </a:r>
            <a:r>
              <a:rPr lang="en-GB" altLang="en-US" sz="2000" dirty="0">
                <a:latin typeface="Arial" panose="020B0604020202020204" pitchFamily="34" charset="0"/>
              </a:rPr>
              <a:t> {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	font-weight: bold;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}</a:t>
            </a:r>
          </a:p>
          <a:p>
            <a:pPr eaLnBrk="1" hangingPunct="1"/>
            <a:r>
              <a:rPr lang="en-GB" altLang="en-US" sz="2000" dirty="0" err="1">
                <a:latin typeface="Arial" panose="020B0604020202020204" pitchFamily="34" charset="0"/>
              </a:rPr>
              <a:t>p.thicker</a:t>
            </a:r>
            <a:r>
              <a:rPr lang="en-GB" altLang="en-US" sz="2000" dirty="0">
                <a:latin typeface="Arial" panose="020B0604020202020204" pitchFamily="34" charset="0"/>
              </a:rPr>
              <a:t> {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	font-weight: 900;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9747575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A2DA9A0-D22F-C163-242C-BA05D5875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D4450C1E-00C7-3CAB-10EC-B5319CF97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Text (Style)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2E0818B1-3953-0F3E-5B11-E906E142A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2000" dirty="0">
                <a:latin typeface="Arial" panose="020B0604020202020204" pitchFamily="34" charset="0"/>
              </a:rPr>
              <a:t>H1 {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	font-style: normal;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}</a:t>
            </a:r>
          </a:p>
          <a:p>
            <a:pPr eaLnBrk="1" hangingPunct="1"/>
            <a:endParaRPr lang="en-GB" altLang="en-US" sz="2000" dirty="0">
              <a:latin typeface="Arial" panose="020B0604020202020204" pitchFamily="34" charset="0"/>
            </a:endParaRPr>
          </a:p>
          <a:p>
            <a:pPr eaLnBrk="1" hangingPunct="1"/>
            <a:r>
              <a:rPr lang="en-GB" altLang="en-US" sz="2000" dirty="0">
                <a:latin typeface="Arial" panose="020B0604020202020204" pitchFamily="34" charset="0"/>
              </a:rPr>
              <a:t>p{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	font-style: italic;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}</a:t>
            </a:r>
          </a:p>
          <a:p>
            <a:pPr eaLnBrk="1" hangingPunct="1"/>
            <a:endParaRPr lang="en-GB" altLang="en-US" sz="2000" dirty="0">
              <a:latin typeface="Arial" panose="020B0604020202020204" pitchFamily="34" charset="0"/>
            </a:endParaRPr>
          </a:p>
          <a:p>
            <a:pPr eaLnBrk="1" hangingPunct="1"/>
            <a:r>
              <a:rPr lang="en-GB" altLang="en-US" sz="2000" dirty="0">
                <a:latin typeface="Arial" panose="020B0604020202020204" pitchFamily="34" charset="0"/>
              </a:rPr>
              <a:t>p.{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	font-style: oblique;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3197888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B556C76-876B-1EAE-B88E-0CD53F8ED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6365E1E-F97F-BE16-6358-C5200A2A1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Text (Spacing)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F2D4F29-6EC2-67EE-362D-5D43FD034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2000" dirty="0">
                <a:latin typeface="Arial" panose="020B0604020202020204" pitchFamily="34" charset="0"/>
              </a:rPr>
              <a:t>p {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	text-indent: 50px;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}</a:t>
            </a:r>
          </a:p>
          <a:p>
            <a:pPr eaLnBrk="1" hangingPunct="1"/>
            <a:r>
              <a:rPr lang="en-GB" altLang="en-US" sz="2000" dirty="0">
                <a:latin typeface="Arial" panose="020B0604020202020204" pitchFamily="34" charset="0"/>
              </a:rPr>
              <a:t>h1 {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	letter-spacing: 5px;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}</a:t>
            </a:r>
          </a:p>
          <a:p>
            <a:pPr eaLnBrk="1" hangingPunct="1"/>
            <a:r>
              <a:rPr lang="en-GB" altLang="en-US" sz="2000" dirty="0">
                <a:latin typeface="Arial" panose="020B0604020202020204" pitchFamily="34" charset="0"/>
              </a:rPr>
              <a:t>p. {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  		line-height: 0.8px;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}</a:t>
            </a:r>
          </a:p>
          <a:p>
            <a:pPr eaLnBrk="1" hangingPunct="1"/>
            <a:r>
              <a:rPr lang="en-GB" altLang="en-US" sz="2000" dirty="0">
                <a:latin typeface="Arial" panose="020B0604020202020204" pitchFamily="34" charset="0"/>
              </a:rPr>
              <a:t>p {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  		word-spacing: 10px;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}</a:t>
            </a:r>
          </a:p>
          <a:p>
            <a:pPr marL="0" indent="0" eaLnBrk="1" hangingPunct="1">
              <a:buNone/>
            </a:pPr>
            <a:endParaRPr lang="en-GB" altLang="en-US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70698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7887C4D-5FD0-7393-849F-05749EB31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471DC17-9185-DE5C-1475-BF5226B18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Borders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52D8A78E-C723-7DB5-074C-3FB0411C2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2000" dirty="0">
                <a:latin typeface="Arial" panose="020B0604020202020204" pitchFamily="34" charset="0"/>
              </a:rPr>
              <a:t>The CSS border properties allow you to specify the style, width, and </a:t>
            </a:r>
            <a:r>
              <a:rPr lang="en-GB" altLang="en-US" sz="2000" dirty="0" err="1">
                <a:latin typeface="Arial" panose="020B0604020202020204" pitchFamily="34" charset="0"/>
              </a:rPr>
              <a:t>color</a:t>
            </a:r>
            <a:r>
              <a:rPr lang="en-GB" altLang="en-US" sz="2000" dirty="0">
                <a:latin typeface="Arial" panose="020B0604020202020204" pitchFamily="34" charset="0"/>
              </a:rPr>
              <a:t> of an element's border.</a:t>
            </a:r>
          </a:p>
          <a:p>
            <a:pPr eaLnBrk="1" hangingPunct="1"/>
            <a:r>
              <a:rPr lang="en-GB" altLang="en-US" sz="2000" dirty="0">
                <a:latin typeface="Arial" panose="020B0604020202020204" pitchFamily="34" charset="0"/>
              </a:rPr>
              <a:t>p.one {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	border-style: solid;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	border-width: 5px;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	border-</a:t>
            </a:r>
            <a:r>
              <a:rPr lang="en-GB" altLang="en-US" sz="2000" dirty="0" err="1">
                <a:latin typeface="Arial" panose="020B0604020202020204" pitchFamily="34" charset="0"/>
              </a:rPr>
              <a:t>color</a:t>
            </a:r>
            <a:r>
              <a:rPr lang="en-GB" altLang="en-US" sz="2000" dirty="0">
                <a:latin typeface="Arial" panose="020B0604020202020204" pitchFamily="34" charset="0"/>
              </a:rPr>
              <a:t>: red;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	border-radius: 5px;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}</a:t>
            </a:r>
          </a:p>
          <a:p>
            <a:pPr eaLnBrk="1" hangingPunct="1"/>
            <a:r>
              <a:rPr lang="en-GB" altLang="en-US" sz="2000" dirty="0" err="1">
                <a:latin typeface="Arial" panose="020B0604020202020204" pitchFamily="34" charset="0"/>
              </a:rPr>
              <a:t>p.two</a:t>
            </a:r>
            <a:r>
              <a:rPr lang="en-GB" altLang="en-US" sz="2000" dirty="0">
                <a:latin typeface="Arial" panose="020B0604020202020204" pitchFamily="34" charset="0"/>
              </a:rPr>
              <a:t> {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	border-top-style: dotted;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	border-right-style: solid;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	border-bottom-style: dotted;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	border-left-style: solid;</a:t>
            </a:r>
          </a:p>
        </p:txBody>
      </p:sp>
    </p:spTree>
    <p:extLst>
      <p:ext uri="{BB962C8B-B14F-4D97-AF65-F5344CB8AC3E}">
        <p14:creationId xmlns:p14="http://schemas.microsoft.com/office/powerpoint/2010/main" val="43591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53515A9-D13B-0FDB-05B3-629550C75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11106C52-E14B-440F-72B8-D880DE479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Borders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9B0459E-F571-91FA-5576-E9FAE7ED2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2000" dirty="0" err="1">
                <a:latin typeface="Arial" panose="020B0604020202020204" pitchFamily="34" charset="0"/>
              </a:rPr>
              <a:t>p.dotted</a:t>
            </a:r>
            <a:r>
              <a:rPr lang="en-GB" altLang="en-US" sz="2000" dirty="0">
                <a:latin typeface="Arial" panose="020B0604020202020204" pitchFamily="34" charset="0"/>
              </a:rPr>
              <a:t> {border-style: dotted;}</a:t>
            </a:r>
          </a:p>
          <a:p>
            <a:pPr eaLnBrk="1" hangingPunct="1"/>
            <a:r>
              <a:rPr lang="en-GB" altLang="en-US" sz="2000" dirty="0" err="1">
                <a:latin typeface="Arial" panose="020B0604020202020204" pitchFamily="34" charset="0"/>
              </a:rPr>
              <a:t>p.dashed</a:t>
            </a:r>
            <a:r>
              <a:rPr lang="en-GB" altLang="en-US" sz="2000" dirty="0">
                <a:latin typeface="Arial" panose="020B0604020202020204" pitchFamily="34" charset="0"/>
              </a:rPr>
              <a:t> {border-style: dashed;}</a:t>
            </a:r>
          </a:p>
          <a:p>
            <a:pPr eaLnBrk="1" hangingPunct="1"/>
            <a:r>
              <a:rPr lang="en-GB" altLang="en-US" sz="2000" dirty="0" err="1">
                <a:latin typeface="Arial" panose="020B0604020202020204" pitchFamily="34" charset="0"/>
              </a:rPr>
              <a:t>p.solid</a:t>
            </a:r>
            <a:r>
              <a:rPr lang="en-GB" altLang="en-US" sz="2000" dirty="0">
                <a:latin typeface="Arial" panose="020B0604020202020204" pitchFamily="34" charset="0"/>
              </a:rPr>
              <a:t> {border-style: solid;}</a:t>
            </a:r>
          </a:p>
          <a:p>
            <a:pPr eaLnBrk="1" hangingPunct="1"/>
            <a:r>
              <a:rPr lang="en-GB" altLang="en-US" sz="2000" dirty="0" err="1">
                <a:latin typeface="Arial" panose="020B0604020202020204" pitchFamily="34" charset="0"/>
              </a:rPr>
              <a:t>p.double</a:t>
            </a:r>
            <a:r>
              <a:rPr lang="en-GB" altLang="en-US" sz="2000" dirty="0">
                <a:latin typeface="Arial" panose="020B0604020202020204" pitchFamily="34" charset="0"/>
              </a:rPr>
              <a:t> {border-style: double;}</a:t>
            </a:r>
          </a:p>
          <a:p>
            <a:pPr eaLnBrk="1" hangingPunct="1"/>
            <a:r>
              <a:rPr lang="en-GB" altLang="en-US" sz="2000" dirty="0" err="1">
                <a:latin typeface="Arial" panose="020B0604020202020204" pitchFamily="34" charset="0"/>
              </a:rPr>
              <a:t>p.groove</a:t>
            </a:r>
            <a:r>
              <a:rPr lang="en-GB" altLang="en-US" sz="2000" dirty="0">
                <a:latin typeface="Arial" panose="020B0604020202020204" pitchFamily="34" charset="0"/>
              </a:rPr>
              <a:t> {border-style: groove;}</a:t>
            </a:r>
          </a:p>
          <a:p>
            <a:pPr eaLnBrk="1" hangingPunct="1"/>
            <a:r>
              <a:rPr lang="en-GB" altLang="en-US" sz="2000" dirty="0" err="1">
                <a:latin typeface="Arial" panose="020B0604020202020204" pitchFamily="34" charset="0"/>
              </a:rPr>
              <a:t>p.ridge</a:t>
            </a:r>
            <a:r>
              <a:rPr lang="en-GB" altLang="en-US" sz="2000" dirty="0">
                <a:latin typeface="Arial" panose="020B0604020202020204" pitchFamily="34" charset="0"/>
              </a:rPr>
              <a:t> {border-style: ridge;}</a:t>
            </a:r>
          </a:p>
          <a:p>
            <a:pPr eaLnBrk="1" hangingPunct="1"/>
            <a:r>
              <a:rPr lang="en-GB" altLang="en-US" sz="2000" dirty="0" err="1">
                <a:latin typeface="Arial" panose="020B0604020202020204" pitchFamily="34" charset="0"/>
              </a:rPr>
              <a:t>p.inset</a:t>
            </a:r>
            <a:r>
              <a:rPr lang="en-GB" altLang="en-US" sz="2000" dirty="0">
                <a:latin typeface="Arial" panose="020B0604020202020204" pitchFamily="34" charset="0"/>
              </a:rPr>
              <a:t> {border-style: inset;}</a:t>
            </a:r>
          </a:p>
          <a:p>
            <a:pPr eaLnBrk="1" hangingPunct="1"/>
            <a:r>
              <a:rPr lang="en-GB" altLang="en-US" sz="2000" dirty="0" err="1">
                <a:latin typeface="Arial" panose="020B0604020202020204" pitchFamily="34" charset="0"/>
              </a:rPr>
              <a:t>p.outset</a:t>
            </a:r>
            <a:r>
              <a:rPr lang="en-GB" altLang="en-US" sz="2000" dirty="0">
                <a:latin typeface="Arial" panose="020B0604020202020204" pitchFamily="34" charset="0"/>
              </a:rPr>
              <a:t> {border-style: outset;}</a:t>
            </a:r>
          </a:p>
          <a:p>
            <a:pPr eaLnBrk="1" hangingPunct="1"/>
            <a:r>
              <a:rPr lang="en-GB" altLang="en-US" sz="2000" dirty="0" err="1">
                <a:latin typeface="Arial" panose="020B0604020202020204" pitchFamily="34" charset="0"/>
              </a:rPr>
              <a:t>p.none</a:t>
            </a:r>
            <a:r>
              <a:rPr lang="en-GB" altLang="en-US" sz="2000" dirty="0">
                <a:latin typeface="Arial" panose="020B0604020202020204" pitchFamily="34" charset="0"/>
              </a:rPr>
              <a:t> {border-style: none;}</a:t>
            </a:r>
          </a:p>
          <a:p>
            <a:pPr eaLnBrk="1" hangingPunct="1"/>
            <a:r>
              <a:rPr lang="en-GB" altLang="en-US" sz="2000" dirty="0" err="1">
                <a:latin typeface="Arial" panose="020B0604020202020204" pitchFamily="34" charset="0"/>
              </a:rPr>
              <a:t>p.hidden</a:t>
            </a:r>
            <a:r>
              <a:rPr lang="en-GB" altLang="en-US" sz="2000" dirty="0">
                <a:latin typeface="Arial" panose="020B0604020202020204" pitchFamily="34" charset="0"/>
              </a:rPr>
              <a:t> {border-style: hidden;}</a:t>
            </a:r>
          </a:p>
          <a:p>
            <a:pPr eaLnBrk="1" hangingPunct="1"/>
            <a:r>
              <a:rPr lang="en-GB" altLang="en-US" sz="2000" dirty="0" err="1">
                <a:latin typeface="Arial" panose="020B0604020202020204" pitchFamily="34" charset="0"/>
              </a:rPr>
              <a:t>p.mix</a:t>
            </a:r>
            <a:r>
              <a:rPr lang="en-GB" altLang="en-US" sz="2000" dirty="0">
                <a:latin typeface="Arial" panose="020B0604020202020204" pitchFamily="34" charset="0"/>
              </a:rPr>
              <a:t> {border-style: dotted dashed solid double;}</a:t>
            </a:r>
          </a:p>
        </p:txBody>
      </p:sp>
    </p:spTree>
    <p:extLst>
      <p:ext uri="{BB962C8B-B14F-4D97-AF65-F5344CB8AC3E}">
        <p14:creationId xmlns:p14="http://schemas.microsoft.com/office/powerpoint/2010/main" val="41665221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FE19871-AEB4-6A81-39EF-01D96B23A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578DB69-E277-70B8-F8AA-BFAA9B931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Borders</a:t>
            </a:r>
          </a:p>
        </p:txBody>
      </p:sp>
      <p:pic>
        <p:nvPicPr>
          <p:cNvPr id="3" name="Picture 2" descr="Different borders ">
            <a:extLst>
              <a:ext uri="{FF2B5EF4-FFF2-40B4-BE49-F238E27FC236}">
                <a16:creationId xmlns:a16="http://schemas.microsoft.com/office/drawing/2014/main" id="{6E36E1B3-9F38-93E2-242A-A6B4C87D1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802" y="1981200"/>
            <a:ext cx="8229600" cy="344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8257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DF59EF8-4CB2-C029-0141-D3EAF0DAD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938DAF19-B035-A710-FDF2-D31633C05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Margin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D3C0A3C7-1EC6-9236-2154-7CBC5A42D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2000" dirty="0">
                <a:latin typeface="Arial" panose="020B0604020202020204" pitchFamily="34" charset="0"/>
              </a:rPr>
              <a:t>Margins are used to create space around elements, outside of any defined borders.</a:t>
            </a:r>
          </a:p>
          <a:p>
            <a:pPr eaLnBrk="1" hangingPunct="1"/>
            <a:r>
              <a:rPr lang="en-GB" altLang="en-US" sz="2000" dirty="0">
                <a:latin typeface="Arial" panose="020B0604020202020204" pitchFamily="34" charset="0"/>
              </a:rPr>
              <a:t>p {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	margin-top: 100px;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	margin-bottom: 100px;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	margin-right: 150px;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	margin-left: 80px;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}</a:t>
            </a:r>
          </a:p>
          <a:p>
            <a:pPr eaLnBrk="1" hangingPunct="1"/>
            <a:r>
              <a:rPr lang="en-GB" altLang="en-US" sz="2000" dirty="0">
                <a:latin typeface="Arial" panose="020B0604020202020204" pitchFamily="34" charset="0"/>
              </a:rPr>
              <a:t>Shorthand version:</a:t>
            </a:r>
          </a:p>
          <a:p>
            <a:pPr eaLnBrk="1" hangingPunct="1"/>
            <a:r>
              <a:rPr lang="en-GB" altLang="en-US" sz="2000" dirty="0">
                <a:latin typeface="Arial" panose="020B0604020202020204" pitchFamily="34" charset="0"/>
              </a:rPr>
              <a:t>p {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	margin: 25px 50px 75px 100px;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5939523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7574602-303A-A6DF-4922-3D0CB75DE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2E3C73B8-C43C-7F08-CCE8-4D2226227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Padding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5E162AA1-E5CF-F0D3-B9FB-F53D3235D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2000" dirty="0">
                <a:latin typeface="Arial" panose="020B0604020202020204" pitchFamily="34" charset="0"/>
              </a:rPr>
              <a:t>Padding is used to create space around an element's content, inside of any defined borders.</a:t>
            </a:r>
          </a:p>
          <a:p>
            <a:pPr eaLnBrk="1" hangingPunct="1"/>
            <a:r>
              <a:rPr lang="en-GB" altLang="en-US" sz="2000" dirty="0">
                <a:latin typeface="Arial" panose="020B0604020202020204" pitchFamily="34" charset="0"/>
              </a:rPr>
              <a:t>p {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	padding-top: 100px;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	padding-bottom: 100px;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	padding-right: 150px;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	padding-left: 80px;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}</a:t>
            </a:r>
          </a:p>
          <a:p>
            <a:pPr eaLnBrk="1" hangingPunct="1"/>
            <a:r>
              <a:rPr lang="en-GB" altLang="en-US" sz="2000" dirty="0">
                <a:latin typeface="Arial" panose="020B0604020202020204" pitchFamily="34" charset="0"/>
              </a:rPr>
              <a:t>Shorthand version:</a:t>
            </a:r>
          </a:p>
          <a:p>
            <a:pPr eaLnBrk="1" hangingPunct="1"/>
            <a:r>
              <a:rPr lang="en-GB" altLang="en-US" sz="2000" dirty="0">
                <a:latin typeface="Arial" panose="020B0604020202020204" pitchFamily="34" charset="0"/>
              </a:rPr>
              <a:t>p {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	padding: 25px 50px 75px 100px;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6288818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C31E919-C4E4-A633-35F8-B06E68194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36D0F1F7-9B1F-7782-9A08-9386039DC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CSS Box Model</a:t>
            </a:r>
          </a:p>
        </p:txBody>
      </p:sp>
      <p:pic>
        <p:nvPicPr>
          <p:cNvPr id="4" name="Picture 3" descr="Different boarders around sections">
            <a:extLst>
              <a:ext uri="{FF2B5EF4-FFF2-40B4-BE49-F238E27FC236}">
                <a16:creationId xmlns:a16="http://schemas.microsoft.com/office/drawing/2014/main" id="{EDE4BA56-C099-9D99-F7CC-10C99055C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62200"/>
            <a:ext cx="7924800" cy="262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6706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6744E79-0205-22F8-1DDE-466E61190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IDs and Classes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892F6EC5-4AE6-C49F-C559-4F05855EB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altLang="en-US" sz="2400" dirty="0">
                <a:latin typeface="Arial" panose="020B0604020202020204" pitchFamily="34" charset="0"/>
              </a:rPr>
              <a:t>Ids identify individual tags; they are unique and there can only be one id per page with the same name.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1800" dirty="0">
                <a:latin typeface="Arial" panose="020B0604020202020204" pitchFamily="34" charset="0"/>
              </a:rPr>
              <a:t>#first {</a:t>
            </a:r>
            <a:r>
              <a:rPr lang="en-GB" altLang="en-US" sz="1800" dirty="0" err="1">
                <a:latin typeface="Arial" panose="020B0604020202020204" pitchFamily="34" charset="0"/>
              </a:rPr>
              <a:t>font-color:red</a:t>
            </a:r>
            <a:r>
              <a:rPr lang="en-GB" altLang="en-US" sz="1800" dirty="0">
                <a:latin typeface="Arial" panose="020B0604020202020204" pitchFamily="34" charset="0"/>
              </a:rPr>
              <a:t>}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2000" dirty="0">
                <a:latin typeface="Arial" panose="020B0604020202020204" pitchFamily="34" charset="0"/>
              </a:rPr>
              <a:t>#second{font-color:blue}</a:t>
            </a:r>
          </a:p>
          <a:p>
            <a:pPr eaLnBrk="1" hangingPunct="1">
              <a:lnSpc>
                <a:spcPct val="80000"/>
              </a:lnSpc>
            </a:pPr>
            <a:r>
              <a:rPr lang="en-GB" altLang="en-US" sz="2400" dirty="0">
                <a:latin typeface="Arial" panose="020B0604020202020204" pitchFamily="34" charset="0"/>
              </a:rPr>
              <a:t>Classes can identify multiple tags, so there can be multiple tags with the same class name across the same page.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1800" dirty="0">
                <a:latin typeface="Arial" panose="020B0604020202020204" pitchFamily="34" charset="0"/>
              </a:rPr>
              <a:t>.quotation {margin-left:10%;margin-right:10%; </a:t>
            </a:r>
            <a:r>
              <a:rPr lang="en-GB" altLang="en-US" sz="1800" dirty="0" err="1">
                <a:latin typeface="Arial" panose="020B0604020202020204" pitchFamily="34" charset="0"/>
              </a:rPr>
              <a:t>font-style:italic</a:t>
            </a:r>
            <a:r>
              <a:rPr lang="en-GB" altLang="en-US" sz="1800" dirty="0">
                <a:latin typeface="Arial" panose="020B0604020202020204" pitchFamily="34" charset="0"/>
              </a:rPr>
              <a:t>}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2000" dirty="0">
                <a:latin typeface="Arial" panose="020B0604020202020204" pitchFamily="34" charset="0"/>
              </a:rPr>
              <a:t>.warning {border:5px solid </a:t>
            </a:r>
            <a:r>
              <a:rPr lang="en-GB" altLang="en-US" sz="2000" dirty="0" err="1">
                <a:latin typeface="Arial" panose="020B0604020202020204" pitchFamily="34" charset="0"/>
              </a:rPr>
              <a:t>red;text-align:center</a:t>
            </a:r>
            <a:r>
              <a:rPr lang="en-GB" altLang="en-US" sz="2000" dirty="0">
                <a:latin typeface="Arial" panose="020B0604020202020204" pitchFamily="34" charset="0"/>
              </a:rPr>
              <a:t>}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2000" dirty="0">
                <a:latin typeface="Arial" panose="020B0604020202020204" pitchFamily="34" charset="0"/>
              </a:rPr>
              <a:t>.question {</a:t>
            </a:r>
            <a:r>
              <a:rPr lang="en-GB" altLang="en-US" sz="2000" dirty="0" err="1">
                <a:latin typeface="Arial" panose="020B0604020202020204" pitchFamily="34" charset="0"/>
              </a:rPr>
              <a:t>font-weight:bold;color:blue;background-color:yellow</a:t>
            </a:r>
            <a:r>
              <a:rPr lang="en-GB" altLang="en-US" sz="2000" dirty="0">
                <a:latin typeface="Arial" panose="020B0604020202020204" pitchFamily="34" charset="0"/>
              </a:rPr>
              <a:t>}</a:t>
            </a:r>
            <a:endParaRPr lang="en-GB" altLang="en-US" sz="24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GB" altLang="en-US" sz="2400" dirty="0">
                <a:latin typeface="Arial" panose="020B0604020202020204" pitchFamily="34" charset="0"/>
              </a:rPr>
              <a:t>This defines styles for the quotation, warning, and question classes of the p tag and for the first and second ids.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CC50D10-0CD3-DB55-DF8D-3D5F0ECD4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C6506F5F-260E-1DFF-E6E1-77498B9EE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IDs and Classes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D2A8DD6A-C12E-94E6-07AC-09AD4841B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These styles would then be used in the following way: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&lt;p id=”first”&gt;The following quotation is from a Charles Dickens novel:&lt;/p&gt;</a:t>
            </a:r>
            <a:b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&lt;p class="quotation"&gt;I am well aware that I am the '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umblest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person going. My mother</a:t>
            </a:r>
            <a:r>
              <a:rPr lang="en-US" sz="1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likewise a very '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umble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person. We live in an ‘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umble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	abode.&lt;/p&gt;</a:t>
            </a:r>
            <a:b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&lt;p&gt;Now answer the following questions:&lt;/p&gt;</a:t>
            </a:r>
            <a:b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&lt;p class="question"&gt;In which novel does this quotation appear?&lt;/p&gt;</a:t>
            </a:r>
            <a:b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&lt;p class="question"&gt;Who says it?&lt;/p&gt;</a:t>
            </a:r>
            <a:b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&lt;p class="question" id=”second”&gt;Who do they say it to?&lt;/p&gt;</a:t>
            </a:r>
            <a:b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&lt;p&gt;Note:&lt;/p&gt;</a:t>
            </a:r>
            <a:b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&lt;p class="warning"&gt;You only win a prize if you get all 3 questions right.&lt;/p&gt;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9654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1B89700-5B0A-C6C7-3359-457BF0FE6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935A9F2E-F892-DD6C-F6A9-E37CBDB37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HTML DIV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9BA68E8E-3DF9-0A0C-8084-47B98E599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2000" dirty="0">
                <a:latin typeface="Arial" panose="020B0604020202020204" pitchFamily="34" charset="0"/>
              </a:rPr>
              <a:t>The &lt;div&gt; element is used as a container for other HTML elements.</a:t>
            </a:r>
          </a:p>
          <a:p>
            <a:pPr eaLnBrk="1" hangingPunct="1"/>
            <a:r>
              <a:rPr lang="en-GB" altLang="en-US" sz="2000" dirty="0">
                <a:latin typeface="Arial" panose="020B0604020202020204" pitchFamily="34" charset="0"/>
              </a:rPr>
              <a:t>.</a:t>
            </a:r>
            <a:r>
              <a:rPr lang="en-GB" altLang="en-US" sz="2000" dirty="0" err="1">
                <a:latin typeface="Arial" panose="020B0604020202020204" pitchFamily="34" charset="0"/>
              </a:rPr>
              <a:t>myDiv</a:t>
            </a:r>
            <a:r>
              <a:rPr lang="en-GB" altLang="en-US" sz="2000" dirty="0">
                <a:latin typeface="Arial" panose="020B0604020202020204" pitchFamily="34" charset="0"/>
              </a:rPr>
              <a:t> {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	border: 5px outset red;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	background-</a:t>
            </a:r>
            <a:r>
              <a:rPr lang="en-GB" altLang="en-US" sz="2000" dirty="0" err="1">
                <a:latin typeface="Arial" panose="020B0604020202020204" pitchFamily="34" charset="0"/>
              </a:rPr>
              <a:t>color</a:t>
            </a:r>
            <a:r>
              <a:rPr lang="en-GB" altLang="en-US" sz="2000" dirty="0">
                <a:latin typeface="Arial" panose="020B0604020202020204" pitchFamily="34" charset="0"/>
              </a:rPr>
              <a:t>: </a:t>
            </a:r>
            <a:r>
              <a:rPr lang="en-GB" altLang="en-US" sz="2000" dirty="0" err="1">
                <a:latin typeface="Arial" panose="020B0604020202020204" pitchFamily="34" charset="0"/>
              </a:rPr>
              <a:t>lightblue</a:t>
            </a:r>
            <a:r>
              <a:rPr lang="en-GB" altLang="en-US" sz="2000" dirty="0">
                <a:latin typeface="Arial" panose="020B0604020202020204" pitchFamily="34" charset="0"/>
              </a:rPr>
              <a:t>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	text-align: </a:t>
            </a:r>
            <a:r>
              <a:rPr lang="en-GB" altLang="en-US" sz="2000" dirty="0" err="1">
                <a:latin typeface="Arial" panose="020B0604020202020204" pitchFamily="34" charset="0"/>
              </a:rPr>
              <a:t>center</a:t>
            </a:r>
            <a:r>
              <a:rPr lang="en-GB" altLang="en-US" sz="2000" dirty="0">
                <a:latin typeface="Arial" panose="020B0604020202020204" pitchFamily="34" charset="0"/>
              </a:rPr>
              <a:t>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}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&lt;body&gt;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&lt;div class="</a:t>
            </a:r>
            <a:r>
              <a:rPr lang="en-GB" altLang="en-US" sz="2000" dirty="0" err="1">
                <a:latin typeface="Arial" panose="020B0604020202020204" pitchFamily="34" charset="0"/>
              </a:rPr>
              <a:t>myDiv</a:t>
            </a:r>
            <a:r>
              <a:rPr lang="en-GB" altLang="en-US" sz="2000" dirty="0">
                <a:latin typeface="Arial" panose="020B0604020202020204" pitchFamily="34" charset="0"/>
              </a:rPr>
              <a:t>"&gt;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  		&lt;h2&gt;This is a heading in a div element&lt;/h2&gt;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  		&lt;p&gt;This is some text in a div element.&lt;/p&gt;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	&lt;/div&gt;</a:t>
            </a:r>
          </a:p>
          <a:p>
            <a:pPr marL="0" indent="0" eaLnBrk="1" hangingPunct="1">
              <a:buNone/>
            </a:pPr>
            <a:r>
              <a:rPr lang="en-GB" altLang="en-US" sz="2000" dirty="0">
                <a:latin typeface="Arial" panose="020B0604020202020204" pitchFamily="34" charset="0"/>
              </a:rPr>
              <a:t>&lt;/body&gt;</a:t>
            </a:r>
          </a:p>
        </p:txBody>
      </p:sp>
    </p:spTree>
    <p:extLst>
      <p:ext uri="{BB962C8B-B14F-4D97-AF65-F5344CB8AC3E}">
        <p14:creationId xmlns:p14="http://schemas.microsoft.com/office/powerpoint/2010/main" val="20195105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2D14B23-BBF8-761A-A41F-8A2518026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83041FDC-EBDF-D4B7-1C85-D79FA71F3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CSS Validation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2D72DC75-67DD-B4E7-E012-00B6FF880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2000" dirty="0">
                <a:latin typeface="Arial" panose="020B0604020202020204" pitchFamily="34" charset="0"/>
              </a:rPr>
              <a:t>The W3C CSS Validation Service can be used to check the correctness (validity) of W3.CSS.</a:t>
            </a:r>
          </a:p>
          <a:p>
            <a:pPr eaLnBrk="1" hangingPunct="1"/>
            <a:endParaRPr lang="en-GB" altLang="en-US" sz="2000" dirty="0">
              <a:latin typeface="Arial" panose="020B0604020202020204" pitchFamily="34" charset="0"/>
            </a:endParaRPr>
          </a:p>
          <a:p>
            <a:pPr eaLnBrk="1" hangingPunct="1"/>
            <a:r>
              <a:rPr lang="en-GB" altLang="en-US" sz="2000" dirty="0">
                <a:latin typeface="Arial" panose="020B0604020202020204" pitchFamily="34" charset="0"/>
                <a:hlinkClick r:id="rId2"/>
              </a:rPr>
              <a:t>https://validator.w3.org/</a:t>
            </a:r>
            <a:endParaRPr lang="en-GB" altLang="en-US" sz="2000" dirty="0">
              <a:latin typeface="Arial" panose="020B0604020202020204" pitchFamily="34" charset="0"/>
            </a:endParaRPr>
          </a:p>
          <a:p>
            <a:pPr eaLnBrk="1" hangingPunct="1"/>
            <a:endParaRPr lang="en-GB" altLang="en-US" sz="2000" dirty="0">
              <a:latin typeface="Arial" panose="020B0604020202020204" pitchFamily="34" charset="0"/>
            </a:endParaRPr>
          </a:p>
          <a:p>
            <a:pPr marL="0" indent="0" eaLnBrk="1" hangingPunct="1">
              <a:buNone/>
            </a:pPr>
            <a:endParaRPr lang="en-GB" altLang="en-US" sz="2000" dirty="0">
              <a:latin typeface="Arial" panose="020B0604020202020204" pitchFamily="34" charset="0"/>
            </a:endParaRPr>
          </a:p>
        </p:txBody>
      </p:sp>
      <p:pic>
        <p:nvPicPr>
          <p:cNvPr id="2" name="Picture 1" descr="Example of a validators ">
            <a:extLst>
              <a:ext uri="{FF2B5EF4-FFF2-40B4-BE49-F238E27FC236}">
                <a16:creationId xmlns:a16="http://schemas.microsoft.com/office/drawing/2014/main" id="{80FC06AA-875F-4D2F-35B2-DD75C911B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2532" y="3352800"/>
            <a:ext cx="5378935" cy="3075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5151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F5A56DE6-4F93-1651-3797-3EB61F286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Sourced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59967F90-AC6E-E533-0567-1BC35A047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 eaLnBrk="1" hangingPunct="1">
              <a:buNone/>
            </a:pPr>
            <a:endParaRPr lang="en-GB" altLang="en-US" sz="2800" dirty="0">
              <a:latin typeface="Arial" panose="020B0604020202020204" pitchFamily="34" charset="0"/>
              <a:hlinkClick r:id="rId2"/>
            </a:endParaRPr>
          </a:p>
          <a:p>
            <a:pPr marL="0" indent="0" algn="ctr" eaLnBrk="1" hangingPunct="1">
              <a:buNone/>
            </a:pPr>
            <a:endParaRPr lang="en-GB" altLang="en-US" sz="2800" dirty="0">
              <a:latin typeface="Arial" panose="020B0604020202020204" pitchFamily="34" charset="0"/>
              <a:hlinkClick r:id="rId2"/>
            </a:endParaRPr>
          </a:p>
          <a:p>
            <a:pPr marL="0" indent="0" algn="ctr" eaLnBrk="1" hangingPunct="1">
              <a:buNone/>
            </a:pPr>
            <a:endParaRPr lang="en-GB" altLang="en-US" sz="2800" dirty="0">
              <a:latin typeface="Arial" panose="020B0604020202020204" pitchFamily="34" charset="0"/>
              <a:hlinkClick r:id="rId2"/>
            </a:endParaRPr>
          </a:p>
          <a:p>
            <a:pPr marL="0" indent="0" algn="ctr" eaLnBrk="1" hangingPunct="1">
              <a:buNone/>
            </a:pPr>
            <a:r>
              <a:rPr lang="en-GB" altLang="en-US" sz="2800" dirty="0">
                <a:latin typeface="Arial" panose="020B0604020202020204" pitchFamily="34" charset="0"/>
                <a:hlinkClick r:id="rId2"/>
              </a:rPr>
              <a:t>www.w3schools.com</a:t>
            </a:r>
            <a:endParaRPr lang="en-GB" altLang="en-US" sz="2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1411</TotalTime>
  <Words>2280</Words>
  <Application>Microsoft Macintosh PowerPoint</Application>
  <PresentationFormat>On-screen Show (4:3)</PresentationFormat>
  <Paragraphs>317</Paragraphs>
  <Slides>33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Atkinson Hyperlegible</vt:lpstr>
      <vt:lpstr>Calibri</vt:lpstr>
      <vt:lpstr>Lucida Console</vt:lpstr>
      <vt:lpstr>Times New Roman</vt:lpstr>
      <vt:lpstr>Verdana</vt:lpstr>
      <vt:lpstr>Wingdings</vt:lpstr>
      <vt:lpstr>Office Theme</vt:lpstr>
      <vt:lpstr>COM4012M - CSS</vt:lpstr>
      <vt:lpstr>Note on Server Access</vt:lpstr>
      <vt:lpstr>CSS</vt:lpstr>
      <vt:lpstr>Inline vs Internal vs External</vt:lpstr>
      <vt:lpstr>Inline vs Internal vs External</vt:lpstr>
      <vt:lpstr>Setup a Stylesheet</vt:lpstr>
      <vt:lpstr>Inline Stylesheet Example</vt:lpstr>
      <vt:lpstr>Internal Stylesheet Example</vt:lpstr>
      <vt:lpstr>External Stylesheet Example</vt:lpstr>
      <vt:lpstr>External Stylesheet Example</vt:lpstr>
      <vt:lpstr>Stylesheet Priority</vt:lpstr>
      <vt:lpstr>Colours (Color)</vt:lpstr>
      <vt:lpstr>Colours (Color)</vt:lpstr>
      <vt:lpstr>Colours (Color)</vt:lpstr>
      <vt:lpstr>Fonts</vt:lpstr>
      <vt:lpstr>Fonts</vt:lpstr>
      <vt:lpstr>Text (Size)</vt:lpstr>
      <vt:lpstr>Text (Alignment)</vt:lpstr>
      <vt:lpstr>Text (Decoration Lines)</vt:lpstr>
      <vt:lpstr>Text (Bold)</vt:lpstr>
      <vt:lpstr>Text (Style)</vt:lpstr>
      <vt:lpstr>Text (Spacing)</vt:lpstr>
      <vt:lpstr>Borders</vt:lpstr>
      <vt:lpstr>Borders</vt:lpstr>
      <vt:lpstr>Borders</vt:lpstr>
      <vt:lpstr>Margin</vt:lpstr>
      <vt:lpstr>Padding</vt:lpstr>
      <vt:lpstr>CSS Box Model</vt:lpstr>
      <vt:lpstr>IDs and Classes</vt:lpstr>
      <vt:lpstr>IDs and Classes</vt:lpstr>
      <vt:lpstr>HTML DIV</vt:lpstr>
      <vt:lpstr>CSS Validation</vt:lpstr>
      <vt:lpstr>Sourced</vt:lpstr>
    </vt:vector>
  </TitlesOfParts>
  <Company>York St John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1IT060 Developing Hypermedia</dc:title>
  <dc:creator>adkins</dc:creator>
  <cp:lastModifiedBy>Bassma Al-Jubouri</cp:lastModifiedBy>
  <cp:revision>84</cp:revision>
  <dcterms:created xsi:type="dcterms:W3CDTF">2004-02-03T17:25:57Z</dcterms:created>
  <dcterms:modified xsi:type="dcterms:W3CDTF">2025-04-02T13:15:39Z</dcterms:modified>
</cp:coreProperties>
</file>