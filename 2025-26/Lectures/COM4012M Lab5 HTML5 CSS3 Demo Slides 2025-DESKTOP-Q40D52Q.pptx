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9"/>
  </p:notesMasterIdLst>
  <p:sldIdLst>
    <p:sldId id="256" r:id="rId2"/>
    <p:sldId id="319" r:id="rId3"/>
    <p:sldId id="354" r:id="rId4"/>
    <p:sldId id="350" r:id="rId5"/>
    <p:sldId id="320" r:id="rId6"/>
    <p:sldId id="321" r:id="rId7"/>
    <p:sldId id="288" r:id="rId8"/>
    <p:sldId id="355" r:id="rId9"/>
    <p:sldId id="323" r:id="rId10"/>
    <p:sldId id="356" r:id="rId11"/>
    <p:sldId id="357" r:id="rId12"/>
    <p:sldId id="358" r:id="rId13"/>
    <p:sldId id="349" r:id="rId14"/>
    <p:sldId id="352" r:id="rId15"/>
    <p:sldId id="280" r:id="rId16"/>
    <p:sldId id="348" r:id="rId17"/>
    <p:sldId id="353" r:id="rId18"/>
    <p:sldId id="359" r:id="rId19"/>
    <p:sldId id="360" r:id="rId20"/>
    <p:sldId id="361" r:id="rId21"/>
    <p:sldId id="362" r:id="rId22"/>
    <p:sldId id="363" r:id="rId23"/>
    <p:sldId id="365" r:id="rId24"/>
    <p:sldId id="366" r:id="rId25"/>
    <p:sldId id="367" r:id="rId26"/>
    <p:sldId id="364" r:id="rId27"/>
    <p:sldId id="316" r:id="rId28"/>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BBFF10-0E0B-4437-B677-BD2CA36F4949}" v="3" dt="2024-03-03T23:28:36.0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288" autoAdjust="0"/>
    <p:restoredTop sz="84737" autoAdjust="0"/>
  </p:normalViewPr>
  <p:slideViewPr>
    <p:cSldViewPr>
      <p:cViewPr varScale="1">
        <p:scale>
          <a:sx n="105" d="100"/>
          <a:sy n="105" d="100"/>
        </p:scale>
        <p:origin x="200" y="2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C7BBFF10-0E0B-4437-B677-BD2CA36F4949}"/>
    <pc:docChg chg="custSel addSld modSld sldOrd">
      <pc:chgData name="Alec Wells" userId="527ade61401a42c1" providerId="LiveId" clId="{C7BBFF10-0E0B-4437-B677-BD2CA36F4949}" dt="2024-03-04T00:01:17.985" v="890" actId="20577"/>
      <pc:docMkLst>
        <pc:docMk/>
      </pc:docMkLst>
      <pc:sldChg chg="modSp mod">
        <pc:chgData name="Alec Wells" userId="527ade61401a42c1" providerId="LiveId" clId="{C7BBFF10-0E0B-4437-B677-BD2CA36F4949}" dt="2024-03-03T23:48:57.330" v="885" actId="403"/>
        <pc:sldMkLst>
          <pc:docMk/>
          <pc:sldMk cId="3207795901" sldId="321"/>
        </pc:sldMkLst>
        <pc:spChg chg="mod">
          <ac:chgData name="Alec Wells" userId="527ade61401a42c1" providerId="LiveId" clId="{C7BBFF10-0E0B-4437-B677-BD2CA36F4949}" dt="2024-03-03T23:48:57.330" v="885" actId="403"/>
          <ac:spMkLst>
            <pc:docMk/>
            <pc:sldMk cId="3207795901" sldId="321"/>
            <ac:spMk id="5123" creationId="{381CB796-D834-D21F-B872-FD7C60DFEC7A}"/>
          </ac:spMkLst>
        </pc:spChg>
      </pc:sldChg>
      <pc:sldChg chg="modSp mod">
        <pc:chgData name="Alec Wells" userId="527ade61401a42c1" providerId="LiveId" clId="{C7BBFF10-0E0B-4437-B677-BD2CA36F4949}" dt="2024-03-03T23:59:52.233" v="887" actId="20577"/>
        <pc:sldMkLst>
          <pc:docMk/>
          <pc:sldMk cId="3493719763" sldId="348"/>
        </pc:sldMkLst>
        <pc:spChg chg="mod">
          <ac:chgData name="Alec Wells" userId="527ade61401a42c1" providerId="LiveId" clId="{C7BBFF10-0E0B-4437-B677-BD2CA36F4949}" dt="2024-03-03T23:59:52.233" v="887" actId="20577"/>
          <ac:spMkLst>
            <pc:docMk/>
            <pc:sldMk cId="3493719763" sldId="348"/>
            <ac:spMk id="16387" creationId="{AE55AA3C-9876-C4AE-1999-7DF0F24255B2}"/>
          </ac:spMkLst>
        </pc:spChg>
      </pc:sldChg>
      <pc:sldChg chg="modSp mod">
        <pc:chgData name="Alec Wells" userId="527ade61401a42c1" providerId="LiveId" clId="{C7BBFF10-0E0B-4437-B677-BD2CA36F4949}" dt="2024-03-03T23:55:09.357" v="886" actId="20577"/>
        <pc:sldMkLst>
          <pc:docMk/>
          <pc:sldMk cId="587010487" sldId="358"/>
        </pc:sldMkLst>
        <pc:spChg chg="mod">
          <ac:chgData name="Alec Wells" userId="527ade61401a42c1" providerId="LiveId" clId="{C7BBFF10-0E0B-4437-B677-BD2CA36F4949}" dt="2024-03-03T23:55:09.357" v="886" actId="20577"/>
          <ac:spMkLst>
            <pc:docMk/>
            <pc:sldMk cId="587010487" sldId="358"/>
            <ac:spMk id="9219" creationId="{AFBFF55A-A9FE-FCFA-6018-709590391234}"/>
          </ac:spMkLst>
        </pc:spChg>
      </pc:sldChg>
      <pc:sldChg chg="modSp mod">
        <pc:chgData name="Alec Wells" userId="527ade61401a42c1" providerId="LiveId" clId="{C7BBFF10-0E0B-4437-B677-BD2CA36F4949}" dt="2024-03-04T00:00:40.468" v="888" actId="403"/>
        <pc:sldMkLst>
          <pc:docMk/>
          <pc:sldMk cId="1540216628" sldId="359"/>
        </pc:sldMkLst>
        <pc:spChg chg="mod">
          <ac:chgData name="Alec Wells" userId="527ade61401a42c1" providerId="LiveId" clId="{C7BBFF10-0E0B-4437-B677-BD2CA36F4949}" dt="2024-03-04T00:00:40.468" v="888" actId="403"/>
          <ac:spMkLst>
            <pc:docMk/>
            <pc:sldMk cId="1540216628" sldId="359"/>
            <ac:spMk id="2" creationId="{D60014A9-FF3C-EEAC-E4B5-C3F61D6E6809}"/>
          </ac:spMkLst>
        </pc:spChg>
      </pc:sldChg>
      <pc:sldChg chg="modSp mod">
        <pc:chgData name="Alec Wells" userId="527ade61401a42c1" providerId="LiveId" clId="{C7BBFF10-0E0B-4437-B677-BD2CA36F4949}" dt="2024-03-04T00:01:17.985" v="890" actId="20577"/>
        <pc:sldMkLst>
          <pc:docMk/>
          <pc:sldMk cId="1629402692" sldId="360"/>
        </pc:sldMkLst>
        <pc:spChg chg="mod">
          <ac:chgData name="Alec Wells" userId="527ade61401a42c1" providerId="LiveId" clId="{C7BBFF10-0E0B-4437-B677-BD2CA36F4949}" dt="2024-03-04T00:01:17.985" v="890" actId="20577"/>
          <ac:spMkLst>
            <pc:docMk/>
            <pc:sldMk cId="1629402692" sldId="360"/>
            <ac:spMk id="2" creationId="{B8DB393A-3416-0442-977C-1C417F0AFAC0}"/>
          </ac:spMkLst>
        </pc:spChg>
      </pc:sldChg>
      <pc:sldChg chg="modSp mod">
        <pc:chgData name="Alec Wells" userId="527ade61401a42c1" providerId="LiveId" clId="{C7BBFF10-0E0B-4437-B677-BD2CA36F4949}" dt="2024-03-03T23:14:16.482" v="58" actId="404"/>
        <pc:sldMkLst>
          <pc:docMk/>
          <pc:sldMk cId="82340334" sldId="362"/>
        </pc:sldMkLst>
        <pc:spChg chg="mod">
          <ac:chgData name="Alec Wells" userId="527ade61401a42c1" providerId="LiveId" clId="{C7BBFF10-0E0B-4437-B677-BD2CA36F4949}" dt="2024-03-03T23:14:16.482" v="58" actId="404"/>
          <ac:spMkLst>
            <pc:docMk/>
            <pc:sldMk cId="82340334" sldId="362"/>
            <ac:spMk id="2" creationId="{5D273B96-CC3F-BD1B-5D4E-8F0BB4FC36F0}"/>
          </ac:spMkLst>
        </pc:spChg>
      </pc:sldChg>
      <pc:sldChg chg="modSp mod">
        <pc:chgData name="Alec Wells" userId="527ade61401a42c1" providerId="LiveId" clId="{C7BBFF10-0E0B-4437-B677-BD2CA36F4949}" dt="2024-03-03T23:19:59.115" v="400" actId="404"/>
        <pc:sldMkLst>
          <pc:docMk/>
          <pc:sldMk cId="473473277" sldId="363"/>
        </pc:sldMkLst>
        <pc:spChg chg="mod">
          <ac:chgData name="Alec Wells" userId="527ade61401a42c1" providerId="LiveId" clId="{C7BBFF10-0E0B-4437-B677-BD2CA36F4949}" dt="2024-03-03T23:19:59.115" v="400" actId="404"/>
          <ac:spMkLst>
            <pc:docMk/>
            <pc:sldMk cId="473473277" sldId="363"/>
            <ac:spMk id="2" creationId="{2876EB33-78D0-9609-E783-7386BA06A611}"/>
          </ac:spMkLst>
        </pc:spChg>
      </pc:sldChg>
      <pc:sldChg chg="modSp add mod ord">
        <pc:chgData name="Alec Wells" userId="527ade61401a42c1" providerId="LiveId" clId="{C7BBFF10-0E0B-4437-B677-BD2CA36F4949}" dt="2024-03-03T23:28:36.070" v="884" actId="20577"/>
        <pc:sldMkLst>
          <pc:docMk/>
          <pc:sldMk cId="2043993520" sldId="364"/>
        </pc:sldMkLst>
        <pc:spChg chg="mod">
          <ac:chgData name="Alec Wells" userId="527ade61401a42c1" providerId="LiveId" clId="{C7BBFF10-0E0B-4437-B677-BD2CA36F4949}" dt="2024-03-03T23:28:36.070" v="884" actId="20577"/>
          <ac:spMkLst>
            <pc:docMk/>
            <pc:sldMk cId="2043993520" sldId="364"/>
            <ac:spMk id="2" creationId="{746FCFF2-E602-F799-CB11-E13309B0968D}"/>
          </ac:spMkLst>
        </pc:spChg>
      </pc:sldChg>
      <pc:sldChg chg="modSp add mod">
        <pc:chgData name="Alec Wells" userId="527ade61401a42c1" providerId="LiveId" clId="{C7BBFF10-0E0B-4437-B677-BD2CA36F4949}" dt="2024-03-03T23:23:26.447" v="514" actId="20577"/>
        <pc:sldMkLst>
          <pc:docMk/>
          <pc:sldMk cId="2165264343" sldId="365"/>
        </pc:sldMkLst>
        <pc:spChg chg="mod">
          <ac:chgData name="Alec Wells" userId="527ade61401a42c1" providerId="LiveId" clId="{C7BBFF10-0E0B-4437-B677-BD2CA36F4949}" dt="2024-03-03T23:23:26.447" v="514" actId="20577"/>
          <ac:spMkLst>
            <pc:docMk/>
            <pc:sldMk cId="2165264343" sldId="365"/>
            <ac:spMk id="2" creationId="{E038B1FF-07A9-A19A-64CF-E9234E0E8B95}"/>
          </ac:spMkLst>
        </pc:spChg>
      </pc:sldChg>
      <pc:sldChg chg="modSp add mod">
        <pc:chgData name="Alec Wells" userId="527ade61401a42c1" providerId="LiveId" clId="{C7BBFF10-0E0B-4437-B677-BD2CA36F4949}" dt="2024-03-03T23:24:19.424" v="648" actId="20577"/>
        <pc:sldMkLst>
          <pc:docMk/>
          <pc:sldMk cId="3286551196" sldId="366"/>
        </pc:sldMkLst>
        <pc:spChg chg="mod">
          <ac:chgData name="Alec Wells" userId="527ade61401a42c1" providerId="LiveId" clId="{C7BBFF10-0E0B-4437-B677-BD2CA36F4949}" dt="2024-03-03T23:24:19.424" v="648" actId="20577"/>
          <ac:spMkLst>
            <pc:docMk/>
            <pc:sldMk cId="3286551196" sldId="366"/>
            <ac:spMk id="2" creationId="{6C6BE878-7C2F-0AD1-DBD1-C5CEA6E50D7A}"/>
          </ac:spMkLst>
        </pc:spChg>
      </pc:sldChg>
      <pc:sldChg chg="modSp add mod">
        <pc:chgData name="Alec Wells" userId="527ade61401a42c1" providerId="LiveId" clId="{C7BBFF10-0E0B-4437-B677-BD2CA36F4949}" dt="2024-03-03T23:26:32.687" v="863" actId="20577"/>
        <pc:sldMkLst>
          <pc:docMk/>
          <pc:sldMk cId="251505049" sldId="367"/>
        </pc:sldMkLst>
        <pc:spChg chg="mod">
          <ac:chgData name="Alec Wells" userId="527ade61401a42c1" providerId="LiveId" clId="{C7BBFF10-0E0B-4437-B677-BD2CA36F4949}" dt="2024-03-03T23:26:32.687" v="863" actId="20577"/>
          <ac:spMkLst>
            <pc:docMk/>
            <pc:sldMk cId="251505049" sldId="367"/>
            <ac:spMk id="2" creationId="{0D7C5E95-90A3-A357-2CE0-AB0B458B53C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43917-5DA0-DECF-FF69-2A40A360DAC3}"/>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3" name="Date Placeholder 2">
            <a:extLst>
              <a:ext uri="{FF2B5EF4-FFF2-40B4-BE49-F238E27FC236}">
                <a16:creationId xmlns:a16="http://schemas.microsoft.com/office/drawing/2014/main" id="{F17651BE-CB62-1C46-2D82-5CE8C878F16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F8F6FD23-3D60-4451-A465-FCB20600655D}" type="datetimeFigureOut">
              <a:rPr lang="en-GB" altLang="en-US"/>
              <a:pPr>
                <a:defRPr/>
              </a:pPr>
              <a:t>02/04/2025</a:t>
            </a:fld>
            <a:endParaRPr lang="en-GB" altLang="en-US"/>
          </a:p>
        </p:txBody>
      </p:sp>
      <p:sp>
        <p:nvSpPr>
          <p:cNvPr id="4" name="Slide Image Placeholder 3">
            <a:extLst>
              <a:ext uri="{FF2B5EF4-FFF2-40B4-BE49-F238E27FC236}">
                <a16:creationId xmlns:a16="http://schemas.microsoft.com/office/drawing/2014/main" id="{6EB60F19-1FDC-AE14-9F7A-B626270BC29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DF6E3879-375D-FC9C-BF07-9901CCEEF48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endParaRPr lang="en-GB" altLang="en-US" noProof="0"/>
          </a:p>
        </p:txBody>
      </p:sp>
      <p:sp>
        <p:nvSpPr>
          <p:cNvPr id="6" name="Footer Placeholder 5">
            <a:extLst>
              <a:ext uri="{FF2B5EF4-FFF2-40B4-BE49-F238E27FC236}">
                <a16:creationId xmlns:a16="http://schemas.microsoft.com/office/drawing/2014/main" id="{1F2C8949-BF00-F811-963F-ECEB0B12FDB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7" name="Slide Number Placeholder 6">
            <a:extLst>
              <a:ext uri="{FF2B5EF4-FFF2-40B4-BE49-F238E27FC236}">
                <a16:creationId xmlns:a16="http://schemas.microsoft.com/office/drawing/2014/main" id="{FAA25848-9C49-2CA4-2EC3-282A591EAB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1F885-8204-4DD9-BC7B-9FC74636C35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F1054-8DDF-92FF-6688-A92B8B54A2E1}"/>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F6F515CB-7BC9-A3F3-DA17-7143A5E5BB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577410B9-4EB9-8391-B4F4-860E52A4D8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9422B773-B09D-0D30-B50C-86C2872B47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2</a:t>
            </a:fld>
            <a:endParaRPr lang="en-GB" altLang="en-US"/>
          </a:p>
        </p:txBody>
      </p:sp>
    </p:spTree>
    <p:extLst>
      <p:ext uri="{BB962C8B-B14F-4D97-AF65-F5344CB8AC3E}">
        <p14:creationId xmlns:p14="http://schemas.microsoft.com/office/powerpoint/2010/main" val="448177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8891E-DB40-50B8-E92D-5649597CA58B}"/>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676B7482-0CA7-9BEB-5728-FF32CAA575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F1A184ED-DAA5-76CF-88A6-46CD47B2E41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2B8D858E-E10C-27A4-48DB-B220E6FBB1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3</a:t>
            </a:fld>
            <a:endParaRPr lang="en-GB" altLang="en-US"/>
          </a:p>
        </p:txBody>
      </p:sp>
    </p:spTree>
    <p:extLst>
      <p:ext uri="{BB962C8B-B14F-4D97-AF65-F5344CB8AC3E}">
        <p14:creationId xmlns:p14="http://schemas.microsoft.com/office/powerpoint/2010/main" val="2250727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F07E8-7767-186B-582A-9710C07A7253}"/>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6DD1C52F-78F2-7052-F63A-A7BA028F67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DCEB2D34-2C7C-58B8-90DA-205D79376D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8CA884E1-5DDD-E567-F5F2-C8DC8D562E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5</a:t>
            </a:fld>
            <a:endParaRPr lang="en-GB" altLang="en-US"/>
          </a:p>
        </p:txBody>
      </p:sp>
    </p:spTree>
    <p:extLst>
      <p:ext uri="{BB962C8B-B14F-4D97-AF65-F5344CB8AC3E}">
        <p14:creationId xmlns:p14="http://schemas.microsoft.com/office/powerpoint/2010/main" val="3260392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F683-0859-4494-2924-5B9900EF6119}"/>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19E9CF09-3886-61AA-2A8A-EF7C21650B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8C1C450E-8F36-1639-6ADD-827C28E257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28652056-3C60-ED33-90CF-A84C160605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6</a:t>
            </a:fld>
            <a:endParaRPr lang="en-GB" altLang="en-US"/>
          </a:p>
        </p:txBody>
      </p:sp>
    </p:spTree>
    <p:extLst>
      <p:ext uri="{BB962C8B-B14F-4D97-AF65-F5344CB8AC3E}">
        <p14:creationId xmlns:p14="http://schemas.microsoft.com/office/powerpoint/2010/main" val="2949482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D4A0-BC52-29A8-41DF-41120DB34B21}"/>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4A2CAD1A-6946-AE66-6EB4-20CAA17ECA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18CBF186-BE79-6FB9-0EEF-0CEB3F22AF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110A07CB-553D-35CE-AE2C-2E732A6972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9</a:t>
            </a:fld>
            <a:endParaRPr lang="en-GB" altLang="en-US"/>
          </a:p>
        </p:txBody>
      </p:sp>
    </p:spTree>
    <p:extLst>
      <p:ext uri="{BB962C8B-B14F-4D97-AF65-F5344CB8AC3E}">
        <p14:creationId xmlns:p14="http://schemas.microsoft.com/office/powerpoint/2010/main" val="1023287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A72BC-2C13-0BB1-9542-2D54B16820AE}"/>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E8D58C0B-2E06-CD18-626D-10A55A489D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27C15BB1-5C18-21EF-1CB3-243DA3BA63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8FD9A477-91F8-C77C-F6A3-4BB2E8410B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10</a:t>
            </a:fld>
            <a:endParaRPr lang="en-GB" altLang="en-US"/>
          </a:p>
        </p:txBody>
      </p:sp>
    </p:spTree>
    <p:extLst>
      <p:ext uri="{BB962C8B-B14F-4D97-AF65-F5344CB8AC3E}">
        <p14:creationId xmlns:p14="http://schemas.microsoft.com/office/powerpoint/2010/main" val="1273962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5BCE-0936-EAFF-AA7F-E5E593CE433D}"/>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3C770C97-F309-F2B6-3C92-6A013438A3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298287BB-4C6D-37C2-2464-FEA346D57CC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70713467-5F95-C8AE-8F99-4CC504F8206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11</a:t>
            </a:fld>
            <a:endParaRPr lang="en-GB" altLang="en-US"/>
          </a:p>
        </p:txBody>
      </p:sp>
    </p:spTree>
    <p:extLst>
      <p:ext uri="{BB962C8B-B14F-4D97-AF65-F5344CB8AC3E}">
        <p14:creationId xmlns:p14="http://schemas.microsoft.com/office/powerpoint/2010/main" val="632848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8515-FFAA-BB11-DC86-758B29CE16DB}"/>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08D4CB5E-1244-10F0-77A1-DE07C15C3EA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27FD1166-4A74-1A63-B01D-8C0A4CD45E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0EE277FA-DE7D-FFE6-6224-7B440CAAB0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12</a:t>
            </a:fld>
            <a:endParaRPr lang="en-GB" altLang="en-US"/>
          </a:p>
        </p:txBody>
      </p:sp>
    </p:spTree>
    <p:extLst>
      <p:ext uri="{BB962C8B-B14F-4D97-AF65-F5344CB8AC3E}">
        <p14:creationId xmlns:p14="http://schemas.microsoft.com/office/powerpoint/2010/main" val="2765439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9100D-EC3E-92C0-C4BD-8E848763254F}"/>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D632C582-8153-1AEB-921F-71F8318DDA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96453846-2C43-9860-8023-FCF836F188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6EE36D48-DB97-A8B1-4BBB-EE9AAF5CC0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17</a:t>
            </a:fld>
            <a:endParaRPr lang="en-GB" altLang="en-US"/>
          </a:p>
        </p:txBody>
      </p:sp>
    </p:spTree>
    <p:extLst>
      <p:ext uri="{BB962C8B-B14F-4D97-AF65-F5344CB8AC3E}">
        <p14:creationId xmlns:p14="http://schemas.microsoft.com/office/powerpoint/2010/main" val="3475681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07313-09C5-C722-99A6-6E4E88E5BD69}"/>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77745067-8A97-CC4A-E19E-A153F2985DA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B7A0FF12-DD2F-B022-0F29-D73793CC2D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A27E9D8A-A291-16B0-9012-46609D6779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18</a:t>
            </a:fld>
            <a:endParaRPr lang="en-GB" altLang="en-US"/>
          </a:p>
        </p:txBody>
      </p:sp>
    </p:spTree>
    <p:extLst>
      <p:ext uri="{BB962C8B-B14F-4D97-AF65-F5344CB8AC3E}">
        <p14:creationId xmlns:p14="http://schemas.microsoft.com/office/powerpoint/2010/main" val="1484391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48F26-AEC9-E630-064B-A42EEAEAE48E}"/>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0F9E87C3-71D0-6508-B5C9-171FA0AA87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21158D1E-E2A6-BCD4-9A52-B927D068732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ED9CD747-0AB7-1362-A2E1-6CC95FC698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19</a:t>
            </a:fld>
            <a:endParaRPr lang="en-GB" altLang="en-US"/>
          </a:p>
        </p:txBody>
      </p:sp>
    </p:spTree>
    <p:extLst>
      <p:ext uri="{BB962C8B-B14F-4D97-AF65-F5344CB8AC3E}">
        <p14:creationId xmlns:p14="http://schemas.microsoft.com/office/powerpoint/2010/main" val="1030113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B66A4-7120-5428-36FD-C99768734BDE}"/>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9BE80706-7DCE-9689-2D42-BFD1EDCCAA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1133D8DB-19BF-5913-358D-AE758A2C47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0FE89334-3AB9-9887-A4C6-B8EFF37AF8C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20</a:t>
            </a:fld>
            <a:endParaRPr lang="en-GB" altLang="en-US"/>
          </a:p>
        </p:txBody>
      </p:sp>
    </p:spTree>
    <p:extLst>
      <p:ext uri="{BB962C8B-B14F-4D97-AF65-F5344CB8AC3E}">
        <p14:creationId xmlns:p14="http://schemas.microsoft.com/office/powerpoint/2010/main" val="1716699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8ED2A-C2D7-00D3-AE13-40AFAA09B8D7}"/>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31112E59-8542-CFC4-9582-4BF7C26FFB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4B9817CB-8E9E-C811-82F6-27C4517AE8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CD26253B-74BC-5366-6A9E-FF8F3C1259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21</a:t>
            </a:fld>
            <a:endParaRPr lang="en-GB" altLang="en-US"/>
          </a:p>
        </p:txBody>
      </p:sp>
    </p:spTree>
    <p:extLst>
      <p:ext uri="{BB962C8B-B14F-4D97-AF65-F5344CB8AC3E}">
        <p14:creationId xmlns:p14="http://schemas.microsoft.com/office/powerpoint/2010/main" val="11198104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187A-088E-BBAE-6056-75E4155EAF0E}"/>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CA210075-4D76-0AFB-811D-02F5914009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2BCEE751-C89F-4A41-9CD0-8B1D5E8D6F8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7A8D8CB8-EB9F-1F11-AA53-5BC93F412EE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22</a:t>
            </a:fld>
            <a:endParaRPr lang="en-GB" altLang="en-US"/>
          </a:p>
        </p:txBody>
      </p:sp>
    </p:spTree>
    <p:extLst>
      <p:ext uri="{BB962C8B-B14F-4D97-AF65-F5344CB8AC3E}">
        <p14:creationId xmlns:p14="http://schemas.microsoft.com/office/powerpoint/2010/main" val="1037025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21DF-B07D-E800-4B1F-B71639D2A9D4}"/>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BE0DB05C-7B63-D643-CD18-D203A13BF1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F4C41B8D-0933-8C16-510B-4F22415B53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FD69325A-DD34-60B4-A0A3-16140B176C0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23</a:t>
            </a:fld>
            <a:endParaRPr lang="en-GB" altLang="en-US"/>
          </a:p>
        </p:txBody>
      </p:sp>
    </p:spTree>
    <p:extLst>
      <p:ext uri="{BB962C8B-B14F-4D97-AF65-F5344CB8AC3E}">
        <p14:creationId xmlns:p14="http://schemas.microsoft.com/office/powerpoint/2010/main" val="1032842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8FCAA-A435-CFDB-1039-96AEF36BEDC2}"/>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64144D27-AF23-3356-B5CD-57FA174CAA8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ADD729AE-08D3-639C-0066-3BFE0B8903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D9E11B3F-AA81-587D-86B1-835E98207D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24</a:t>
            </a:fld>
            <a:endParaRPr lang="en-GB" altLang="en-US"/>
          </a:p>
        </p:txBody>
      </p:sp>
    </p:spTree>
    <p:extLst>
      <p:ext uri="{BB962C8B-B14F-4D97-AF65-F5344CB8AC3E}">
        <p14:creationId xmlns:p14="http://schemas.microsoft.com/office/powerpoint/2010/main" val="13695072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82811-13B5-8A3F-F35C-77A5A8F2F5C0}"/>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6A6F17B6-28AE-97AF-79F9-DF38186AA7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32506747-D720-5132-B32B-0610951EE6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791E3E19-5CD4-FC46-803C-444E5723FDE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25</a:t>
            </a:fld>
            <a:endParaRPr lang="en-GB" altLang="en-US"/>
          </a:p>
        </p:txBody>
      </p:sp>
    </p:spTree>
    <p:extLst>
      <p:ext uri="{BB962C8B-B14F-4D97-AF65-F5344CB8AC3E}">
        <p14:creationId xmlns:p14="http://schemas.microsoft.com/office/powerpoint/2010/main" val="3966596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CB92A-031F-0C7B-D8D4-1BFD952C5AEF}"/>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C1BBF267-CD27-862D-480A-9B7BDCEA992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84D7CF75-00AE-EE64-D62A-9EA181A5A9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6E72049D-4136-825D-6090-22996745149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26</a:t>
            </a:fld>
            <a:endParaRPr lang="en-GB" altLang="en-US"/>
          </a:p>
        </p:txBody>
      </p:sp>
    </p:spTree>
    <p:extLst>
      <p:ext uri="{BB962C8B-B14F-4D97-AF65-F5344CB8AC3E}">
        <p14:creationId xmlns:p14="http://schemas.microsoft.com/office/powerpoint/2010/main" val="2475018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1BBAFB-C6ED-4820-7CC8-4B2299CB32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3D9B34F-007A-4505-C473-7A739958F29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1077DD2-9ABA-4339-C4A0-71FC7FAFE27B}"/>
              </a:ext>
            </a:extLst>
          </p:cNvPr>
          <p:cNvSpPr>
            <a:spLocks noGrp="1"/>
          </p:cNvSpPr>
          <p:nvPr>
            <p:ph type="sldNum" sz="quarter" idx="12"/>
          </p:nvPr>
        </p:nvSpPr>
        <p:spPr/>
        <p:txBody>
          <a:bodyPr/>
          <a:lstStyle>
            <a:lvl1pPr>
              <a:defRPr/>
            </a:lvl1pPr>
          </a:lstStyle>
          <a:p>
            <a:pPr>
              <a:defRPr/>
            </a:pPr>
            <a:fld id="{30BE0E50-4C41-4C5F-A6E6-AC7BF62D1857}" type="slidenum">
              <a:rPr lang="en-GB" altLang="en-US"/>
              <a:pPr>
                <a:defRPr/>
              </a:pPr>
              <a:t>‹#›</a:t>
            </a:fld>
            <a:endParaRPr lang="en-GB" altLang="en-US"/>
          </a:p>
        </p:txBody>
      </p:sp>
    </p:spTree>
    <p:extLst>
      <p:ext uri="{BB962C8B-B14F-4D97-AF65-F5344CB8AC3E}">
        <p14:creationId xmlns:p14="http://schemas.microsoft.com/office/powerpoint/2010/main" val="98878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DD4698-C369-2023-91B9-BF198125B4E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4A1741-3F88-8162-B004-697E368D38A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D36B3B1-73CB-EC00-EED5-0EEA39969896}"/>
              </a:ext>
            </a:extLst>
          </p:cNvPr>
          <p:cNvSpPr>
            <a:spLocks noGrp="1"/>
          </p:cNvSpPr>
          <p:nvPr>
            <p:ph type="sldNum" sz="quarter" idx="12"/>
          </p:nvPr>
        </p:nvSpPr>
        <p:spPr/>
        <p:txBody>
          <a:bodyPr/>
          <a:lstStyle>
            <a:lvl1pPr>
              <a:defRPr/>
            </a:lvl1pPr>
          </a:lstStyle>
          <a:p>
            <a:pPr>
              <a:defRPr/>
            </a:pPr>
            <a:fld id="{7C25BD3A-794A-4E96-98D9-29C2B056AD7D}" type="slidenum">
              <a:rPr lang="en-GB" altLang="en-US"/>
              <a:pPr>
                <a:defRPr/>
              </a:pPr>
              <a:t>‹#›</a:t>
            </a:fld>
            <a:endParaRPr lang="en-GB" altLang="en-US"/>
          </a:p>
        </p:txBody>
      </p:sp>
    </p:spTree>
    <p:extLst>
      <p:ext uri="{BB962C8B-B14F-4D97-AF65-F5344CB8AC3E}">
        <p14:creationId xmlns:p14="http://schemas.microsoft.com/office/powerpoint/2010/main" val="2626168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3E6FFD-939A-BD45-E1E8-529438FC79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9543CDE-922C-2344-660F-03C06D117A4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4466662-5449-E588-4330-3A244FF5A028}"/>
              </a:ext>
            </a:extLst>
          </p:cNvPr>
          <p:cNvSpPr>
            <a:spLocks noGrp="1"/>
          </p:cNvSpPr>
          <p:nvPr>
            <p:ph type="sldNum" sz="quarter" idx="12"/>
          </p:nvPr>
        </p:nvSpPr>
        <p:spPr/>
        <p:txBody>
          <a:bodyPr/>
          <a:lstStyle>
            <a:lvl1pPr>
              <a:defRPr/>
            </a:lvl1pPr>
          </a:lstStyle>
          <a:p>
            <a:pPr>
              <a:defRPr/>
            </a:pPr>
            <a:fld id="{81108A3C-4472-4BAF-A76A-4F4F697D913A}" type="slidenum">
              <a:rPr lang="en-GB" altLang="en-US"/>
              <a:pPr>
                <a:defRPr/>
              </a:pPr>
              <a:t>‹#›</a:t>
            </a:fld>
            <a:endParaRPr lang="en-GB" altLang="en-US"/>
          </a:p>
        </p:txBody>
      </p:sp>
    </p:spTree>
    <p:extLst>
      <p:ext uri="{BB962C8B-B14F-4D97-AF65-F5344CB8AC3E}">
        <p14:creationId xmlns:p14="http://schemas.microsoft.com/office/powerpoint/2010/main" val="3700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3F96180A-360A-28AC-BC5B-A14C3263B81D}"/>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E1FAE49A-406E-6125-F6F8-1D8F79C8F15D}"/>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914FC4-FB85-D5D5-FABA-19F789F72D39}"/>
              </a:ext>
            </a:extLst>
          </p:cNvPr>
          <p:cNvSpPr>
            <a:spLocks noGrp="1"/>
          </p:cNvSpPr>
          <p:nvPr>
            <p:ph type="sldNum" sz="quarter" idx="12"/>
          </p:nvPr>
        </p:nvSpPr>
        <p:spPr/>
        <p:txBody>
          <a:bodyPr/>
          <a:lstStyle>
            <a:lvl1pPr>
              <a:defRPr/>
            </a:lvl1pPr>
          </a:lstStyle>
          <a:p>
            <a:pPr>
              <a:defRPr/>
            </a:pPr>
            <a:fld id="{B188C25F-8E11-4064-AE56-034BE9F0A5EF}" type="slidenum">
              <a:rPr lang="en-GB" altLang="en-US"/>
              <a:pPr>
                <a:defRPr/>
              </a:pPr>
              <a:t>‹#›</a:t>
            </a:fld>
            <a:endParaRPr lang="en-GB" altLang="en-US"/>
          </a:p>
        </p:txBody>
      </p:sp>
    </p:spTree>
    <p:extLst>
      <p:ext uri="{BB962C8B-B14F-4D97-AF65-F5344CB8AC3E}">
        <p14:creationId xmlns:p14="http://schemas.microsoft.com/office/powerpoint/2010/main" val="237861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EC118F79-0C6B-8A0F-452A-293937782353}"/>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8DAC1512-3CFA-9ED4-6912-E83D46A6A0F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9F6B54D7-BD1B-60A9-EE0C-E6240E295A93}"/>
              </a:ext>
            </a:extLst>
          </p:cNvPr>
          <p:cNvSpPr>
            <a:spLocks noGrp="1"/>
          </p:cNvSpPr>
          <p:nvPr>
            <p:ph type="sldNum" sz="quarter" idx="12"/>
          </p:nvPr>
        </p:nvSpPr>
        <p:spPr/>
        <p:txBody>
          <a:bodyPr/>
          <a:lstStyle>
            <a:lvl1pPr>
              <a:defRPr/>
            </a:lvl1pPr>
          </a:lstStyle>
          <a:p>
            <a:pPr>
              <a:defRPr/>
            </a:pPr>
            <a:fld id="{A05C60ED-42C1-4545-9468-EB382124E435}" type="slidenum">
              <a:rPr lang="en-GB" altLang="en-US"/>
              <a:pPr>
                <a:defRPr/>
              </a:pPr>
              <a:t>‹#›</a:t>
            </a:fld>
            <a:endParaRPr lang="en-GB" altLang="en-US"/>
          </a:p>
        </p:txBody>
      </p:sp>
    </p:spTree>
    <p:extLst>
      <p:ext uri="{BB962C8B-B14F-4D97-AF65-F5344CB8AC3E}">
        <p14:creationId xmlns:p14="http://schemas.microsoft.com/office/powerpoint/2010/main" val="294900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47A73B05-6FFC-20AB-88CD-C36C2814B604}"/>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D173DA2-E0C4-C94C-1189-0B6927EA5F0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9F8BBCA-AB2F-A0B1-0591-4896EDB6C3E6}"/>
              </a:ext>
            </a:extLst>
          </p:cNvPr>
          <p:cNvSpPr>
            <a:spLocks noGrp="1"/>
          </p:cNvSpPr>
          <p:nvPr>
            <p:ph type="sldNum" sz="quarter" idx="12"/>
          </p:nvPr>
        </p:nvSpPr>
        <p:spPr/>
        <p:txBody>
          <a:bodyPr/>
          <a:lstStyle>
            <a:lvl1pPr>
              <a:defRPr/>
            </a:lvl1pPr>
          </a:lstStyle>
          <a:p>
            <a:pPr>
              <a:defRPr/>
            </a:pPr>
            <a:fld id="{D5A3FA38-719B-4553-BB70-BC9B5BFEE365}" type="slidenum">
              <a:rPr lang="en-GB" altLang="en-US"/>
              <a:pPr>
                <a:defRPr/>
              </a:pPr>
              <a:t>‹#›</a:t>
            </a:fld>
            <a:endParaRPr lang="en-GB" altLang="en-US"/>
          </a:p>
        </p:txBody>
      </p:sp>
    </p:spTree>
    <p:extLst>
      <p:ext uri="{BB962C8B-B14F-4D97-AF65-F5344CB8AC3E}">
        <p14:creationId xmlns:p14="http://schemas.microsoft.com/office/powerpoint/2010/main" val="128071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E38D44-9016-3653-11C1-D7EED8428C20}"/>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59221E15-45F9-4641-B1AD-217C3667759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80A2E8F-4061-8E93-340C-1D20852C28D5}"/>
              </a:ext>
            </a:extLst>
          </p:cNvPr>
          <p:cNvSpPr>
            <a:spLocks noGrp="1"/>
          </p:cNvSpPr>
          <p:nvPr>
            <p:ph type="sldNum" sz="quarter" idx="12"/>
          </p:nvPr>
        </p:nvSpPr>
        <p:spPr/>
        <p:txBody>
          <a:bodyPr/>
          <a:lstStyle>
            <a:lvl1pPr>
              <a:defRPr/>
            </a:lvl1pPr>
          </a:lstStyle>
          <a:p>
            <a:pPr>
              <a:defRPr/>
            </a:pPr>
            <a:fld id="{330F20B5-584E-4376-A04B-5421FA31DE32}" type="slidenum">
              <a:rPr lang="en-GB" altLang="en-US"/>
              <a:pPr>
                <a:defRPr/>
              </a:pPr>
              <a:t>‹#›</a:t>
            </a:fld>
            <a:endParaRPr lang="en-GB" altLang="en-US"/>
          </a:p>
        </p:txBody>
      </p:sp>
    </p:spTree>
    <p:extLst>
      <p:ext uri="{BB962C8B-B14F-4D97-AF65-F5344CB8AC3E}">
        <p14:creationId xmlns:p14="http://schemas.microsoft.com/office/powerpoint/2010/main" val="378946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08620D2-93DB-34AF-586C-192F933C1D7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690FA0B-7904-A676-6163-FD77398C1346}"/>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1176326-CFAA-29F9-92E3-DCEB4670CBEE}"/>
              </a:ext>
            </a:extLst>
          </p:cNvPr>
          <p:cNvSpPr>
            <a:spLocks noGrp="1"/>
          </p:cNvSpPr>
          <p:nvPr>
            <p:ph type="sldNum" sz="quarter" idx="12"/>
          </p:nvPr>
        </p:nvSpPr>
        <p:spPr/>
        <p:txBody>
          <a:bodyPr/>
          <a:lstStyle>
            <a:lvl1pPr>
              <a:defRPr/>
            </a:lvl1pPr>
          </a:lstStyle>
          <a:p>
            <a:pPr>
              <a:defRPr/>
            </a:pPr>
            <a:fld id="{66C705C3-B364-4629-A107-E36FCF12B0FC}" type="slidenum">
              <a:rPr lang="en-GB" altLang="en-US"/>
              <a:pPr>
                <a:defRPr/>
              </a:pPr>
              <a:t>‹#›</a:t>
            </a:fld>
            <a:endParaRPr lang="en-GB" altLang="en-US"/>
          </a:p>
        </p:txBody>
      </p:sp>
    </p:spTree>
    <p:extLst>
      <p:ext uri="{BB962C8B-B14F-4D97-AF65-F5344CB8AC3E}">
        <p14:creationId xmlns:p14="http://schemas.microsoft.com/office/powerpoint/2010/main" val="42635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44D5AA8B-B01E-46F3-C62F-FCE7D9A569F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08E1609F-5AA5-80F4-30D0-DBCE5236971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2FA5CEA0-E675-CDA8-9359-23A3EAA6C721}"/>
              </a:ext>
            </a:extLst>
          </p:cNvPr>
          <p:cNvSpPr>
            <a:spLocks noGrp="1"/>
          </p:cNvSpPr>
          <p:nvPr>
            <p:ph type="sldNum" sz="quarter" idx="12"/>
          </p:nvPr>
        </p:nvSpPr>
        <p:spPr/>
        <p:txBody>
          <a:bodyPr/>
          <a:lstStyle>
            <a:lvl1pPr>
              <a:defRPr/>
            </a:lvl1pPr>
          </a:lstStyle>
          <a:p>
            <a:pPr>
              <a:defRPr/>
            </a:pPr>
            <a:fld id="{2D24EF56-4ACE-450F-A7DD-8E4C428E809A}" type="slidenum">
              <a:rPr lang="en-GB" altLang="en-US"/>
              <a:pPr>
                <a:defRPr/>
              </a:pPr>
              <a:t>‹#›</a:t>
            </a:fld>
            <a:endParaRPr lang="en-GB" altLang="en-US"/>
          </a:p>
        </p:txBody>
      </p:sp>
    </p:spTree>
    <p:extLst>
      <p:ext uri="{BB962C8B-B14F-4D97-AF65-F5344CB8AC3E}">
        <p14:creationId xmlns:p14="http://schemas.microsoft.com/office/powerpoint/2010/main" val="154020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82C65B-8123-09AD-C768-EFA9AA22FD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275FD1B-7CD8-996E-2C11-932D1F4DBF4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5440A63-02C6-C3BE-37F9-0CD17051AB2C}"/>
              </a:ext>
            </a:extLst>
          </p:cNvPr>
          <p:cNvSpPr>
            <a:spLocks noGrp="1"/>
          </p:cNvSpPr>
          <p:nvPr>
            <p:ph type="sldNum" sz="quarter" idx="12"/>
          </p:nvPr>
        </p:nvSpPr>
        <p:spPr/>
        <p:txBody>
          <a:bodyPr/>
          <a:lstStyle>
            <a:lvl1pPr>
              <a:defRPr/>
            </a:lvl1pPr>
          </a:lstStyle>
          <a:p>
            <a:pPr>
              <a:defRPr/>
            </a:pPr>
            <a:fld id="{960B4257-4EAD-4B33-9187-8B0607F59988}" type="slidenum">
              <a:rPr lang="en-GB" altLang="en-US"/>
              <a:pPr>
                <a:defRPr/>
              </a:pPr>
              <a:t>‹#›</a:t>
            </a:fld>
            <a:endParaRPr lang="en-GB" altLang="en-US"/>
          </a:p>
        </p:txBody>
      </p:sp>
    </p:spTree>
    <p:extLst>
      <p:ext uri="{BB962C8B-B14F-4D97-AF65-F5344CB8AC3E}">
        <p14:creationId xmlns:p14="http://schemas.microsoft.com/office/powerpoint/2010/main" val="30016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38E955-62F5-DD4E-EE52-7755BC98615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23F677-8E04-4AF5-7A8F-62E869B9A7D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F51409A-F1AF-841D-E371-7B283311DB8C}"/>
              </a:ext>
            </a:extLst>
          </p:cNvPr>
          <p:cNvSpPr>
            <a:spLocks noGrp="1"/>
          </p:cNvSpPr>
          <p:nvPr>
            <p:ph type="sldNum" sz="quarter" idx="12"/>
          </p:nvPr>
        </p:nvSpPr>
        <p:spPr/>
        <p:txBody>
          <a:bodyPr/>
          <a:lstStyle>
            <a:lvl1pPr>
              <a:defRPr/>
            </a:lvl1pPr>
          </a:lstStyle>
          <a:p>
            <a:pPr>
              <a:defRPr/>
            </a:pPr>
            <a:fld id="{23E30639-9610-4849-A845-B7AFDD53177D}" type="slidenum">
              <a:rPr lang="en-GB" altLang="en-US"/>
              <a:pPr>
                <a:defRPr/>
              </a:pPr>
              <a:t>‹#›</a:t>
            </a:fld>
            <a:endParaRPr lang="en-GB" altLang="en-US"/>
          </a:p>
        </p:txBody>
      </p:sp>
    </p:spTree>
    <p:extLst>
      <p:ext uri="{BB962C8B-B14F-4D97-AF65-F5344CB8AC3E}">
        <p14:creationId xmlns:p14="http://schemas.microsoft.com/office/powerpoint/2010/main" val="343728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A64DF63-3DD7-821E-54F3-A943D67D81F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D262D890-8658-5D37-F511-34DD99DB7A1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CEDFAD4-83EC-8E6C-126A-4165CC02B610}"/>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endParaRPr lang="en-US" altLang="en-US"/>
          </a:p>
        </p:txBody>
      </p:sp>
      <p:sp>
        <p:nvSpPr>
          <p:cNvPr id="5" name="Footer Placeholder 4">
            <a:extLst>
              <a:ext uri="{FF2B5EF4-FFF2-40B4-BE49-F238E27FC236}">
                <a16:creationId xmlns:a16="http://schemas.microsoft.com/office/drawing/2014/main" id="{3E18FCFC-4EA7-3C10-D20A-1EB4D26558E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2AD705-2A07-18FC-AAED-DB92C7D6C8A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9CF8B0-F3D1-4896-8BDE-4D5FE3D569F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w3.org/TR/html5/obsolete.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w3schools.com/css/css_rwd_intro.asp"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w3school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D22B11-C1DB-B6A6-2EEE-0A845FB70593}"/>
              </a:ext>
            </a:extLst>
          </p:cNvPr>
          <p:cNvSpPr>
            <a:spLocks noGrp="1" noChangeArrowheads="1"/>
          </p:cNvSpPr>
          <p:nvPr>
            <p:ph type="ctrTitle"/>
          </p:nvPr>
        </p:nvSpPr>
        <p:spPr>
          <a:xfrm>
            <a:off x="647700" y="2133600"/>
            <a:ext cx="7848600" cy="1470025"/>
          </a:xfrm>
        </p:spPr>
        <p:txBody>
          <a:bodyPr rtlCol="0">
            <a:normAutofit/>
          </a:bodyPr>
          <a:lstStyle/>
          <a:p>
            <a:pPr eaLnBrk="1" fontAlgn="auto" hangingPunct="1">
              <a:spcAft>
                <a:spcPts val="0"/>
              </a:spcAft>
              <a:defRPr/>
            </a:pPr>
            <a:r>
              <a:rPr lang="en-GB" dirty="0">
                <a:ea typeface="+mj-ea"/>
                <a:cs typeface="+mj-cs"/>
              </a:rPr>
              <a:t>COM4012M – HTML5 &amp; CSS3</a:t>
            </a:r>
          </a:p>
        </p:txBody>
      </p:sp>
      <p:sp>
        <p:nvSpPr>
          <p:cNvPr id="3075" name="Rectangle 3">
            <a:extLst>
              <a:ext uri="{FF2B5EF4-FFF2-40B4-BE49-F238E27FC236}">
                <a16:creationId xmlns:a16="http://schemas.microsoft.com/office/drawing/2014/main" id="{DA12F9B4-B776-2DD3-BE3B-4F6AF00DB9ED}"/>
              </a:ext>
            </a:extLst>
          </p:cNvPr>
          <p:cNvSpPr>
            <a:spLocks noGrp="1"/>
          </p:cNvSpPr>
          <p:nvPr>
            <p:ph type="subTitle" idx="1"/>
          </p:nvPr>
        </p:nvSpPr>
        <p:spPr/>
        <p:txBody>
          <a:bodyPr/>
          <a:lstStyle/>
          <a:p>
            <a:pPr eaLnBrk="1" hangingPunct="1">
              <a:buFont typeface="Wingdings" panose="05000000000000000000" pitchFamily="2" charset="2"/>
              <a:buNone/>
            </a:pPr>
            <a:r>
              <a:rPr lang="en-GB" altLang="en-US" dirty="0">
                <a:solidFill>
                  <a:srgbClr val="898989"/>
                </a:solidFill>
                <a:latin typeface="+mj-lt"/>
              </a:rPr>
              <a:t>Week 5 Lab Session 5</a:t>
            </a:r>
          </a:p>
          <a:p>
            <a:pPr eaLnBrk="1" hangingPunct="1">
              <a:buFont typeface="Wingdings" panose="05000000000000000000" pitchFamily="2" charset="2"/>
              <a:buNone/>
            </a:pPr>
            <a:endParaRPr lang="en-GB" altLang="en-US" dirty="0">
              <a:solidFill>
                <a:srgbClr val="898989"/>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718F653-B16D-8A80-B338-53FD53F624B1}"/>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03008CAA-58BB-9816-3370-99195DD15434}"/>
              </a:ext>
            </a:extLst>
          </p:cNvPr>
          <p:cNvSpPr>
            <a:spLocks noGrp="1"/>
          </p:cNvSpPr>
          <p:nvPr>
            <p:ph type="title"/>
          </p:nvPr>
        </p:nvSpPr>
        <p:spPr>
          <a:xfrm>
            <a:off x="533400" y="228600"/>
            <a:ext cx="8229600" cy="838200"/>
          </a:xfrm>
        </p:spPr>
        <p:txBody>
          <a:bodyPr/>
          <a:lstStyle/>
          <a:p>
            <a:pPr eaLnBrk="1" hangingPunct="1"/>
            <a:r>
              <a:rPr lang="en-GB" altLang="en-US" dirty="0">
                <a:latin typeface="+mn-lt"/>
              </a:rPr>
              <a:t>HTML5</a:t>
            </a:r>
          </a:p>
        </p:txBody>
      </p:sp>
      <p:sp>
        <p:nvSpPr>
          <p:cNvPr id="5123" name="Rectangle 3">
            <a:extLst>
              <a:ext uri="{FF2B5EF4-FFF2-40B4-BE49-F238E27FC236}">
                <a16:creationId xmlns:a16="http://schemas.microsoft.com/office/drawing/2014/main" id="{1372D5BC-0841-7191-D4A0-4C1202001BCC}"/>
              </a:ext>
            </a:extLst>
          </p:cNvPr>
          <p:cNvSpPr>
            <a:spLocks noGrp="1"/>
          </p:cNvSpPr>
          <p:nvPr>
            <p:ph idx="1"/>
          </p:nvPr>
        </p:nvSpPr>
        <p:spPr>
          <a:xfrm>
            <a:off x="457200" y="1447800"/>
            <a:ext cx="8229600" cy="4724400"/>
          </a:xfrm>
        </p:spPr>
        <p:txBody>
          <a:bodyPr/>
          <a:lstStyle/>
          <a:p>
            <a:pPr eaLnBrk="1" hangingPunct="1">
              <a:lnSpc>
                <a:spcPct val="90000"/>
              </a:lnSpc>
            </a:pPr>
            <a:r>
              <a:rPr lang="en-GB" altLang="en-US" dirty="0"/>
              <a:t>HTML 5 is the new standard for HTML. So far, all of the HTML you have written is HTML5 compatible, however, a lot of it is based on the old HTML 4 language. HTML5, the new standard, adds new tags that increase the functionality of the language, and it also gets rid of some old tags that are superseded by the new ones, i.e. they are deprecated.</a:t>
            </a:r>
          </a:p>
          <a:p>
            <a:pPr lvl="1" eaLnBrk="1" hangingPunct="1">
              <a:lnSpc>
                <a:spcPct val="90000"/>
              </a:lnSpc>
            </a:pPr>
            <a:endParaRPr lang="en-GB" altLang="en-US" sz="20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marL="457200" lvl="1" indent="0" eaLnBrk="1" hangingPunct="1">
              <a:lnSpc>
                <a:spcPct val="90000"/>
              </a:lnSpc>
              <a:buNone/>
            </a:pPr>
            <a:endParaRPr lang="en-GB" altLang="en-US" sz="2000" dirty="0"/>
          </a:p>
        </p:txBody>
      </p:sp>
    </p:spTree>
    <p:extLst>
      <p:ext uri="{BB962C8B-B14F-4D97-AF65-F5344CB8AC3E}">
        <p14:creationId xmlns:p14="http://schemas.microsoft.com/office/powerpoint/2010/main" val="2823282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1E2D7AB-F6B6-7EB6-6E30-9720B3FC7F5A}"/>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57AF4AD4-BC7B-DD4E-D35E-52BDF77B85E3}"/>
              </a:ext>
            </a:extLst>
          </p:cNvPr>
          <p:cNvSpPr>
            <a:spLocks noGrp="1"/>
          </p:cNvSpPr>
          <p:nvPr>
            <p:ph type="title"/>
          </p:nvPr>
        </p:nvSpPr>
        <p:spPr>
          <a:xfrm>
            <a:off x="533400" y="228600"/>
            <a:ext cx="8229600" cy="838200"/>
          </a:xfrm>
        </p:spPr>
        <p:txBody>
          <a:bodyPr/>
          <a:lstStyle/>
          <a:p>
            <a:pPr eaLnBrk="1" hangingPunct="1"/>
            <a:r>
              <a:rPr lang="en-GB" altLang="en-US" dirty="0">
                <a:latin typeface="+mn-lt"/>
              </a:rPr>
              <a:t>HTML5</a:t>
            </a:r>
          </a:p>
        </p:txBody>
      </p:sp>
      <p:sp>
        <p:nvSpPr>
          <p:cNvPr id="5123" name="Rectangle 3">
            <a:extLst>
              <a:ext uri="{FF2B5EF4-FFF2-40B4-BE49-F238E27FC236}">
                <a16:creationId xmlns:a16="http://schemas.microsoft.com/office/drawing/2014/main" id="{365B6720-18E1-F23B-07F7-0F262BFCBA87}"/>
              </a:ext>
            </a:extLst>
          </p:cNvPr>
          <p:cNvSpPr>
            <a:spLocks noGrp="1"/>
          </p:cNvSpPr>
          <p:nvPr>
            <p:ph idx="1"/>
          </p:nvPr>
        </p:nvSpPr>
        <p:spPr>
          <a:xfrm>
            <a:off x="457200" y="1447800"/>
            <a:ext cx="8229600" cy="4724400"/>
          </a:xfrm>
        </p:spPr>
        <p:txBody>
          <a:bodyPr/>
          <a:lstStyle/>
          <a:p>
            <a:pPr eaLnBrk="1" hangingPunct="1">
              <a:lnSpc>
                <a:spcPct val="90000"/>
              </a:lnSpc>
            </a:pPr>
            <a:r>
              <a:rPr lang="en-GB" altLang="en-US" sz="2400" dirty="0"/>
              <a:t>The changes in HTML5 fall into four main areas:</a:t>
            </a:r>
          </a:p>
          <a:p>
            <a:pPr eaLnBrk="1" hangingPunct="1">
              <a:lnSpc>
                <a:spcPct val="90000"/>
              </a:lnSpc>
            </a:pPr>
            <a:endParaRPr lang="en-GB" altLang="en-US" sz="2400" dirty="0"/>
          </a:p>
          <a:p>
            <a:pPr marL="0" indent="0" eaLnBrk="1" hangingPunct="1">
              <a:lnSpc>
                <a:spcPct val="90000"/>
              </a:lnSpc>
              <a:buNone/>
            </a:pPr>
            <a:r>
              <a:rPr lang="en-GB" altLang="en-US" sz="2400" dirty="0"/>
              <a:t>1.	The doctype and meta tags are slightly different.</a:t>
            </a:r>
          </a:p>
          <a:p>
            <a:pPr marL="0" indent="0" eaLnBrk="1" hangingPunct="1">
              <a:lnSpc>
                <a:spcPct val="90000"/>
              </a:lnSpc>
              <a:buNone/>
            </a:pPr>
            <a:r>
              <a:rPr lang="en-GB" altLang="en-US" sz="2400" dirty="0"/>
              <a:t>2.	New semantic elements: &lt;header&gt; &lt;footer&gt; &lt;article&gt; 		&lt;section&gt; &lt;sidebar&gt;</a:t>
            </a:r>
          </a:p>
          <a:p>
            <a:pPr marL="0" indent="0" eaLnBrk="1" hangingPunct="1">
              <a:lnSpc>
                <a:spcPct val="90000"/>
              </a:lnSpc>
              <a:buNone/>
            </a:pPr>
            <a:r>
              <a:rPr lang="en-GB" altLang="en-US" sz="2400" dirty="0"/>
              <a:t>3.	New multimedia elements: &lt;audio&gt;, &lt;video&gt;  </a:t>
            </a:r>
          </a:p>
          <a:p>
            <a:pPr marL="0" indent="0" eaLnBrk="1" hangingPunct="1">
              <a:lnSpc>
                <a:spcPct val="90000"/>
              </a:lnSpc>
              <a:buNone/>
            </a:pPr>
            <a:r>
              <a:rPr lang="en-GB" altLang="en-US" sz="2400" dirty="0"/>
              <a:t>4.	New graphical elements: &lt;canvas&gt; &lt;</a:t>
            </a:r>
            <a:r>
              <a:rPr lang="en-GB" altLang="en-US" sz="2400" dirty="0" err="1"/>
              <a:t>svg</a:t>
            </a:r>
            <a:r>
              <a:rPr lang="en-GB" altLang="en-US" sz="2400" dirty="0"/>
              <a:t>&gt;</a:t>
            </a:r>
          </a:p>
          <a:p>
            <a:pPr marL="0" indent="0" eaLnBrk="1" hangingPunct="1">
              <a:lnSpc>
                <a:spcPct val="90000"/>
              </a:lnSpc>
              <a:buNone/>
            </a:pPr>
            <a:endParaRPr lang="en-GB" altLang="en-US" sz="2400" dirty="0"/>
          </a:p>
          <a:p>
            <a:pPr marL="0" indent="0" eaLnBrk="1" hangingPunct="1">
              <a:lnSpc>
                <a:spcPct val="90000"/>
              </a:lnSpc>
              <a:buNone/>
            </a:pPr>
            <a:r>
              <a:rPr lang="en-GB" altLang="en-US" sz="2400" dirty="0"/>
              <a:t>See here for obsolete (deprecated) features in HTML 5 </a:t>
            </a:r>
            <a:r>
              <a:rPr lang="en-GB" altLang="en-US" sz="2400" dirty="0">
                <a:hlinkClick r:id="rId3"/>
              </a:rPr>
              <a:t>https://www.w3.org/TR/html5/obsolete.html</a:t>
            </a:r>
            <a:r>
              <a:rPr lang="en-GB" altLang="en-US" sz="2400" dirty="0"/>
              <a:t>  </a:t>
            </a:r>
          </a:p>
          <a:p>
            <a:pPr lvl="1" eaLnBrk="1" hangingPunct="1">
              <a:lnSpc>
                <a:spcPct val="90000"/>
              </a:lnSpc>
            </a:pPr>
            <a:endParaRPr lang="en-GB" altLang="en-US" sz="20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lvl="1" eaLnBrk="1" hangingPunct="1">
              <a:lnSpc>
                <a:spcPct val="90000"/>
              </a:lnSpc>
            </a:pPr>
            <a:endParaRPr lang="en-GB" altLang="en-US" sz="1800" dirty="0"/>
          </a:p>
          <a:p>
            <a:pPr marL="457200" lvl="1" indent="0" eaLnBrk="1" hangingPunct="1">
              <a:lnSpc>
                <a:spcPct val="90000"/>
              </a:lnSpc>
              <a:buNone/>
            </a:pPr>
            <a:endParaRPr lang="en-GB" altLang="en-US" sz="2000" dirty="0"/>
          </a:p>
        </p:txBody>
      </p:sp>
    </p:spTree>
    <p:extLst>
      <p:ext uri="{BB962C8B-B14F-4D97-AF65-F5344CB8AC3E}">
        <p14:creationId xmlns:p14="http://schemas.microsoft.com/office/powerpoint/2010/main" val="3374849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DOCTYPE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p:txBody>
          <a:bodyPr/>
          <a:lstStyle/>
          <a:p>
            <a:pPr eaLnBrk="1" hangingPunct="1"/>
            <a:r>
              <a:rPr lang="en-GB" altLang="en-US" sz="2400" dirty="0"/>
              <a:t>The &lt;!DOCTYPE&gt; declaration must be the very first thing in your HTML document, before the &lt;html&gt; tag.</a:t>
            </a:r>
          </a:p>
          <a:p>
            <a:pPr eaLnBrk="1" hangingPunct="1"/>
            <a:endParaRPr lang="en-GB" altLang="en-US" sz="2400" dirty="0"/>
          </a:p>
          <a:p>
            <a:pPr eaLnBrk="1" hangingPunct="1"/>
            <a:r>
              <a:rPr lang="en-GB" altLang="en-US" sz="2400" dirty="0"/>
              <a:t>The &lt;!DOCTYPE&gt; declaration is not an HTML tag; it is an instruction to the web browser about what version of HTML the page is written in.</a:t>
            </a:r>
          </a:p>
          <a:p>
            <a:pPr eaLnBrk="1" hangingPunct="1"/>
            <a:endParaRPr lang="en-GB" altLang="en-US" sz="2400" dirty="0"/>
          </a:p>
          <a:p>
            <a:pPr eaLnBrk="1" hangingPunct="1"/>
            <a:r>
              <a:rPr lang="en-GB" altLang="en-US" sz="2400" dirty="0"/>
              <a:t>There are three different &lt;!DOCTYPE&gt; declarations in HTML 4.01. In HTML5 there is only one:</a:t>
            </a:r>
          </a:p>
          <a:p>
            <a:pPr marL="0" indent="0" eaLnBrk="1" hangingPunct="1">
              <a:buNone/>
            </a:pPr>
            <a:r>
              <a:rPr lang="en-GB" altLang="en-US" sz="2400" dirty="0"/>
              <a:t>	</a:t>
            </a:r>
            <a:r>
              <a:rPr lang="en-GB" altLang="en-US" sz="2400" b="1" dirty="0"/>
              <a:t>&lt;!DOCTYPE html&gt; </a:t>
            </a:r>
          </a:p>
        </p:txBody>
      </p:sp>
    </p:spTree>
    <p:extLst>
      <p:ext uri="{BB962C8B-B14F-4D97-AF65-F5344CB8AC3E}">
        <p14:creationId xmlns:p14="http://schemas.microsoft.com/office/powerpoint/2010/main" val="49530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339219C-22A4-6CB1-35DC-B96E899A972A}"/>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CD504D0F-EA23-1C0C-536A-83011BE5839E}"/>
              </a:ext>
            </a:extLst>
          </p:cNvPr>
          <p:cNvSpPr>
            <a:spLocks noGrp="1"/>
          </p:cNvSpPr>
          <p:nvPr>
            <p:ph type="title"/>
          </p:nvPr>
        </p:nvSpPr>
        <p:spPr>
          <a:xfrm>
            <a:off x="533400" y="228600"/>
            <a:ext cx="8229600" cy="838200"/>
          </a:xfrm>
        </p:spPr>
        <p:txBody>
          <a:bodyPr/>
          <a:lstStyle/>
          <a:p>
            <a:pPr eaLnBrk="1" hangingPunct="1">
              <a:lnSpc>
                <a:spcPct val="90000"/>
              </a:lnSpc>
            </a:pPr>
            <a:r>
              <a:rPr lang="en-GB" altLang="en-US" sz="4400" dirty="0">
                <a:latin typeface="+mn-lt"/>
              </a:rPr>
              <a:t>Metadata</a:t>
            </a:r>
          </a:p>
        </p:txBody>
      </p:sp>
      <p:sp>
        <p:nvSpPr>
          <p:cNvPr id="5123" name="Rectangle 3">
            <a:extLst>
              <a:ext uri="{FF2B5EF4-FFF2-40B4-BE49-F238E27FC236}">
                <a16:creationId xmlns:a16="http://schemas.microsoft.com/office/drawing/2014/main" id="{09CD60AF-6ED3-765B-7BE5-CC4A717815BA}"/>
              </a:ext>
            </a:extLst>
          </p:cNvPr>
          <p:cNvSpPr>
            <a:spLocks noGrp="1"/>
          </p:cNvSpPr>
          <p:nvPr>
            <p:ph idx="1"/>
          </p:nvPr>
        </p:nvSpPr>
        <p:spPr>
          <a:xfrm>
            <a:off x="457200" y="1371600"/>
            <a:ext cx="8229600" cy="5257800"/>
          </a:xfrm>
        </p:spPr>
        <p:txBody>
          <a:bodyPr/>
          <a:lstStyle/>
          <a:p>
            <a:pPr eaLnBrk="1" hangingPunct="1">
              <a:lnSpc>
                <a:spcPct val="90000"/>
              </a:lnSpc>
            </a:pPr>
            <a:r>
              <a:rPr lang="en-GB" altLang="en-US" sz="2400" dirty="0"/>
              <a:t>Metadata is data (information) about data. Meta elements are typically used to specify page description, keywords, author of the document, last modified, and other metadata.</a:t>
            </a:r>
          </a:p>
          <a:p>
            <a:pPr eaLnBrk="1" hangingPunct="1">
              <a:lnSpc>
                <a:spcPct val="90000"/>
              </a:lnSpc>
            </a:pPr>
            <a:endParaRPr lang="en-GB" altLang="en-US" sz="2400" dirty="0"/>
          </a:p>
          <a:p>
            <a:pPr eaLnBrk="1" hangingPunct="1">
              <a:lnSpc>
                <a:spcPct val="90000"/>
              </a:lnSpc>
            </a:pPr>
            <a:r>
              <a:rPr lang="en-GB" altLang="en-US" sz="2400" dirty="0"/>
              <a:t>The &lt;meta&gt; tag provides metadata about the HTML document. HTML5 has a new attribute, charset, which makes it easier to define charset (character set):</a:t>
            </a:r>
          </a:p>
          <a:p>
            <a:pPr lvl="1" eaLnBrk="1" hangingPunct="1">
              <a:lnSpc>
                <a:spcPct val="90000"/>
              </a:lnSpc>
            </a:pPr>
            <a:r>
              <a:rPr lang="en-GB" altLang="en-US" sz="2400" dirty="0"/>
              <a:t>HTML 4.01:&lt; meta http-</a:t>
            </a:r>
            <a:r>
              <a:rPr lang="en-GB" altLang="en-US" sz="2400" dirty="0" err="1"/>
              <a:t>equiv</a:t>
            </a:r>
            <a:r>
              <a:rPr lang="en-GB" altLang="en-US" sz="2400" dirty="0"/>
              <a:t>="content-type" content="text/html; charset=UTF-8"&gt;</a:t>
            </a:r>
          </a:p>
          <a:p>
            <a:pPr lvl="1" eaLnBrk="1" hangingPunct="1">
              <a:lnSpc>
                <a:spcPct val="90000"/>
              </a:lnSpc>
            </a:pPr>
            <a:r>
              <a:rPr lang="en-GB" altLang="en-US" sz="2400" dirty="0"/>
              <a:t>HTML5:&lt; meta charset="UTF-8"&gt;</a:t>
            </a:r>
          </a:p>
          <a:p>
            <a:pPr eaLnBrk="1" hangingPunct="1">
              <a:lnSpc>
                <a:spcPct val="90000"/>
              </a:lnSpc>
            </a:pPr>
            <a:endParaRPr lang="en-GB" altLang="en-US" sz="2400" dirty="0"/>
          </a:p>
          <a:p>
            <a:pPr eaLnBrk="1" hangingPunct="1">
              <a:lnSpc>
                <a:spcPct val="90000"/>
              </a:lnSpc>
            </a:pPr>
            <a:r>
              <a:rPr lang="en-GB" altLang="en-US" sz="2400" dirty="0"/>
              <a:t>Other charsets include ASCII, ANSI &amp; ISO, though use of UTF-8 is encouraged for web developers. </a:t>
            </a:r>
          </a:p>
          <a:p>
            <a:pPr eaLnBrk="1" hangingPunct="1">
              <a:lnSpc>
                <a:spcPct val="90000"/>
              </a:lnSpc>
            </a:pPr>
            <a:endParaRPr lang="en-GB" altLang="en-US" sz="2400" dirty="0"/>
          </a:p>
          <a:p>
            <a:pPr marL="457200" lvl="1" indent="0" eaLnBrk="1" hangingPunct="1">
              <a:lnSpc>
                <a:spcPct val="90000"/>
              </a:lnSpc>
              <a:buNone/>
            </a:pPr>
            <a:endParaRPr lang="en-GB" altLang="en-US" sz="2400" dirty="0"/>
          </a:p>
          <a:p>
            <a:pPr marL="457200" lvl="1" indent="0" eaLnBrk="1" hangingPunct="1">
              <a:lnSpc>
                <a:spcPct val="90000"/>
              </a:lnSpc>
              <a:buNone/>
            </a:pPr>
            <a:endParaRPr lang="en-GB" altLang="en-US" sz="2400" dirty="0"/>
          </a:p>
          <a:p>
            <a:pPr lvl="1" eaLnBrk="1" hangingPunct="1">
              <a:lnSpc>
                <a:spcPct val="90000"/>
              </a:lnSpc>
            </a:pPr>
            <a:endParaRPr lang="en-GB" altLang="en-US" sz="2000" dirty="0"/>
          </a:p>
          <a:p>
            <a:pPr marL="457200" lvl="1" indent="0" eaLnBrk="1" hangingPunct="1">
              <a:lnSpc>
                <a:spcPct val="90000"/>
              </a:lnSpc>
              <a:buNone/>
            </a:pPr>
            <a:endParaRPr lang="en-GB" altLang="en-US" sz="2400" dirty="0"/>
          </a:p>
        </p:txBody>
      </p:sp>
    </p:spTree>
    <p:extLst>
      <p:ext uri="{BB962C8B-B14F-4D97-AF65-F5344CB8AC3E}">
        <p14:creationId xmlns:p14="http://schemas.microsoft.com/office/powerpoint/2010/main" val="4058445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A05F03E-BDF1-EAEB-10B6-F1754A882F54}"/>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1A7F4135-10B2-1A5A-493F-627F6C77E720}"/>
              </a:ext>
            </a:extLst>
          </p:cNvPr>
          <p:cNvSpPr>
            <a:spLocks noGrp="1"/>
          </p:cNvSpPr>
          <p:nvPr>
            <p:ph type="title"/>
          </p:nvPr>
        </p:nvSpPr>
        <p:spPr>
          <a:xfrm>
            <a:off x="533400" y="228600"/>
            <a:ext cx="8229600" cy="838200"/>
          </a:xfrm>
        </p:spPr>
        <p:txBody>
          <a:bodyPr/>
          <a:lstStyle/>
          <a:p>
            <a:pPr eaLnBrk="1" hangingPunct="1">
              <a:lnSpc>
                <a:spcPct val="90000"/>
              </a:lnSpc>
            </a:pPr>
            <a:r>
              <a:rPr lang="en-GB" altLang="en-US" sz="4400" dirty="0">
                <a:latin typeface="+mn-lt"/>
              </a:rPr>
              <a:t>Semantic Elements Recap</a:t>
            </a:r>
          </a:p>
        </p:txBody>
      </p:sp>
      <p:sp>
        <p:nvSpPr>
          <p:cNvPr id="5123" name="Rectangle 3">
            <a:extLst>
              <a:ext uri="{FF2B5EF4-FFF2-40B4-BE49-F238E27FC236}">
                <a16:creationId xmlns:a16="http://schemas.microsoft.com/office/drawing/2014/main" id="{381CB796-D834-D21F-B872-FD7C60DFEC7A}"/>
              </a:ext>
            </a:extLst>
          </p:cNvPr>
          <p:cNvSpPr>
            <a:spLocks noGrp="1"/>
          </p:cNvSpPr>
          <p:nvPr>
            <p:ph idx="1"/>
          </p:nvPr>
        </p:nvSpPr>
        <p:spPr>
          <a:xfrm>
            <a:off x="457200" y="1371600"/>
            <a:ext cx="8229600" cy="4724400"/>
          </a:xfrm>
        </p:spPr>
        <p:txBody>
          <a:bodyPr/>
          <a:lstStyle/>
          <a:p>
            <a:pPr eaLnBrk="1" hangingPunct="1">
              <a:lnSpc>
                <a:spcPct val="90000"/>
              </a:lnSpc>
            </a:pPr>
            <a:r>
              <a:rPr lang="en-GB" altLang="en-US" sz="2400" dirty="0"/>
              <a:t>If you recall back to Week 3, we covered the new tag equivalents of the &lt;div&gt; tag, which improve the code accessibility/readability of the page.</a:t>
            </a:r>
          </a:p>
          <a:p>
            <a:pPr eaLnBrk="1" hangingPunct="1">
              <a:lnSpc>
                <a:spcPct val="90000"/>
              </a:lnSpc>
            </a:pPr>
            <a:endParaRPr lang="en-GB" altLang="en-US" sz="2400" dirty="0"/>
          </a:p>
          <a:p>
            <a:pPr eaLnBrk="1" hangingPunct="1">
              <a:lnSpc>
                <a:spcPct val="90000"/>
              </a:lnSpc>
            </a:pPr>
            <a:r>
              <a:rPr lang="en-GB" altLang="en-US" sz="2400" dirty="0"/>
              <a:t>These were, but not limited to:</a:t>
            </a:r>
          </a:p>
          <a:p>
            <a:pPr lvl="1" eaLnBrk="1" hangingPunct="1">
              <a:lnSpc>
                <a:spcPct val="90000"/>
              </a:lnSpc>
            </a:pPr>
            <a:r>
              <a:rPr lang="en-GB" altLang="en-US" sz="1800" dirty="0"/>
              <a:t>&lt;header&gt;</a:t>
            </a:r>
          </a:p>
          <a:p>
            <a:pPr lvl="1" eaLnBrk="1" hangingPunct="1">
              <a:lnSpc>
                <a:spcPct val="90000"/>
              </a:lnSpc>
            </a:pPr>
            <a:r>
              <a:rPr lang="en-GB" altLang="en-US" sz="1800" dirty="0"/>
              <a:t>&lt;footer&gt;</a:t>
            </a:r>
          </a:p>
          <a:p>
            <a:pPr lvl="1" eaLnBrk="1" hangingPunct="1">
              <a:lnSpc>
                <a:spcPct val="90000"/>
              </a:lnSpc>
            </a:pPr>
            <a:r>
              <a:rPr lang="en-GB" altLang="en-US" sz="1800" dirty="0"/>
              <a:t>&lt;nav&gt;</a:t>
            </a:r>
          </a:p>
          <a:p>
            <a:pPr lvl="1" eaLnBrk="1" hangingPunct="1">
              <a:lnSpc>
                <a:spcPct val="90000"/>
              </a:lnSpc>
            </a:pPr>
            <a:r>
              <a:rPr lang="en-GB" altLang="en-US" sz="1800" dirty="0"/>
              <a:t>&lt;section&gt;</a:t>
            </a:r>
          </a:p>
          <a:p>
            <a:pPr lvl="1" eaLnBrk="1" hangingPunct="1">
              <a:lnSpc>
                <a:spcPct val="90000"/>
              </a:lnSpc>
            </a:pPr>
            <a:r>
              <a:rPr lang="en-GB" altLang="en-US" sz="1800" dirty="0"/>
              <a:t>&lt;article&gt;</a:t>
            </a:r>
          </a:p>
          <a:p>
            <a:pPr eaLnBrk="1" hangingPunct="1">
              <a:lnSpc>
                <a:spcPct val="90000"/>
              </a:lnSpc>
            </a:pPr>
            <a:endParaRPr lang="en-GB" altLang="en-US" sz="2400" dirty="0"/>
          </a:p>
          <a:p>
            <a:pPr eaLnBrk="1" hangingPunct="1">
              <a:lnSpc>
                <a:spcPct val="90000"/>
              </a:lnSpc>
            </a:pPr>
            <a:r>
              <a:rPr lang="en-GB" altLang="en-US" sz="2400" dirty="0"/>
              <a:t>The other significant reason for the tags is to enable machine reading of the pages, so that they can, for example, be automatically processed (very important for search engines).</a:t>
            </a:r>
          </a:p>
          <a:p>
            <a:pPr marL="457200" lvl="1" indent="0" eaLnBrk="1" hangingPunct="1">
              <a:lnSpc>
                <a:spcPct val="90000"/>
              </a:lnSpc>
              <a:buNone/>
            </a:pPr>
            <a:endParaRPr lang="en-GB" altLang="en-US" sz="2000" dirty="0"/>
          </a:p>
        </p:txBody>
      </p:sp>
    </p:spTree>
    <p:extLst>
      <p:ext uri="{BB962C8B-B14F-4D97-AF65-F5344CB8AC3E}">
        <p14:creationId xmlns:p14="http://schemas.microsoft.com/office/powerpoint/2010/main" val="3207795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60AED26-C427-6B88-E02C-E6372E5FEC37}"/>
              </a:ext>
            </a:extLst>
          </p:cNvPr>
          <p:cNvSpPr>
            <a:spLocks noGrp="1"/>
          </p:cNvSpPr>
          <p:nvPr>
            <p:ph type="title"/>
          </p:nvPr>
        </p:nvSpPr>
        <p:spPr>
          <a:xfrm>
            <a:off x="381000" y="0"/>
            <a:ext cx="8229600" cy="1371600"/>
          </a:xfrm>
        </p:spPr>
        <p:txBody>
          <a:bodyPr/>
          <a:lstStyle/>
          <a:p>
            <a:pPr eaLnBrk="1" hangingPunct="1"/>
            <a:r>
              <a:rPr lang="en-GB" altLang="en-US" sz="4400" dirty="0"/>
              <a:t>Semantic Elements Recap</a:t>
            </a:r>
            <a:endParaRPr lang="en-GB" altLang="en-US" dirty="0"/>
          </a:p>
        </p:txBody>
      </p:sp>
      <p:sp>
        <p:nvSpPr>
          <p:cNvPr id="2" name="Rectangle 3">
            <a:extLst>
              <a:ext uri="{FF2B5EF4-FFF2-40B4-BE49-F238E27FC236}">
                <a16:creationId xmlns:a16="http://schemas.microsoft.com/office/drawing/2014/main" id="{52DE4ECD-C5F6-A1E5-C293-EDEE52A105BE}"/>
              </a:ext>
            </a:extLst>
          </p:cNvPr>
          <p:cNvSpPr>
            <a:spLocks noGrp="1"/>
          </p:cNvSpPr>
          <p:nvPr>
            <p:ph idx="1"/>
          </p:nvPr>
        </p:nvSpPr>
        <p:spPr>
          <a:xfrm>
            <a:off x="457200" y="1371600"/>
            <a:ext cx="8229600" cy="5105400"/>
          </a:xfrm>
        </p:spPr>
        <p:txBody>
          <a:bodyPr/>
          <a:lstStyle/>
          <a:p>
            <a:pPr eaLnBrk="1" hangingPunct="1">
              <a:lnSpc>
                <a:spcPct val="90000"/>
              </a:lnSpc>
            </a:pPr>
            <a:r>
              <a:rPr lang="en-GB" altLang="en-US" sz="2000" dirty="0">
                <a:latin typeface="+mj-lt"/>
              </a:rPr>
              <a:t>The &lt;header&gt; element is for introductory content. Typically contains a title, a logo, authorship information, login field, search bar, &amp; potentially a shopping cart. </a:t>
            </a:r>
          </a:p>
          <a:p>
            <a:pPr eaLnBrk="1" hangingPunct="1">
              <a:lnSpc>
                <a:spcPct val="90000"/>
              </a:lnSpc>
            </a:pPr>
            <a:endParaRPr lang="en-GB" altLang="en-US" sz="2000" dirty="0">
              <a:latin typeface="+mj-lt"/>
            </a:endParaRPr>
          </a:p>
          <a:p>
            <a:pPr eaLnBrk="1" hangingPunct="1">
              <a:lnSpc>
                <a:spcPct val="90000"/>
              </a:lnSpc>
            </a:pPr>
            <a:r>
              <a:rPr lang="en-GB" altLang="en-US" sz="2000" dirty="0">
                <a:latin typeface="+mj-lt"/>
              </a:rPr>
              <a:t>The &lt;footer&gt; element is usually located at the bottom of the document/section. It often includes authorship information, copyright information, contact information, social media, sitemap, back to top links, &amp; related documents.</a:t>
            </a:r>
          </a:p>
          <a:p>
            <a:pPr eaLnBrk="1" hangingPunct="1">
              <a:lnSpc>
                <a:spcPct val="90000"/>
              </a:lnSpc>
            </a:pPr>
            <a:endParaRPr lang="en-GB" altLang="en-US" sz="2000" dirty="0">
              <a:latin typeface="+mj-lt"/>
            </a:endParaRPr>
          </a:p>
          <a:p>
            <a:pPr eaLnBrk="1" hangingPunct="1">
              <a:lnSpc>
                <a:spcPct val="90000"/>
              </a:lnSpc>
            </a:pPr>
            <a:r>
              <a:rPr lang="en-GB" altLang="en-US" sz="2000" dirty="0">
                <a:latin typeface="+mj-lt"/>
              </a:rPr>
              <a:t>The &lt;nav&gt; tag is for defining a set of navigation links. Not all navigation links need to be inside a &lt;nav&gt; element but should contain the major blocks of navigation links.</a:t>
            </a:r>
          </a:p>
          <a:p>
            <a:pPr eaLnBrk="1" hangingPunct="1">
              <a:lnSpc>
                <a:spcPct val="90000"/>
              </a:lnSpc>
            </a:pPr>
            <a:endParaRPr lang="en-GB" altLang="en-US" sz="2000" dirty="0">
              <a:latin typeface="+mj-lt"/>
            </a:endParaRPr>
          </a:p>
          <a:p>
            <a:pPr eaLnBrk="1" hangingPunct="1">
              <a:lnSpc>
                <a:spcPct val="90000"/>
              </a:lnSpc>
            </a:pPr>
            <a:r>
              <a:rPr lang="en-GB" altLang="en-US" sz="2000" dirty="0">
                <a:latin typeface="+mj-lt"/>
              </a:rPr>
              <a:t>The &lt;section&gt; and &lt;article&gt; are for content, that are either all grouped and relate to a single theme or independent, self-contained content.</a:t>
            </a:r>
          </a:p>
          <a:p>
            <a:pPr eaLnBrk="1" hangingPunct="1">
              <a:lnSpc>
                <a:spcPct val="90000"/>
              </a:lnSpc>
            </a:pPr>
            <a:endParaRPr lang="en-GB" altLang="en-US" sz="2400" dirty="0">
              <a:latin typeface="+mj-lt"/>
            </a:endParaRPr>
          </a:p>
          <a:p>
            <a:pPr eaLnBrk="1" hangingPunct="1">
              <a:lnSpc>
                <a:spcPct val="90000"/>
              </a:lnSpc>
            </a:pPr>
            <a:endParaRPr lang="en-GB" altLang="en-US" sz="2400" dirty="0">
              <a:latin typeface="+mj-lt"/>
            </a:endParaRPr>
          </a:p>
          <a:p>
            <a:pPr marL="457200" lvl="1" indent="0" eaLnBrk="1" hangingPunct="1">
              <a:lnSpc>
                <a:spcPct val="90000"/>
              </a:lnSpc>
              <a:buNone/>
            </a:pPr>
            <a:endParaRPr lang="en-GB" altLang="en-US" dirty="0">
              <a:latin typeface="+mj-lt"/>
            </a:endParaRPr>
          </a:p>
          <a:p>
            <a:pPr marL="457200" lvl="1" indent="0" eaLnBrk="1" hangingPunct="1">
              <a:lnSpc>
                <a:spcPct val="90000"/>
              </a:lnSpc>
              <a:buNone/>
            </a:pPr>
            <a:endParaRPr lang="en-GB" altLang="en-US" dirty="0">
              <a:latin typeface="+mj-lt"/>
            </a:endParaRPr>
          </a:p>
          <a:p>
            <a:pPr marL="457200" lvl="1" indent="0" eaLnBrk="1" hangingPunct="1">
              <a:lnSpc>
                <a:spcPct val="90000"/>
              </a:lnSpc>
              <a:buNone/>
            </a:pPr>
            <a:endParaRPr lang="en-GB" altLang="en-US" sz="2000" dirty="0">
              <a:latin typeface="+mj-lt"/>
            </a:endParaRPr>
          </a:p>
          <a:p>
            <a:pPr lvl="1" eaLnBrk="1" hangingPunct="1">
              <a:lnSpc>
                <a:spcPct val="90000"/>
              </a:lnSpc>
            </a:pPr>
            <a:endParaRPr lang="en-GB" altLang="en-US" sz="2000" dirty="0">
              <a:latin typeface="+mj-lt"/>
            </a:endParaRPr>
          </a:p>
          <a:p>
            <a:pPr marL="457200" lvl="1" indent="0" eaLnBrk="1" hangingPunct="1">
              <a:lnSpc>
                <a:spcPct val="90000"/>
              </a:lnSpc>
              <a:buNone/>
            </a:pPr>
            <a:endParaRPr lang="en-GB" altLang="en-US" sz="24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A72BADE-65F2-F240-25D8-A1B5D3E640D2}"/>
            </a:ext>
          </a:extLst>
        </p:cNvPr>
        <p:cNvGrpSpPr/>
        <p:nvPr/>
      </p:nvGrpSpPr>
      <p:grpSpPr>
        <a:xfrm>
          <a:off x="0" y="0"/>
          <a:ext cx="0" cy="0"/>
          <a:chOff x="0" y="0"/>
          <a:chExt cx="0" cy="0"/>
        </a:xfrm>
      </p:grpSpPr>
      <p:sp>
        <p:nvSpPr>
          <p:cNvPr id="7170" name="Rectangle 2" descr="Page layout">
            <a:extLst>
              <a:ext uri="{FF2B5EF4-FFF2-40B4-BE49-F238E27FC236}">
                <a16:creationId xmlns:a16="http://schemas.microsoft.com/office/drawing/2014/main" id="{AC4E29B5-A415-2C37-9DCF-F14375371DAC}"/>
              </a:ext>
            </a:extLst>
          </p:cNvPr>
          <p:cNvSpPr>
            <a:spLocks noGrp="1"/>
          </p:cNvSpPr>
          <p:nvPr>
            <p:ph type="title"/>
          </p:nvPr>
        </p:nvSpPr>
        <p:spPr>
          <a:xfrm>
            <a:off x="381000" y="0"/>
            <a:ext cx="8229600" cy="1371600"/>
          </a:xfrm>
        </p:spPr>
        <p:txBody>
          <a:bodyPr/>
          <a:lstStyle/>
          <a:p>
            <a:pPr eaLnBrk="1" hangingPunct="1"/>
            <a:r>
              <a:rPr lang="en-GB" altLang="en-US" sz="4400" dirty="0">
                <a:latin typeface="+mn-lt"/>
              </a:rPr>
              <a:t>Semantic Elements Recap</a:t>
            </a:r>
            <a:endParaRPr lang="en-GB" altLang="en-US" dirty="0">
              <a:latin typeface="+mn-lt"/>
            </a:endParaRPr>
          </a:p>
        </p:txBody>
      </p:sp>
      <p:pic>
        <p:nvPicPr>
          <p:cNvPr id="4" name="Picture 3" descr="Page layout">
            <a:extLst>
              <a:ext uri="{FF2B5EF4-FFF2-40B4-BE49-F238E27FC236}">
                <a16:creationId xmlns:a16="http://schemas.microsoft.com/office/drawing/2014/main" id="{85559429-6D99-1082-D21C-98AEE8B6C3E1}"/>
              </a:ext>
            </a:extLst>
          </p:cNvPr>
          <p:cNvPicPr>
            <a:picLocks noChangeAspect="1"/>
          </p:cNvPicPr>
          <p:nvPr/>
        </p:nvPicPr>
        <p:blipFill>
          <a:blip r:embed="rId2"/>
          <a:stretch>
            <a:fillRect/>
          </a:stretch>
        </p:blipFill>
        <p:spPr>
          <a:xfrm>
            <a:off x="1219200" y="1371599"/>
            <a:ext cx="6477000" cy="4859823"/>
          </a:xfrm>
          <a:prstGeom prst="rect">
            <a:avLst/>
          </a:prstGeom>
        </p:spPr>
      </p:pic>
    </p:spTree>
    <p:extLst>
      <p:ext uri="{BB962C8B-B14F-4D97-AF65-F5344CB8AC3E}">
        <p14:creationId xmlns:p14="http://schemas.microsoft.com/office/powerpoint/2010/main" val="4241106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A7E39B3-2B4A-4AA4-BA80-8C72AAA8AC7A}"/>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84CF5082-D7F5-B4E5-1C7B-26348DB4895D}"/>
              </a:ext>
            </a:extLst>
          </p:cNvPr>
          <p:cNvSpPr>
            <a:spLocks noGrp="1"/>
          </p:cNvSpPr>
          <p:nvPr>
            <p:ph type="title"/>
          </p:nvPr>
        </p:nvSpPr>
        <p:spPr/>
        <p:txBody>
          <a:bodyPr/>
          <a:lstStyle/>
          <a:p>
            <a:pPr eaLnBrk="1" hangingPunct="1"/>
            <a:r>
              <a:rPr lang="en-GB" altLang="en-US" dirty="0">
                <a:latin typeface="+mn-lt"/>
              </a:rPr>
              <a:t>Multimedia</a:t>
            </a:r>
          </a:p>
        </p:txBody>
      </p:sp>
      <p:sp>
        <p:nvSpPr>
          <p:cNvPr id="9219" name="Rectangle 3">
            <a:extLst>
              <a:ext uri="{FF2B5EF4-FFF2-40B4-BE49-F238E27FC236}">
                <a16:creationId xmlns:a16="http://schemas.microsoft.com/office/drawing/2014/main" id="{6A7A7E31-0D87-E432-725B-F3E242FA062D}"/>
              </a:ext>
            </a:extLst>
          </p:cNvPr>
          <p:cNvSpPr>
            <a:spLocks noGrp="1"/>
          </p:cNvSpPr>
          <p:nvPr>
            <p:ph idx="1"/>
          </p:nvPr>
        </p:nvSpPr>
        <p:spPr>
          <a:xfrm>
            <a:off x="457200" y="1417638"/>
            <a:ext cx="8229600" cy="4525963"/>
          </a:xfrm>
        </p:spPr>
        <p:txBody>
          <a:bodyPr/>
          <a:lstStyle/>
          <a:p>
            <a:pPr eaLnBrk="1" hangingPunct="1"/>
            <a:r>
              <a:rPr lang="en-GB" altLang="en-US" sz="1600" dirty="0"/>
              <a:t>Before HTML5, there was no standard for showing sound or video on a web page, they could only be played with a plug-in (like flash).</a:t>
            </a:r>
          </a:p>
          <a:p>
            <a:pPr eaLnBrk="1" hangingPunct="1"/>
            <a:r>
              <a:rPr lang="en-GB" altLang="en-US" sz="1600" dirty="0"/>
              <a:t>There are 2 new multimedia tags: &lt; audio&gt; and &lt;video&gt;</a:t>
            </a:r>
          </a:p>
          <a:p>
            <a:pPr marL="0" indent="0" eaLnBrk="1" hangingPunct="1">
              <a:buNone/>
            </a:pPr>
            <a:endParaRPr lang="en-GB" altLang="en-US" sz="1600" dirty="0"/>
          </a:p>
          <a:p>
            <a:pPr eaLnBrk="1" hangingPunct="1"/>
            <a:r>
              <a:rPr lang="en-GB" altLang="en-US" sz="1600" dirty="0"/>
              <a:t>&lt;audio controls&gt;</a:t>
            </a:r>
          </a:p>
          <a:p>
            <a:pPr marL="0" indent="0" eaLnBrk="1" hangingPunct="1">
              <a:buNone/>
            </a:pPr>
            <a:r>
              <a:rPr lang="en-GB" altLang="en-US" sz="1600" dirty="0"/>
              <a:t>		&lt;source </a:t>
            </a:r>
            <a:r>
              <a:rPr lang="en-GB" altLang="en-US" sz="1600" dirty="0" err="1"/>
              <a:t>src</a:t>
            </a:r>
            <a:r>
              <a:rPr lang="en-GB" altLang="en-US" sz="1600" dirty="0"/>
              <a:t>="horse.ogg" type="audio/</a:t>
            </a:r>
            <a:r>
              <a:rPr lang="en-GB" altLang="en-US" sz="1600" dirty="0" err="1"/>
              <a:t>ogg</a:t>
            </a:r>
            <a:r>
              <a:rPr lang="en-GB" altLang="en-US" sz="1600" dirty="0"/>
              <a:t>"&gt;</a:t>
            </a:r>
          </a:p>
          <a:p>
            <a:pPr marL="0" indent="0" eaLnBrk="1" hangingPunct="1">
              <a:buNone/>
            </a:pPr>
            <a:r>
              <a:rPr lang="en-GB" altLang="en-US" sz="1600" dirty="0"/>
              <a:t>		&lt;source </a:t>
            </a:r>
            <a:r>
              <a:rPr lang="en-GB" altLang="en-US" sz="1600" dirty="0" err="1"/>
              <a:t>src</a:t>
            </a:r>
            <a:r>
              <a:rPr lang="en-GB" altLang="en-US" sz="1600" dirty="0"/>
              <a:t>="horse.mp3" type="audio/mpeg"&gt;</a:t>
            </a:r>
          </a:p>
          <a:p>
            <a:pPr marL="0" indent="0" eaLnBrk="1" hangingPunct="1">
              <a:buNone/>
            </a:pPr>
            <a:r>
              <a:rPr lang="en-GB" altLang="en-US" sz="1600" dirty="0"/>
              <a:t>	Your browser does not support the audio element.</a:t>
            </a:r>
          </a:p>
          <a:p>
            <a:pPr marL="0" indent="0" eaLnBrk="1" hangingPunct="1">
              <a:buNone/>
            </a:pPr>
            <a:r>
              <a:rPr lang="en-GB" altLang="en-US" sz="1600" dirty="0"/>
              <a:t>	&lt;/audio&gt;</a:t>
            </a:r>
          </a:p>
          <a:p>
            <a:pPr marL="0" indent="0" eaLnBrk="1" hangingPunct="1">
              <a:buFont typeface="Wingdings" panose="05000000000000000000" pitchFamily="2" charset="2"/>
              <a:buNone/>
            </a:pPr>
            <a:endParaRPr lang="en-GB" altLang="en-US" sz="1600" dirty="0"/>
          </a:p>
          <a:p>
            <a:pPr eaLnBrk="1" hangingPunct="1"/>
            <a:r>
              <a:rPr lang="en-GB" altLang="en-US" sz="1600" dirty="0"/>
              <a:t>The controls attribute adds audio controls, like play, pause, and volume.</a:t>
            </a:r>
          </a:p>
          <a:p>
            <a:pPr eaLnBrk="1" hangingPunct="1"/>
            <a:r>
              <a:rPr lang="en-GB" altLang="en-US" sz="1600" dirty="0"/>
              <a:t>Text between the &lt;audio&gt; and &lt;/audio&gt; tags will display in browsers that do not support the &lt;audio&gt; element.</a:t>
            </a:r>
          </a:p>
          <a:p>
            <a:pPr eaLnBrk="1" hangingPunct="1"/>
            <a:r>
              <a:rPr lang="en-GB" altLang="en-US" sz="1600" dirty="0"/>
              <a:t>Multiple &lt;source&gt; elements can link to different audio files. The browser will use the first recognized format.</a:t>
            </a:r>
          </a:p>
          <a:p>
            <a:pPr marL="0" indent="0" eaLnBrk="1" hangingPunct="1">
              <a:buFont typeface="Wingdings" panose="05000000000000000000" pitchFamily="2" charset="2"/>
              <a:buNone/>
            </a:pPr>
            <a:endParaRPr lang="en-GB" altLang="en-US" sz="1600" dirty="0"/>
          </a:p>
        </p:txBody>
      </p:sp>
      <p:pic>
        <p:nvPicPr>
          <p:cNvPr id="3" name="Picture 2" descr="Audio player">
            <a:extLst>
              <a:ext uri="{FF2B5EF4-FFF2-40B4-BE49-F238E27FC236}">
                <a16:creationId xmlns:a16="http://schemas.microsoft.com/office/drawing/2014/main" id="{D4ECE30F-5251-BC41-8211-9C84734E5E58}"/>
              </a:ext>
            </a:extLst>
          </p:cNvPr>
          <p:cNvPicPr>
            <a:picLocks noChangeAspect="1"/>
          </p:cNvPicPr>
          <p:nvPr/>
        </p:nvPicPr>
        <p:blipFill>
          <a:blip r:embed="rId3"/>
          <a:stretch>
            <a:fillRect/>
          </a:stretch>
        </p:blipFill>
        <p:spPr>
          <a:xfrm>
            <a:off x="5791200" y="2971800"/>
            <a:ext cx="2895600" cy="600075"/>
          </a:xfrm>
          <a:prstGeom prst="rect">
            <a:avLst/>
          </a:prstGeom>
        </p:spPr>
      </p:pic>
    </p:spTree>
    <p:extLst>
      <p:ext uri="{BB962C8B-B14F-4D97-AF65-F5344CB8AC3E}">
        <p14:creationId xmlns:p14="http://schemas.microsoft.com/office/powerpoint/2010/main" val="3268456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BFFBC5B-D8AD-1369-6615-F621C5091E2E}"/>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9427B217-EFDE-4568-80DF-BCC93DE4F5C3}"/>
              </a:ext>
            </a:extLst>
          </p:cNvPr>
          <p:cNvSpPr>
            <a:spLocks noGrp="1"/>
          </p:cNvSpPr>
          <p:nvPr>
            <p:ph type="title"/>
          </p:nvPr>
        </p:nvSpPr>
        <p:spPr/>
        <p:txBody>
          <a:bodyPr/>
          <a:lstStyle/>
          <a:p>
            <a:pPr eaLnBrk="1" hangingPunct="1"/>
            <a:r>
              <a:rPr lang="en-GB" altLang="en-US" dirty="0">
                <a:latin typeface="+mn-lt"/>
              </a:rPr>
              <a:t>Multimedia (Cont.)</a:t>
            </a:r>
          </a:p>
        </p:txBody>
      </p:sp>
      <p:sp>
        <p:nvSpPr>
          <p:cNvPr id="9219" name="Rectangle 3">
            <a:extLst>
              <a:ext uri="{FF2B5EF4-FFF2-40B4-BE49-F238E27FC236}">
                <a16:creationId xmlns:a16="http://schemas.microsoft.com/office/drawing/2014/main" id="{004C1DA5-7F94-098A-8419-305BC4A2A26C}"/>
              </a:ext>
            </a:extLst>
          </p:cNvPr>
          <p:cNvSpPr>
            <a:spLocks noGrp="1"/>
          </p:cNvSpPr>
          <p:nvPr>
            <p:ph idx="1"/>
          </p:nvPr>
        </p:nvSpPr>
        <p:spPr>
          <a:xfrm>
            <a:off x="457200" y="1417638"/>
            <a:ext cx="8229600" cy="5211762"/>
          </a:xfrm>
        </p:spPr>
        <p:txBody>
          <a:bodyPr/>
          <a:lstStyle/>
          <a:p>
            <a:pPr eaLnBrk="1" hangingPunct="1"/>
            <a:r>
              <a:rPr lang="en-GB" altLang="en-US" sz="1600" dirty="0"/>
              <a:t>&lt;video width="320" height="240" controls&gt;</a:t>
            </a:r>
          </a:p>
          <a:p>
            <a:pPr marL="0" indent="0" eaLnBrk="1" hangingPunct="1">
              <a:buNone/>
            </a:pPr>
            <a:r>
              <a:rPr lang="en-GB" altLang="en-US" sz="1600" dirty="0"/>
              <a:t>		&lt;source </a:t>
            </a:r>
            <a:r>
              <a:rPr lang="en-GB" altLang="en-US" sz="1600" dirty="0" err="1"/>
              <a:t>src</a:t>
            </a:r>
            <a:r>
              <a:rPr lang="en-GB" altLang="en-US" sz="1600" dirty="0"/>
              <a:t>="movie.mp4" type="video/mp4"&gt;</a:t>
            </a:r>
          </a:p>
          <a:p>
            <a:pPr marL="0" indent="0" eaLnBrk="1" hangingPunct="1">
              <a:buNone/>
            </a:pPr>
            <a:r>
              <a:rPr lang="en-GB" altLang="en-US" sz="1600" dirty="0"/>
              <a:t>		&lt;source </a:t>
            </a:r>
            <a:r>
              <a:rPr lang="en-GB" altLang="en-US" sz="1600" dirty="0" err="1"/>
              <a:t>src</a:t>
            </a:r>
            <a:r>
              <a:rPr lang="en-GB" altLang="en-US" sz="1600" dirty="0"/>
              <a:t>="movie.ogg" type="video/</a:t>
            </a:r>
            <a:r>
              <a:rPr lang="en-GB" altLang="en-US" sz="1600" dirty="0" err="1"/>
              <a:t>ogg</a:t>
            </a:r>
            <a:r>
              <a:rPr lang="en-GB" altLang="en-US" sz="1600" dirty="0"/>
              <a:t>"&gt;</a:t>
            </a:r>
          </a:p>
          <a:p>
            <a:pPr marL="0" indent="0" eaLnBrk="1" hangingPunct="1">
              <a:buNone/>
            </a:pPr>
            <a:r>
              <a:rPr lang="en-GB" altLang="en-US" sz="1600" dirty="0"/>
              <a:t>		Your browser does not support the video tag.</a:t>
            </a:r>
          </a:p>
          <a:p>
            <a:pPr marL="0" indent="0" eaLnBrk="1" hangingPunct="1">
              <a:buNone/>
            </a:pPr>
            <a:r>
              <a:rPr lang="en-GB" altLang="en-US" sz="1600" dirty="0"/>
              <a:t>	&lt;/video&gt;</a:t>
            </a:r>
          </a:p>
          <a:p>
            <a:pPr marL="0" indent="0" eaLnBrk="1" hangingPunct="1">
              <a:buNone/>
            </a:pPr>
            <a:endParaRPr lang="en-GB" altLang="en-US" sz="1600" dirty="0"/>
          </a:p>
          <a:p>
            <a:pPr eaLnBrk="1" hangingPunct="1"/>
            <a:r>
              <a:rPr lang="en-GB" altLang="en-US" sz="1600" dirty="0"/>
              <a:t>The controls attribute operates the same way as for audio. It is also a good idea to include width and height attributes. If height and width are not set, the browser does not know the size of the video. The effect will be that the page will change (or flicker) while the video loads.</a:t>
            </a:r>
          </a:p>
          <a:p>
            <a:pPr eaLnBrk="1" hangingPunct="1"/>
            <a:endParaRPr lang="en-GB" altLang="en-US" sz="1600" dirty="0"/>
          </a:p>
          <a:p>
            <a:pPr eaLnBrk="1" hangingPunct="1"/>
            <a:r>
              <a:rPr lang="en-GB" altLang="en-US" sz="1600" dirty="0"/>
              <a:t>Like audio, text between the &lt;video&gt; and &lt;/video&gt; tags will only display in browsers that do not support the &lt;video&gt; element and multiple &lt;source&gt; elements can link to different video files. The browser will use the first recognized format.</a:t>
            </a:r>
          </a:p>
          <a:p>
            <a:pPr eaLnBrk="1" hangingPunct="1"/>
            <a:endParaRPr lang="en-GB" altLang="en-US" sz="1600" dirty="0"/>
          </a:p>
          <a:p>
            <a:pPr eaLnBrk="1" hangingPunct="1"/>
            <a:r>
              <a:rPr lang="en-GB" altLang="en-US" sz="1600" dirty="0"/>
              <a:t>If you wish to start a video automatically you can use the autoplay attribute:</a:t>
            </a:r>
          </a:p>
          <a:p>
            <a:pPr marL="0" indent="0" eaLnBrk="1" hangingPunct="1">
              <a:buNone/>
            </a:pPr>
            <a:r>
              <a:rPr lang="en-GB" altLang="en-US" sz="1600" dirty="0"/>
              <a:t>	&lt;video width="320" height="240" autoplay&gt;</a:t>
            </a:r>
          </a:p>
          <a:p>
            <a:pPr eaLnBrk="1" hangingPunct="1"/>
            <a:endParaRPr lang="en-GB" altLang="en-US" sz="1600" dirty="0"/>
          </a:p>
          <a:p>
            <a:pPr eaLnBrk="1" hangingPunct="1"/>
            <a:endParaRPr lang="en-GB" altLang="en-US" sz="1600" dirty="0"/>
          </a:p>
          <a:p>
            <a:pPr marL="0" indent="0" eaLnBrk="1" hangingPunct="1">
              <a:buFont typeface="Wingdings" panose="05000000000000000000" pitchFamily="2" charset="2"/>
              <a:buNone/>
            </a:pPr>
            <a:endParaRPr lang="en-GB" altLang="en-US" sz="1600" dirty="0"/>
          </a:p>
        </p:txBody>
      </p:sp>
    </p:spTree>
    <p:extLst>
      <p:ext uri="{BB962C8B-B14F-4D97-AF65-F5344CB8AC3E}">
        <p14:creationId xmlns:p14="http://schemas.microsoft.com/office/powerpoint/2010/main" val="2362606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D462CE4-1C89-C618-758B-F3E29E40BE91}"/>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97B76363-F821-ABB1-59D5-089D002B4359}"/>
              </a:ext>
            </a:extLst>
          </p:cNvPr>
          <p:cNvSpPr>
            <a:spLocks noGrp="1"/>
          </p:cNvSpPr>
          <p:nvPr>
            <p:ph type="title"/>
          </p:nvPr>
        </p:nvSpPr>
        <p:spPr/>
        <p:txBody>
          <a:bodyPr/>
          <a:lstStyle/>
          <a:p>
            <a:pPr eaLnBrk="1" hangingPunct="1"/>
            <a:r>
              <a:rPr lang="en-GB" altLang="en-US" dirty="0">
                <a:latin typeface="+mn-lt"/>
              </a:rPr>
              <a:t>Graphical Tags</a:t>
            </a:r>
          </a:p>
        </p:txBody>
      </p:sp>
      <p:sp>
        <p:nvSpPr>
          <p:cNvPr id="9219" name="Rectangle 3">
            <a:extLst>
              <a:ext uri="{FF2B5EF4-FFF2-40B4-BE49-F238E27FC236}">
                <a16:creationId xmlns:a16="http://schemas.microsoft.com/office/drawing/2014/main" id="{1F03B1C2-0E0B-1C82-8B12-BFD7A8244DD2}"/>
              </a:ext>
            </a:extLst>
          </p:cNvPr>
          <p:cNvSpPr>
            <a:spLocks noGrp="1"/>
          </p:cNvSpPr>
          <p:nvPr>
            <p:ph idx="1"/>
          </p:nvPr>
        </p:nvSpPr>
        <p:spPr>
          <a:xfrm>
            <a:off x="457200" y="1417638"/>
            <a:ext cx="8229600" cy="5211762"/>
          </a:xfrm>
        </p:spPr>
        <p:txBody>
          <a:bodyPr/>
          <a:lstStyle/>
          <a:p>
            <a:pPr>
              <a:lnSpc>
                <a:spcPct val="115000"/>
              </a:lnSpc>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&lt;canvas&gt; tag is used to draw graphics, animations, enable interactivity and create games. The canvas can be written to and updated on the fly, via scripting (usually JavaScript).</a:t>
            </a:r>
            <a:endParaRPr lang="en-GB" sz="1800" dirt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800" dirty="0">
                <a:effectLst/>
                <a:latin typeface="Calibri" panose="020F0502020204030204" pitchFamily="34" charset="0"/>
                <a:ea typeface="Calibri" panose="020F0502020204030204" pitchFamily="34" charset="0"/>
                <a:cs typeface="Arial" panose="020B0604020202020204" pitchFamily="34" charset="0"/>
              </a:rPr>
              <a:t>The &lt;canvas&gt; tag is only a container for graphics, you must use a script to actually draw the graphics. Don’t forget to define the width and height for the size of the canvas.</a:t>
            </a:r>
            <a:endParaRPr lang="en-GB" altLang="en-US" sz="1600" dirty="0"/>
          </a:p>
          <a:p>
            <a:pPr eaLnBrk="1" hangingPunct="1"/>
            <a:r>
              <a:rPr lang="en-GB" altLang="en-US" sz="1600" dirty="0"/>
              <a:t>&lt;canvas id="</a:t>
            </a:r>
            <a:r>
              <a:rPr lang="en-GB" altLang="en-US" sz="1600" dirty="0" err="1"/>
              <a:t>myCanvas</a:t>
            </a:r>
            <a:r>
              <a:rPr lang="en-GB" altLang="en-US" sz="1600" dirty="0"/>
              <a:t>" width="300" height="150" style="border:1px solid grey"&gt;&lt;/canvas&gt;</a:t>
            </a:r>
          </a:p>
          <a:p>
            <a:pPr eaLnBrk="1" hangingPunct="1"/>
            <a:r>
              <a:rPr lang="en-GB" altLang="en-US" sz="1600" dirty="0"/>
              <a:t>&lt;script&gt;</a:t>
            </a:r>
          </a:p>
          <a:p>
            <a:pPr marL="0" indent="0" eaLnBrk="1" hangingPunct="1">
              <a:buNone/>
            </a:pPr>
            <a:r>
              <a:rPr lang="en-GB" altLang="en-US" sz="1600" dirty="0"/>
              <a:t>		</a:t>
            </a:r>
            <a:r>
              <a:rPr lang="en-GB" altLang="en-US" sz="1600" dirty="0" err="1"/>
              <a:t>const</a:t>
            </a:r>
            <a:r>
              <a:rPr lang="en-GB" altLang="en-US" sz="1600" dirty="0"/>
              <a:t> </a:t>
            </a:r>
            <a:r>
              <a:rPr lang="en-GB" altLang="en-US" sz="1600" dirty="0" err="1"/>
              <a:t>myCanvas</a:t>
            </a:r>
            <a:r>
              <a:rPr lang="en-GB" altLang="en-US" sz="1600" dirty="0"/>
              <a:t> = </a:t>
            </a:r>
            <a:r>
              <a:rPr lang="en-GB" altLang="en-US" sz="1600" dirty="0" err="1"/>
              <a:t>document.getElementById</a:t>
            </a:r>
            <a:r>
              <a:rPr lang="en-GB" altLang="en-US" sz="1600" dirty="0"/>
              <a:t>("</a:t>
            </a:r>
            <a:r>
              <a:rPr lang="en-GB" altLang="en-US" sz="1600" dirty="0" err="1"/>
              <a:t>myCanvas</a:t>
            </a:r>
            <a:r>
              <a:rPr lang="en-GB" altLang="en-US" sz="1600" dirty="0"/>
              <a:t>");</a:t>
            </a:r>
          </a:p>
          <a:p>
            <a:pPr marL="0" indent="0" eaLnBrk="1" hangingPunct="1">
              <a:buNone/>
            </a:pPr>
            <a:r>
              <a:rPr lang="en-GB" altLang="en-US" sz="1600" dirty="0"/>
              <a:t>		</a:t>
            </a:r>
            <a:r>
              <a:rPr lang="en-GB" altLang="en-US" sz="1600" dirty="0" err="1"/>
              <a:t>const</a:t>
            </a:r>
            <a:r>
              <a:rPr lang="en-GB" altLang="en-US" sz="1600" dirty="0"/>
              <a:t> </a:t>
            </a:r>
            <a:r>
              <a:rPr lang="en-GB" altLang="en-US" sz="1600" dirty="0" err="1"/>
              <a:t>ctx</a:t>
            </a:r>
            <a:r>
              <a:rPr lang="en-GB" altLang="en-US" sz="1600" dirty="0"/>
              <a:t> = </a:t>
            </a:r>
            <a:r>
              <a:rPr lang="en-GB" altLang="en-US" sz="1600" dirty="0" err="1"/>
              <a:t>myCanvas.getContext</a:t>
            </a:r>
            <a:r>
              <a:rPr lang="en-GB" altLang="en-US" sz="1600" dirty="0"/>
              <a:t>("2d");</a:t>
            </a:r>
          </a:p>
          <a:p>
            <a:pPr marL="0" indent="0" eaLnBrk="1" hangingPunct="1">
              <a:buNone/>
            </a:pPr>
            <a:r>
              <a:rPr lang="en-GB" altLang="en-US" sz="1600" dirty="0"/>
              <a:t>		</a:t>
            </a:r>
            <a:r>
              <a:rPr lang="en-GB" altLang="en-US" sz="1600" dirty="0" err="1"/>
              <a:t>ctx.fillStyle</a:t>
            </a:r>
            <a:r>
              <a:rPr lang="en-GB" altLang="en-US" sz="1600" dirty="0"/>
              <a:t> = "red";</a:t>
            </a:r>
          </a:p>
          <a:p>
            <a:pPr marL="0" indent="0" eaLnBrk="1" hangingPunct="1">
              <a:buNone/>
            </a:pPr>
            <a:r>
              <a:rPr lang="en-GB" altLang="en-US" sz="1600" dirty="0"/>
              <a:t>		</a:t>
            </a:r>
            <a:r>
              <a:rPr lang="en-GB" altLang="en-US" sz="1600" dirty="0" err="1"/>
              <a:t>ctx.fillRect</a:t>
            </a:r>
            <a:r>
              <a:rPr lang="en-GB" altLang="en-US" sz="1600" dirty="0"/>
              <a:t>(20, 20, 150, 100);</a:t>
            </a:r>
          </a:p>
          <a:p>
            <a:pPr marL="0" indent="0" eaLnBrk="1" hangingPunct="1">
              <a:buNone/>
            </a:pPr>
            <a:r>
              <a:rPr lang="en-GB" altLang="en-US" sz="1600" dirty="0"/>
              <a:t>	&lt;/script&gt;</a:t>
            </a:r>
          </a:p>
          <a:p>
            <a:pPr eaLnBrk="1" hangingPunct="1"/>
            <a:endParaRPr lang="en-GB" altLang="en-US" sz="1600" dirty="0"/>
          </a:p>
          <a:p>
            <a:pPr eaLnBrk="1" hangingPunct="1"/>
            <a:endParaRPr lang="en-GB" altLang="en-US" sz="1600" dirty="0"/>
          </a:p>
          <a:p>
            <a:pPr marL="0" indent="0" eaLnBrk="1" hangingPunct="1">
              <a:buFont typeface="Wingdings" panose="05000000000000000000" pitchFamily="2" charset="2"/>
              <a:buNone/>
            </a:pPr>
            <a:endParaRPr lang="en-GB" altLang="en-US" sz="1600" dirty="0"/>
          </a:p>
        </p:txBody>
      </p:sp>
      <p:pic>
        <p:nvPicPr>
          <p:cNvPr id="3" name="Picture 2" descr="Canvas example">
            <a:extLst>
              <a:ext uri="{FF2B5EF4-FFF2-40B4-BE49-F238E27FC236}">
                <a16:creationId xmlns:a16="http://schemas.microsoft.com/office/drawing/2014/main" id="{8F475E7F-BD44-3FEF-7F1B-9718A06FF1D7}"/>
              </a:ext>
            </a:extLst>
          </p:cNvPr>
          <p:cNvPicPr>
            <a:picLocks noChangeAspect="1"/>
          </p:cNvPicPr>
          <p:nvPr/>
        </p:nvPicPr>
        <p:blipFill>
          <a:blip r:embed="rId3"/>
          <a:stretch>
            <a:fillRect/>
          </a:stretch>
        </p:blipFill>
        <p:spPr>
          <a:xfrm>
            <a:off x="5334000" y="4738570"/>
            <a:ext cx="3152775" cy="1857375"/>
          </a:xfrm>
          <a:prstGeom prst="rect">
            <a:avLst/>
          </a:prstGeom>
        </p:spPr>
      </p:pic>
    </p:spTree>
    <p:extLst>
      <p:ext uri="{BB962C8B-B14F-4D97-AF65-F5344CB8AC3E}">
        <p14:creationId xmlns:p14="http://schemas.microsoft.com/office/powerpoint/2010/main" val="2039970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C6ACB3C-D2C2-3BA8-9918-FB0DB1C57A0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2967102-5A0E-D3B5-C13C-E8E98F0B500A}"/>
              </a:ext>
            </a:extLst>
          </p:cNvPr>
          <p:cNvSpPr>
            <a:spLocks noGrp="1"/>
          </p:cNvSpPr>
          <p:nvPr>
            <p:ph type="title"/>
          </p:nvPr>
        </p:nvSpPr>
        <p:spPr/>
        <p:txBody>
          <a:bodyPr/>
          <a:lstStyle/>
          <a:p>
            <a:pPr eaLnBrk="1" hangingPunct="1"/>
            <a:r>
              <a:rPr lang="en-GB" altLang="en-US" dirty="0">
                <a:latin typeface="+mn-lt"/>
              </a:rPr>
              <a:t>Graphical Tags (Cont.)</a:t>
            </a:r>
          </a:p>
        </p:txBody>
      </p:sp>
      <p:sp>
        <p:nvSpPr>
          <p:cNvPr id="9219" name="Rectangle 3">
            <a:extLst>
              <a:ext uri="{FF2B5EF4-FFF2-40B4-BE49-F238E27FC236}">
                <a16:creationId xmlns:a16="http://schemas.microsoft.com/office/drawing/2014/main" id="{AFBFF55A-A9FE-FCFA-6018-709590391234}"/>
              </a:ext>
            </a:extLst>
          </p:cNvPr>
          <p:cNvSpPr>
            <a:spLocks noGrp="1"/>
          </p:cNvSpPr>
          <p:nvPr>
            <p:ph idx="1"/>
          </p:nvPr>
        </p:nvSpPr>
        <p:spPr>
          <a:xfrm>
            <a:off x="457200" y="1417638"/>
            <a:ext cx="8229600" cy="5211762"/>
          </a:xfrm>
        </p:spPr>
        <p:txBody>
          <a:bodyPr/>
          <a:lstStyle/>
          <a:p>
            <a:pPr>
              <a:lnSpc>
                <a:spcPct val="115000"/>
              </a:lnSpc>
              <a:spcAft>
                <a:spcPts val="1000"/>
              </a:spcAft>
            </a:pPr>
            <a:r>
              <a:rPr lang="en-GB" sz="2000" dirty="0">
                <a:effectLst/>
                <a:latin typeface="Calibri" panose="020F0502020204030204" pitchFamily="34" charset="0"/>
                <a:ea typeface="Calibri" panose="020F0502020204030204" pitchFamily="34" charset="0"/>
                <a:cs typeface="Arial" panose="020B0604020202020204" pitchFamily="34" charset="0"/>
              </a:rPr>
              <a:t>SVG defines vector-based graphics in XML, which can be directly embedded in HTML pages. SVG graphics are scalable, and do not lose any quality if they are zoomed or resized:</a:t>
            </a:r>
          </a:p>
          <a:p>
            <a:pPr>
              <a:lnSpc>
                <a:spcPct val="115000"/>
              </a:lnSpc>
              <a:spcAft>
                <a:spcPts val="1000"/>
              </a:spcAft>
            </a:pPr>
            <a:r>
              <a:rPr lang="en-GB" altLang="en-US" sz="1800" dirty="0"/>
              <a:t>&lt;canvas id="</a:t>
            </a:r>
            <a:r>
              <a:rPr lang="en-GB" altLang="en-US" sz="1800" dirty="0" err="1"/>
              <a:t>myCanvas</a:t>
            </a:r>
            <a:r>
              <a:rPr lang="en-GB" altLang="en-US" sz="1800" dirty="0"/>
              <a:t>" width="300" height="150" style="border:1px solid grey"&gt;&lt;/canvas&gt;</a:t>
            </a:r>
          </a:p>
          <a:p>
            <a:pPr eaLnBrk="1" hangingPunct="1"/>
            <a:r>
              <a:rPr lang="en-GB" altLang="en-US" sz="1800" dirty="0"/>
              <a:t>&lt;</a:t>
            </a:r>
            <a:r>
              <a:rPr lang="en-GB" altLang="en-US" sz="1800" dirty="0" err="1"/>
              <a:t>svg</a:t>
            </a:r>
            <a:r>
              <a:rPr lang="en-GB" altLang="en-US" sz="1800" dirty="0"/>
              <a:t> width="100" height="100"&gt;</a:t>
            </a:r>
          </a:p>
          <a:p>
            <a:pPr marL="0" indent="0" eaLnBrk="1" hangingPunct="1">
              <a:buNone/>
            </a:pPr>
            <a:r>
              <a:rPr lang="en-GB" altLang="en-US" sz="1800" dirty="0"/>
              <a:t> 	&lt;circle cx="50" cy="50" r="40" stroke="green" stroke-width="4" fill="yellow" /&gt;</a:t>
            </a:r>
          </a:p>
          <a:p>
            <a:pPr marL="0" indent="0" eaLnBrk="1" hangingPunct="1">
              <a:buNone/>
            </a:pPr>
            <a:r>
              <a:rPr lang="en-GB" altLang="en-US" sz="1800" dirty="0"/>
              <a:t>	&lt;/</a:t>
            </a:r>
            <a:r>
              <a:rPr lang="en-GB" altLang="en-US" sz="1800" dirty="0" err="1"/>
              <a:t>svg</a:t>
            </a:r>
            <a:r>
              <a:rPr lang="en-GB" altLang="en-US" sz="1800" dirty="0"/>
              <a:t>&gt;</a:t>
            </a:r>
          </a:p>
          <a:p>
            <a:pPr marL="0" indent="0" eaLnBrk="1" hangingPunct="1">
              <a:buNone/>
            </a:pPr>
            <a:endParaRPr lang="en-GB" altLang="en-US" sz="1600" dirty="0"/>
          </a:p>
          <a:p>
            <a:pPr eaLnBrk="1" hangingPunct="1"/>
            <a:endParaRPr lang="en-GB" altLang="en-US" sz="1600" dirty="0"/>
          </a:p>
          <a:p>
            <a:pPr eaLnBrk="1" hangingPunct="1"/>
            <a:endParaRPr lang="en-GB" altLang="en-US" sz="1600" dirty="0"/>
          </a:p>
          <a:p>
            <a:pPr marL="0" indent="0" eaLnBrk="1" hangingPunct="1">
              <a:buFont typeface="Wingdings" panose="05000000000000000000" pitchFamily="2" charset="2"/>
              <a:buNone/>
            </a:pPr>
            <a:endParaRPr lang="en-GB" altLang="en-US" sz="1600" dirty="0"/>
          </a:p>
        </p:txBody>
      </p:sp>
      <p:pic>
        <p:nvPicPr>
          <p:cNvPr id="4" name="Picture 3" descr="SVG example">
            <a:extLst>
              <a:ext uri="{FF2B5EF4-FFF2-40B4-BE49-F238E27FC236}">
                <a16:creationId xmlns:a16="http://schemas.microsoft.com/office/drawing/2014/main" id="{CF61EBC0-93A1-F375-179F-D03C1C484E79}"/>
              </a:ext>
            </a:extLst>
          </p:cNvPr>
          <p:cNvPicPr>
            <a:picLocks noChangeAspect="1"/>
          </p:cNvPicPr>
          <p:nvPr/>
        </p:nvPicPr>
        <p:blipFill>
          <a:blip r:embed="rId3"/>
          <a:stretch>
            <a:fillRect/>
          </a:stretch>
        </p:blipFill>
        <p:spPr>
          <a:xfrm>
            <a:off x="3767137" y="4343400"/>
            <a:ext cx="1609725" cy="1752179"/>
          </a:xfrm>
          <a:prstGeom prst="rect">
            <a:avLst/>
          </a:prstGeom>
        </p:spPr>
      </p:pic>
    </p:spTree>
    <p:extLst>
      <p:ext uri="{BB962C8B-B14F-4D97-AF65-F5344CB8AC3E}">
        <p14:creationId xmlns:p14="http://schemas.microsoft.com/office/powerpoint/2010/main" val="587010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4F981EE-1653-B130-1E35-4926A29D150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5C24FA8F-4920-8F8A-F7A9-3576BD8957A2}"/>
              </a:ext>
            </a:extLst>
          </p:cNvPr>
          <p:cNvSpPr>
            <a:spLocks noGrp="1"/>
          </p:cNvSpPr>
          <p:nvPr>
            <p:ph type="title"/>
          </p:nvPr>
        </p:nvSpPr>
        <p:spPr/>
        <p:txBody>
          <a:bodyPr/>
          <a:lstStyle/>
          <a:p>
            <a:pPr eaLnBrk="1" hangingPunct="1"/>
            <a:r>
              <a:rPr lang="en-GB" altLang="en-US" dirty="0">
                <a:latin typeface="Arial" panose="020B0604020202020204" pitchFamily="34" charset="0"/>
              </a:rPr>
              <a:t>Forms Recap</a:t>
            </a:r>
          </a:p>
        </p:txBody>
      </p:sp>
      <p:sp>
        <p:nvSpPr>
          <p:cNvPr id="16387" name="Rectangle 3">
            <a:extLst>
              <a:ext uri="{FF2B5EF4-FFF2-40B4-BE49-F238E27FC236}">
                <a16:creationId xmlns:a16="http://schemas.microsoft.com/office/drawing/2014/main" id="{5C471C45-B70A-48F5-4BB0-0299718FCCF3}"/>
              </a:ext>
            </a:extLst>
          </p:cNvPr>
          <p:cNvSpPr>
            <a:spLocks noGrp="1"/>
          </p:cNvSpPr>
          <p:nvPr>
            <p:ph idx="1"/>
          </p:nvPr>
        </p:nvSpPr>
        <p:spPr/>
        <p:txBody>
          <a:bodyPr/>
          <a:lstStyle/>
          <a:p>
            <a:pPr eaLnBrk="1" hangingPunct="1"/>
            <a:r>
              <a:rPr lang="en-GB" altLang="en-US" sz="2400" dirty="0"/>
              <a:t>One thing we touched on last week was Forms and adding JavaScript to them.</a:t>
            </a:r>
          </a:p>
          <a:p>
            <a:pPr eaLnBrk="1" hangingPunct="1"/>
            <a:r>
              <a:rPr lang="en-GB" altLang="en-US" sz="2400" dirty="0"/>
              <a:t>&lt;form&gt;</a:t>
            </a:r>
          </a:p>
          <a:p>
            <a:pPr marL="0" indent="0" eaLnBrk="1" hangingPunct="1">
              <a:buNone/>
            </a:pPr>
            <a:r>
              <a:rPr lang="en-GB" altLang="en-US" sz="2400" dirty="0"/>
              <a:t>		&lt;label for="</a:t>
            </a:r>
            <a:r>
              <a:rPr lang="en-GB" altLang="en-US" sz="2400" dirty="0" err="1"/>
              <a:t>fname</a:t>
            </a:r>
            <a:r>
              <a:rPr lang="en-GB" altLang="en-US" sz="2400" dirty="0"/>
              <a:t>"&gt;First name:&lt;/label&gt;&lt;</a:t>
            </a:r>
            <a:r>
              <a:rPr lang="en-GB" altLang="en-US" sz="2400" dirty="0" err="1"/>
              <a:t>br</a:t>
            </a:r>
            <a:r>
              <a:rPr lang="en-GB" altLang="en-US" sz="2400" dirty="0"/>
              <a:t>&gt;</a:t>
            </a:r>
          </a:p>
          <a:p>
            <a:pPr marL="0" indent="0" eaLnBrk="1" hangingPunct="1">
              <a:buNone/>
            </a:pPr>
            <a:r>
              <a:rPr lang="en-GB" altLang="en-US" sz="2400" dirty="0"/>
              <a:t>		&lt;input type="text" id="</a:t>
            </a:r>
            <a:r>
              <a:rPr lang="en-GB" altLang="en-US" sz="2400" dirty="0" err="1"/>
              <a:t>fname</a:t>
            </a:r>
            <a:r>
              <a:rPr lang="en-GB" altLang="en-US" sz="2400" dirty="0"/>
              <a:t>" name="</a:t>
            </a:r>
            <a:r>
              <a:rPr lang="en-GB" altLang="en-US" sz="2400" dirty="0" err="1"/>
              <a:t>fname</a:t>
            </a:r>
            <a:r>
              <a:rPr lang="en-GB" altLang="en-US" sz="2400" dirty="0"/>
              <a:t>"&gt;&lt;</a:t>
            </a:r>
            <a:r>
              <a:rPr lang="en-GB" altLang="en-US" sz="2400" dirty="0" err="1"/>
              <a:t>br</a:t>
            </a:r>
            <a:r>
              <a:rPr lang="en-GB" altLang="en-US" sz="2400" dirty="0"/>
              <a:t>&gt;</a:t>
            </a:r>
          </a:p>
          <a:p>
            <a:pPr marL="0" indent="0" eaLnBrk="1" hangingPunct="1">
              <a:buNone/>
            </a:pPr>
            <a:r>
              <a:rPr lang="en-GB" altLang="en-US" sz="2400" dirty="0"/>
              <a:t>		&lt;label for="</a:t>
            </a:r>
            <a:r>
              <a:rPr lang="en-GB" altLang="en-US" sz="2400" dirty="0" err="1"/>
              <a:t>lname</a:t>
            </a:r>
            <a:r>
              <a:rPr lang="en-GB" altLang="en-US" sz="2400" dirty="0"/>
              <a:t>"&gt;Last name:&lt;/label&gt;&lt;</a:t>
            </a:r>
            <a:r>
              <a:rPr lang="en-GB" altLang="en-US" sz="2400" dirty="0" err="1"/>
              <a:t>br</a:t>
            </a:r>
            <a:r>
              <a:rPr lang="en-GB" altLang="en-US" sz="2400" dirty="0"/>
              <a:t>&gt;</a:t>
            </a:r>
          </a:p>
          <a:p>
            <a:pPr marL="0" indent="0" eaLnBrk="1" hangingPunct="1">
              <a:buNone/>
            </a:pPr>
            <a:r>
              <a:rPr lang="en-GB" altLang="en-US" sz="2400" dirty="0"/>
              <a:t>		&lt;input type="text" id="</a:t>
            </a:r>
            <a:r>
              <a:rPr lang="en-GB" altLang="en-US" sz="2400" dirty="0" err="1"/>
              <a:t>lname</a:t>
            </a:r>
            <a:r>
              <a:rPr lang="en-GB" altLang="en-US" sz="2400" dirty="0"/>
              <a:t>" name="</a:t>
            </a:r>
            <a:r>
              <a:rPr lang="en-GB" altLang="en-US" sz="2400" dirty="0" err="1"/>
              <a:t>lname</a:t>
            </a:r>
            <a:r>
              <a:rPr lang="en-GB" altLang="en-US" sz="2400" dirty="0"/>
              <a:t>"&gt;</a:t>
            </a:r>
          </a:p>
          <a:p>
            <a:pPr marL="0" indent="0" eaLnBrk="1" hangingPunct="1">
              <a:buNone/>
            </a:pPr>
            <a:r>
              <a:rPr lang="en-GB" altLang="en-US" sz="2400" dirty="0"/>
              <a:t>	&lt;/form&gt;</a:t>
            </a:r>
          </a:p>
        </p:txBody>
      </p:sp>
      <p:pic>
        <p:nvPicPr>
          <p:cNvPr id="3" name="Picture 2" descr="Form example ">
            <a:extLst>
              <a:ext uri="{FF2B5EF4-FFF2-40B4-BE49-F238E27FC236}">
                <a16:creationId xmlns:a16="http://schemas.microsoft.com/office/drawing/2014/main" id="{8442FA54-1EBB-410D-BED4-5D9BB89A63D4}"/>
              </a:ext>
            </a:extLst>
          </p:cNvPr>
          <p:cNvPicPr>
            <a:picLocks noChangeAspect="1"/>
          </p:cNvPicPr>
          <p:nvPr/>
        </p:nvPicPr>
        <p:blipFill>
          <a:blip r:embed="rId2"/>
          <a:stretch>
            <a:fillRect/>
          </a:stretch>
        </p:blipFill>
        <p:spPr>
          <a:xfrm>
            <a:off x="3476625" y="4964375"/>
            <a:ext cx="2190750" cy="1171575"/>
          </a:xfrm>
          <a:prstGeom prst="rect">
            <a:avLst/>
          </a:prstGeom>
        </p:spPr>
      </p:pic>
    </p:spTree>
    <p:extLst>
      <p:ext uri="{BB962C8B-B14F-4D97-AF65-F5344CB8AC3E}">
        <p14:creationId xmlns:p14="http://schemas.microsoft.com/office/powerpoint/2010/main" val="110807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D730374-D1F0-728C-FCC4-7E20D0BD30C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D61BDA4D-5986-6213-445D-75C4C88D1CD0}"/>
              </a:ext>
            </a:extLst>
          </p:cNvPr>
          <p:cNvSpPr>
            <a:spLocks noGrp="1"/>
          </p:cNvSpPr>
          <p:nvPr>
            <p:ph type="title"/>
          </p:nvPr>
        </p:nvSpPr>
        <p:spPr/>
        <p:txBody>
          <a:bodyPr/>
          <a:lstStyle/>
          <a:p>
            <a:pPr eaLnBrk="1" hangingPunct="1"/>
            <a:r>
              <a:rPr lang="en-GB" altLang="en-US" dirty="0">
                <a:latin typeface="+mn-lt"/>
              </a:rPr>
              <a:t>HTML5 Forms</a:t>
            </a:r>
          </a:p>
        </p:txBody>
      </p:sp>
      <p:sp>
        <p:nvSpPr>
          <p:cNvPr id="16387" name="Rectangle 3">
            <a:extLst>
              <a:ext uri="{FF2B5EF4-FFF2-40B4-BE49-F238E27FC236}">
                <a16:creationId xmlns:a16="http://schemas.microsoft.com/office/drawing/2014/main" id="{5E708BE7-253C-C25A-AAB4-BAF62EB67AC3}"/>
              </a:ext>
            </a:extLst>
          </p:cNvPr>
          <p:cNvSpPr>
            <a:spLocks noGrp="1"/>
          </p:cNvSpPr>
          <p:nvPr>
            <p:ph idx="1"/>
          </p:nvPr>
        </p:nvSpPr>
        <p:spPr>
          <a:xfrm>
            <a:off x="457200" y="1600200"/>
            <a:ext cx="8229600" cy="4572000"/>
          </a:xfrm>
        </p:spPr>
        <p:txBody>
          <a:bodyPr/>
          <a:lstStyle/>
          <a:p>
            <a:pPr eaLnBrk="1" hangingPunct="1"/>
            <a:r>
              <a:rPr lang="en-GB" altLang="en-US" sz="2000" dirty="0"/>
              <a:t>In HTML5 the Input tag has been given increased functionality. These include, but not limited to:</a:t>
            </a:r>
          </a:p>
          <a:p>
            <a:pPr marL="0" indent="0" eaLnBrk="1" hangingPunct="1">
              <a:buNone/>
            </a:pPr>
            <a:endParaRPr lang="en-GB" altLang="en-US" sz="2000" dirty="0"/>
          </a:p>
          <a:p>
            <a:pPr lvl="1" eaLnBrk="1" hangingPunct="1"/>
            <a:r>
              <a:rPr lang="en-GB" altLang="en-US" sz="1600" dirty="0"/>
              <a:t>autocomplete		- on/off specific to autocomplete an element</a:t>
            </a:r>
          </a:p>
          <a:p>
            <a:pPr lvl="1" eaLnBrk="1" hangingPunct="1"/>
            <a:r>
              <a:rPr lang="en-GB" altLang="en-US" sz="1600" dirty="0"/>
              <a:t>autofocus			- gets focus when a page loads</a:t>
            </a:r>
          </a:p>
          <a:p>
            <a:pPr lvl="1" eaLnBrk="1" hangingPunct="1"/>
            <a:r>
              <a:rPr lang="en-GB" altLang="en-US" sz="1600" dirty="0"/>
              <a:t>disabled			- disables the input element</a:t>
            </a:r>
          </a:p>
          <a:p>
            <a:pPr lvl="1" eaLnBrk="1" hangingPunct="1"/>
            <a:r>
              <a:rPr lang="en-GB" altLang="en-US" sz="1600" dirty="0"/>
              <a:t>max/min			- max/minimum value of an element</a:t>
            </a:r>
          </a:p>
          <a:p>
            <a:pPr lvl="1" eaLnBrk="1" hangingPunct="1"/>
            <a:r>
              <a:rPr lang="en-GB" altLang="en-US" sz="1600" dirty="0"/>
              <a:t>max/</a:t>
            </a:r>
            <a:r>
              <a:rPr lang="en-GB" altLang="en-US" sz="1600" dirty="0" err="1"/>
              <a:t>minlength</a:t>
            </a:r>
            <a:r>
              <a:rPr lang="en-GB" altLang="en-US" sz="1600" dirty="0"/>
              <a:t>		- max/minimum length of characters </a:t>
            </a:r>
          </a:p>
          <a:p>
            <a:pPr lvl="1" eaLnBrk="1" hangingPunct="1"/>
            <a:r>
              <a:rPr lang="en-GB" altLang="en-US" sz="1600" dirty="0"/>
              <a:t>pattern				- input has to adhere to a pattern</a:t>
            </a:r>
          </a:p>
          <a:p>
            <a:pPr lvl="1" eaLnBrk="1" hangingPunct="1"/>
            <a:r>
              <a:rPr lang="en-GB" altLang="en-US" sz="1600" dirty="0"/>
              <a:t>placeholder			- provides a short hint to the expect value</a:t>
            </a:r>
          </a:p>
          <a:p>
            <a:pPr lvl="1" eaLnBrk="1" hangingPunct="1"/>
            <a:r>
              <a:rPr lang="en-GB" altLang="en-US" sz="1600" dirty="0" err="1"/>
              <a:t>readonly</a:t>
            </a:r>
            <a:r>
              <a:rPr lang="en-GB" altLang="en-US" sz="1600" dirty="0"/>
              <a:t>			- input field can only be read</a:t>
            </a:r>
          </a:p>
          <a:p>
            <a:pPr lvl="1" eaLnBrk="1" hangingPunct="1"/>
            <a:r>
              <a:rPr lang="en-GB" altLang="en-US" sz="1600" dirty="0"/>
              <a:t>required			- must be filled out</a:t>
            </a:r>
          </a:p>
          <a:p>
            <a:pPr lvl="1" eaLnBrk="1" hangingPunct="1"/>
            <a:r>
              <a:rPr lang="en-GB" altLang="en-US" sz="1600" dirty="0"/>
              <a:t>size				- width of the input field</a:t>
            </a:r>
          </a:p>
          <a:p>
            <a:pPr lvl="1" eaLnBrk="1" hangingPunct="1"/>
            <a:r>
              <a:rPr lang="en-GB" altLang="en-US" sz="1600" dirty="0"/>
              <a:t>step				- legal number of intervals for input field</a:t>
            </a:r>
          </a:p>
          <a:p>
            <a:pPr lvl="1" eaLnBrk="1" hangingPunct="1"/>
            <a:r>
              <a:rPr lang="en-GB" altLang="en-US" sz="1600" dirty="0"/>
              <a:t>value				- default value of an input field</a:t>
            </a:r>
          </a:p>
        </p:txBody>
      </p:sp>
    </p:spTree>
    <p:extLst>
      <p:ext uri="{BB962C8B-B14F-4D97-AF65-F5344CB8AC3E}">
        <p14:creationId xmlns:p14="http://schemas.microsoft.com/office/powerpoint/2010/main" val="174641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F913AC3-A2EB-60CC-3A60-0C428FF5CB8F}"/>
              </a:ext>
            </a:extLst>
          </p:cNvPr>
          <p:cNvSpPr>
            <a:spLocks noGrp="1"/>
          </p:cNvSpPr>
          <p:nvPr>
            <p:ph type="title"/>
          </p:nvPr>
        </p:nvSpPr>
        <p:spPr/>
        <p:txBody>
          <a:bodyPr/>
          <a:lstStyle/>
          <a:p>
            <a:pPr eaLnBrk="1" hangingPunct="1"/>
            <a:r>
              <a:rPr lang="en-GB" altLang="en-US" dirty="0"/>
              <a:t>Example Forms</a:t>
            </a:r>
          </a:p>
        </p:txBody>
      </p:sp>
      <p:sp>
        <p:nvSpPr>
          <p:cNvPr id="16387" name="Rectangle 3">
            <a:extLst>
              <a:ext uri="{FF2B5EF4-FFF2-40B4-BE49-F238E27FC236}">
                <a16:creationId xmlns:a16="http://schemas.microsoft.com/office/drawing/2014/main" id="{81342D44-74E1-97A4-8589-796867BFD118}"/>
              </a:ext>
            </a:extLst>
          </p:cNvPr>
          <p:cNvSpPr>
            <a:spLocks noGrp="1"/>
          </p:cNvSpPr>
          <p:nvPr>
            <p:ph idx="1"/>
          </p:nvPr>
        </p:nvSpPr>
        <p:spPr>
          <a:xfrm>
            <a:off x="457200" y="1600200"/>
            <a:ext cx="8229600" cy="4876800"/>
          </a:xfrm>
        </p:spPr>
        <p:txBody>
          <a:bodyPr/>
          <a:lstStyle/>
          <a:p>
            <a:pPr eaLnBrk="1" hangingPunct="1"/>
            <a:r>
              <a:rPr lang="en-GB" altLang="en-US" sz="2000" dirty="0">
                <a:latin typeface="+mj-lt"/>
              </a:rPr>
              <a:t>&lt;form&gt;</a:t>
            </a:r>
          </a:p>
          <a:p>
            <a:pPr marL="0" indent="0" eaLnBrk="1" hangingPunct="1">
              <a:buNone/>
            </a:pPr>
            <a:r>
              <a:rPr lang="en-GB" altLang="en-US" sz="2000" dirty="0">
                <a:latin typeface="+mj-lt"/>
              </a:rPr>
              <a:t>		Enter a date before 1980-01-01:</a:t>
            </a:r>
          </a:p>
          <a:p>
            <a:pPr marL="0" indent="0" eaLnBrk="1" hangingPunct="1">
              <a:buNone/>
            </a:pPr>
            <a:r>
              <a:rPr lang="en-GB" altLang="en-US" sz="2000" dirty="0">
                <a:latin typeface="+mj-lt"/>
              </a:rPr>
              <a:t>		&lt;input type="date" name="</a:t>
            </a:r>
            <a:r>
              <a:rPr lang="en-GB" altLang="en-US" sz="2000" dirty="0" err="1">
                <a:latin typeface="+mj-lt"/>
              </a:rPr>
              <a:t>bday</a:t>
            </a:r>
            <a:r>
              <a:rPr lang="en-GB" altLang="en-US" sz="2000" dirty="0">
                <a:latin typeface="+mj-lt"/>
              </a:rPr>
              <a:t>" max="1979-12-31"&gt;&lt;</a:t>
            </a:r>
            <a:r>
              <a:rPr lang="en-GB" altLang="en-US" sz="2000" dirty="0" err="1">
                <a:latin typeface="+mj-lt"/>
              </a:rPr>
              <a:t>br</a:t>
            </a:r>
            <a:r>
              <a:rPr lang="en-GB" altLang="en-US" sz="2000" dirty="0">
                <a:latin typeface="+mj-lt"/>
              </a:rPr>
              <a:t>&gt;</a:t>
            </a:r>
          </a:p>
          <a:p>
            <a:pPr marL="0" indent="0" eaLnBrk="1" hangingPunct="1">
              <a:buNone/>
            </a:pPr>
            <a:r>
              <a:rPr lang="en-GB" altLang="en-US" sz="2000" dirty="0">
                <a:latin typeface="+mj-lt"/>
              </a:rPr>
              <a:t>		Enter a date after 2000-01-01:</a:t>
            </a:r>
          </a:p>
          <a:p>
            <a:pPr marL="0" indent="0" eaLnBrk="1" hangingPunct="1">
              <a:buNone/>
            </a:pPr>
            <a:r>
              <a:rPr lang="en-GB" altLang="en-US" sz="2000" dirty="0">
                <a:latin typeface="+mj-lt"/>
              </a:rPr>
              <a:t>		&lt;input type="date" name="</a:t>
            </a:r>
            <a:r>
              <a:rPr lang="en-GB" altLang="en-US" sz="2000" dirty="0" err="1">
                <a:latin typeface="+mj-lt"/>
              </a:rPr>
              <a:t>bday</a:t>
            </a:r>
            <a:r>
              <a:rPr lang="en-GB" altLang="en-US" sz="2000" dirty="0">
                <a:latin typeface="+mj-lt"/>
              </a:rPr>
              <a:t>" min="2000-01-02"&gt;&lt;</a:t>
            </a:r>
            <a:r>
              <a:rPr lang="en-GB" altLang="en-US" sz="2000" dirty="0" err="1">
                <a:latin typeface="+mj-lt"/>
              </a:rPr>
              <a:t>br</a:t>
            </a:r>
            <a:r>
              <a:rPr lang="en-GB" altLang="en-US" sz="2000" dirty="0">
                <a:latin typeface="+mj-lt"/>
              </a:rPr>
              <a:t>&gt;</a:t>
            </a:r>
          </a:p>
          <a:p>
            <a:pPr marL="0" indent="0" eaLnBrk="1" hangingPunct="1">
              <a:buNone/>
            </a:pPr>
            <a:r>
              <a:rPr lang="en-GB" altLang="en-US" sz="2000" dirty="0">
                <a:latin typeface="+mj-lt"/>
              </a:rPr>
              <a:t>	&lt;/form&gt;</a:t>
            </a:r>
          </a:p>
          <a:p>
            <a:pPr marL="0" indent="0" eaLnBrk="1" hangingPunct="1">
              <a:buNone/>
            </a:pPr>
            <a:endParaRPr lang="en-GB" altLang="en-US" sz="2000" dirty="0">
              <a:latin typeface="+mj-lt"/>
            </a:endParaRPr>
          </a:p>
          <a:p>
            <a:pPr eaLnBrk="1" hangingPunct="1"/>
            <a:r>
              <a:rPr lang="en-GB" altLang="en-US" sz="2000" dirty="0">
                <a:latin typeface="+mj-lt"/>
              </a:rPr>
              <a:t>&lt;form action=""&gt;</a:t>
            </a:r>
          </a:p>
          <a:p>
            <a:pPr marL="0" indent="0" eaLnBrk="1" hangingPunct="1">
              <a:buNone/>
            </a:pPr>
            <a:r>
              <a:rPr lang="en-GB" altLang="en-US" sz="2000" dirty="0">
                <a:latin typeface="+mj-lt"/>
              </a:rPr>
              <a:t>		First name:&lt;</a:t>
            </a:r>
            <a:r>
              <a:rPr lang="en-GB" altLang="en-US" sz="2000" dirty="0" err="1">
                <a:latin typeface="+mj-lt"/>
              </a:rPr>
              <a:t>br</a:t>
            </a:r>
            <a:r>
              <a:rPr lang="en-GB" altLang="en-US" sz="2000" dirty="0">
                <a:latin typeface="+mj-lt"/>
              </a:rPr>
              <a:t>&gt;</a:t>
            </a:r>
          </a:p>
          <a:p>
            <a:pPr marL="0" indent="0" eaLnBrk="1" hangingPunct="1">
              <a:buNone/>
            </a:pPr>
            <a:r>
              <a:rPr lang="en-GB" altLang="en-US" sz="2000" dirty="0">
                <a:latin typeface="+mj-lt"/>
              </a:rPr>
              <a:t>		&lt;input type="text" name="</a:t>
            </a:r>
            <a:r>
              <a:rPr lang="en-GB" altLang="en-US" sz="2000" dirty="0" err="1">
                <a:latin typeface="+mj-lt"/>
              </a:rPr>
              <a:t>firstname</a:t>
            </a:r>
            <a:r>
              <a:rPr lang="en-GB" altLang="en-US" sz="2000" dirty="0">
                <a:latin typeface="+mj-lt"/>
              </a:rPr>
              <a:t>" value="John" </a:t>
            </a:r>
            <a:r>
              <a:rPr lang="en-GB" altLang="en-US" sz="2000" dirty="0" err="1">
                <a:latin typeface="+mj-lt"/>
              </a:rPr>
              <a:t>readonly</a:t>
            </a:r>
            <a:r>
              <a:rPr lang="en-GB" altLang="en-US" sz="2000" dirty="0">
                <a:latin typeface="+mj-lt"/>
              </a:rPr>
              <a:t>&gt;&lt;</a:t>
            </a:r>
            <a:r>
              <a:rPr lang="en-GB" altLang="en-US" sz="2000" dirty="0" err="1">
                <a:latin typeface="+mj-lt"/>
              </a:rPr>
              <a:t>br</a:t>
            </a:r>
            <a:r>
              <a:rPr lang="en-GB" altLang="en-US" sz="2000" dirty="0">
                <a:latin typeface="+mj-lt"/>
              </a:rPr>
              <a:t>&gt;</a:t>
            </a:r>
          </a:p>
          <a:p>
            <a:pPr marL="0" indent="0" eaLnBrk="1" hangingPunct="1">
              <a:buNone/>
            </a:pPr>
            <a:r>
              <a:rPr lang="en-GB" altLang="en-US" sz="2000" dirty="0">
                <a:latin typeface="+mj-lt"/>
              </a:rPr>
              <a:t>		Last name:&lt;</a:t>
            </a:r>
            <a:r>
              <a:rPr lang="en-GB" altLang="en-US" sz="2000" dirty="0" err="1">
                <a:latin typeface="+mj-lt"/>
              </a:rPr>
              <a:t>br</a:t>
            </a:r>
            <a:r>
              <a:rPr lang="en-GB" altLang="en-US" sz="2000" dirty="0">
                <a:latin typeface="+mj-lt"/>
              </a:rPr>
              <a:t>&gt;</a:t>
            </a:r>
          </a:p>
          <a:p>
            <a:pPr marL="0" indent="0" eaLnBrk="1" hangingPunct="1">
              <a:buNone/>
            </a:pPr>
            <a:r>
              <a:rPr lang="en-GB" altLang="en-US" sz="2000" dirty="0">
                <a:latin typeface="+mj-lt"/>
              </a:rPr>
              <a:t>		&lt;input type="text" name="</a:t>
            </a:r>
            <a:r>
              <a:rPr lang="en-GB" altLang="en-US" sz="2000" dirty="0" err="1">
                <a:latin typeface="+mj-lt"/>
              </a:rPr>
              <a:t>lastname</a:t>
            </a:r>
            <a:r>
              <a:rPr lang="en-GB" altLang="en-US" sz="2000" dirty="0">
                <a:latin typeface="+mj-lt"/>
              </a:rPr>
              <a:t>"&gt;</a:t>
            </a:r>
          </a:p>
          <a:p>
            <a:pPr marL="0" indent="0" eaLnBrk="1" hangingPunct="1">
              <a:buNone/>
            </a:pPr>
            <a:r>
              <a:rPr lang="en-GB" altLang="en-US" sz="2000" dirty="0">
                <a:latin typeface="+mj-lt"/>
              </a:rPr>
              <a:t>	&lt;/form&gt;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9D1F532-F45B-F70E-5741-80CAA165386D}"/>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7B79FD36-35B7-F325-11B8-8E97F496E703}"/>
              </a:ext>
            </a:extLst>
          </p:cNvPr>
          <p:cNvSpPr>
            <a:spLocks noGrp="1"/>
          </p:cNvSpPr>
          <p:nvPr>
            <p:ph type="title"/>
          </p:nvPr>
        </p:nvSpPr>
        <p:spPr/>
        <p:txBody>
          <a:bodyPr/>
          <a:lstStyle/>
          <a:p>
            <a:pPr eaLnBrk="1" hangingPunct="1"/>
            <a:r>
              <a:rPr lang="en-GB" altLang="en-US" dirty="0"/>
              <a:t>CSS3</a:t>
            </a:r>
          </a:p>
        </p:txBody>
      </p:sp>
      <p:sp>
        <p:nvSpPr>
          <p:cNvPr id="16387" name="Rectangle 3">
            <a:extLst>
              <a:ext uri="{FF2B5EF4-FFF2-40B4-BE49-F238E27FC236}">
                <a16:creationId xmlns:a16="http://schemas.microsoft.com/office/drawing/2014/main" id="{AE55AA3C-9876-C4AE-1999-7DF0F24255B2}"/>
              </a:ext>
            </a:extLst>
          </p:cNvPr>
          <p:cNvSpPr>
            <a:spLocks noGrp="1"/>
          </p:cNvSpPr>
          <p:nvPr>
            <p:ph idx="1"/>
          </p:nvPr>
        </p:nvSpPr>
        <p:spPr/>
        <p:txBody>
          <a:bodyPr/>
          <a:lstStyle/>
          <a:p>
            <a:pPr eaLnBrk="1" hangingPunct="1"/>
            <a:r>
              <a:rPr lang="en-GB" altLang="en-US" sz="2800" dirty="0">
                <a:latin typeface="+mj-lt"/>
              </a:rPr>
              <a:t>CSS3 is the current version of CSS and features improvements over CSS2, though remains backwards compatible. </a:t>
            </a:r>
          </a:p>
          <a:p>
            <a:pPr eaLnBrk="1" hangingPunct="1"/>
            <a:endParaRPr lang="en-GB" altLang="en-US" sz="2800" dirty="0">
              <a:latin typeface="+mj-lt"/>
            </a:endParaRPr>
          </a:p>
          <a:p>
            <a:pPr eaLnBrk="1" hangingPunct="1"/>
            <a:r>
              <a:rPr lang="en-GB" altLang="en-US" sz="2800" dirty="0">
                <a:latin typeface="+mj-lt"/>
              </a:rPr>
              <a:t>CSS3 has new features such as new fonts, additional background features, improved borders, transitions and animations. </a:t>
            </a:r>
            <a:endParaRPr lang="en-GB" altLang="en-US" sz="2400" dirty="0">
              <a:latin typeface="+mj-lt"/>
            </a:endParaRPr>
          </a:p>
        </p:txBody>
      </p:sp>
    </p:spTree>
    <p:extLst>
      <p:ext uri="{BB962C8B-B14F-4D97-AF65-F5344CB8AC3E}">
        <p14:creationId xmlns:p14="http://schemas.microsoft.com/office/powerpoint/2010/main" val="3493719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4355806-8655-F503-1413-84FBE0A9F81A}"/>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197A732-CAEB-3BE0-E633-BE5D11E597E5}"/>
              </a:ext>
            </a:extLst>
          </p:cNvPr>
          <p:cNvSpPr>
            <a:spLocks noGrp="1"/>
          </p:cNvSpPr>
          <p:nvPr>
            <p:ph type="title"/>
          </p:nvPr>
        </p:nvSpPr>
        <p:spPr/>
        <p:txBody>
          <a:bodyPr/>
          <a:lstStyle/>
          <a:p>
            <a:pPr eaLnBrk="1" hangingPunct="1"/>
            <a:r>
              <a:rPr lang="en-GB" altLang="en-US" dirty="0">
                <a:latin typeface="Arial" panose="020B0604020202020204" pitchFamily="34" charset="0"/>
              </a:rPr>
              <a:t>CSS3 Borders</a:t>
            </a:r>
          </a:p>
        </p:txBody>
      </p:sp>
      <p:sp>
        <p:nvSpPr>
          <p:cNvPr id="2" name="Content Placeholder 1">
            <a:extLst>
              <a:ext uri="{FF2B5EF4-FFF2-40B4-BE49-F238E27FC236}">
                <a16:creationId xmlns:a16="http://schemas.microsoft.com/office/drawing/2014/main" id="{34060D10-1F6E-69EC-4180-388C20286458}"/>
              </a:ext>
            </a:extLst>
          </p:cNvPr>
          <p:cNvSpPr>
            <a:spLocks noGrp="1"/>
          </p:cNvSpPr>
          <p:nvPr>
            <p:ph idx="1"/>
          </p:nvPr>
        </p:nvSpPr>
        <p:spPr/>
        <p:txBody>
          <a:bodyPr/>
          <a:lstStyle/>
          <a:p>
            <a:r>
              <a:rPr lang="en-GB" sz="2000" dirty="0"/>
              <a:t>A CSS3 Border enables the creation of rounded borders, border shadows, imaged based borders etc. There are three features to create the border:</a:t>
            </a:r>
          </a:p>
          <a:p>
            <a:pPr lvl="1"/>
            <a:r>
              <a:rPr lang="en-GB" sz="1800" dirty="0"/>
              <a:t>border-radius, allows for adding rounded corners to borders.</a:t>
            </a:r>
            <a:endParaRPr lang="en-GB" sz="1400" dirty="0"/>
          </a:p>
          <a:p>
            <a:pPr lvl="1"/>
            <a:r>
              <a:rPr lang="en-GB" sz="1800" dirty="0"/>
              <a:t>box-shadow, allows for adding a shadow to a border.</a:t>
            </a:r>
          </a:p>
          <a:p>
            <a:pPr lvl="1"/>
            <a:r>
              <a:rPr lang="en-GB" sz="1800" dirty="0"/>
              <a:t>border-image, stretches an image to be used as a border</a:t>
            </a:r>
          </a:p>
          <a:p>
            <a:endParaRPr lang="en-GB" dirty="0"/>
          </a:p>
          <a:p>
            <a:endParaRPr lang="en-GB" dirty="0"/>
          </a:p>
        </p:txBody>
      </p:sp>
      <p:pic>
        <p:nvPicPr>
          <p:cNvPr id="6" name="Picture 5" descr="Boarder example">
            <a:extLst>
              <a:ext uri="{FF2B5EF4-FFF2-40B4-BE49-F238E27FC236}">
                <a16:creationId xmlns:a16="http://schemas.microsoft.com/office/drawing/2014/main" id="{7A2EFDFC-5AE2-D1CD-19FA-B7754B430810}"/>
              </a:ext>
            </a:extLst>
          </p:cNvPr>
          <p:cNvPicPr>
            <a:picLocks noChangeAspect="1"/>
          </p:cNvPicPr>
          <p:nvPr/>
        </p:nvPicPr>
        <p:blipFill>
          <a:blip r:embed="rId3"/>
          <a:stretch>
            <a:fillRect/>
          </a:stretch>
        </p:blipFill>
        <p:spPr>
          <a:xfrm>
            <a:off x="964426" y="3431097"/>
            <a:ext cx="3086757" cy="2218189"/>
          </a:xfrm>
          <a:prstGeom prst="rect">
            <a:avLst/>
          </a:prstGeom>
        </p:spPr>
      </p:pic>
      <p:pic>
        <p:nvPicPr>
          <p:cNvPr id="9" name="Picture 8" descr="Boarder example">
            <a:extLst>
              <a:ext uri="{FF2B5EF4-FFF2-40B4-BE49-F238E27FC236}">
                <a16:creationId xmlns:a16="http://schemas.microsoft.com/office/drawing/2014/main" id="{9006BC58-0551-2454-6647-D1C60DF17450}"/>
              </a:ext>
            </a:extLst>
          </p:cNvPr>
          <p:cNvPicPr>
            <a:picLocks noChangeAspect="1"/>
          </p:cNvPicPr>
          <p:nvPr/>
        </p:nvPicPr>
        <p:blipFill>
          <a:blip r:embed="rId4"/>
          <a:stretch>
            <a:fillRect/>
          </a:stretch>
        </p:blipFill>
        <p:spPr>
          <a:xfrm>
            <a:off x="4330817" y="3716032"/>
            <a:ext cx="3848757" cy="1453608"/>
          </a:xfrm>
          <a:prstGeom prst="rect">
            <a:avLst/>
          </a:prstGeom>
        </p:spPr>
      </p:pic>
      <p:pic>
        <p:nvPicPr>
          <p:cNvPr id="11" name="Picture 10" descr="Boarder example">
            <a:extLst>
              <a:ext uri="{FF2B5EF4-FFF2-40B4-BE49-F238E27FC236}">
                <a16:creationId xmlns:a16="http://schemas.microsoft.com/office/drawing/2014/main" id="{D87DE018-90C8-A1E6-114E-7D13B8D627C1}"/>
              </a:ext>
            </a:extLst>
          </p:cNvPr>
          <p:cNvPicPr>
            <a:picLocks noChangeAspect="1"/>
          </p:cNvPicPr>
          <p:nvPr/>
        </p:nvPicPr>
        <p:blipFill>
          <a:blip r:embed="rId5"/>
          <a:stretch>
            <a:fillRect/>
          </a:stretch>
        </p:blipFill>
        <p:spPr>
          <a:xfrm>
            <a:off x="1856259" y="5830463"/>
            <a:ext cx="1303089" cy="956523"/>
          </a:xfrm>
          <a:prstGeom prst="rect">
            <a:avLst/>
          </a:prstGeom>
        </p:spPr>
      </p:pic>
      <p:pic>
        <p:nvPicPr>
          <p:cNvPr id="13" name="Picture 12" descr="Boarder example">
            <a:extLst>
              <a:ext uri="{FF2B5EF4-FFF2-40B4-BE49-F238E27FC236}">
                <a16:creationId xmlns:a16="http://schemas.microsoft.com/office/drawing/2014/main" id="{4B7D9D6B-8D67-8D44-F149-88EB04D845E2}"/>
              </a:ext>
            </a:extLst>
          </p:cNvPr>
          <p:cNvPicPr>
            <a:picLocks noChangeAspect="1"/>
          </p:cNvPicPr>
          <p:nvPr/>
        </p:nvPicPr>
        <p:blipFill>
          <a:blip r:embed="rId6"/>
          <a:stretch>
            <a:fillRect/>
          </a:stretch>
        </p:blipFill>
        <p:spPr>
          <a:xfrm>
            <a:off x="4330817" y="5865442"/>
            <a:ext cx="4438650" cy="819150"/>
          </a:xfrm>
          <a:prstGeom prst="rect">
            <a:avLst/>
          </a:prstGeom>
        </p:spPr>
      </p:pic>
      <p:sp>
        <p:nvSpPr>
          <p:cNvPr id="14" name="Arrow: Right 13">
            <a:extLst>
              <a:ext uri="{FF2B5EF4-FFF2-40B4-BE49-F238E27FC236}">
                <a16:creationId xmlns:a16="http://schemas.microsoft.com/office/drawing/2014/main" id="{659FFFF8-6BF2-2F6D-6676-0DDFBDD485C8}"/>
              </a:ext>
              <a:ext uri="{C183D7F6-B498-43B3-948B-1728B52AA6E4}">
                <adec:decorative xmlns:adec="http://schemas.microsoft.com/office/drawing/2017/decorative" val="1"/>
              </a:ext>
            </a:extLst>
          </p:cNvPr>
          <p:cNvSpPr/>
          <p:nvPr/>
        </p:nvSpPr>
        <p:spPr>
          <a:xfrm>
            <a:off x="3429000" y="6126163"/>
            <a:ext cx="622183" cy="350837"/>
          </a:xfrm>
          <a:prstGeom prst="rightArrow">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62269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2D6829F-AFB0-A9CF-E5BF-6D49D3C8000F}"/>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636F55DC-AB2B-C6F7-B2F4-DF00714D91C5}"/>
              </a:ext>
            </a:extLst>
          </p:cNvPr>
          <p:cNvSpPr>
            <a:spLocks noGrp="1"/>
          </p:cNvSpPr>
          <p:nvPr>
            <p:ph type="title"/>
          </p:nvPr>
        </p:nvSpPr>
        <p:spPr/>
        <p:txBody>
          <a:bodyPr/>
          <a:lstStyle/>
          <a:p>
            <a:pPr eaLnBrk="1" hangingPunct="1"/>
            <a:r>
              <a:rPr lang="en-GB" altLang="en-US" dirty="0">
                <a:latin typeface="Arial" panose="020B0604020202020204" pitchFamily="34" charset="0"/>
              </a:rPr>
              <a:t>CSS3 Columns</a:t>
            </a:r>
          </a:p>
        </p:txBody>
      </p:sp>
      <p:sp>
        <p:nvSpPr>
          <p:cNvPr id="2" name="Content Placeholder 1">
            <a:extLst>
              <a:ext uri="{FF2B5EF4-FFF2-40B4-BE49-F238E27FC236}">
                <a16:creationId xmlns:a16="http://schemas.microsoft.com/office/drawing/2014/main" id="{D60014A9-FF3C-EEAC-E4B5-C3F61D6E6809}"/>
              </a:ext>
            </a:extLst>
          </p:cNvPr>
          <p:cNvSpPr>
            <a:spLocks noGrp="1"/>
          </p:cNvSpPr>
          <p:nvPr>
            <p:ph idx="1"/>
          </p:nvPr>
        </p:nvSpPr>
        <p:spPr/>
        <p:txBody>
          <a:bodyPr/>
          <a:lstStyle/>
          <a:p>
            <a:r>
              <a:rPr lang="en-GB" sz="2400" dirty="0"/>
              <a:t>Multiple Columns are a feature of CSS3 which is used for creating a newspaper type layout. </a:t>
            </a:r>
          </a:p>
          <a:p>
            <a:r>
              <a:rPr lang="en-GB" sz="2400" dirty="0"/>
              <a:t>There are three main properties of CSS3 Multiple Columns, which are as follows:</a:t>
            </a:r>
          </a:p>
          <a:p>
            <a:pPr lvl="1"/>
            <a:r>
              <a:rPr lang="en-GB" sz="1800" dirty="0"/>
              <a:t>column-count</a:t>
            </a:r>
          </a:p>
          <a:p>
            <a:pPr lvl="1"/>
            <a:r>
              <a:rPr lang="en-GB" sz="1800" dirty="0"/>
              <a:t>column-rule</a:t>
            </a:r>
          </a:p>
          <a:p>
            <a:pPr lvl="1"/>
            <a:r>
              <a:rPr lang="en-GB" sz="1800" dirty="0"/>
              <a:t>column-gap</a:t>
            </a:r>
          </a:p>
          <a:p>
            <a:r>
              <a:rPr lang="en-GB" sz="2400" dirty="0"/>
              <a:t>Where column-count defines the number of columns, column-rule defines the line style between the columns and the column-gap defines the gap (blank spaces) between the columns.</a:t>
            </a:r>
          </a:p>
          <a:p>
            <a:endParaRPr lang="en-GB" dirty="0"/>
          </a:p>
          <a:p>
            <a:endParaRPr lang="en-GB" dirty="0"/>
          </a:p>
        </p:txBody>
      </p:sp>
    </p:spTree>
    <p:extLst>
      <p:ext uri="{BB962C8B-B14F-4D97-AF65-F5344CB8AC3E}">
        <p14:creationId xmlns:p14="http://schemas.microsoft.com/office/powerpoint/2010/main" val="1540216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9EDDC87-B769-565A-03B3-63FA2DE6B5EA}"/>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8A419C96-71E9-CB9B-406C-1DD7945F3C1A}"/>
              </a:ext>
            </a:extLst>
          </p:cNvPr>
          <p:cNvSpPr>
            <a:spLocks noGrp="1"/>
          </p:cNvSpPr>
          <p:nvPr>
            <p:ph type="title"/>
          </p:nvPr>
        </p:nvSpPr>
        <p:spPr/>
        <p:txBody>
          <a:bodyPr/>
          <a:lstStyle/>
          <a:p>
            <a:pPr eaLnBrk="1" hangingPunct="1"/>
            <a:r>
              <a:rPr lang="en-GB" altLang="en-US" dirty="0">
                <a:latin typeface="Arial" panose="020B0604020202020204" pitchFamily="34" charset="0"/>
              </a:rPr>
              <a:t>CSS3 Transitions</a:t>
            </a:r>
          </a:p>
        </p:txBody>
      </p:sp>
      <p:sp>
        <p:nvSpPr>
          <p:cNvPr id="2" name="Content Placeholder 1">
            <a:extLst>
              <a:ext uri="{FF2B5EF4-FFF2-40B4-BE49-F238E27FC236}">
                <a16:creationId xmlns:a16="http://schemas.microsoft.com/office/drawing/2014/main" id="{B8DB393A-3416-0442-977C-1C417F0AFAC0}"/>
              </a:ext>
            </a:extLst>
          </p:cNvPr>
          <p:cNvSpPr>
            <a:spLocks noGrp="1"/>
          </p:cNvSpPr>
          <p:nvPr>
            <p:ph idx="1"/>
          </p:nvPr>
        </p:nvSpPr>
        <p:spPr/>
        <p:txBody>
          <a:bodyPr/>
          <a:lstStyle/>
          <a:p>
            <a:r>
              <a:rPr lang="en-GB" sz="2800" dirty="0"/>
              <a:t>CSS transitions are a presentational effect that allow you to create property changes which occur on an event e.g. mouse-over or mouse-click.</a:t>
            </a:r>
          </a:p>
          <a:p>
            <a:r>
              <a:rPr lang="en-GB" sz="2800" dirty="0"/>
              <a:t>The CSS3 introduces four new properties to transitions:</a:t>
            </a:r>
          </a:p>
          <a:p>
            <a:pPr lvl="1"/>
            <a:r>
              <a:rPr lang="en-GB" sz="2000" dirty="0"/>
              <a:t>transition-property, which property or properties to target. </a:t>
            </a:r>
          </a:p>
          <a:p>
            <a:pPr lvl="1"/>
            <a:r>
              <a:rPr lang="en-GB" sz="2000" dirty="0"/>
              <a:t>transition-duration, the duration of the given transition.</a:t>
            </a:r>
          </a:p>
          <a:p>
            <a:pPr lvl="1"/>
            <a:r>
              <a:rPr lang="en-GB" sz="2000" dirty="0"/>
              <a:t>transition-timing-function, the timing function of the transition. </a:t>
            </a:r>
          </a:p>
          <a:p>
            <a:pPr lvl="1"/>
            <a:r>
              <a:rPr lang="en-GB" sz="2000" dirty="0"/>
              <a:t>transition-delay, an optional possibility to delay the transition.</a:t>
            </a:r>
            <a:endParaRPr lang="en-GB" sz="3600" dirty="0"/>
          </a:p>
          <a:p>
            <a:endParaRPr lang="en-GB" dirty="0"/>
          </a:p>
        </p:txBody>
      </p:sp>
    </p:spTree>
    <p:extLst>
      <p:ext uri="{BB962C8B-B14F-4D97-AF65-F5344CB8AC3E}">
        <p14:creationId xmlns:p14="http://schemas.microsoft.com/office/powerpoint/2010/main" val="16294026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0A7779B-EEEA-096A-CD94-2FEE6D6EB2DF}"/>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BE3D9A97-C6A3-AC5B-36BC-FCC8B3C3CD5D}"/>
              </a:ext>
            </a:extLst>
          </p:cNvPr>
          <p:cNvSpPr>
            <a:spLocks noGrp="1"/>
          </p:cNvSpPr>
          <p:nvPr>
            <p:ph type="title"/>
          </p:nvPr>
        </p:nvSpPr>
        <p:spPr/>
        <p:txBody>
          <a:bodyPr/>
          <a:lstStyle/>
          <a:p>
            <a:pPr eaLnBrk="1" hangingPunct="1"/>
            <a:r>
              <a:rPr lang="en-GB" altLang="en-US" dirty="0">
                <a:latin typeface="Arial" panose="020B0604020202020204" pitchFamily="34" charset="0"/>
              </a:rPr>
              <a:t>CSS3 Transitions</a:t>
            </a:r>
          </a:p>
        </p:txBody>
      </p:sp>
      <p:sp>
        <p:nvSpPr>
          <p:cNvPr id="2" name="Content Placeholder 1">
            <a:extLst>
              <a:ext uri="{FF2B5EF4-FFF2-40B4-BE49-F238E27FC236}">
                <a16:creationId xmlns:a16="http://schemas.microsoft.com/office/drawing/2014/main" id="{69001C8F-5B49-1542-317E-719C627EE794}"/>
              </a:ext>
            </a:extLst>
          </p:cNvPr>
          <p:cNvSpPr>
            <a:spLocks noGrp="1"/>
          </p:cNvSpPr>
          <p:nvPr>
            <p:ph idx="1"/>
          </p:nvPr>
        </p:nvSpPr>
        <p:spPr>
          <a:xfrm>
            <a:off x="457200" y="1600200"/>
            <a:ext cx="8229600" cy="5105400"/>
          </a:xfrm>
        </p:spPr>
        <p:txBody>
          <a:bodyPr/>
          <a:lstStyle/>
          <a:p>
            <a:r>
              <a:rPr lang="en-GB" sz="2000" dirty="0"/>
              <a:t>&lt;style&gt; </a:t>
            </a:r>
          </a:p>
          <a:p>
            <a:pPr marL="0" indent="0">
              <a:buNone/>
            </a:pPr>
            <a:r>
              <a:rPr lang="en-GB" sz="2000" dirty="0"/>
              <a:t>	div {</a:t>
            </a:r>
          </a:p>
          <a:p>
            <a:pPr marL="0" indent="0">
              <a:buNone/>
            </a:pPr>
            <a:r>
              <a:rPr lang="en-GB" sz="2000" dirty="0"/>
              <a:t>		width: 100px;</a:t>
            </a:r>
          </a:p>
          <a:p>
            <a:pPr marL="0" indent="0">
              <a:buNone/>
            </a:pPr>
            <a:r>
              <a:rPr lang="en-GB" sz="2000" dirty="0"/>
              <a:t>		height: 100px;</a:t>
            </a:r>
          </a:p>
          <a:p>
            <a:pPr marL="0" indent="0">
              <a:buNone/>
            </a:pPr>
            <a:r>
              <a:rPr lang="en-GB" sz="2000" dirty="0"/>
              <a:t>		background: red;</a:t>
            </a:r>
          </a:p>
          <a:p>
            <a:pPr marL="0" indent="0">
              <a:buNone/>
            </a:pPr>
            <a:r>
              <a:rPr lang="en-GB" sz="2000" dirty="0"/>
              <a:t>		transition: width 2s, height 4s;</a:t>
            </a:r>
          </a:p>
          <a:p>
            <a:pPr marL="0" indent="0">
              <a:buNone/>
            </a:pPr>
            <a:r>
              <a:rPr lang="en-GB" sz="2000" dirty="0"/>
              <a:t>	}</a:t>
            </a:r>
          </a:p>
          <a:p>
            <a:pPr marL="0" indent="0">
              <a:buNone/>
            </a:pPr>
            <a:r>
              <a:rPr lang="en-GB" sz="2000" dirty="0"/>
              <a:t>	</a:t>
            </a:r>
            <a:r>
              <a:rPr lang="en-GB" sz="2000" dirty="0" err="1"/>
              <a:t>div:hover</a:t>
            </a:r>
            <a:r>
              <a:rPr lang="en-GB" sz="2000" dirty="0"/>
              <a:t> {</a:t>
            </a:r>
          </a:p>
          <a:p>
            <a:pPr marL="0" indent="0">
              <a:buNone/>
            </a:pPr>
            <a:r>
              <a:rPr lang="en-GB" sz="2000" dirty="0"/>
              <a:t>		width: 300px;</a:t>
            </a:r>
          </a:p>
          <a:p>
            <a:pPr marL="0" indent="0">
              <a:buNone/>
            </a:pPr>
            <a:r>
              <a:rPr lang="en-GB" sz="2000" dirty="0"/>
              <a:t>		height: 300px;</a:t>
            </a:r>
          </a:p>
          <a:p>
            <a:pPr marL="0" indent="0">
              <a:buNone/>
            </a:pPr>
            <a:r>
              <a:rPr lang="en-GB" sz="2000" dirty="0"/>
              <a:t>	}</a:t>
            </a:r>
          </a:p>
          <a:p>
            <a:pPr marL="0" indent="0">
              <a:buNone/>
            </a:pPr>
            <a:r>
              <a:rPr lang="en-GB" sz="2000" dirty="0"/>
              <a:t>	&lt;/style&gt;</a:t>
            </a:r>
            <a:endParaRPr lang="en-GB" sz="2800" dirty="0"/>
          </a:p>
        </p:txBody>
      </p:sp>
      <p:pic>
        <p:nvPicPr>
          <p:cNvPr id="4" name="Picture 3" descr="Transition property">
            <a:extLst>
              <a:ext uri="{FF2B5EF4-FFF2-40B4-BE49-F238E27FC236}">
                <a16:creationId xmlns:a16="http://schemas.microsoft.com/office/drawing/2014/main" id="{9FD3C060-9A60-FB01-D038-129A2EEAA62B}"/>
              </a:ext>
            </a:extLst>
          </p:cNvPr>
          <p:cNvPicPr>
            <a:picLocks noChangeAspect="1"/>
          </p:cNvPicPr>
          <p:nvPr/>
        </p:nvPicPr>
        <p:blipFill>
          <a:blip r:embed="rId3"/>
          <a:stretch>
            <a:fillRect/>
          </a:stretch>
        </p:blipFill>
        <p:spPr>
          <a:xfrm>
            <a:off x="5056237" y="1600200"/>
            <a:ext cx="2630335" cy="2341563"/>
          </a:xfrm>
          <a:prstGeom prst="rect">
            <a:avLst/>
          </a:prstGeom>
        </p:spPr>
      </p:pic>
      <p:pic>
        <p:nvPicPr>
          <p:cNvPr id="6" name="Picture 5" descr="Transition property">
            <a:extLst>
              <a:ext uri="{FF2B5EF4-FFF2-40B4-BE49-F238E27FC236}">
                <a16:creationId xmlns:a16="http://schemas.microsoft.com/office/drawing/2014/main" id="{1462CEF4-C879-FD6A-5156-AFAC75EC1B7F}"/>
              </a:ext>
            </a:extLst>
          </p:cNvPr>
          <p:cNvPicPr>
            <a:picLocks noChangeAspect="1"/>
          </p:cNvPicPr>
          <p:nvPr/>
        </p:nvPicPr>
        <p:blipFill>
          <a:blip r:embed="rId4"/>
          <a:stretch>
            <a:fillRect/>
          </a:stretch>
        </p:blipFill>
        <p:spPr>
          <a:xfrm>
            <a:off x="5056236" y="4115237"/>
            <a:ext cx="2630335" cy="2371614"/>
          </a:xfrm>
          <a:prstGeom prst="rect">
            <a:avLst/>
          </a:prstGeom>
        </p:spPr>
      </p:pic>
    </p:spTree>
    <p:extLst>
      <p:ext uri="{BB962C8B-B14F-4D97-AF65-F5344CB8AC3E}">
        <p14:creationId xmlns:p14="http://schemas.microsoft.com/office/powerpoint/2010/main" val="1464846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828BDB5-52EB-2E07-0DAC-5CFAD128A951}"/>
            </a:ext>
          </a:extLst>
        </p:cNvPr>
        <p:cNvGrpSpPr/>
        <p:nvPr/>
      </p:nvGrpSpPr>
      <p:grpSpPr>
        <a:xfrm>
          <a:off x="0" y="0"/>
          <a:ext cx="0" cy="0"/>
          <a:chOff x="0" y="0"/>
          <a:chExt cx="0" cy="0"/>
        </a:xfrm>
      </p:grpSpPr>
      <p:sp>
        <p:nvSpPr>
          <p:cNvPr id="9218" name="Rectangle 2" descr="Responsive Web Design">
            <a:extLst>
              <a:ext uri="{FF2B5EF4-FFF2-40B4-BE49-F238E27FC236}">
                <a16:creationId xmlns:a16="http://schemas.microsoft.com/office/drawing/2014/main" id="{A683F2F8-C844-4736-4A57-EE1AC81509F2}"/>
              </a:ext>
            </a:extLst>
          </p:cNvPr>
          <p:cNvSpPr>
            <a:spLocks noGrp="1"/>
          </p:cNvSpPr>
          <p:nvPr>
            <p:ph type="title"/>
          </p:nvPr>
        </p:nvSpPr>
        <p:spPr/>
        <p:txBody>
          <a:bodyPr/>
          <a:lstStyle/>
          <a:p>
            <a:pPr eaLnBrk="1" hangingPunct="1"/>
            <a:r>
              <a:rPr lang="en-GB" altLang="en-US" dirty="0">
                <a:latin typeface="Arial" panose="020B0604020202020204" pitchFamily="34" charset="0"/>
              </a:rPr>
              <a:t>Responsive Web Design</a:t>
            </a:r>
          </a:p>
        </p:txBody>
      </p:sp>
      <p:sp>
        <p:nvSpPr>
          <p:cNvPr id="2" name="Content Placeholder 1">
            <a:extLst>
              <a:ext uri="{FF2B5EF4-FFF2-40B4-BE49-F238E27FC236}">
                <a16:creationId xmlns:a16="http://schemas.microsoft.com/office/drawing/2014/main" id="{5D273B96-CC3F-BD1B-5D4E-8F0BB4FC36F0}"/>
              </a:ext>
            </a:extLst>
          </p:cNvPr>
          <p:cNvSpPr>
            <a:spLocks noGrp="1"/>
          </p:cNvSpPr>
          <p:nvPr>
            <p:ph idx="1"/>
          </p:nvPr>
        </p:nvSpPr>
        <p:spPr/>
        <p:txBody>
          <a:bodyPr/>
          <a:lstStyle/>
          <a:p>
            <a:r>
              <a:rPr lang="en-GB" sz="2400" dirty="0"/>
              <a:t>Given the wide variety of potential screen sizes among users, having responsive web design is important so that your content remains visible regardless of the chosen device. </a:t>
            </a:r>
          </a:p>
          <a:p>
            <a:r>
              <a:rPr lang="en-GB" sz="2400" dirty="0"/>
              <a:t>Responsive web design can be done using only HTML and CSS – no JavaScript is required.</a:t>
            </a:r>
          </a:p>
        </p:txBody>
      </p:sp>
      <p:pic>
        <p:nvPicPr>
          <p:cNvPr id="4" name="Picture 3" descr="Responsive Web Design">
            <a:extLst>
              <a:ext uri="{FF2B5EF4-FFF2-40B4-BE49-F238E27FC236}">
                <a16:creationId xmlns:a16="http://schemas.microsoft.com/office/drawing/2014/main" id="{BCA73AC4-6FC8-A68D-8CC0-9E6F50E9212D}"/>
              </a:ext>
            </a:extLst>
          </p:cNvPr>
          <p:cNvPicPr>
            <a:picLocks noChangeAspect="1"/>
          </p:cNvPicPr>
          <p:nvPr/>
        </p:nvPicPr>
        <p:blipFill>
          <a:blip r:embed="rId3"/>
          <a:stretch>
            <a:fillRect/>
          </a:stretch>
        </p:blipFill>
        <p:spPr>
          <a:xfrm>
            <a:off x="1128712" y="4131888"/>
            <a:ext cx="6886575" cy="2176837"/>
          </a:xfrm>
          <a:prstGeom prst="rect">
            <a:avLst/>
          </a:prstGeom>
        </p:spPr>
      </p:pic>
    </p:spTree>
    <p:extLst>
      <p:ext uri="{BB962C8B-B14F-4D97-AF65-F5344CB8AC3E}">
        <p14:creationId xmlns:p14="http://schemas.microsoft.com/office/powerpoint/2010/main" val="823403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C398987-16DD-CE24-2EEE-42FA7BFE95B8}"/>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3A83D1A6-5497-3F24-4241-78E8E6C98E02}"/>
              </a:ext>
            </a:extLst>
          </p:cNvPr>
          <p:cNvSpPr>
            <a:spLocks noGrp="1"/>
          </p:cNvSpPr>
          <p:nvPr>
            <p:ph type="title"/>
          </p:nvPr>
        </p:nvSpPr>
        <p:spPr/>
        <p:txBody>
          <a:bodyPr/>
          <a:lstStyle/>
          <a:p>
            <a:pPr eaLnBrk="1" hangingPunct="1"/>
            <a:r>
              <a:rPr lang="en-GB" altLang="en-US" dirty="0">
                <a:latin typeface="Arial" panose="020B0604020202020204" pitchFamily="34" charset="0"/>
              </a:rPr>
              <a:t>Responsive Web Design</a:t>
            </a:r>
          </a:p>
        </p:txBody>
      </p:sp>
      <p:sp>
        <p:nvSpPr>
          <p:cNvPr id="2" name="Content Placeholder 1">
            <a:extLst>
              <a:ext uri="{FF2B5EF4-FFF2-40B4-BE49-F238E27FC236}">
                <a16:creationId xmlns:a16="http://schemas.microsoft.com/office/drawing/2014/main" id="{2876EB33-78D0-9609-E783-7386BA06A611}"/>
              </a:ext>
            </a:extLst>
          </p:cNvPr>
          <p:cNvSpPr>
            <a:spLocks noGrp="1"/>
          </p:cNvSpPr>
          <p:nvPr>
            <p:ph idx="1"/>
          </p:nvPr>
        </p:nvSpPr>
        <p:spPr/>
        <p:txBody>
          <a:bodyPr/>
          <a:lstStyle/>
          <a:p>
            <a:r>
              <a:rPr lang="en-GB" sz="2400" dirty="0"/>
              <a:t>In HTML5, they introduced the viewport method to allow web designers take control over the viewport, through the &lt;meta&gt; tag.</a:t>
            </a:r>
          </a:p>
          <a:p>
            <a:r>
              <a:rPr lang="en-GB" sz="2400" dirty="0"/>
              <a:t>Include this on all your pages to give your browser instructions to control the page’s dimensions and scaling: </a:t>
            </a:r>
          </a:p>
          <a:p>
            <a:r>
              <a:rPr lang="en-GB" sz="2400" dirty="0"/>
              <a:t>&lt;meta name="viewport" content="width=device-width, initial-scale=1.0"&gt;</a:t>
            </a:r>
          </a:p>
          <a:p>
            <a:r>
              <a:rPr lang="en-GB" sz="2400" dirty="0"/>
              <a:t>The width=device-width part sets the width of the page to follow the screen-width of the device (which will vary depending on the device).</a:t>
            </a:r>
          </a:p>
          <a:p>
            <a:r>
              <a:rPr lang="en-GB" sz="2400" dirty="0"/>
              <a:t>The initial-scale=1.0 part sets the initial zoom level when the page is first loaded by the browser.</a:t>
            </a:r>
          </a:p>
        </p:txBody>
      </p:sp>
    </p:spTree>
    <p:extLst>
      <p:ext uri="{BB962C8B-B14F-4D97-AF65-F5344CB8AC3E}">
        <p14:creationId xmlns:p14="http://schemas.microsoft.com/office/powerpoint/2010/main" val="473473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380170D-3E06-B9E3-3A46-DC941F791438}"/>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95DAC75D-1711-182E-2D67-C78ED0F7B6EA}"/>
              </a:ext>
            </a:extLst>
          </p:cNvPr>
          <p:cNvSpPr>
            <a:spLocks noGrp="1"/>
          </p:cNvSpPr>
          <p:nvPr>
            <p:ph type="title"/>
          </p:nvPr>
        </p:nvSpPr>
        <p:spPr/>
        <p:txBody>
          <a:bodyPr/>
          <a:lstStyle/>
          <a:p>
            <a:pPr eaLnBrk="1" hangingPunct="1"/>
            <a:r>
              <a:rPr lang="en-GB" altLang="en-US" dirty="0">
                <a:latin typeface="Arial" panose="020B0604020202020204" pitchFamily="34" charset="0"/>
              </a:rPr>
              <a:t>Responsive Web Design</a:t>
            </a:r>
          </a:p>
        </p:txBody>
      </p:sp>
      <p:sp>
        <p:nvSpPr>
          <p:cNvPr id="2" name="Content Placeholder 1">
            <a:extLst>
              <a:ext uri="{FF2B5EF4-FFF2-40B4-BE49-F238E27FC236}">
                <a16:creationId xmlns:a16="http://schemas.microsoft.com/office/drawing/2014/main" id="{E038B1FF-07A9-A19A-64CF-E9234E0E8B95}"/>
              </a:ext>
            </a:extLst>
          </p:cNvPr>
          <p:cNvSpPr>
            <a:spLocks noGrp="1"/>
          </p:cNvSpPr>
          <p:nvPr>
            <p:ph idx="1"/>
          </p:nvPr>
        </p:nvSpPr>
        <p:spPr/>
        <p:txBody>
          <a:bodyPr/>
          <a:lstStyle/>
          <a:p>
            <a:r>
              <a:rPr lang="en-GB" sz="2400" dirty="0"/>
              <a:t>Most web pages are based on a grid view where pages are divided into columns:</a:t>
            </a:r>
          </a:p>
          <a:p>
            <a:r>
              <a:rPr lang="en-GB" sz="2400" dirty="0"/>
              <a:t>.menu {</a:t>
            </a:r>
          </a:p>
          <a:p>
            <a:pPr marL="0" indent="0">
              <a:buNone/>
            </a:pPr>
            <a:r>
              <a:rPr lang="en-GB" sz="2400" dirty="0"/>
              <a:t>	width: 25%;</a:t>
            </a:r>
          </a:p>
          <a:p>
            <a:pPr marL="0" indent="0">
              <a:buNone/>
            </a:pPr>
            <a:r>
              <a:rPr lang="en-GB" sz="2400" dirty="0"/>
              <a:t>	float: left;</a:t>
            </a:r>
          </a:p>
          <a:p>
            <a:pPr marL="0" indent="0">
              <a:buNone/>
            </a:pPr>
            <a:r>
              <a:rPr lang="en-GB" sz="2400" dirty="0"/>
              <a:t>	}</a:t>
            </a:r>
          </a:p>
          <a:p>
            <a:r>
              <a:rPr lang="en-GB" sz="2400" dirty="0"/>
              <a:t>.main {</a:t>
            </a:r>
          </a:p>
          <a:p>
            <a:pPr marL="0" indent="0">
              <a:buNone/>
            </a:pPr>
            <a:r>
              <a:rPr lang="en-GB" sz="2400" dirty="0"/>
              <a:t>	width: 75%;</a:t>
            </a:r>
          </a:p>
          <a:p>
            <a:pPr marL="0" indent="0">
              <a:buNone/>
            </a:pPr>
            <a:r>
              <a:rPr lang="en-GB" sz="2400" dirty="0"/>
              <a:t>	float: left;</a:t>
            </a:r>
          </a:p>
          <a:p>
            <a:pPr marL="0" indent="0">
              <a:buNone/>
            </a:pPr>
            <a:r>
              <a:rPr lang="en-GB" sz="2400" dirty="0"/>
              <a:t>	}</a:t>
            </a:r>
          </a:p>
        </p:txBody>
      </p:sp>
    </p:spTree>
    <p:extLst>
      <p:ext uri="{BB962C8B-B14F-4D97-AF65-F5344CB8AC3E}">
        <p14:creationId xmlns:p14="http://schemas.microsoft.com/office/powerpoint/2010/main" val="2165264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156C32B-56D3-BD0D-E61D-CFF5D395B530}"/>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19BEFF01-1C2E-BBE0-6DC6-07FB1B54841C}"/>
              </a:ext>
            </a:extLst>
          </p:cNvPr>
          <p:cNvSpPr>
            <a:spLocks noGrp="1"/>
          </p:cNvSpPr>
          <p:nvPr>
            <p:ph type="title"/>
          </p:nvPr>
        </p:nvSpPr>
        <p:spPr/>
        <p:txBody>
          <a:bodyPr/>
          <a:lstStyle/>
          <a:p>
            <a:pPr eaLnBrk="1" hangingPunct="1"/>
            <a:r>
              <a:rPr lang="en-GB" altLang="en-US" dirty="0">
                <a:latin typeface="Arial" panose="020B0604020202020204" pitchFamily="34" charset="0"/>
              </a:rPr>
              <a:t>Responsive Web Design</a:t>
            </a:r>
          </a:p>
        </p:txBody>
      </p:sp>
      <p:sp>
        <p:nvSpPr>
          <p:cNvPr id="2" name="Content Placeholder 1">
            <a:extLst>
              <a:ext uri="{FF2B5EF4-FFF2-40B4-BE49-F238E27FC236}">
                <a16:creationId xmlns:a16="http://schemas.microsoft.com/office/drawing/2014/main" id="{6C6BE878-7C2F-0AD1-DBD1-C5CEA6E50D7A}"/>
              </a:ext>
            </a:extLst>
          </p:cNvPr>
          <p:cNvSpPr>
            <a:spLocks noGrp="1"/>
          </p:cNvSpPr>
          <p:nvPr>
            <p:ph idx="1"/>
          </p:nvPr>
        </p:nvSpPr>
        <p:spPr/>
        <p:txBody>
          <a:bodyPr/>
          <a:lstStyle/>
          <a:p>
            <a:r>
              <a:rPr lang="en-GB" sz="2400" dirty="0"/>
              <a:t>Dividing your web pages into more columns grants you more control for responsive web design:</a:t>
            </a:r>
          </a:p>
          <a:p>
            <a:r>
              <a:rPr lang="en-GB" sz="1800" dirty="0"/>
              <a:t>.col-1 {width: 8.33%;}</a:t>
            </a:r>
          </a:p>
          <a:p>
            <a:r>
              <a:rPr lang="en-GB" sz="1800" dirty="0"/>
              <a:t>.col-2 {width: 16.66%;}</a:t>
            </a:r>
          </a:p>
          <a:p>
            <a:r>
              <a:rPr lang="en-GB" sz="1800" dirty="0"/>
              <a:t>.col-3 {width: 25%;}</a:t>
            </a:r>
          </a:p>
          <a:p>
            <a:r>
              <a:rPr lang="en-GB" sz="1800" dirty="0"/>
              <a:t>.col-4 {width: 33.33%;}</a:t>
            </a:r>
          </a:p>
          <a:p>
            <a:r>
              <a:rPr lang="en-GB" sz="1800" dirty="0"/>
              <a:t>.col-5 {width: 41.66%;}</a:t>
            </a:r>
          </a:p>
          <a:p>
            <a:r>
              <a:rPr lang="en-GB" sz="1800" dirty="0"/>
              <a:t>.col-6 {width: 50%;}</a:t>
            </a:r>
          </a:p>
          <a:p>
            <a:r>
              <a:rPr lang="en-GB" sz="1800" dirty="0"/>
              <a:t>.col-7 {width: 58.33%;}</a:t>
            </a:r>
          </a:p>
          <a:p>
            <a:r>
              <a:rPr lang="en-GB" sz="1800" dirty="0"/>
              <a:t>.col-8 {width: 66.66%;}</a:t>
            </a:r>
          </a:p>
          <a:p>
            <a:r>
              <a:rPr lang="en-GB" sz="1800" dirty="0"/>
              <a:t>.col-9 {width: 75%;}</a:t>
            </a:r>
          </a:p>
          <a:p>
            <a:r>
              <a:rPr lang="en-GB" sz="1800" dirty="0"/>
              <a:t>.col-10 {width: 83.33%;}</a:t>
            </a:r>
          </a:p>
          <a:p>
            <a:r>
              <a:rPr lang="en-GB" sz="1800" dirty="0"/>
              <a:t>.col-11 {width: 91.66%;}</a:t>
            </a:r>
          </a:p>
          <a:p>
            <a:r>
              <a:rPr lang="en-GB" sz="1800" dirty="0"/>
              <a:t>.col-12 {width: 100%;}</a:t>
            </a:r>
          </a:p>
        </p:txBody>
      </p:sp>
    </p:spTree>
    <p:extLst>
      <p:ext uri="{BB962C8B-B14F-4D97-AF65-F5344CB8AC3E}">
        <p14:creationId xmlns:p14="http://schemas.microsoft.com/office/powerpoint/2010/main" val="3286551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103A06F-AEEC-895C-63E3-0A0CD6B99354}"/>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9CF21A11-4C5F-8B33-C5B2-5D7E36975784}"/>
              </a:ext>
            </a:extLst>
          </p:cNvPr>
          <p:cNvSpPr>
            <a:spLocks noGrp="1"/>
          </p:cNvSpPr>
          <p:nvPr>
            <p:ph type="title"/>
          </p:nvPr>
        </p:nvSpPr>
        <p:spPr/>
        <p:txBody>
          <a:bodyPr/>
          <a:lstStyle/>
          <a:p>
            <a:pPr eaLnBrk="1" hangingPunct="1"/>
            <a:r>
              <a:rPr lang="en-GB" altLang="en-US" dirty="0">
                <a:latin typeface="Arial" panose="020B0604020202020204" pitchFamily="34" charset="0"/>
              </a:rPr>
              <a:t>Responsive Web Design</a:t>
            </a:r>
          </a:p>
        </p:txBody>
      </p:sp>
      <p:sp>
        <p:nvSpPr>
          <p:cNvPr id="2" name="Content Placeholder 1">
            <a:extLst>
              <a:ext uri="{FF2B5EF4-FFF2-40B4-BE49-F238E27FC236}">
                <a16:creationId xmlns:a16="http://schemas.microsoft.com/office/drawing/2014/main" id="{0D7C5E95-90A3-A357-2CE0-AB0B458B53C7}"/>
              </a:ext>
            </a:extLst>
          </p:cNvPr>
          <p:cNvSpPr>
            <a:spLocks noGrp="1"/>
          </p:cNvSpPr>
          <p:nvPr>
            <p:ph idx="1"/>
          </p:nvPr>
        </p:nvSpPr>
        <p:spPr/>
        <p:txBody>
          <a:bodyPr/>
          <a:lstStyle/>
          <a:p>
            <a:r>
              <a:rPr lang="en-GB" sz="2000" dirty="0"/>
              <a:t>You can then add breakpoints to the columns based on the size of the screen to make certain parts of the design behave differently either side of the breakpoint:</a:t>
            </a:r>
          </a:p>
          <a:p>
            <a:r>
              <a:rPr lang="en-GB" sz="2000" dirty="0"/>
              <a:t>/* For mobile phones: */</a:t>
            </a:r>
          </a:p>
          <a:p>
            <a:pPr marL="0" indent="0">
              <a:buNone/>
            </a:pPr>
            <a:r>
              <a:rPr lang="en-GB" sz="2000" dirty="0"/>
              <a:t>	[class*="col-"] {</a:t>
            </a:r>
          </a:p>
          <a:p>
            <a:pPr marL="0" indent="0">
              <a:buNone/>
            </a:pPr>
            <a:r>
              <a:rPr lang="en-GB" sz="2000" dirty="0"/>
              <a:t> 	width: 100%;</a:t>
            </a:r>
          </a:p>
          <a:p>
            <a:pPr marL="0" indent="0">
              <a:buNone/>
            </a:pPr>
            <a:r>
              <a:rPr lang="en-GB" sz="2000" dirty="0"/>
              <a:t>	}</a:t>
            </a:r>
          </a:p>
          <a:p>
            <a:endParaRPr lang="en-GB" sz="2000" dirty="0"/>
          </a:p>
          <a:p>
            <a:r>
              <a:rPr lang="en-GB" sz="2000" dirty="0"/>
              <a:t>@media only screen and (min-width: 768px) {</a:t>
            </a:r>
          </a:p>
          <a:p>
            <a:pPr marL="0" indent="0">
              <a:buNone/>
            </a:pPr>
            <a:r>
              <a:rPr lang="en-GB" sz="2000" dirty="0"/>
              <a:t>	/* For desktop: */</a:t>
            </a:r>
          </a:p>
          <a:p>
            <a:pPr marL="0" indent="0">
              <a:buNone/>
            </a:pPr>
            <a:r>
              <a:rPr lang="en-GB" sz="2000" dirty="0"/>
              <a:t>	.col-1 {width: 8.33%;}</a:t>
            </a:r>
          </a:p>
          <a:p>
            <a:pPr marL="0" indent="0">
              <a:buNone/>
            </a:pPr>
            <a:r>
              <a:rPr lang="en-GB" sz="2000" dirty="0"/>
              <a:t>	.col-2 {width: 16.66%;}</a:t>
            </a:r>
          </a:p>
          <a:p>
            <a:pPr marL="0" indent="0">
              <a:buNone/>
            </a:pPr>
            <a:r>
              <a:rPr lang="en-GB" sz="2000" dirty="0"/>
              <a:t>	 .col-3 {width: 25%;}</a:t>
            </a:r>
          </a:p>
          <a:p>
            <a:pPr marL="0" indent="0">
              <a:buNone/>
            </a:pPr>
            <a:r>
              <a:rPr lang="en-GB" sz="2000" dirty="0"/>
              <a:t>	etc.</a:t>
            </a:r>
            <a:endParaRPr lang="en-GB" sz="1600" dirty="0"/>
          </a:p>
        </p:txBody>
      </p:sp>
    </p:spTree>
    <p:extLst>
      <p:ext uri="{BB962C8B-B14F-4D97-AF65-F5344CB8AC3E}">
        <p14:creationId xmlns:p14="http://schemas.microsoft.com/office/powerpoint/2010/main" val="251505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639623B-C224-84A0-9980-AB5CDB28E8C4}"/>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E353122E-21B9-8AEE-98A7-69C3C10AD52F}"/>
              </a:ext>
            </a:extLst>
          </p:cNvPr>
          <p:cNvSpPr>
            <a:spLocks noGrp="1"/>
          </p:cNvSpPr>
          <p:nvPr>
            <p:ph type="title"/>
          </p:nvPr>
        </p:nvSpPr>
        <p:spPr/>
        <p:txBody>
          <a:bodyPr/>
          <a:lstStyle/>
          <a:p>
            <a:pPr eaLnBrk="1" hangingPunct="1"/>
            <a:r>
              <a:rPr lang="en-GB" altLang="en-US" dirty="0">
                <a:latin typeface="Arial" panose="020B0604020202020204" pitchFamily="34" charset="0"/>
              </a:rPr>
              <a:t>Responsive Web Design</a:t>
            </a:r>
          </a:p>
        </p:txBody>
      </p:sp>
      <p:sp>
        <p:nvSpPr>
          <p:cNvPr id="2" name="Content Placeholder 1">
            <a:extLst>
              <a:ext uri="{FF2B5EF4-FFF2-40B4-BE49-F238E27FC236}">
                <a16:creationId xmlns:a16="http://schemas.microsoft.com/office/drawing/2014/main" id="{746FCFF2-E602-F799-CB11-E13309B0968D}"/>
              </a:ext>
            </a:extLst>
          </p:cNvPr>
          <p:cNvSpPr>
            <a:spLocks noGrp="1"/>
          </p:cNvSpPr>
          <p:nvPr>
            <p:ph idx="1"/>
          </p:nvPr>
        </p:nvSpPr>
        <p:spPr/>
        <p:txBody>
          <a:bodyPr/>
          <a:lstStyle/>
          <a:p>
            <a:r>
              <a:rPr lang="en-GB" sz="3600" dirty="0"/>
              <a:t>Responsive web design can be quite exhaustive, but there are many templates online that you can use and w3schools has an excellent chapter on the full process.</a:t>
            </a:r>
          </a:p>
          <a:p>
            <a:endParaRPr lang="en-GB" sz="2800" dirty="0"/>
          </a:p>
          <a:p>
            <a:r>
              <a:rPr lang="en-GB" sz="2800" dirty="0">
                <a:hlinkClick r:id="rId3"/>
              </a:rPr>
              <a:t>https://www.w3schools.com/css/css_rwd_intro.asp</a:t>
            </a:r>
            <a:r>
              <a:rPr lang="en-GB" sz="2800" dirty="0"/>
              <a:t> </a:t>
            </a:r>
          </a:p>
        </p:txBody>
      </p:sp>
    </p:spTree>
    <p:extLst>
      <p:ext uri="{BB962C8B-B14F-4D97-AF65-F5344CB8AC3E}">
        <p14:creationId xmlns:p14="http://schemas.microsoft.com/office/powerpoint/2010/main" val="2043993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5A56DE6-4F93-1651-3797-3EB61F286E83}"/>
              </a:ext>
            </a:extLst>
          </p:cNvPr>
          <p:cNvSpPr>
            <a:spLocks noGrp="1"/>
          </p:cNvSpPr>
          <p:nvPr>
            <p:ph type="title"/>
          </p:nvPr>
        </p:nvSpPr>
        <p:spPr/>
        <p:txBody>
          <a:bodyPr/>
          <a:lstStyle/>
          <a:p>
            <a:pPr eaLnBrk="1" hangingPunct="1"/>
            <a:r>
              <a:rPr lang="en-GB" altLang="en-US" dirty="0">
                <a:latin typeface="Arial" panose="020B0604020202020204" pitchFamily="34" charset="0"/>
              </a:rPr>
              <a:t>Sourced</a:t>
            </a:r>
          </a:p>
        </p:txBody>
      </p:sp>
      <p:sp>
        <p:nvSpPr>
          <p:cNvPr id="28675" name="Rectangle 3">
            <a:extLst>
              <a:ext uri="{FF2B5EF4-FFF2-40B4-BE49-F238E27FC236}">
                <a16:creationId xmlns:a16="http://schemas.microsoft.com/office/drawing/2014/main" id="{59967F90-AC6E-E533-0567-1BC35A047667}"/>
              </a:ext>
            </a:extLst>
          </p:cNvPr>
          <p:cNvSpPr>
            <a:spLocks noGrp="1"/>
          </p:cNvSpPr>
          <p:nvPr>
            <p:ph idx="1"/>
          </p:nvPr>
        </p:nvSpPr>
        <p:spPr/>
        <p:txBody>
          <a:bodyPr/>
          <a:lstStyle/>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www.w3schools.com</a:t>
            </a:r>
            <a:endParaRPr lang="en-GB" altLang="en-US" sz="28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507</TotalTime>
  <Words>2382</Words>
  <Application>Microsoft Macintosh PowerPoint</Application>
  <PresentationFormat>On-screen Show (4:3)</PresentationFormat>
  <Paragraphs>264</Paragraphs>
  <Slides>27</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Office Theme</vt:lpstr>
      <vt:lpstr>COM4012M – HTML5 &amp; CSS3</vt:lpstr>
      <vt:lpstr>HTML5</vt:lpstr>
      <vt:lpstr>HTML5</vt:lpstr>
      <vt:lpstr>DOCTYPE</vt:lpstr>
      <vt:lpstr>Metadata</vt:lpstr>
      <vt:lpstr>Semantic Elements Recap</vt:lpstr>
      <vt:lpstr>Semantic Elements Recap</vt:lpstr>
      <vt:lpstr>Semantic Elements Recap</vt:lpstr>
      <vt:lpstr>Multimedia</vt:lpstr>
      <vt:lpstr>Multimedia (Cont.)</vt:lpstr>
      <vt:lpstr>Graphical Tags</vt:lpstr>
      <vt:lpstr>Graphical Tags (Cont.)</vt:lpstr>
      <vt:lpstr>Forms Recap</vt:lpstr>
      <vt:lpstr>HTML5 Forms</vt:lpstr>
      <vt:lpstr>Example Forms</vt:lpstr>
      <vt:lpstr>CSS3</vt:lpstr>
      <vt:lpstr>CSS3 Borders</vt:lpstr>
      <vt:lpstr>CSS3 Columns</vt:lpstr>
      <vt:lpstr>CSS3 Transitions</vt:lpstr>
      <vt:lpstr>CSS3 Transitions</vt:lpstr>
      <vt:lpstr>Responsive Web Design</vt:lpstr>
      <vt:lpstr>Responsive Web Design</vt:lpstr>
      <vt:lpstr>Responsive Web Design</vt:lpstr>
      <vt:lpstr>Responsive Web Design</vt:lpstr>
      <vt:lpstr>Responsive Web Design</vt:lpstr>
      <vt:lpstr>Responsive Web Design</vt:lpstr>
      <vt:lpstr>Sourced</vt:lpstr>
    </vt:vector>
  </TitlesOfParts>
  <Company>York St John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1IT060 Developing Hypermedia</dc:title>
  <dc:creator>adkins</dc:creator>
  <cp:lastModifiedBy>Bassma Al-Jubouri</cp:lastModifiedBy>
  <cp:revision>85</cp:revision>
  <dcterms:created xsi:type="dcterms:W3CDTF">2004-02-03T17:25:57Z</dcterms:created>
  <dcterms:modified xsi:type="dcterms:W3CDTF">2025-04-02T21:00:21Z</dcterms:modified>
</cp:coreProperties>
</file>